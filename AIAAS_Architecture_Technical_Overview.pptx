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Cold npx Launch (Old)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Idle Baseline</c:v>
                </c:pt>
                <c:pt idx="1">
                  <c:v>Listing (8 Connectors)</c:v>
                </c:pt>
                <c:pt idx="2">
                  <c:v>Post-Run Resident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80.0</c:v>
                </c:pt>
                <c:pt idx="1">
                  <c:v>850.0</c:v>
                </c:pt>
                <c:pt idx="2">
                  <c:v>620.0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AIAAS Supervisor (New)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Idle Baseline</c:v>
                </c:pt>
                <c:pt idx="1">
                  <c:v>Listing (8 Connectors)</c:v>
                </c:pt>
                <c:pt idx="2">
                  <c:v>Post-Run Resident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80.0</c:v>
                </c:pt>
                <c:pt idx="1">
                  <c:v>80.0</c:v>
                </c:pt>
                <c:pt idx="2">
                  <c:v>195.0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5870"/>
                    </a:solidFill>
                  </a:rPr>
                  <a:t>Operational Stage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CD8EE"/>
            </a:solidFill>
          </a:ln>
        </c:spPr>
        <c:txPr>
          <a:bodyPr/>
          <a:lstStyle/>
          <a:p>
            <a:pPr>
              <a:defRPr sz="1200">
                <a:solidFill>
                  <a:srgbClr val="5B58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D8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5870"/>
                    </a:solidFill>
                  </a:rPr>
                  <a:t>RAM (MB)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B587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spPr>
    <a:noFill/>
    <a:ln>
      <a:noFill/>
    </a:ln>
  </c:spPr>
  <c:txPr>
    <a:bodyPr/>
    <a:lstStyle/>
    <a:p>
      <a:pPr>
        <a:defRPr sz="1300">
          <a:solidFill>
            <a:srgbClr val="1714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Uncurated Transcript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Turn 5</c:v>
                </c:pt>
                <c:pt idx="1">
                  <c:v>Turn 15</c:v>
                </c:pt>
                <c:pt idx="2">
                  <c:v>Turn 25</c:v>
                </c:pt>
                <c:pt idx="3">
                  <c:v>Turn 35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45.0</c:v>
                </c:pt>
                <c:pt idx="2">
                  <c:v>95.0</c:v>
                </c:pt>
                <c:pt idx="3">
                  <c:v>140.0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AIAAS Watermark Curation</c:v>
                </c:pt>
              </c:strCache>
            </c:strRef>
          </c:tx>
          <c:spPr>
            <a:ln w="31750">
              <a:solidFill>
                <a:srgbClr val="EB6834"/>
              </a:solidFill>
            </a:ln>
          </c:spPr>
          <c:marker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Turn 5</c:v>
                </c:pt>
                <c:pt idx="1">
                  <c:v>Turn 15</c:v>
                </c:pt>
                <c:pt idx="2">
                  <c:v>Turn 25</c:v>
                </c:pt>
                <c:pt idx="3">
                  <c:v>Turn 35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18.0</c:v>
                </c:pt>
                <c:pt idx="1">
                  <c:v>45.0</c:v>
                </c:pt>
                <c:pt idx="2">
                  <c:v>52.0</c:v>
                </c:pt>
                <c:pt idx="3">
                  <c:v>58.0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5870"/>
                    </a:solidFill>
                  </a:rPr>
                  <a:t>Execution Turn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CD8EE"/>
            </a:solidFill>
          </a:ln>
        </c:spPr>
        <c:txPr>
          <a:bodyPr/>
          <a:lstStyle/>
          <a:p>
            <a:pPr>
              <a:defRPr sz="1200">
                <a:solidFill>
                  <a:srgbClr val="5B58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D8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5870"/>
                    </a:solidFill>
                  </a:rPr>
                  <a:t>Tokens (k)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B5870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00">
          <a:solidFill>
            <a:srgbClr val="1714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Sequential Dispatch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 Tools (Web+RAG+Doc)</c:v>
                </c:pt>
                <c:pt idx="1">
                  <c:v>2 Tools (Web+Clock)</c:v>
                </c:pt>
                <c:pt idx="2">
                  <c:v>1 Tool Baseline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780.0</c:v>
                </c:pt>
                <c:pt idx="1">
                  <c:v>560.0</c:v>
                </c:pt>
                <c:pt idx="2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AIAAS Parallel Dispatch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 Tools (Web+RAG+Doc)</c:v>
                </c:pt>
                <c:pt idx="1">
                  <c:v>2 Tools (Web+Clock)</c:v>
                </c:pt>
                <c:pt idx="2">
                  <c:v>1 Tool Baseline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455.0</c:v>
                </c:pt>
                <c:pt idx="1">
                  <c:v>340.0</c:v>
                </c:pt>
                <c:pt idx="2">
                  <c:v>310.0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1200" b="0">
                    <a:solidFill>
                      <a:srgbClr val="5B5870"/>
                    </a:solidFill>
                  </a:rPr>
                  <a:t>Benchmark Case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CD8EE"/>
            </a:solidFill>
          </a:ln>
        </c:spPr>
        <c:txPr>
          <a:bodyPr/>
          <a:lstStyle/>
          <a:p>
            <a:pPr>
              <a:defRPr sz="1200">
                <a:solidFill>
                  <a:srgbClr val="5B58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CD8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5870"/>
                    </a:solidFill>
                  </a:rPr>
                  <a:t>Duration (ms)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B587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spPr>
    <a:noFill/>
    <a:ln>
      <a:noFill/>
    </a:ln>
  </c:spPr>
  <c:txPr>
    <a:bodyPr/>
    <a:lstStyle/>
    <a:p>
      <a:pPr>
        <a:defRPr sz="1300">
          <a:solidFill>
            <a:srgbClr val="1714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This presentation provides an illustrated, visual-first technical tour of the AIAAS architecture, core engineering decisions, and agentic 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AIAAS builds a 5-tier autonomy ladder. The default 'Ask' tier inspects tool effects: safe reads auto-run, while irreversible writes pause for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the separation of concerns: React SPA consumes SSE for interactive chat and WebSockets for background worker telemetry. The sandbox runs in an isolated container with zero internet egress.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Chat Assistant is a Manager: it can read, plan, and supervise, but holds no write grants. SubAgents carry explicit grants and execute state mutations.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interactive chat turns and background autonomous agents run on this exact 4-node cyclical LangGraph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the 850MB spike that caused the 2026-09-16 kernel OOM kill. AIAAS decouples tool listings into a Postgres catalogue (0MB spawn) and enforces megabyte-based admission with LRU eviction.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decoupling permission evaluation (Pass 1) from tool dispatch (Pass 2), AIAAS prevents accidental duplicate side effects during human-in-the-loop pauses.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Trimming indivisible Segments at 70% high-watermarks down to 45% keeps 40-iteration runs well within context windows while preserving provider prompt caching.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 independent tools run concurrently via asyncio.gather, reducing turn latency by over 40%. Results are sorted strictly by call index to guarantee reproducible execution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sandbox container lives on an air-gapped internal Docker network with zero egress. Even an interpreter breakout lands in an empty, resource-capped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Steerability gives human operators active oversight during long agent runs, preventing wasted tokens and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Observability revolves around the Turn, not the Step. Models reason once per turn, so storing reasoning at the turn level preserves accurate semantic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evaluating agents through the exact same runtime entry point and using hermetic mock environments, AIAAS avoids synthetic evaluation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principles summarize the engineering discipline of AIAAS: bound all resources, enforce structural role safety, ensure idempotence, and trace 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Transparent engineering limits: current deployment on a 1GB EC2 instance transitions to managed databases and Redis-backed state for horizontal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Let's move to questions, code walkthrough, and live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103120"/>
            <a:ext cx="10500055" cy="1554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Arial"/>
              </a:rPr>
              <a:t>AIAAS: Architecture &amp; Technical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794760"/>
            <a:ext cx="105000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Visual Technical Tour: Engineering Decisions, Safe Orchestration, and Qualitative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The 5-Tier Autonomy Spectrum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0" y="1691640"/>
            <a:ext cx="7595615" cy="406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B5870"/>
                </a:solidFill>
                <a:latin typeface="Arial"/>
              </a:rPr>
              <a:t>Granular human-in-the-loop policies replacing binary 'ask or never ask' fatigue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Distributed System Topology &amp; Ingress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0" y="1691640"/>
            <a:ext cx="7595615" cy="406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B5870"/>
                </a:solidFill>
                <a:latin typeface="Arial"/>
              </a:rPr>
              <a:t>Multi-protocol streaming ingress, decoupled compute sidecars, and state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Dual-Loop Topology: Manager vs Workers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0" y="1691640"/>
            <a:ext cx="7595615" cy="406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B5870"/>
                </a:solidFill>
                <a:latin typeface="Arial"/>
              </a:rPr>
              <a:t>Structural capability partitioning between conversational planning and scoped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Inside the Unified AI Turn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0" y="1691640"/>
            <a:ext cx="7595615" cy="406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B5870"/>
                </a:solidFill>
                <a:latin typeface="Arial"/>
              </a:rPr>
              <a:t>LangGraph cyclical state machine: agent ➔ tools ➔ curate ➔ steering ➔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Decision 1: OOM Prevention &amp; Process Supervisor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91640"/>
          <a:ext cx="10911535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5B5870"/>
                </a:solidFill>
                <a:latin typeface="Arial"/>
              </a:rPr>
              <a:t>RAM impact: 8 Cold MCP starts (850 MB spike) vs AIAAS DB Catalogue &amp; Supervisor (195 MB)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Decision 2: Idempotent HITL Under Rollbacks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0" y="1691640"/>
            <a:ext cx="7595615" cy="406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B5870"/>
                </a:solidFill>
                <a:latin typeface="Arial"/>
              </a:rPr>
              <a:t>Solving LangGraph's interrupt replay trap: Two-Pass resolution prevents duplicate side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Decision 3: Indivisible Context Curation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91640"/>
          <a:ext cx="10911535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5B5870"/>
                </a:solidFill>
                <a:latin typeface="Arial"/>
              </a:rPr>
              <a:t>Token lifecycle over 40 iterations: Unbounded linear bloat vs Watermark-capped 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Decision 4: Deterministic Parallel Tool Calling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91640"/>
          <a:ext cx="10911535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5B5870"/>
                </a:solidFill>
                <a:latin typeface="Arial"/>
              </a:rPr>
              <a:t>Latency benchmark: Sequential execution vs asyncio.gather parallel 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Decision 5: Defense-in-Depth Sandbox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0" y="1691640"/>
            <a:ext cx="7595615" cy="406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B5870"/>
                </a:solidFill>
                <a:latin typeface="Arial"/>
              </a:rPr>
              <a:t>Quarantining untrusted LLM-authored Python in an air-gapped container sidecar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Qualitative Analysis: Mid-Flight Steerability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0" y="1691640"/>
            <a:ext cx="7595615" cy="406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B5870"/>
                </a:solidFill>
                <a:latin typeface="Arial"/>
              </a:rPr>
              <a:t>Eliminating fire-and-forget black boxes: Real-time operator guidance during live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Qualitative Analysis: Relational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0" y="1691640"/>
            <a:ext cx="7595615" cy="406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B5870"/>
                </a:solidFill>
                <a:latin typeface="Arial"/>
              </a:rPr>
              <a:t>Structuring execution traces around cognitive turns rather than inferred DAG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Qualitative Analysis: Evaluation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0" y="1691640"/>
            <a:ext cx="7595615" cy="406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B5870"/>
                </a:solidFill>
                <a:latin typeface="Arial"/>
              </a:rPr>
              <a:t>Hermetic mock testing worlds, unoverwritable auto-grades, and pre-deploy CI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The Five Pillars of Industrial Agentic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0" y="1691640"/>
            <a:ext cx="7595615" cy="406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33872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B5870"/>
                </a:solidFill>
                <a:latin typeface="Arial"/>
              </a:rPr>
              <a:t>Proven architectural principles separating toy agent wrappers from enterprise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3200" b="1" i="0">
                <a:solidFill>
                  <a:srgbClr val="17142B"/>
                </a:solidFill>
                <a:latin typeface="Arial"/>
              </a:rPr>
              <a:t>Architectural Bottlenecks &amp; Evolution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5" cy="2103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109728" marR="109728" anchor="ctr">
                    <a:solidFill>
                      <a:srgbClr val="4A3A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Current State</a:t>
                      </a:r>
                    </a:p>
                  </a:txBody>
                  <a:tcPr marL="109728" marR="109728" anchor="ctr">
                    <a:solidFill>
                      <a:srgbClr val="4A3A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Bottleneck Cause</a:t>
                      </a:r>
                    </a:p>
                  </a:txBody>
                  <a:tcPr marL="109728" marR="109728" anchor="ctr">
                    <a:solidFill>
                      <a:srgbClr val="4A3AA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Target Architecture</a:t>
                      </a:r>
                    </a:p>
                  </a:txBody>
                  <a:tcPr marL="109728" marR="109728" anchor="ctr">
                    <a:solidFill>
                      <a:srgbClr val="4A3AA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Run State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In-Process Memory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Single replica memory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Redis Streams + PubSub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marL="109728" marR="109728" anchor="ctr">
                    <a:solidFill>
                      <a:srgbClr val="F1EF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Co-located Postgres</a:t>
                      </a:r>
                    </a:p>
                  </a:txBody>
                  <a:tcPr marL="109728" marR="109728" anchor="ctr">
                    <a:solidFill>
                      <a:srgbClr val="F1EF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Shares 913 MB RAM host</a:t>
                      </a:r>
                    </a:p>
                  </a:txBody>
                  <a:tcPr marL="109728" marR="109728" anchor="ctr">
                    <a:solidFill>
                      <a:srgbClr val="F1EF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AWS Managed RDS + PgBouncer</a:t>
                      </a:r>
                    </a:p>
                  </a:txBody>
                  <a:tcPr marL="109728" marR="109728" anchor="ctr">
                    <a:solidFill>
                      <a:srgbClr val="F1EF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Connectors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Node.js Stdio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70-150 MB per session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Native REST API Connectors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Pre-Model</a:t>
                      </a:r>
                    </a:p>
                  </a:txBody>
                  <a:tcPr marL="109728" marR="109728" anchor="ctr">
                    <a:solidFill>
                      <a:srgbClr val="F1EF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Sequential ORM</a:t>
                      </a:r>
                    </a:p>
                  </a:txBody>
                  <a:tcPr marL="109728" marR="109728" anchor="ctr">
                    <a:solidFill>
                      <a:srgbClr val="F1EF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20 async thread hops</a:t>
                      </a:r>
                    </a:p>
                  </a:txBody>
                  <a:tcPr marL="109728" marR="109728" anchor="ctr">
                    <a:solidFill>
                      <a:srgbClr val="F1EF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7142B"/>
                          </a:solidFill>
                          <a:latin typeface="Arial"/>
                        </a:rPr>
                        <a:t>Batched Pre-Model Queries</a:t>
                      </a:r>
                    </a:p>
                  </a:txBody>
                  <a:tcPr marL="109728" marR="109728" anchor="ctr">
                    <a:solidFill>
                      <a:srgbClr val="F1EF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103120"/>
            <a:ext cx="10500055" cy="1554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Arial"/>
              </a:rPr>
              <a:t>AIAAS: Built for Real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794760"/>
            <a:ext cx="105000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Technical Discussion, Architecture Q&amp;A, and 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587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AIAAS: Architecture &amp; Technical Overview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