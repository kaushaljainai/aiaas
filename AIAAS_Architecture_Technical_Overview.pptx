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Cold npx Launch (Old)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Idle Baseline</c:v>
                </c:pt>
                <c:pt idx="1">
                  <c:v>Listing (8 Connectors)</c:v>
                </c:pt>
                <c:pt idx="2">
                  <c:v>Post-Run Resident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80.0</c:v>
                </c:pt>
                <c:pt idx="1">
                  <c:v>850.0</c:v>
                </c:pt>
                <c:pt idx="2">
                  <c:v>620.0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AIAAS Supervisor (New)</c:v>
                </c:pt>
              </c:strCache>
            </c:strRef>
          </c:tx>
          <c:spPr>
            <a:solidFill>
              <a:srgbClr val="EB683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Idle Baseline</c:v>
                </c:pt>
                <c:pt idx="1">
                  <c:v>Listing (8 Connectors)</c:v>
                </c:pt>
                <c:pt idx="2">
                  <c:v>Post-Run Resident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80.0</c:v>
                </c:pt>
                <c:pt idx="1">
                  <c:v>80.0</c:v>
                </c:pt>
                <c:pt idx="2">
                  <c:v>195.0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Operational Stage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CD8EE"/>
            </a:solidFill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D8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RAM (MB)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spPr>
    <a:noFill/>
    <a:ln>
      <a:noFill/>
    </a:ln>
  </c:spPr>
  <c:txPr>
    <a:bodyPr/>
    <a:lstStyle/>
    <a:p>
      <a:pPr>
        <a:defRPr sz="1300">
          <a:solidFill>
            <a:srgbClr val="1714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Uncurated Transcript</c:v>
                </c:pt>
              </c:strCache>
            </c:strRef>
          </c:tx>
          <c:spPr>
            <a:ln w="31750">
              <a:solidFill>
                <a:srgbClr val="2A78D6"/>
              </a:solidFill>
            </a:ln>
          </c:spPr>
          <c:marker>
            <c:spPr>
              <a:solidFill>
                <a:srgbClr val="2A78D6"/>
              </a:solidFill>
              <a:ln>
                <a:solidFill>
                  <a:srgbClr val="2A78D6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Turn 5</c:v>
                </c:pt>
                <c:pt idx="1">
                  <c:v>Turn 15</c:v>
                </c:pt>
                <c:pt idx="2">
                  <c:v>Turn 25</c:v>
                </c:pt>
                <c:pt idx="3">
                  <c:v>Turn 35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18.0</c:v>
                </c:pt>
                <c:pt idx="1">
                  <c:v>45.0</c:v>
                </c:pt>
                <c:pt idx="2">
                  <c:v>95.0</c:v>
                </c:pt>
                <c:pt idx="3">
                  <c:v>140.0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AIAAS Watermark Curation</c:v>
                </c:pt>
              </c:strCache>
            </c:strRef>
          </c:tx>
          <c:spPr>
            <a:ln w="31750">
              <a:solidFill>
                <a:srgbClr val="EB6834"/>
              </a:solidFill>
            </a:ln>
          </c:spPr>
          <c:marker>
            <c:spPr>
              <a:solidFill>
                <a:srgbClr val="EB6834"/>
              </a:solidFill>
              <a:ln>
                <a:solidFill>
                  <a:srgbClr val="EB6834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Turn 5</c:v>
                </c:pt>
                <c:pt idx="1">
                  <c:v>Turn 15</c:v>
                </c:pt>
                <c:pt idx="2">
                  <c:v>Turn 25</c:v>
                </c:pt>
                <c:pt idx="3">
                  <c:v>Turn 35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18.0</c:v>
                </c:pt>
                <c:pt idx="1">
                  <c:v>45.0</c:v>
                </c:pt>
                <c:pt idx="2">
                  <c:v>52.0</c:v>
                </c:pt>
                <c:pt idx="3">
                  <c:v>58.0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Execution Turn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CD8EE"/>
            </a:solidFill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D8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Tokens (k)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300">
          <a:solidFill>
            <a:srgbClr val="1714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Sequential Dispatch</c:v>
                </c:pt>
              </c:strCache>
            </c:strRef>
          </c:tx>
          <c:spPr>
            <a:solidFill>
              <a:srgbClr val="2A78D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3 Tools (Web+RAG+Doc)</c:v>
                </c:pt>
                <c:pt idx="1">
                  <c:v>2 Tools (Web+Clock)</c:v>
                </c:pt>
                <c:pt idx="2">
                  <c:v>1 Tool Baseline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780.0</c:v>
                </c:pt>
                <c:pt idx="1">
                  <c:v>560.0</c:v>
                </c:pt>
                <c:pt idx="2">
                  <c:v>310.0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AIAAS Parallel Dispatch</c:v>
                </c:pt>
              </c:strCache>
            </c:strRef>
          </c:tx>
          <c:spPr>
            <a:solidFill>
              <a:srgbClr val="EB6834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3 Tools (Web+RAG+Doc)</c:v>
                </c:pt>
                <c:pt idx="1">
                  <c:v>2 Tools (Web+Clock)</c:v>
                </c:pt>
                <c:pt idx="2">
                  <c:v>1 Tool Baseline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455.0</c:v>
                </c:pt>
                <c:pt idx="1">
                  <c:v>340.0</c:v>
                </c:pt>
                <c:pt idx="2">
                  <c:v>310.0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Benchmark Case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DCD8EE"/>
            </a:solidFill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CD8EE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5B5870"/>
                    </a:solidFill>
                  </a:rPr>
                  <a:t>Duration (ms)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5B587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spPr>
    <a:noFill/>
    <a:ln>
      <a:noFill/>
    </a:ln>
  </c:spPr>
  <c:txPr>
    <a:bodyPr/>
    <a:lstStyle/>
    <a:p>
      <a:pPr>
        <a:defRPr sz="1300">
          <a:solidFill>
            <a:srgbClr val="17142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Today we present the architecture, core engineering decisions, low-level design patterns, and institutional solution memory of the AIAAS 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AIAAS builds a 5-tier autonomy ladder. The default 'Ask' tier inspects tool effects: safe reads auto-run, while irreversible writes pause for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the separation of concerns: React SPA consumes SSE for interactive chat and WebSockets for background worker telemetry. The sandbox runs in an isolated container with zero internet 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Chat Assistant is a Manager: it can read, plan, and supervise, but holds no write grants. SubAgents carry explicit grants and execute state mutations.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interactive chat turns and background autonomous agents run on this exact 4-node cyclical LangGraph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the 850MB spike that caused the 2026-09-16 kernel OOM kill. AIAAS decouples tool listings into a Postgres catalogue (0MB spawn) and enforces megabyte-based admission with LRU eviction.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decoupling permission evaluation (Pass 1) from tool dispatch (Pass 2), AIAAS prevents accidental duplicate side effects during human-in-the-loop pauses.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Trimming indivisible Segments at 70% high-watermarks down to 45% keeps 40-iteration runs well within context windows while preserving provider prompt caching.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 independent tools run concurrently via asyncio.gather, reducing turn latency by over 40%. Results are sorted strictly by call index to guarantee reproducible execution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sandbox container lives on an air-gapped internal Docker network with zero egress. Even an interpreter breakout lands in an empty, resource-capped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an engineer solves a problem in chat, AIAAS automatically extracts a structured Solution record into the organization's private FAISS index. Future queries search this index and cite proven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Solutions are classified into static, version-dependent, and ephemeral claims. Staleness is computed at read-time, warning the model when dependencies may have drifted.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solution belongs to exactly one organization. Queries execute through visible_solutions() with live membership verification. Foreign IDs return 404 to prevent probing.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Steerability gives human operators active oversight during long agent runs, preventing wasted tokens and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Observability revolves around the Turn, not the Step. Models reason once per turn, so storing reasoning at the turn level preserves accurate semantic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evaluating agents through the exact same runtime entry point and using hermetic mock environments, AIAAS avoids synthetic evaluation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principles summarize the engineering discipline of AIAAS: bound all resources, enforce structural role safety, ensure idempotence, capture institutional memory, and trace cognition.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Let's move to questions, code walkthrough, and live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103120"/>
            <a:ext cx="10500055" cy="1554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4800" b="1" i="0">
                <a:solidFill>
                  <a:srgbClr val="FFFFFF"/>
                </a:solidFill>
                <a:latin typeface="Arial"/>
              </a:rPr>
              <a:t>AIAAS: Architecture &amp; Technical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94760"/>
            <a:ext cx="105000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Arial"/>
              </a:rPr>
              <a:t>Engineering Decisions, LLD Patterns, and Institutional Memory in a Production Agentic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The 5-Tier Autonomy Spectrum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Granular human-in-the-loop policies replacing binary 'ask or never ask' fatigue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Distributed System Topology &amp; Ingress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Multi-protocol streaming ingress, decoupled compute sidecars, and state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Dual-Loop Topology: Manager vs Workers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Structural capability partitioning between conversational planning and scoped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Inside the Unified AI Turn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LangGraph cyclical state machine: agent ➔ tools ➔ curate ➔ steering ➔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Decision 1: OOM Prevention &amp; Process Supervisor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91640"/>
          <a:ext cx="10911535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5B5870"/>
                </a:solidFill>
                <a:latin typeface="Arial"/>
              </a:rPr>
              <a:t>RAM impact: 8 Cold MCP starts (850 MB spike) vs AIAAS DB Catalogue &amp; Supervisor (195 MB)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Decision 2: Idempotent HITL Under Rollbacks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Solving LangGraph's interrupt replay trap: Two-Pass resolution prevents duplicate side effects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Decision 3: Indivisible Context Curation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91640"/>
          <a:ext cx="10911535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5B5870"/>
                </a:solidFill>
                <a:latin typeface="Arial"/>
              </a:rPr>
              <a:t>Token lifecycle over 40 iterations: Unbounded linear bloat vs Watermark-capped curation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Decision 4: Deterministic Parallel Tool Calling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691640"/>
          <a:ext cx="10911535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1">
                <a:solidFill>
                  <a:srgbClr val="5B5870"/>
                </a:solidFill>
                <a:latin typeface="Arial"/>
              </a:rPr>
              <a:t>Latency benchmark: Sequential execution vs asyncio.gather parallel dispatch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Decision 5: Defense-in-Depth Sandbox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Quarantining untrusted LLM-authored Python in an air-gapped container sidecar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Org-Scoped Solution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'Someone here already solved this': Automatic capture and reuse of organizational fixes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Dynamic Freshness &amp; Staleness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Evaluating claim durability at read-time to prevent outdated documentation hallucination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Multi-Tenancy &amp; Zero-Leak Org Isolation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Hardware and row-level separation guaranteeing organizational data confidentiality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Qualitative Analysis: Mid-Flight Steerability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Eliminating fire-and-forget black boxes: Real-time operator guidance during live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Qualitative Analysis: Relational Observability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Structuring execution traces around cognitive turns rather than inferred DAG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Qualitative Analysis: Evaluation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Hermetic mock testing worlds, unoverwritable auto-grades, and pre-deploy CI gates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3200" b="1" i="0">
                <a:solidFill>
                  <a:srgbClr val="17142B"/>
                </a:solidFill>
                <a:latin typeface="Arial"/>
              </a:rPr>
              <a:t>Core Tenets of Industrial Agentic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44752"/>
            <a:ext cx="822960" cy="508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8040" y="1691640"/>
            <a:ext cx="7595615" cy="40690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33872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B5870"/>
                </a:solidFill>
                <a:latin typeface="Arial"/>
              </a:rPr>
              <a:t>Proven architectural principles separating toy agent wrappers from enterprise automation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103120"/>
            <a:ext cx="10500055" cy="15544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Arial"/>
              </a:rPr>
              <a:t>AIAAS: Built for Real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794760"/>
            <a:ext cx="1050005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Arial"/>
              </a:rPr>
              <a:t>Technical Discussion, Architecture Q&amp;A, and Code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00800"/>
            <a:ext cx="9144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5B587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AIAAS: Architecture &amp; Technical Overview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