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3.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 curation</c:v>
                </c:pt>
              </c:strCache>
            </c:strRef>
          </c:tx>
          <c:spPr>
            <a:solidFill>
              <a:srgbClr val="C4433A"/>
            </a:solidFill>
            <a:ln w="28575" cap="flat">
              <a:solidFill>
                <a:srgbClr val="C443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33A"/>
              </a:solidFill>
              <a:ln w="9525" cap="flat">
                <a:solidFill>
                  <a:srgbClr val="C4433A"/>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Sheet1!$B$2:$B$41</c:f>
              <c:numCache>
                <c:formatCode>General</c:formatCode>
                <c:ptCount val="40"/>
                <c:pt idx="0">
                  <c:v>6</c:v>
                </c:pt>
                <c:pt idx="1">
                  <c:v>10</c:v>
                </c:pt>
                <c:pt idx="2">
                  <c:v>14</c:v>
                </c:pt>
                <c:pt idx="3">
                  <c:v>18</c:v>
                </c:pt>
                <c:pt idx="4">
                  <c:v>22</c:v>
                </c:pt>
                <c:pt idx="5">
                  <c:v>26</c:v>
                </c:pt>
                <c:pt idx="6">
                  <c:v>30</c:v>
                </c:pt>
                <c:pt idx="7">
                  <c:v>34</c:v>
                </c:pt>
                <c:pt idx="8">
                  <c:v>38</c:v>
                </c:pt>
                <c:pt idx="9">
                  <c:v>42</c:v>
                </c:pt>
                <c:pt idx="10">
                  <c:v>46</c:v>
                </c:pt>
                <c:pt idx="11">
                  <c:v>50</c:v>
                </c:pt>
                <c:pt idx="12">
                  <c:v>54</c:v>
                </c:pt>
                <c:pt idx="13">
                  <c:v>58</c:v>
                </c:pt>
                <c:pt idx="14">
                  <c:v>62</c:v>
                </c:pt>
                <c:pt idx="15">
                  <c:v>66</c:v>
                </c:pt>
                <c:pt idx="16">
                  <c:v>70</c:v>
                </c:pt>
                <c:pt idx="17">
                  <c:v>74</c:v>
                </c:pt>
                <c:pt idx="18">
                  <c:v>78</c:v>
                </c:pt>
                <c:pt idx="19">
                  <c:v>82</c:v>
                </c:pt>
                <c:pt idx="20">
                  <c:v>86</c:v>
                </c:pt>
                <c:pt idx="21">
                  <c:v>90</c:v>
                </c:pt>
                <c:pt idx="22">
                  <c:v>94</c:v>
                </c:pt>
                <c:pt idx="23">
                  <c:v>98</c:v>
                </c:pt>
                <c:pt idx="24">
                  <c:v>102</c:v>
                </c:pt>
                <c:pt idx="25">
                  <c:v>106</c:v>
                </c:pt>
                <c:pt idx="26">
                  <c:v>110</c:v>
                </c:pt>
                <c:pt idx="27">
                  <c:v>114</c:v>
                </c:pt>
                <c:pt idx="28">
                  <c:v>118</c:v>
                </c:pt>
                <c:pt idx="29">
                  <c:v>122</c:v>
                </c:pt>
                <c:pt idx="30">
                  <c:v>126</c:v>
                </c:pt>
                <c:pt idx="31">
                  <c:v>130</c:v>
                </c:pt>
                <c:pt idx="32">
                  <c:v>134</c:v>
                </c:pt>
                <c:pt idx="33">
                  <c:v>138</c:v>
                </c:pt>
                <c:pt idx="34">
                  <c:v>142</c:v>
                </c:pt>
                <c:pt idx="35">
                  <c:v>146</c:v>
                </c:pt>
                <c:pt idx="36">
                  <c:v>150</c:v>
                </c:pt>
                <c:pt idx="37">
                  <c:v>154</c:v>
                </c:pt>
                <c:pt idx="38">
                  <c:v>158</c:v>
                </c:pt>
                <c:pt idx="39">
                  <c:v>160</c:v>
                </c:pt>
              </c:numCache>
            </c:numRef>
          </c:val>
          <c:smooth val="0"/>
        </c:ser>
        <c:ser>
          <c:idx val="1"/>
          <c:order val="1"/>
          <c:tx>
            <c:strRef>
              <c:f>Sheet1!$C$1</c:f>
              <c:strCache>
                <c:ptCount val="1"/>
                <c:pt idx="0">
                  <c:v>Watermark curation</c:v>
                </c:pt>
              </c:strCache>
            </c:strRef>
          </c:tx>
          <c:spPr>
            <a:solidFill>
              <a:srgbClr val="15877D"/>
            </a:solidFill>
            <a:ln w="28575" cap="flat">
              <a:solidFill>
                <a:srgbClr val="15877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5877D"/>
              </a:solidFill>
              <a:ln w="9525" cap="flat">
                <a:solidFill>
                  <a:srgbClr val="15877D"/>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Sheet1!$C$2:$C$41</c:f>
              <c:numCache>
                <c:formatCode>General</c:formatCode>
                <c:ptCount val="40"/>
                <c:pt idx="0">
                  <c:v>6</c:v>
                </c:pt>
                <c:pt idx="1">
                  <c:v>10</c:v>
                </c:pt>
                <c:pt idx="2">
                  <c:v>14</c:v>
                </c:pt>
                <c:pt idx="3">
                  <c:v>18</c:v>
                </c:pt>
                <c:pt idx="4">
                  <c:v>22</c:v>
                </c:pt>
                <c:pt idx="5">
                  <c:v>26</c:v>
                </c:pt>
                <c:pt idx="6">
                  <c:v>30</c:v>
                </c:pt>
                <c:pt idx="7">
                  <c:v>34</c:v>
                </c:pt>
                <c:pt idx="8">
                  <c:v>38</c:v>
                </c:pt>
                <c:pt idx="9">
                  <c:v>42</c:v>
                </c:pt>
                <c:pt idx="10">
                  <c:v>46</c:v>
                </c:pt>
                <c:pt idx="11">
                  <c:v>50</c:v>
                </c:pt>
                <c:pt idx="12">
                  <c:v>54</c:v>
                </c:pt>
                <c:pt idx="13">
                  <c:v>58</c:v>
                </c:pt>
                <c:pt idx="14">
                  <c:v>62</c:v>
                </c:pt>
                <c:pt idx="15">
                  <c:v>66</c:v>
                </c:pt>
                <c:pt idx="16">
                  <c:v>45</c:v>
                </c:pt>
                <c:pt idx="17">
                  <c:v>49</c:v>
                </c:pt>
                <c:pt idx="18">
                  <c:v>53</c:v>
                </c:pt>
                <c:pt idx="19">
                  <c:v>57</c:v>
                </c:pt>
                <c:pt idx="20">
                  <c:v>61</c:v>
                </c:pt>
                <c:pt idx="21">
                  <c:v>65</c:v>
                </c:pt>
                <c:pt idx="22">
                  <c:v>69</c:v>
                </c:pt>
                <c:pt idx="23">
                  <c:v>45</c:v>
                </c:pt>
                <c:pt idx="24">
                  <c:v>49</c:v>
                </c:pt>
                <c:pt idx="25">
                  <c:v>53</c:v>
                </c:pt>
                <c:pt idx="26">
                  <c:v>57</c:v>
                </c:pt>
                <c:pt idx="27">
                  <c:v>61</c:v>
                </c:pt>
                <c:pt idx="28">
                  <c:v>65</c:v>
                </c:pt>
                <c:pt idx="29">
                  <c:v>69</c:v>
                </c:pt>
                <c:pt idx="30">
                  <c:v>45</c:v>
                </c:pt>
                <c:pt idx="31">
                  <c:v>49</c:v>
                </c:pt>
                <c:pt idx="32">
                  <c:v>53</c:v>
                </c:pt>
                <c:pt idx="33">
                  <c:v>57</c:v>
                </c:pt>
                <c:pt idx="34">
                  <c:v>61</c:v>
                </c:pt>
                <c:pt idx="35">
                  <c:v>65</c:v>
                </c:pt>
                <c:pt idx="36">
                  <c:v>69</c:v>
                </c:pt>
                <c:pt idx="37">
                  <c:v>45</c:v>
                </c:pt>
                <c:pt idx="38">
                  <c:v>49</c:v>
                </c:pt>
                <c:pt idx="39">
                  <c:v>53</c:v>
                </c:pt>
              </c:numCache>
            </c:numRef>
          </c:val>
          <c:smooth val="0"/>
        </c:ser>
        <c:ser>
          <c:idx val="2"/>
          <c:order val="2"/>
          <c:tx>
            <c:strRef>
              <c:f>Sheet1!$D$1</c:f>
              <c:strCache>
                <c:ptCount val="1"/>
                <c:pt idx="0">
                  <c:v>Context window</c:v>
                </c:pt>
              </c:strCache>
            </c:strRef>
          </c:tx>
          <c:spPr>
            <a:solidFill>
              <a:srgbClr val="8A93A1"/>
            </a:solidFill>
            <a:ln w="28575" cap="flat">
              <a:solidFill>
                <a:srgbClr val="8A93A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A1"/>
              </a:solidFill>
              <a:ln w="9525" cap="flat">
                <a:solidFill>
                  <a:srgbClr val="8A93A1"/>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Sheet1!$D$2:$D$41</c:f>
              <c:numCache>
                <c:formatCode>General</c:formatCode>
                <c:ptCount val="40"/>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472"/>
                    </a:solidFill>
                    <a:latin typeface="Arial"/>
                  </a:defRPr>
                </a:pPr>
                <a:r>
                  <a:rPr sz="1100" b="0" i="0" u="none" strike="noStrike">
                    <a:solidFill>
                      <a:srgbClr val="5B6472"/>
                    </a:solidFill>
                    <a:latin typeface="Arial"/>
                  </a:rPr>
                  <a:t>iteration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tickLblSkip val="5"/>
      </c:catAx>
      <c:valAx>
        <c:axId val="2094734552"/>
        <c:scaling>
          <c:orientation val="minMax"/>
          <c:max val="160"/>
          <c:min val="0"/>
        </c:scaling>
        <c:delete val="0"/>
        <c:axPos val="l"/>
        <c:majorGridlines>
          <c:spPr>
            <a:ln w="6350" cap="flat">
              <a:solidFill>
                <a:srgbClr val="E6E9EE"/>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 of context budget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1100">
              <a:solidFill>
                <a:srgbClr val="5B6472"/>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Daphne web server</c:v>
                </c:pt>
              </c:strCache>
            </c:strRef>
          </c:tx>
          <c:spPr>
            <a:solidFill>
              <a:srgbClr val="4E5A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Web server</c:v>
                  </c:pt>
                  <c:pt idx="1">
                    <c:v>+ first connector</c:v>
                  </c:pt>
                  <c:pt idx="2">
                    <c:v>+ Gmail connector</c:v>
                  </c:pt>
                </c:lvl>
              </c:multiLvlStrCache>
            </c:multiLvlStrRef>
          </c:cat>
          <c:val>
            <c:numRef>
              <c:f>Sheet1!$B$2:$B$4</c:f>
              <c:numCache>
                <c:formatCode>General</c:formatCode>
                <c:ptCount val="3"/>
                <c:pt idx="0">
                  <c:v>220</c:v>
                </c:pt>
                <c:pt idx="1">
                  <c:v>220</c:v>
                </c:pt>
                <c:pt idx="2">
                  <c:v>220</c:v>
                </c:pt>
              </c:numCache>
            </c:numRef>
          </c:val>
        </c:ser>
        <c:ser>
          <c:idx val="1"/>
          <c:order val="1"/>
          <c:tx>
            <c:strRef>
              <c:f>Sheet1!$C$1</c:f>
              <c:strCache>
                <c:ptCount val="1"/>
                <c:pt idx="0">
                  <c:v>Connector</c:v>
                </c:pt>
              </c:strCache>
            </c:strRef>
          </c:tx>
          <c:spPr>
            <a:solidFill>
              <a:srgbClr val="E08A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Web server</c:v>
                  </c:pt>
                  <c:pt idx="1">
                    <c:v>+ first connector</c:v>
                  </c:pt>
                  <c:pt idx="2">
                    <c:v>+ Gmail connector</c:v>
                  </c:pt>
                </c:lvl>
              </c:multiLvlStrCache>
            </c:multiLvlStrRef>
          </c:cat>
          <c:val>
            <c:numRef>
              <c:f>Sheet1!$C$2:$C$4</c:f>
              <c:numCache>
                <c:formatCode>General</c:formatCode>
                <c:ptCount val="3"/>
                <c:pt idx="0">
                  <c:v>0</c:v>
                </c:pt>
                <c:pt idx="1">
                  <c:v>69</c:v>
                </c:pt>
                <c:pt idx="2">
                  <c:v>69</c:v>
                </c:pt>
              </c:numCache>
            </c:numRef>
          </c:val>
        </c:ser>
        <c:ser>
          <c:idx val="2"/>
          <c:order val="2"/>
          <c:tx>
            <c:strRef>
              <c:f>Sheet1!$D$1</c:f>
              <c:strCache>
                <c:ptCount val="1"/>
                <c:pt idx="0">
                  <c:v>Gmail connector</c:v>
                </c:pt>
              </c:strCache>
            </c:strRef>
          </c:tx>
          <c:spPr>
            <a:solidFill>
              <a:srgbClr val="C443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Web server</c:v>
                  </c:pt>
                  <c:pt idx="1">
                    <c:v>+ first connector</c:v>
                  </c:pt>
                  <c:pt idx="2">
                    <c:v>+ Gmail connector</c:v>
                  </c:pt>
                </c:lvl>
              </c:multiLvlStrCache>
            </c:multiLvlStrRef>
          </c:cat>
          <c:val>
            <c:numRef>
              <c:f>Sheet1!$D$2:$D$4</c:f>
              <c:numCache>
                <c:formatCode>General</c:formatCode>
                <c:ptCount val="3"/>
                <c:pt idx="0">
                  <c:v>0</c:v>
                </c:pt>
                <c:pt idx="1">
                  <c:v>0</c:v>
                </c:pt>
                <c:pt idx="2">
                  <c:v>150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lineChart>
        <c:varyColors val="0"/>
        <c:ser>
          <c:idx val="3"/>
          <c:order val="3"/>
          <c:tx>
            <c:strRef>
              <c:f>Sheet1!$E$1</c:f>
              <c:strCache>
                <c:ptCount val="1"/>
                <c:pt idx="0">
                  <c:v>Container limit (384 MB)</c:v>
                </c:pt>
              </c:strCache>
            </c:strRef>
          </c:tx>
          <c:spPr>
            <a:solidFill>
              <a:srgbClr val="151922"/>
            </a:solidFill>
            <a:ln w="25400" cap="flat">
              <a:solidFill>
                <a:srgbClr val="151922"/>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51922"/>
              </a:solidFill>
              <a:ln w="9525" cap="flat">
                <a:solidFill>
                  <a:srgbClr val="151922"/>
                </a:solidFill>
                <a:prstDash val="solid"/>
                <a:round/>
              </a:ln>
              <a:effectLst/>
            </c:spPr>
          </c:marker>
          <c:cat>
            <c:multiLvlStrRef>
              <c:f>Sheet1!$A$2:$A$4</c:f>
              <c:multiLvlStrCache>
                <c:ptCount val="3"/>
                <c:lvl>
                  <c:pt idx="0">
                    <c:v>Web server</c:v>
                  </c:pt>
                  <c:pt idx="1">
                    <c:v>+ first connector</c:v>
                  </c:pt>
                  <c:pt idx="2">
                    <c:v>+ Gmail connector</c:v>
                  </c:pt>
                </c:lvl>
              </c:multiLvlStrCache>
            </c:multiLvlStrRef>
          </c:cat>
          <c:val>
            <c:numRef>
              <c:f>Sheet1!$E$2:$E$4</c:f>
              <c:numCache>
                <c:formatCode>General</c:formatCode>
                <c:ptCount val="3"/>
                <c:pt idx="0">
                  <c:v>384</c:v>
                </c:pt>
                <c:pt idx="1">
                  <c:v>384</c:v>
                </c:pt>
                <c:pt idx="2">
                  <c:v>384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C212B"/>
                </a:solidFill>
                <a:latin typeface="Arial"/>
              </a:defRPr>
            </a:pPr>
            <a:endParaRPr lang="en-US"/>
          </a:p>
        </c:txPr>
        <c:crossAx val="2094734552"/>
        <c:crosses val="autoZero"/>
        <c:auto val="1"/>
        <c:lblAlgn val="ctr"/>
        <c:noMultiLvlLbl val="1"/>
      </c:catAx>
      <c:valAx>
        <c:axId val="2094734552"/>
        <c:scaling>
          <c:orientation val="minMax"/>
          <c:max val="450"/>
          <c:min val="0"/>
        </c:scaling>
        <c:delete val="0"/>
        <c:axPos val="l"/>
        <c:majorGridlines>
          <c:spPr>
            <a:ln w="6350" cap="flat">
              <a:solidFill>
                <a:srgbClr val="E6E9EE"/>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MB resident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5B6472"/>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8A93A1"/>
            </a:solidFill>
            <a:effectLst/>
          </c:spPr>
          <c:invertIfNegative val="0"/>
          <c:dLbls>
            <c:numFmt formatCode="General&quot; s&quot;" sourceLinked="0"/>
            <c:txPr>
              <a:bodyPr/>
              <a:lstStyle/>
              <a:p>
                <a:pPr>
                  <a:defRPr b="0" i="0" strike="noStrike" sz="1200" u="none">
                    <a:solidFill>
                      <a:srgbClr val="1C212B"/>
                    </a:solidFill>
                    <a:latin typeface="Arial"/>
                  </a:defRPr>
                </a:pPr>
              </a:p>
            </c:txPr>
            <c:showLegendKey val="0"/>
            <c:showVal val="1"/>
            <c:showCatName val="0"/>
            <c:showSerName val="0"/>
            <c:showPercent val="0"/>
            <c:showBubbleSize val="0"/>
            <c:showLeaderLines val="0"/>
          </c:dLbls>
          <c:cat>
            <c:multiLvlStrRef>
              <c:f>Sheet1!$A$2:$A$3</c:f>
              <c:multiLvlStrCache>
                <c:ptCount val="2"/>
                <c:lvl>
                  <c:pt idx="0">
                    <c:v>Restart to listening</c:v>
                  </c:pt>
                  <c:pt idx="1">
                    <c:v>Deploy API downtime</c:v>
                  </c:pt>
                </c:lvl>
              </c:multiLvlStrCache>
            </c:multiLvlStrRef>
          </c:cat>
          <c:val>
            <c:numRef>
              <c:f>Sheet1!$B$2:$B$3</c:f>
              <c:numCache>
                <c:formatCode>General</c:formatCode>
                <c:ptCount val="2"/>
                <c:pt idx="0">
                  <c:v>44</c:v>
                </c:pt>
                <c:pt idx="1">
                  <c:v>55</c:v>
                </c:pt>
              </c:numCache>
            </c:numRef>
          </c:val>
        </c:ser>
        <c:ser>
          <c:idx val="1"/>
          <c:order val="1"/>
          <c:tx>
            <c:strRef>
              <c:f>Sheet1!$C$1</c:f>
              <c:strCache>
                <c:ptCount val="1"/>
                <c:pt idx="0">
                  <c:v>After</c:v>
                </c:pt>
              </c:strCache>
            </c:strRef>
          </c:tx>
          <c:spPr>
            <a:solidFill>
              <a:srgbClr val="15877D"/>
            </a:solidFill>
            <a:effectLst/>
          </c:spPr>
          <c:invertIfNegative val="0"/>
          <c:dLbls>
            <c:numFmt formatCode="General&quot; s&quot;" sourceLinked="0"/>
            <c:txPr>
              <a:bodyPr/>
              <a:lstStyle/>
              <a:p>
                <a:pPr>
                  <a:defRPr b="0" i="0" strike="noStrike" sz="1200" u="none">
                    <a:solidFill>
                      <a:srgbClr val="1C212B"/>
                    </a:solidFill>
                    <a:latin typeface="Arial"/>
                  </a:defRPr>
                </a:pPr>
              </a:p>
            </c:txPr>
            <c:showLegendKey val="0"/>
            <c:showVal val="1"/>
            <c:showCatName val="0"/>
            <c:showSerName val="0"/>
            <c:showPercent val="0"/>
            <c:showBubbleSize val="0"/>
            <c:showLeaderLines val="0"/>
          </c:dLbls>
          <c:cat>
            <c:multiLvlStrRef>
              <c:f>Sheet1!$A$2:$A$3</c:f>
              <c:multiLvlStrCache>
                <c:ptCount val="2"/>
                <c:lvl>
                  <c:pt idx="0">
                    <c:v>Restart to listening</c:v>
                  </c:pt>
                  <c:pt idx="1">
                    <c:v>Deploy API downtime</c:v>
                  </c:pt>
                </c:lvl>
              </c:multiLvlStrCache>
            </c:multiLvlStrRef>
          </c:cat>
          <c:val>
            <c:numRef>
              <c:f>Sheet1!$C$2:$C$3</c:f>
              <c:numCache>
                <c:formatCode>General</c:formatCode>
                <c:ptCount val="2"/>
                <c:pt idx="0">
                  <c:v>11.4</c:v>
                </c:pt>
                <c:pt idx="1">
                  <c:v>20</c:v>
                </c:pt>
              </c:numCache>
            </c:numRef>
          </c:val>
        </c:ser>
        <c:dLbls>
          <c:numFmt formatCode="General&quot; s&quot;" sourceLinked="0"/>
          <c:txPr>
            <a:bodyPr/>
            <a:lstStyle/>
            <a:p>
              <a:pPr>
                <a:defRPr b="0" i="0" strike="noStrike" sz="1200" u="none">
                  <a:solidFill>
                    <a:srgbClr val="1C212B"/>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12B"/>
                </a:solidFill>
                <a:latin typeface="Arial"/>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6E9EE"/>
              </a:solidFill>
              <a:prstDash val="solid"/>
              <a:round/>
            </a:ln>
          </c:spPr>
        </c:majorGridlines>
        <c:numFmt formatCode="0&quot; s&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5B64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how AIAAS is built: the request path, the single agent turn loop, the permission model, and the engineering decisions behind the production system — each with the problem it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project exists. Companies are full of repetitive work that AI could take over, but nobody hands an AI the company mailbox without brakes. AIAAS is built on both halves: automate the redundant work, and keep people in control. The goal is to make information and intelligence abundant across an organisation, and controlled. Everything in the rest of the talk serves one of those two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AIAAS separates the conversation from the work. The chat can read, plan and delegate; anything that writes, sends, publishes or spends is done by a subagent the user configured. The four numbers on the right come up again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The three in amber get the most time: how the manager and workers cooperate, how a long run stays inside its context window, and how agents and people share files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turns stream back over server-sent events because the request is a POST; long-running agent runs, approval requests and notifications use a WebSocket. Everything runs on one host. The Python sandbox is a separate container on an internal-only network, so model-written code has no route to the internet or to the application's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grouped into three layers. The rule is simple: depend downward, and never import another app's views. It is enforced by .importlinter and a test, so a new cross-layer import fails CI instead of quietly accumulating. The known remaining debt is that the turn loop and tool library still live inside the chat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product that preceded agents had a supervisor, a task queue and a trigger manager that each started work slightly differently. Now there is one entry point with a caller field. Guardrails live at that door, so no caller can skip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turns and agent runs share this loop. When the loop grew from two nodes to four, the recursion limit was still sized for two, so a 40-iteration agent died at roughly half its budget without a partial answer. The limit now comes from a constant that a test pins against the graph's node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subagent's reach is configured by the user; chat's cannot be. So chat is limited to reading, planning and delegating. When a worker needs an answer or an approval, the request comes up to the manager, which can answer questions itself but must route real approvals through the normal gates — in ask mode, to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product moved from a drag-and-drop workflow canvas to agents, the unit became a configuration row. Composition is a grant, not a second type. Every write — the builder, chat authoring an agent, installing a template — goes through one serializer, because that is where the ownership checks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Depth stops chains of agents calling agents. Budget is divided up front because the spend check reads, then runs — eight workers launched together would all pass it. Instructions going down are refused when too long, because a trimmed instruction is a worker confidently doing the wrong job; answers coming up are trimmed but archived, so nothing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every fan-out paid its whole result back into the parent's context window. Now the answer is a path. The scope rules are careful: being delegated to is not consent to start writing, and passing through an empty prefix would silently upgrade a worker to write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coding team: a lead plus up to three workers. Starting and waiting are separate tools, so the lead gets a turn every time something happens and can re-steer a worker whose target just changed shape. The same verbs are buttons in the plan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long time answering in the Inbox resumed nothing — it closed the row and the agent stayed parked. Now the manager sees what a worker is waiting on and answers questions itself. Approvals still reach you in ask mode, and the card never offers 'always allow', because that would approve every future request from every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permission were checked inline, the safe half of a batch would run, the run would pause on the sensitive call, and on resume the safe half would run again. Splitting approval from dispatch makes the node safe to replay. Rejecting a call is the mirror of approving it, so a declined call never leaves a run parked for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resolves to a pair: the tool names that gate on sight, and a policy for calls no list can name — every MCP tool, whose names are minted at runtime. Tools declare their effect as read, reversible or irreversible, defaulting to irreversible, so an unknown tool can never make a level looser by accident. A mode switch mid-run does not answer a question already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boolean grant handed an agent every connection the account owned. So each grant got a scope, then a tool list, then per-tool permissions. Enforcement happens both when tools are offered and again at dispatch, because a model will name a tool it saw earlier in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clock used to be in the system prompt, which meant the start of every request was different on every turn and no provider could ever reuse a cached prefix. Now the system prompt holds only what is stable for the session, and everything that moves rides in a trailing context message. What does not fit in the window is not lost: it is one tool call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clamp dropped one message at a time, could strand tool results without their call, counted only message content, and applied one flat limit to every model. The segment rule, the watermark and the archive replace it. The chart shows the shape of the behaviour, not measured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story in the context section. Each unit test covered one hop and passed. The test that caught it drove three real turns through the real graph and asserted on the exact request that left for the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iteration 30 an agent without a plan is working from a compressed trace of its own footsteps. The plan fixes that without anyone maintaining a list of things curation must not touch. Revision history exists because replacing the whole list made a step dropped unfinished look exactly like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was a real bug or a real risk. Note the split: things arriving from outside, like tool results, are trimmed and archived, because they can't be sent back; instructions written by our own model are refused, because the model can be told to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file tools look like a POSIX filesystem to the model, but underneath they are rows in the user's own folder and document tables. Readable and writable are two separate subtrees, which is what makes read-everything, write-only-here possible. A delete goes to the user's recycle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fix — a unique constraint on folder and name — would break uploads, which create same-named files deliberately. So the write path takes a lock on that one name, and a caller can say which version it read. edit_file is also exact-match-or-refuse: text that is missing or appears twice is an error, never a silent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Leases make collisions rare; the hash check makes them harmless. Correctness never depends on a notice being delivered — a missed notice still ends in a refused write, not a lost edit. Only the integrator role may commit, push or open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a model to write python-pptx code gives you a different-looking deck every time, with text off the edge. Instead the model fills in a small spec and our renderer owns every visual decision — the same rule as charts, one level up. Overwriting a file replaces it in place and keeps the old one as a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 opens full-screen under one bar: home, app switcher, rename, a File menu with export, and save status. Tabs per app are restored from the server, and every file previews through the same component in chat, the runs page and the file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render moves the file's updated time under the open editor, which would make the editor's next save look stale. So a render records itself, and an etag from before it still lands as long as nothing else wrote. A render also only writes if its draft is still the stored one, so a draft saved mid-render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for a live demo, this is its script. Each step uses something from the talk: the plan dock, delegation with files passed back, the approval and question cards, the file card opening in an app, autosave and versions, and a schedule read in the owner's timezone.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connection-count cap could not prevent this: nothing it counted existed yet. At 220 MB plus one 69 MB connector the container sits at 76%, under any sane ceiling, and the next connector pushes it past the limit. Admission is now checked against what is about to be spent, and the Google connectors no longer spawn processes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web searches used to cost three round trips. Now the safe calls in a batch run together. The prompts also tell the model to batch, because the engine can only help within one batch. The timeline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sidecar is a separate image with numpy and pandas, on a network with no egress, with all capabilities dropped and a read-only root. Each snippet runs in its own process group with resource limits. The in-process fallback exists only for local development and never takes over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tools were a zero-approval way to send data out: fetch a URL with the inbox appended. Now a composed URL may not carry data. Tool results that look like instructions taint the turn. Connector tools are pinned so a server cannot quietly rewrite a tool's description. The full map to the OWASP Agentic Top 10 is in SAFETY_AND_GUARDRAILS.md.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at rest is the baseline. The more interesting part is keeping the value away from the model: tools take a reference, the approval card shows the reference, and the value is resolved only after approval and scrubbed from the result. The worst bug here was a connector subprocess inheriting the whole environment, which handed third-party code the key to every user's vault — fixed with an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junior asking what a senior already fixed should get the fix, not a fresh investigation. Capture is automatic and cheap. Freshness is computed at read time from the claim kind, so a port number from last quarter is flagged for checking while a general principle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Organisations were added for one purpose: sharing solved problems. The organisation is taken from the chat, never from a tool argument, so a model cannot ask for another org's data. Search vectors are loaded per scope rather than held in one shared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turns were reconstructed at read time from a JSON blob and each step carried the last 150 characters of reasoning. Now turns are rows, steps hang off them and are opened before the tool runs, and a delegated worker's run points at the exact step that started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 model that grades is deliberately different from the model under test. Generated cases arrive as drafts and are accepted by a person on the Evals page. Simulators mirror the real tools' result shapes field for field, and a coverage test fails if a native tool gains no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in the built image at 384 MB; the production deploy figure is from the 2026-09-26 rollout on the smaller host. The same change moved every periodic job into the scheduler loop, because a beat entry with no Celery running simply never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here is recorded in CLAUDE.md or a plan document in Backend/docs. Showing them is deliberate: it tells the audience the rest of the deck is not hiding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rules explain most of the decisions in this deck. Thank you — happy to go into any part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image" Target="../media/image-27-15.png"/><Relationship Id="rId16" Type="http://schemas.openxmlformats.org/officeDocument/2006/relationships/slideLayout" Target="../slideLayouts/slideLayout1.xml"/><Relationship Id="rId1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22"/>
        </a:solidFill>
      </p:bgPr>
    </p:bg>
    <p:spTree>
      <p:nvGrpSpPr>
        <p:cNvPr id="1" name=""/>
        <p:cNvGrpSpPr/>
        <p:nvPr/>
      </p:nvGrpSpPr>
      <p:grpSpPr>
        <a:xfrm>
          <a:off x="0" y="0"/>
          <a:ext cx="0" cy="0"/>
          <a:chOff x="0" y="0"/>
          <a:chExt cx="0" cy="0"/>
        </a:xfrm>
      </p:grpSpPr>
      <p:sp>
        <p:nvSpPr>
          <p:cNvPr id="2" name="Text 0"/>
          <p:cNvSpPr txBox="1"/>
          <p:nvPr/>
        </p:nvSpPr>
        <p:spPr>
          <a:xfrm>
            <a:off x="640080" y="1005840"/>
            <a:ext cx="6400800" cy="274320"/>
          </a:xfrm>
          <a:prstGeom prst="rect">
            <a:avLst/>
          </a:prstGeom>
          <a:noFill/>
          <a:ln/>
        </p:spPr>
        <p:txBody>
          <a:bodyPr wrap="square" lIns="0" tIns="0" rIns="0" bIns="0" rtlCol="0" anchor="t"/>
          <a:lstStyle/>
          <a:p>
            <a:pPr algn="l" indent="0" marL="0">
              <a:buNone/>
            </a:pPr>
            <a:r>
              <a:rPr lang="en-US" sz="1200" b="1" spc="300" kern="0" dirty="0">
                <a:solidFill>
                  <a:srgbClr val="E08A1E"/>
                </a:solidFill>
                <a:latin typeface="Arial" pitchFamily="34" charset="0"/>
                <a:ea typeface="Arial" pitchFamily="34" charset="-122"/>
                <a:cs typeface="Arial" pitchFamily="34" charset="-120"/>
              </a:rPr>
              <a:t>TECHNICAL OVERVIEW  ·  SEPTEMBER 2026</a:t>
            </a:r>
            <a:endParaRPr lang="en-US" sz="1200" dirty="0"/>
          </a:p>
        </p:txBody>
      </p:sp>
      <p:sp>
        <p:nvSpPr>
          <p:cNvPr id="3" name="Text 1"/>
          <p:cNvSpPr txBox="1"/>
          <p:nvPr/>
        </p:nvSpPr>
        <p:spPr>
          <a:xfrm>
            <a:off x="640080" y="1463040"/>
            <a:ext cx="6400800" cy="1097280"/>
          </a:xfrm>
          <a:prstGeom prst="rect">
            <a:avLst/>
          </a:prstGeom>
          <a:noFill/>
          <a:ln/>
        </p:spPr>
        <p:txBody>
          <a:bodyPr wrap="square" lIns="0" tIns="0" rIns="0" bIns="0" rtlCol="0" anchor="t"/>
          <a:lstStyle/>
          <a:p>
            <a:pPr algn="l" indent="0" marL="0">
              <a:buNone/>
            </a:pPr>
            <a:r>
              <a:rPr lang="en-US" sz="6600" b="1" dirty="0">
                <a:solidFill>
                  <a:srgbClr val="FFFFFF"/>
                </a:solidFill>
                <a:latin typeface="Arial" pitchFamily="34" charset="0"/>
                <a:ea typeface="Arial" pitchFamily="34" charset="-122"/>
                <a:cs typeface="Arial" pitchFamily="34" charset="-120"/>
              </a:rPr>
              <a:t>AIAAS</a:t>
            </a:r>
            <a:endParaRPr lang="en-US" sz="6600" dirty="0"/>
          </a:p>
        </p:txBody>
      </p:sp>
      <p:sp>
        <p:nvSpPr>
          <p:cNvPr id="4" name="Text 2"/>
          <p:cNvSpPr txBox="1"/>
          <p:nvPr/>
        </p:nvSpPr>
        <p:spPr>
          <a:xfrm>
            <a:off x="640080" y="2606040"/>
            <a:ext cx="6400800" cy="548640"/>
          </a:xfrm>
          <a:prstGeom prst="rect">
            <a:avLst/>
          </a:prstGeom>
          <a:noFill/>
          <a:ln/>
        </p:spPr>
        <p:txBody>
          <a:bodyPr wrap="square" lIns="0" tIns="0" rIns="0" bIns="0" rtlCol="0" anchor="t"/>
          <a:lstStyle/>
          <a:p>
            <a:pPr algn="l" indent="0" marL="0">
              <a:buNone/>
            </a:pPr>
            <a:r>
              <a:rPr lang="en-US" sz="2600" dirty="0">
                <a:solidFill>
                  <a:srgbClr val="C9D0DB"/>
                </a:solidFill>
                <a:latin typeface="Arial" pitchFamily="34" charset="0"/>
                <a:ea typeface="Arial" pitchFamily="34" charset="-122"/>
                <a:cs typeface="Arial" pitchFamily="34" charset="-120"/>
              </a:rPr>
              <a:t>Agentic AI Automation System</a:t>
            </a:r>
            <a:endParaRPr lang="en-US" sz="2600" dirty="0"/>
          </a:p>
        </p:txBody>
      </p:sp>
      <p:sp>
        <p:nvSpPr>
          <p:cNvPr id="5" name="Text 3"/>
          <p:cNvSpPr txBox="1"/>
          <p:nvPr/>
        </p:nvSpPr>
        <p:spPr>
          <a:xfrm>
            <a:off x="640080" y="3383280"/>
            <a:ext cx="5852160" cy="822960"/>
          </a:xfrm>
          <a:prstGeom prst="rect">
            <a:avLst/>
          </a:prstGeom>
          <a:noFill/>
          <a:ln/>
        </p:spPr>
        <p:txBody>
          <a:bodyPr wrap="square" lIns="0" tIns="0" rIns="0" bIns="0" rtlCol="0" anchor="t"/>
          <a:lstStyle/>
          <a:p>
            <a:pPr algn="l" indent="0" marL="0">
              <a:buNone/>
            </a:pPr>
            <a:r>
              <a:rPr lang="en-US" sz="1800" dirty="0">
                <a:solidFill>
                  <a:srgbClr val="C9D0DB"/>
                </a:solidFill>
                <a:latin typeface="Calibri" pitchFamily="34" charset="0"/>
                <a:ea typeface="Calibri" pitchFamily="34" charset="-122"/>
                <a:cs typeface="Calibri" pitchFamily="34" charset="-120"/>
              </a:rPr>
              <a:t>Automating an organisation's repetitive work — without losing control of the AI</a:t>
            </a:r>
            <a:endParaRPr lang="en-US" sz="1800" dirty="0"/>
          </a:p>
        </p:txBody>
      </p:sp>
      <p:sp>
        <p:nvSpPr>
          <p:cNvPr id="6" name="Text 4"/>
          <p:cNvSpPr txBox="1"/>
          <p:nvPr/>
        </p:nvSpPr>
        <p:spPr>
          <a:xfrm>
            <a:off x="640080" y="4206240"/>
            <a:ext cx="5852160" cy="365760"/>
          </a:xfrm>
          <a:prstGeom prst="rect">
            <a:avLst/>
          </a:prstGeom>
          <a:noFill/>
          <a:ln/>
        </p:spPr>
        <p:txBody>
          <a:bodyPr wrap="square" lIns="0" tIns="0" rIns="0" bIns="0" rtlCol="0" anchor="t"/>
          <a:lstStyle/>
          <a:p>
            <a:pPr algn="l" indent="0" marL="0">
              <a:buNone/>
            </a:pPr>
            <a:r>
              <a:rPr lang="en-US" sz="1400" dirty="0">
                <a:solidFill>
                  <a:srgbClr val="7D8796"/>
                </a:solidFill>
                <a:latin typeface="Calibri" pitchFamily="34" charset="0"/>
                <a:ea typeface="Calibri" pitchFamily="34" charset="-122"/>
                <a:cs typeface="Calibri" pitchFamily="34" charset="-120"/>
              </a:rPr>
              <a:t>Architecture, engineering decisions and guardrails</a:t>
            </a:r>
            <a:endParaRPr lang="en-US" sz="1400" dirty="0"/>
          </a:p>
        </p:txBody>
      </p:sp>
      <p:sp>
        <p:nvSpPr>
          <p:cNvPr id="7" name="Text 5"/>
          <p:cNvSpPr txBox="1"/>
          <p:nvPr/>
        </p:nvSpPr>
        <p:spPr>
          <a:xfrm>
            <a:off x="640080" y="5989320"/>
            <a:ext cx="6400800" cy="274320"/>
          </a:xfrm>
          <a:prstGeom prst="rect">
            <a:avLst/>
          </a:prstGeom>
          <a:noFill/>
          <a:ln/>
        </p:spPr>
        <p:txBody>
          <a:bodyPr wrap="square" lIns="0" tIns="0" rIns="0" bIns="0" rtlCol="0" anchor="t"/>
          <a:lstStyle/>
          <a:p>
            <a:pPr algn="l" indent="0" marL="0">
              <a:buNone/>
            </a:pPr>
            <a:r>
              <a:rPr lang="en-US" sz="1200" dirty="0">
                <a:solidFill>
                  <a:srgbClr val="7D8796"/>
                </a:solidFill>
                <a:latin typeface="Calibri" pitchFamily="34" charset="0"/>
                <a:ea typeface="Calibri" pitchFamily="34" charset="-122"/>
                <a:cs typeface="Calibri" pitchFamily="34" charset="-120"/>
              </a:rPr>
              <a:t>Django ASGI  ·  LangGraph  ·  React + Vite  ·  PostgreSQL</a:t>
            </a:r>
            <a:endParaRPr lang="en-US" sz="1200" dirty="0"/>
          </a:p>
        </p:txBody>
      </p:sp>
      <p:sp>
        <p:nvSpPr>
          <p:cNvPr id="8" name="Text 6"/>
          <p:cNvSpPr txBox="1"/>
          <p:nvPr/>
        </p:nvSpPr>
        <p:spPr>
          <a:xfrm>
            <a:off x="8366760" y="1051560"/>
            <a:ext cx="2011680" cy="640080"/>
          </a:xfrm>
          <a:prstGeom prst="roundRect">
            <a:avLst>
              <a:gd name="adj" fmla="val 11429"/>
            </a:avLst>
          </a:prstGeom>
          <a:solidFill>
            <a:srgbClr val="232A36"/>
          </a:solidFill>
          <a:ln w="12700">
            <a:solidFill>
              <a:srgbClr val="3A4352"/>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You</a:t>
            </a:r>
            <a:endParaRPr lang="en-US" sz="1400" dirty="0"/>
          </a:p>
          <a:p>
            <a:pPr algn="ctr" indent="0" marL="0">
              <a:spcAft>
                <a:spcPts val="200"/>
              </a:spcAft>
              <a:buNone/>
            </a:pPr>
            <a:r>
              <a:rPr lang="en-US" sz="1100" dirty="0">
                <a:solidFill>
                  <a:srgbClr val="AEB6C2"/>
                </a:solidFill>
                <a:latin typeface="Calibri" pitchFamily="34" charset="0"/>
                <a:ea typeface="Calibri" pitchFamily="34" charset="-122"/>
                <a:cs typeface="Calibri" pitchFamily="34" charset="-120"/>
              </a:rPr>
              <a:t>the boss</a:t>
            </a:r>
            <a:endParaRPr lang="en-US" sz="1400" dirty="0"/>
          </a:p>
        </p:txBody>
      </p:sp>
      <p:sp>
        <p:nvSpPr>
          <p:cNvPr id="9" name="Shape 7"/>
          <p:cNvSpPr/>
          <p:nvPr/>
        </p:nvSpPr>
        <p:spPr>
          <a:xfrm>
            <a:off x="9372600" y="1691640"/>
            <a:ext cx="0" cy="640080"/>
          </a:xfrm>
          <a:prstGeom prst="line">
            <a:avLst/>
          </a:prstGeom>
          <a:noFill/>
          <a:ln w="22225">
            <a:solidFill>
              <a:srgbClr val="6B7686"/>
            </a:solidFill>
            <a:prstDash val="solid"/>
            <a:tailEnd type="triangle"/>
          </a:ln>
        </p:spPr>
      </p:sp>
      <p:sp>
        <p:nvSpPr>
          <p:cNvPr id="10" name="Text 8"/>
          <p:cNvSpPr txBox="1"/>
          <p:nvPr/>
        </p:nvSpPr>
        <p:spPr>
          <a:xfrm>
            <a:off x="7909560" y="2331720"/>
            <a:ext cx="2926080" cy="868680"/>
          </a:xfrm>
          <a:prstGeom prst="roundRect">
            <a:avLst>
              <a:gd name="adj" fmla="val 8421"/>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Chat orchestrator</a:t>
            </a:r>
            <a:endParaRPr lang="en-US" sz="1500" dirty="0"/>
          </a:p>
          <a:p>
            <a:pPr algn="ctr" indent="0" marL="0">
              <a:spcAft>
                <a:spcPts val="200"/>
              </a:spcAft>
              <a:buNone/>
            </a:pPr>
            <a:r>
              <a:rPr lang="en-US" sz="1200" dirty="0">
                <a:solidFill>
                  <a:srgbClr val="FFF3E3"/>
                </a:solidFill>
                <a:latin typeface="Calibri" pitchFamily="34" charset="0"/>
                <a:ea typeface="Calibri" pitchFamily="34" charset="-122"/>
                <a:cs typeface="Calibri" pitchFamily="34" charset="-120"/>
              </a:rPr>
              <a:t>reads · plans · delegates</a:t>
            </a:r>
            <a:endParaRPr lang="en-US" sz="1500" dirty="0"/>
          </a:p>
        </p:txBody>
      </p:sp>
      <p:sp>
        <p:nvSpPr>
          <p:cNvPr id="11" name="Shape 9"/>
          <p:cNvSpPr/>
          <p:nvPr/>
        </p:nvSpPr>
        <p:spPr>
          <a:xfrm flipH="1">
            <a:off x="7955280" y="3200400"/>
            <a:ext cx="1417320" cy="777240"/>
          </a:xfrm>
          <a:prstGeom prst="line">
            <a:avLst/>
          </a:prstGeom>
          <a:noFill/>
          <a:ln w="22225">
            <a:solidFill>
              <a:srgbClr val="6B7686"/>
            </a:solidFill>
            <a:prstDash val="solid"/>
            <a:tailEnd type="triangle"/>
          </a:ln>
        </p:spPr>
      </p:sp>
      <p:sp>
        <p:nvSpPr>
          <p:cNvPr id="12" name="Text 10"/>
          <p:cNvSpPr txBox="1"/>
          <p:nvPr/>
        </p:nvSpPr>
        <p:spPr>
          <a:xfrm>
            <a:off x="7360920" y="3977640"/>
            <a:ext cx="1188720" cy="822960"/>
          </a:xfrm>
          <a:prstGeom prst="roundRect">
            <a:avLst>
              <a:gd name="adj" fmla="val 8889"/>
            </a:avLst>
          </a:prstGeom>
          <a:solidFill>
            <a:srgbClr val="15877D"/>
          </a:solidFill>
          <a:ln w="12700">
            <a:solidFill>
              <a:srgbClr val="15877D"/>
            </a:solidFill>
            <a:prstDash val="solid"/>
          </a:ln>
        </p:spPr>
        <p:txBody>
          <a:bodyPr wrap="square" lIns="25400" tIns="38100" rIns="38100" bIns="254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Analyst</a:t>
            </a:r>
            <a:endParaRPr lang="en-US" sz="125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subagent</a:t>
            </a:r>
            <a:endParaRPr lang="en-US" sz="1250" dirty="0"/>
          </a:p>
        </p:txBody>
      </p:sp>
      <p:sp>
        <p:nvSpPr>
          <p:cNvPr id="13" name="Shape 11"/>
          <p:cNvSpPr/>
          <p:nvPr/>
        </p:nvSpPr>
        <p:spPr>
          <a:xfrm flipH="1">
            <a:off x="9326880" y="3200400"/>
            <a:ext cx="45720" cy="777240"/>
          </a:xfrm>
          <a:prstGeom prst="line">
            <a:avLst/>
          </a:prstGeom>
          <a:noFill/>
          <a:ln w="22225">
            <a:solidFill>
              <a:srgbClr val="6B7686"/>
            </a:solidFill>
            <a:prstDash val="solid"/>
            <a:tailEnd type="triangle"/>
          </a:ln>
        </p:spPr>
      </p:sp>
      <p:sp>
        <p:nvSpPr>
          <p:cNvPr id="14" name="Text 12"/>
          <p:cNvSpPr txBox="1"/>
          <p:nvPr/>
        </p:nvSpPr>
        <p:spPr>
          <a:xfrm>
            <a:off x="8732520" y="3977640"/>
            <a:ext cx="1188720" cy="822960"/>
          </a:xfrm>
          <a:prstGeom prst="roundRect">
            <a:avLst>
              <a:gd name="adj" fmla="val 8889"/>
            </a:avLst>
          </a:prstGeom>
          <a:solidFill>
            <a:srgbClr val="15877D"/>
          </a:solidFill>
          <a:ln w="12700">
            <a:solidFill>
              <a:srgbClr val="15877D"/>
            </a:solidFill>
            <a:prstDash val="solid"/>
          </a:ln>
        </p:spPr>
        <p:txBody>
          <a:bodyPr wrap="square" lIns="25400" tIns="38100" rIns="38100" bIns="254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Writer</a:t>
            </a:r>
            <a:endParaRPr lang="en-US" sz="125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subagent</a:t>
            </a:r>
            <a:endParaRPr lang="en-US" sz="1250" dirty="0"/>
          </a:p>
        </p:txBody>
      </p:sp>
      <p:sp>
        <p:nvSpPr>
          <p:cNvPr id="15" name="Shape 13"/>
          <p:cNvSpPr/>
          <p:nvPr/>
        </p:nvSpPr>
        <p:spPr>
          <a:xfrm>
            <a:off x="9372600" y="3200400"/>
            <a:ext cx="1325880" cy="777240"/>
          </a:xfrm>
          <a:prstGeom prst="line">
            <a:avLst/>
          </a:prstGeom>
          <a:noFill/>
          <a:ln w="22225">
            <a:solidFill>
              <a:srgbClr val="6B7686"/>
            </a:solidFill>
            <a:prstDash val="solid"/>
            <a:tailEnd type="triangle"/>
          </a:ln>
        </p:spPr>
      </p:sp>
      <p:sp>
        <p:nvSpPr>
          <p:cNvPr id="16" name="Text 14"/>
          <p:cNvSpPr txBox="1"/>
          <p:nvPr/>
        </p:nvSpPr>
        <p:spPr>
          <a:xfrm>
            <a:off x="10104120" y="3977640"/>
            <a:ext cx="1188720" cy="822960"/>
          </a:xfrm>
          <a:prstGeom prst="roundRect">
            <a:avLst>
              <a:gd name="adj" fmla="val 8889"/>
            </a:avLst>
          </a:prstGeom>
          <a:solidFill>
            <a:srgbClr val="15877D"/>
          </a:solidFill>
          <a:ln w="12700">
            <a:solidFill>
              <a:srgbClr val="15877D"/>
            </a:solidFill>
            <a:prstDash val="solid"/>
          </a:ln>
        </p:spPr>
        <p:txBody>
          <a:bodyPr wrap="square" lIns="25400" tIns="38100" rIns="38100" bIns="254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Mailbox</a:t>
            </a:r>
            <a:endParaRPr lang="en-US" sz="125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subagent</a:t>
            </a:r>
            <a:endParaRPr lang="en-US" sz="1250" dirty="0"/>
          </a:p>
        </p:txBody>
      </p:sp>
      <p:sp>
        <p:nvSpPr>
          <p:cNvPr id="17" name="Text 15"/>
          <p:cNvSpPr txBox="1"/>
          <p:nvPr/>
        </p:nvSpPr>
        <p:spPr>
          <a:xfrm>
            <a:off x="7360920" y="4983480"/>
            <a:ext cx="3931920" cy="274320"/>
          </a:xfrm>
          <a:prstGeom prst="rect">
            <a:avLst/>
          </a:prstGeom>
          <a:noFill/>
          <a:ln/>
        </p:spPr>
        <p:txBody>
          <a:bodyPr wrap="square" lIns="0" tIns="0" rIns="0" bIns="0" rtlCol="0" anchor="t"/>
          <a:lstStyle/>
          <a:p>
            <a:pPr algn="ctr" indent="0" marL="0">
              <a:buNone/>
            </a:pPr>
            <a:r>
              <a:rPr lang="en-US" sz="1150" i="1" dirty="0">
                <a:solidFill>
                  <a:srgbClr val="8A94A3"/>
                </a:solidFill>
                <a:latin typeface="Calibri" pitchFamily="34" charset="0"/>
                <a:ea typeface="Calibri" pitchFamily="34" charset="-122"/>
                <a:cs typeface="Calibri" pitchFamily="34" charset="-120"/>
              </a:rPr>
              <a:t>each worker holds only the grants it was given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WHY AIAAS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Automate the repetitive work — without losing control</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company's week is full of tasks that repeat. AI can take them over, but only if people stay in charge of what it does.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548640" y="1965960"/>
            <a:ext cx="4572000" cy="320040"/>
          </a:xfrm>
          <a:prstGeom prst="rect">
            <a:avLst/>
          </a:prstGeom>
          <a:noFill/>
          <a:ln/>
        </p:spPr>
        <p:txBody>
          <a:bodyPr wrap="square" lIns="0" tIns="0" rIns="0" bIns="0" rtlCol="0" anchor="t"/>
          <a:lstStyle/>
          <a:p>
            <a:pPr algn="l" indent="0" marL="0">
              <a:buNone/>
            </a:pPr>
            <a:r>
              <a:rPr lang="en-US" sz="1500" b="1" dirty="0">
                <a:solidFill>
                  <a:srgbClr val="8E2B24"/>
                </a:solidFill>
                <a:latin typeface="Arial" pitchFamily="34" charset="0"/>
                <a:ea typeface="Arial" pitchFamily="34" charset="-122"/>
                <a:cs typeface="Arial" pitchFamily="34" charset="-120"/>
              </a:rPr>
              <a:t>The problem</a:t>
            </a:r>
            <a:endParaRPr lang="en-US" sz="1500" dirty="0"/>
          </a:p>
        </p:txBody>
      </p:sp>
      <p:sp>
        <p:nvSpPr>
          <p:cNvPr id="7" name="Text 5"/>
          <p:cNvSpPr txBox="1"/>
          <p:nvPr/>
        </p:nvSpPr>
        <p:spPr>
          <a:xfrm>
            <a:off x="6537960" y="1965960"/>
            <a:ext cx="4572000" cy="320040"/>
          </a:xfrm>
          <a:prstGeom prst="rect">
            <a:avLst/>
          </a:prstGeom>
          <a:noFill/>
          <a:ln/>
        </p:spPr>
        <p:txBody>
          <a:bodyPr wrap="square" lIns="0" tIns="0" rIns="0" bIns="0" rtlCol="0" anchor="t"/>
          <a:lstStyle/>
          <a:p>
            <a:pPr algn="l" indent="0" marL="0">
              <a:buNone/>
            </a:pPr>
            <a:r>
              <a:rPr lang="en-US" sz="1500" b="1" dirty="0">
                <a:solidFill>
                  <a:srgbClr val="0D5C55"/>
                </a:solidFill>
                <a:latin typeface="Arial" pitchFamily="34" charset="0"/>
                <a:ea typeface="Arial" pitchFamily="34" charset="-122"/>
                <a:cs typeface="Arial" pitchFamily="34" charset="-120"/>
              </a:rPr>
              <a:t>What AIAAS does</a:t>
            </a:r>
            <a:endParaRPr lang="en-US" sz="1500" dirty="0"/>
          </a:p>
        </p:txBody>
      </p:sp>
      <p:sp>
        <p:nvSpPr>
          <p:cNvPr id="8" name="Shape 6"/>
          <p:cNvSpPr/>
          <p:nvPr/>
        </p:nvSpPr>
        <p:spPr>
          <a:xfrm>
            <a:off x="548640" y="2331720"/>
            <a:ext cx="5440680" cy="1024128"/>
          </a:xfrm>
          <a:prstGeom prst="roundRect">
            <a:avLst>
              <a:gd name="adj" fmla="val 8929"/>
            </a:avLst>
          </a:prstGeom>
          <a:solidFill>
            <a:srgbClr val="FBE8E6"/>
          </a:solidFill>
          <a:ln w="12700">
            <a:solidFill>
              <a:srgbClr val="FBE8E6"/>
            </a:solidFill>
            <a:prstDash val="solid"/>
          </a:ln>
        </p:spPr>
      </p:sp>
      <p:sp>
        <p:nvSpPr>
          <p:cNvPr id="9" name="Shape 7"/>
          <p:cNvSpPr/>
          <p:nvPr/>
        </p:nvSpPr>
        <p:spPr>
          <a:xfrm>
            <a:off x="731520" y="2569464"/>
            <a:ext cx="548640" cy="548640"/>
          </a:xfrm>
          <a:prstGeom prst="ellipse">
            <a:avLst/>
          </a:prstGeom>
          <a:solidFill>
            <a:srgbClr val="C4433A"/>
          </a:solidFill>
          <a:ln w="12700">
            <a:solidFill>
              <a:srgbClr val="C4433A"/>
            </a:solidFill>
            <a:prstDash val="solid"/>
          </a:ln>
        </p:spPr>
      </p:sp>
      <p:pic>
        <p:nvPicPr>
          <p:cNvPr id="10" name="Image 0" descr="preencoded.png">    </p:cNvPr>
          <p:cNvPicPr>
            <a:picLocks noChangeAspect="1"/>
          </p:cNvPicPr>
          <p:nvPr/>
        </p:nvPicPr>
        <p:blipFill>
          <a:blip r:embed="rId1"/>
          <a:stretch>
            <a:fillRect/>
          </a:stretch>
        </p:blipFill>
        <p:spPr>
          <a:xfrm>
            <a:off x="874166" y="2712110"/>
            <a:ext cx="263347" cy="263347"/>
          </a:xfrm>
          <a:prstGeom prst="rect">
            <a:avLst/>
          </a:prstGeom>
        </p:spPr>
      </p:pic>
      <p:sp>
        <p:nvSpPr>
          <p:cNvPr id="11" name="Text 8"/>
          <p:cNvSpPr txBox="1"/>
          <p:nvPr/>
        </p:nvSpPr>
        <p:spPr>
          <a:xfrm>
            <a:off x="1463040" y="2423160"/>
            <a:ext cx="438912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Repetitive work eats the week</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Reports, inbox triage, reconciliations, follow-ups — the same steps, every week, by hand.</a:t>
            </a:r>
            <a:endParaRPr lang="en-US" sz="1400" dirty="0"/>
          </a:p>
        </p:txBody>
      </p:sp>
      <p:sp>
        <p:nvSpPr>
          <p:cNvPr id="12" name="Shape 9"/>
          <p:cNvSpPr/>
          <p:nvPr/>
        </p:nvSpPr>
        <p:spPr>
          <a:xfrm>
            <a:off x="6035040" y="2843784"/>
            <a:ext cx="457200" cy="0"/>
          </a:xfrm>
          <a:prstGeom prst="line">
            <a:avLst/>
          </a:prstGeom>
          <a:noFill/>
          <a:ln w="22225">
            <a:solidFill>
              <a:srgbClr val="8A93A1"/>
            </a:solidFill>
            <a:prstDash val="solid"/>
            <a:tailEnd type="triangle"/>
          </a:ln>
        </p:spPr>
      </p:sp>
      <p:sp>
        <p:nvSpPr>
          <p:cNvPr id="13" name="Shape 10"/>
          <p:cNvSpPr/>
          <p:nvPr/>
        </p:nvSpPr>
        <p:spPr>
          <a:xfrm>
            <a:off x="6537960" y="2331720"/>
            <a:ext cx="5102352" cy="1024128"/>
          </a:xfrm>
          <a:prstGeom prst="roundRect">
            <a:avLst>
              <a:gd name="adj" fmla="val 8929"/>
            </a:avLst>
          </a:prstGeom>
          <a:solidFill>
            <a:srgbClr val="E1F2F0"/>
          </a:solidFill>
          <a:ln w="12700">
            <a:solidFill>
              <a:srgbClr val="E1F2F0"/>
            </a:solidFill>
            <a:prstDash val="solid"/>
          </a:ln>
        </p:spPr>
      </p:sp>
      <p:sp>
        <p:nvSpPr>
          <p:cNvPr id="14" name="Shape 11"/>
          <p:cNvSpPr/>
          <p:nvPr/>
        </p:nvSpPr>
        <p:spPr>
          <a:xfrm>
            <a:off x="6720840" y="2569464"/>
            <a:ext cx="548640" cy="548640"/>
          </a:xfrm>
          <a:prstGeom prst="ellipse">
            <a:avLst/>
          </a:prstGeom>
          <a:solidFill>
            <a:srgbClr val="15877D"/>
          </a:solidFill>
          <a:ln w="12700">
            <a:solidFill>
              <a:srgbClr val="15877D"/>
            </a:solidFill>
            <a:prstDash val="solid"/>
          </a:ln>
        </p:spPr>
      </p:sp>
      <p:pic>
        <p:nvPicPr>
          <p:cNvPr id="15" name="Image 1" descr="preencoded.png">    </p:cNvPr>
          <p:cNvPicPr>
            <a:picLocks noChangeAspect="1"/>
          </p:cNvPicPr>
          <p:nvPr/>
        </p:nvPicPr>
        <p:blipFill>
          <a:blip r:embed="rId2"/>
          <a:stretch>
            <a:fillRect/>
          </a:stretch>
        </p:blipFill>
        <p:spPr>
          <a:xfrm>
            <a:off x="6863486" y="2712110"/>
            <a:ext cx="263347" cy="263347"/>
          </a:xfrm>
          <a:prstGeom prst="rect">
            <a:avLst/>
          </a:prstGeom>
        </p:spPr>
      </p:pic>
      <p:sp>
        <p:nvSpPr>
          <p:cNvPr id="16" name="Text 12"/>
          <p:cNvSpPr txBox="1"/>
          <p:nvPr/>
        </p:nvSpPr>
        <p:spPr>
          <a:xfrm>
            <a:off x="7452360" y="2423160"/>
            <a:ext cx="406908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Automates it</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Configured agents do the work — on demand, on a schedule or on an event — and hand back real files.</a:t>
            </a:r>
            <a:endParaRPr lang="en-US" sz="1400" dirty="0"/>
          </a:p>
        </p:txBody>
      </p:sp>
      <p:sp>
        <p:nvSpPr>
          <p:cNvPr id="17" name="Shape 13"/>
          <p:cNvSpPr/>
          <p:nvPr/>
        </p:nvSpPr>
        <p:spPr>
          <a:xfrm>
            <a:off x="548640" y="3474720"/>
            <a:ext cx="5440680" cy="1024128"/>
          </a:xfrm>
          <a:prstGeom prst="roundRect">
            <a:avLst>
              <a:gd name="adj" fmla="val 8929"/>
            </a:avLst>
          </a:prstGeom>
          <a:solidFill>
            <a:srgbClr val="FBE8E6"/>
          </a:solidFill>
          <a:ln w="12700">
            <a:solidFill>
              <a:srgbClr val="FBE8E6"/>
            </a:solidFill>
            <a:prstDash val="solid"/>
          </a:ln>
        </p:spPr>
      </p:sp>
      <p:sp>
        <p:nvSpPr>
          <p:cNvPr id="18" name="Shape 14"/>
          <p:cNvSpPr/>
          <p:nvPr/>
        </p:nvSpPr>
        <p:spPr>
          <a:xfrm>
            <a:off x="731520" y="3712464"/>
            <a:ext cx="548640" cy="548640"/>
          </a:xfrm>
          <a:prstGeom prst="ellipse">
            <a:avLst/>
          </a:prstGeom>
          <a:solidFill>
            <a:srgbClr val="C4433A"/>
          </a:solidFill>
          <a:ln w="12700">
            <a:solidFill>
              <a:srgbClr val="C4433A"/>
            </a:solidFill>
            <a:prstDash val="solid"/>
          </a:ln>
        </p:spPr>
      </p:sp>
      <p:pic>
        <p:nvPicPr>
          <p:cNvPr id="19" name="Image 2" descr="preencoded.png">    </p:cNvPr>
          <p:cNvPicPr>
            <a:picLocks noChangeAspect="1"/>
          </p:cNvPicPr>
          <p:nvPr/>
        </p:nvPicPr>
        <p:blipFill>
          <a:blip r:embed="rId3"/>
          <a:stretch>
            <a:fillRect/>
          </a:stretch>
        </p:blipFill>
        <p:spPr>
          <a:xfrm>
            <a:off x="874166" y="3855110"/>
            <a:ext cx="263347" cy="263347"/>
          </a:xfrm>
          <a:prstGeom prst="rect">
            <a:avLst/>
          </a:prstGeom>
        </p:spPr>
      </p:pic>
      <p:sp>
        <p:nvSpPr>
          <p:cNvPr id="20" name="Text 15"/>
          <p:cNvSpPr txBox="1"/>
          <p:nvPr/>
        </p:nvSpPr>
        <p:spPr>
          <a:xfrm>
            <a:off x="1463040" y="3566160"/>
            <a:ext cx="438912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Uncontrolled AI is a liability</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An agent with the whole mailbox and no brakes is a risk nobody will sign off on.</a:t>
            </a:r>
            <a:endParaRPr lang="en-US" sz="1400" dirty="0"/>
          </a:p>
        </p:txBody>
      </p:sp>
      <p:sp>
        <p:nvSpPr>
          <p:cNvPr id="21" name="Shape 16"/>
          <p:cNvSpPr/>
          <p:nvPr/>
        </p:nvSpPr>
        <p:spPr>
          <a:xfrm>
            <a:off x="6035040" y="3986784"/>
            <a:ext cx="457200" cy="0"/>
          </a:xfrm>
          <a:prstGeom prst="line">
            <a:avLst/>
          </a:prstGeom>
          <a:noFill/>
          <a:ln w="22225">
            <a:solidFill>
              <a:srgbClr val="8A93A1"/>
            </a:solidFill>
            <a:prstDash val="solid"/>
            <a:tailEnd type="triangle"/>
          </a:ln>
        </p:spPr>
      </p:sp>
      <p:sp>
        <p:nvSpPr>
          <p:cNvPr id="22" name="Shape 17"/>
          <p:cNvSpPr/>
          <p:nvPr/>
        </p:nvSpPr>
        <p:spPr>
          <a:xfrm>
            <a:off x="6537960" y="3474720"/>
            <a:ext cx="5102352" cy="1024128"/>
          </a:xfrm>
          <a:prstGeom prst="roundRect">
            <a:avLst>
              <a:gd name="adj" fmla="val 8929"/>
            </a:avLst>
          </a:prstGeom>
          <a:solidFill>
            <a:srgbClr val="E1F2F0"/>
          </a:solidFill>
          <a:ln w="12700">
            <a:solidFill>
              <a:srgbClr val="E1F2F0"/>
            </a:solidFill>
            <a:prstDash val="solid"/>
          </a:ln>
        </p:spPr>
      </p:sp>
      <p:sp>
        <p:nvSpPr>
          <p:cNvPr id="23" name="Shape 18"/>
          <p:cNvSpPr/>
          <p:nvPr/>
        </p:nvSpPr>
        <p:spPr>
          <a:xfrm>
            <a:off x="6720840" y="3712464"/>
            <a:ext cx="548640" cy="548640"/>
          </a:xfrm>
          <a:prstGeom prst="ellipse">
            <a:avLst/>
          </a:prstGeom>
          <a:solidFill>
            <a:srgbClr val="15877D"/>
          </a:solidFill>
          <a:ln w="12700">
            <a:solidFill>
              <a:srgbClr val="15877D"/>
            </a:solidFill>
            <a:prstDash val="solid"/>
          </a:ln>
        </p:spPr>
      </p:sp>
      <p:pic>
        <p:nvPicPr>
          <p:cNvPr id="24" name="Image 3" descr="preencoded.png">    </p:cNvPr>
          <p:cNvPicPr>
            <a:picLocks noChangeAspect="1"/>
          </p:cNvPicPr>
          <p:nvPr/>
        </p:nvPicPr>
        <p:blipFill>
          <a:blip r:embed="rId4"/>
          <a:stretch>
            <a:fillRect/>
          </a:stretch>
        </p:blipFill>
        <p:spPr>
          <a:xfrm>
            <a:off x="6863486" y="3855110"/>
            <a:ext cx="263347" cy="263347"/>
          </a:xfrm>
          <a:prstGeom prst="rect">
            <a:avLst/>
          </a:prstGeom>
        </p:spPr>
      </p:pic>
      <p:sp>
        <p:nvSpPr>
          <p:cNvPr id="25" name="Text 19"/>
          <p:cNvSpPr txBox="1"/>
          <p:nvPr/>
        </p:nvSpPr>
        <p:spPr>
          <a:xfrm>
            <a:off x="7452360" y="3566160"/>
            <a:ext cx="406908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Keeps people in control</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Each agent gets only the access it was given; risky actions ask first; spend is capped; everything is recorded.</a:t>
            </a:r>
            <a:endParaRPr lang="en-US" sz="1400" dirty="0"/>
          </a:p>
        </p:txBody>
      </p:sp>
      <p:sp>
        <p:nvSpPr>
          <p:cNvPr id="26" name="Shape 20"/>
          <p:cNvSpPr/>
          <p:nvPr/>
        </p:nvSpPr>
        <p:spPr>
          <a:xfrm>
            <a:off x="548640" y="4617720"/>
            <a:ext cx="5440680" cy="1024128"/>
          </a:xfrm>
          <a:prstGeom prst="roundRect">
            <a:avLst>
              <a:gd name="adj" fmla="val 8929"/>
            </a:avLst>
          </a:prstGeom>
          <a:solidFill>
            <a:srgbClr val="FBE8E6"/>
          </a:solidFill>
          <a:ln w="12700">
            <a:solidFill>
              <a:srgbClr val="FBE8E6"/>
            </a:solidFill>
            <a:prstDash val="solid"/>
          </a:ln>
        </p:spPr>
      </p:sp>
      <p:sp>
        <p:nvSpPr>
          <p:cNvPr id="27" name="Shape 21"/>
          <p:cNvSpPr/>
          <p:nvPr/>
        </p:nvSpPr>
        <p:spPr>
          <a:xfrm>
            <a:off x="731520" y="4855464"/>
            <a:ext cx="548640" cy="548640"/>
          </a:xfrm>
          <a:prstGeom prst="ellipse">
            <a:avLst/>
          </a:prstGeom>
          <a:solidFill>
            <a:srgbClr val="C4433A"/>
          </a:solidFill>
          <a:ln w="12700">
            <a:solidFill>
              <a:srgbClr val="C4433A"/>
            </a:solidFill>
            <a:prstDash val="solid"/>
          </a:ln>
        </p:spPr>
      </p:sp>
      <p:pic>
        <p:nvPicPr>
          <p:cNvPr id="28" name="Image 4" descr="preencoded.png">    </p:cNvPr>
          <p:cNvPicPr>
            <a:picLocks noChangeAspect="1"/>
          </p:cNvPicPr>
          <p:nvPr/>
        </p:nvPicPr>
        <p:blipFill>
          <a:blip r:embed="rId5"/>
          <a:stretch>
            <a:fillRect/>
          </a:stretch>
        </p:blipFill>
        <p:spPr>
          <a:xfrm>
            <a:off x="874166" y="4998110"/>
            <a:ext cx="263347" cy="263347"/>
          </a:xfrm>
          <a:prstGeom prst="rect">
            <a:avLst/>
          </a:prstGeom>
        </p:spPr>
      </p:pic>
      <p:sp>
        <p:nvSpPr>
          <p:cNvPr id="29" name="Text 22"/>
          <p:cNvSpPr txBox="1"/>
          <p:nvPr/>
        </p:nvSpPr>
        <p:spPr>
          <a:xfrm>
            <a:off x="1463040" y="4709160"/>
            <a:ext cx="438912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Knowledge is scattered</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Answers live in people's heads and inboxes. Solved problems get solved again.</a:t>
            </a:r>
            <a:endParaRPr lang="en-US" sz="1400" dirty="0"/>
          </a:p>
        </p:txBody>
      </p:sp>
      <p:sp>
        <p:nvSpPr>
          <p:cNvPr id="30" name="Shape 23"/>
          <p:cNvSpPr/>
          <p:nvPr/>
        </p:nvSpPr>
        <p:spPr>
          <a:xfrm>
            <a:off x="6035040" y="5129784"/>
            <a:ext cx="457200" cy="0"/>
          </a:xfrm>
          <a:prstGeom prst="line">
            <a:avLst/>
          </a:prstGeom>
          <a:noFill/>
          <a:ln w="22225">
            <a:solidFill>
              <a:srgbClr val="8A93A1"/>
            </a:solidFill>
            <a:prstDash val="solid"/>
            <a:tailEnd type="triangle"/>
          </a:ln>
        </p:spPr>
      </p:sp>
      <p:sp>
        <p:nvSpPr>
          <p:cNvPr id="31" name="Shape 24"/>
          <p:cNvSpPr/>
          <p:nvPr/>
        </p:nvSpPr>
        <p:spPr>
          <a:xfrm>
            <a:off x="6537960" y="4617720"/>
            <a:ext cx="5102352" cy="1024128"/>
          </a:xfrm>
          <a:prstGeom prst="roundRect">
            <a:avLst>
              <a:gd name="adj" fmla="val 8929"/>
            </a:avLst>
          </a:prstGeom>
          <a:solidFill>
            <a:srgbClr val="E1F2F0"/>
          </a:solidFill>
          <a:ln w="12700">
            <a:solidFill>
              <a:srgbClr val="E1F2F0"/>
            </a:solidFill>
            <a:prstDash val="solid"/>
          </a:ln>
        </p:spPr>
      </p:sp>
      <p:sp>
        <p:nvSpPr>
          <p:cNvPr id="32" name="Shape 25"/>
          <p:cNvSpPr/>
          <p:nvPr/>
        </p:nvSpPr>
        <p:spPr>
          <a:xfrm>
            <a:off x="6720840" y="4855464"/>
            <a:ext cx="548640" cy="548640"/>
          </a:xfrm>
          <a:prstGeom prst="ellipse">
            <a:avLst/>
          </a:prstGeom>
          <a:solidFill>
            <a:srgbClr val="15877D"/>
          </a:solidFill>
          <a:ln w="12700">
            <a:solidFill>
              <a:srgbClr val="15877D"/>
            </a:solidFill>
            <a:prstDash val="solid"/>
          </a:ln>
        </p:spPr>
      </p:sp>
      <p:pic>
        <p:nvPicPr>
          <p:cNvPr id="33" name="Image 5" descr="preencoded.png">    </p:cNvPr>
          <p:cNvPicPr>
            <a:picLocks noChangeAspect="1"/>
          </p:cNvPicPr>
          <p:nvPr/>
        </p:nvPicPr>
        <p:blipFill>
          <a:blip r:embed="rId6"/>
          <a:stretch>
            <a:fillRect/>
          </a:stretch>
        </p:blipFill>
        <p:spPr>
          <a:xfrm>
            <a:off x="6863486" y="4998110"/>
            <a:ext cx="263347" cy="263347"/>
          </a:xfrm>
          <a:prstGeom prst="rect">
            <a:avLst/>
          </a:prstGeom>
        </p:spPr>
      </p:pic>
      <p:sp>
        <p:nvSpPr>
          <p:cNvPr id="34" name="Text 26"/>
          <p:cNvSpPr txBox="1"/>
          <p:nvPr/>
        </p:nvSpPr>
        <p:spPr>
          <a:xfrm>
            <a:off x="7452360" y="4709160"/>
            <a:ext cx="406908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Makes intelligence abundant</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Files, knowledge bases and solved problems are shared across the organisation — and never outside it.</a:t>
            </a:r>
            <a:endParaRPr lang="en-US" sz="1400" dirty="0"/>
          </a:p>
        </p:txBody>
      </p:sp>
      <p:sp>
        <p:nvSpPr>
          <p:cNvPr id="35" name="Shape 27"/>
          <p:cNvSpPr/>
          <p:nvPr/>
        </p:nvSpPr>
        <p:spPr>
          <a:xfrm>
            <a:off x="548640" y="5760720"/>
            <a:ext cx="11091672" cy="548640"/>
          </a:xfrm>
          <a:prstGeom prst="roundRect">
            <a:avLst>
              <a:gd name="adj" fmla="val 16667"/>
            </a:avLst>
          </a:prstGeom>
          <a:solidFill>
            <a:srgbClr val="151922"/>
          </a:solidFill>
          <a:ln w="12700">
            <a:solidFill>
              <a:srgbClr val="151922"/>
            </a:solidFill>
            <a:prstDash val="solid"/>
          </a:ln>
        </p:spPr>
      </p:sp>
      <p:sp>
        <p:nvSpPr>
          <p:cNvPr id="36" name="Text 28"/>
          <p:cNvSpPr txBox="1"/>
          <p:nvPr/>
        </p:nvSpPr>
        <p:spPr>
          <a:xfrm>
            <a:off x="822960" y="5806440"/>
            <a:ext cx="10607040" cy="457200"/>
          </a:xfrm>
          <a:prstGeom prst="rect">
            <a:avLst/>
          </a:prstGeom>
          <a:noFill/>
          <a:ln/>
        </p:spPr>
        <p:txBody>
          <a:bodyPr wrap="square" lIns="0" tIns="0" rIns="0" bIns="0" rtlCol="0" anchor="ctr"/>
          <a:lstStyle/>
          <a:p>
            <a:pPr algn="l" indent="0" marL="0">
              <a:buNone/>
            </a:pPr>
            <a:r>
              <a:rPr lang="en-US" sz="1500" b="1" dirty="0">
                <a:solidFill>
                  <a:srgbClr val="E08A1E"/>
                </a:solidFill>
                <a:latin typeface="Calibri" pitchFamily="34" charset="0"/>
                <a:ea typeface="Calibri" pitchFamily="34" charset="-122"/>
                <a:cs typeface="Calibri" pitchFamily="34" charset="-120"/>
              </a:rPr>
              <a:t>The goal: </a:t>
            </a:r>
            <a:pPr algn="l" indent="0" marL="0">
              <a:buNone/>
            </a:pPr>
            <a:r>
              <a:rPr lang="en-US" sz="1500" dirty="0">
                <a:solidFill>
                  <a:srgbClr val="FFFFFF"/>
                </a:solidFill>
                <a:latin typeface="Calibri" pitchFamily="34" charset="0"/>
                <a:ea typeface="Calibri" pitchFamily="34" charset="-122"/>
                <a:cs typeface="Calibri" pitchFamily="34" charset="-120"/>
              </a:rPr>
              <a:t>make information and intelligence abundant across an organisation — and controlled.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THE PRODUCT</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chat that manages, agents that do the work</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person is the boss, the chat is the manager, configured subagents are the workhorses.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2103120"/>
            <a:ext cx="658368" cy="658368"/>
          </a:xfrm>
          <a:prstGeom prst="ellipse">
            <a:avLst/>
          </a:prstGeom>
          <a:solidFill>
            <a:srgbClr val="E08A1E"/>
          </a:solidFill>
          <a:ln w="12700">
            <a:solidFill>
              <a:srgbClr val="E08A1E"/>
            </a:solidFill>
            <a:prstDash val="solid"/>
          </a:ln>
        </p:spPr>
      </p:sp>
      <p:pic>
        <p:nvPicPr>
          <p:cNvPr id="7" name="Image 0" descr="preencoded.png">    </p:cNvPr>
          <p:cNvPicPr>
            <a:picLocks noChangeAspect="1"/>
          </p:cNvPicPr>
          <p:nvPr/>
        </p:nvPicPr>
        <p:blipFill>
          <a:blip r:embed="rId1"/>
          <a:stretch>
            <a:fillRect/>
          </a:stretch>
        </p:blipFill>
        <p:spPr>
          <a:xfrm>
            <a:off x="719816" y="2274296"/>
            <a:ext cx="316017" cy="316017"/>
          </a:xfrm>
          <a:prstGeom prst="rect">
            <a:avLst/>
          </a:prstGeom>
        </p:spPr>
      </p:pic>
      <p:sp>
        <p:nvSpPr>
          <p:cNvPr id="8" name="Text 5"/>
          <p:cNvSpPr txBox="1"/>
          <p:nvPr/>
        </p:nvSpPr>
        <p:spPr>
          <a:xfrm>
            <a:off x="1417320" y="2121408"/>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Chat orchestrator</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Reads, plans and delegates. Holds no write, send or spend tools.</a:t>
            </a:r>
            <a:endParaRPr lang="en-US" sz="1600" dirty="0"/>
          </a:p>
        </p:txBody>
      </p:sp>
      <p:sp>
        <p:nvSpPr>
          <p:cNvPr id="9" name="Shape 6"/>
          <p:cNvSpPr/>
          <p:nvPr/>
        </p:nvSpPr>
        <p:spPr>
          <a:xfrm>
            <a:off x="548640" y="3127248"/>
            <a:ext cx="658368" cy="658368"/>
          </a:xfrm>
          <a:prstGeom prst="ellipse">
            <a:avLst/>
          </a:prstGeom>
          <a:solidFill>
            <a:srgbClr val="15877D"/>
          </a:solidFill>
          <a:ln w="12700">
            <a:solidFill>
              <a:srgbClr val="15877D"/>
            </a:solidFill>
            <a:prstDash val="solid"/>
          </a:ln>
        </p:spPr>
      </p:sp>
      <p:pic>
        <p:nvPicPr>
          <p:cNvPr id="10" name="Image 1" descr="preencoded.png">    </p:cNvPr>
          <p:cNvPicPr>
            <a:picLocks noChangeAspect="1"/>
          </p:cNvPicPr>
          <p:nvPr/>
        </p:nvPicPr>
        <p:blipFill>
          <a:blip r:embed="rId2"/>
          <a:stretch>
            <a:fillRect/>
          </a:stretch>
        </p:blipFill>
        <p:spPr>
          <a:xfrm>
            <a:off x="719816" y="3298424"/>
            <a:ext cx="316017" cy="316017"/>
          </a:xfrm>
          <a:prstGeom prst="rect">
            <a:avLst/>
          </a:prstGeom>
        </p:spPr>
      </p:pic>
      <p:sp>
        <p:nvSpPr>
          <p:cNvPr id="11" name="Text 7"/>
          <p:cNvSpPr txBox="1"/>
          <p:nvPr/>
        </p:nvSpPr>
        <p:spPr>
          <a:xfrm>
            <a:off x="1417320" y="3145536"/>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Subagents</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Configured workers: a prompt, a model, grants, scopes, schedules.</a:t>
            </a:r>
            <a:endParaRPr lang="en-US" sz="1600" dirty="0"/>
          </a:p>
        </p:txBody>
      </p:sp>
      <p:sp>
        <p:nvSpPr>
          <p:cNvPr id="12" name="Shape 8"/>
          <p:cNvSpPr/>
          <p:nvPr/>
        </p:nvSpPr>
        <p:spPr>
          <a:xfrm>
            <a:off x="548640" y="4151376"/>
            <a:ext cx="658368" cy="658368"/>
          </a:xfrm>
          <a:prstGeom prst="ellipse">
            <a:avLst/>
          </a:prstGeom>
          <a:solidFill>
            <a:srgbClr val="4E5A6B"/>
          </a:solidFill>
          <a:ln w="12700">
            <a:solidFill>
              <a:srgbClr val="4E5A6B"/>
            </a:solidFill>
            <a:prstDash val="solid"/>
          </a:ln>
        </p:spPr>
      </p:sp>
      <p:pic>
        <p:nvPicPr>
          <p:cNvPr id="13" name="Image 2" descr="preencoded.png">    </p:cNvPr>
          <p:cNvPicPr>
            <a:picLocks noChangeAspect="1"/>
          </p:cNvPicPr>
          <p:nvPr/>
        </p:nvPicPr>
        <p:blipFill>
          <a:blip r:embed="rId3"/>
          <a:stretch>
            <a:fillRect/>
          </a:stretch>
        </p:blipFill>
        <p:spPr>
          <a:xfrm>
            <a:off x="719816" y="4322552"/>
            <a:ext cx="316017" cy="316017"/>
          </a:xfrm>
          <a:prstGeom prst="rect">
            <a:avLst/>
          </a:prstGeom>
        </p:spPr>
      </p:pic>
      <p:sp>
        <p:nvSpPr>
          <p:cNvPr id="14" name="Text 9"/>
          <p:cNvSpPr txBox="1"/>
          <p:nvPr/>
        </p:nvSpPr>
        <p:spPr>
          <a:xfrm>
            <a:off x="1417320" y="4169664"/>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Office &amp; files</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Real .docx / .xlsx / .pptx in a per-user virtual filesystem.</a:t>
            </a:r>
            <a:endParaRPr lang="en-US" sz="1600" dirty="0"/>
          </a:p>
        </p:txBody>
      </p:sp>
      <p:sp>
        <p:nvSpPr>
          <p:cNvPr id="15" name="Shape 10"/>
          <p:cNvSpPr/>
          <p:nvPr/>
        </p:nvSpPr>
        <p:spPr>
          <a:xfrm>
            <a:off x="548640" y="5175504"/>
            <a:ext cx="658368" cy="658368"/>
          </a:xfrm>
          <a:prstGeom prst="ellipse">
            <a:avLst/>
          </a:prstGeom>
          <a:solidFill>
            <a:srgbClr val="0D5C55"/>
          </a:solidFill>
          <a:ln w="12700">
            <a:solidFill>
              <a:srgbClr val="0D5C55"/>
            </a:solidFill>
            <a:prstDash val="solid"/>
          </a:ln>
        </p:spPr>
      </p:sp>
      <p:pic>
        <p:nvPicPr>
          <p:cNvPr id="16" name="Image 3" descr="preencoded.png">    </p:cNvPr>
          <p:cNvPicPr>
            <a:picLocks noChangeAspect="1"/>
          </p:cNvPicPr>
          <p:nvPr/>
        </p:nvPicPr>
        <p:blipFill>
          <a:blip r:embed="rId4"/>
          <a:stretch>
            <a:fillRect/>
          </a:stretch>
        </p:blipFill>
        <p:spPr>
          <a:xfrm>
            <a:off x="719816" y="5346680"/>
            <a:ext cx="316017" cy="316017"/>
          </a:xfrm>
          <a:prstGeom prst="rect">
            <a:avLst/>
          </a:prstGeom>
        </p:spPr>
      </p:pic>
      <p:sp>
        <p:nvSpPr>
          <p:cNvPr id="17" name="Text 11"/>
          <p:cNvSpPr txBox="1"/>
          <p:nvPr/>
        </p:nvSpPr>
        <p:spPr>
          <a:xfrm>
            <a:off x="1417320" y="5193792"/>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Evaluation</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Agents are graded in judge-built test worlds before they ship.</a:t>
            </a:r>
            <a:endParaRPr lang="en-US" sz="1600" dirty="0"/>
          </a:p>
        </p:txBody>
      </p:sp>
      <p:sp>
        <p:nvSpPr>
          <p:cNvPr id="18" name="Shape 12"/>
          <p:cNvSpPr/>
          <p:nvPr/>
        </p:nvSpPr>
        <p:spPr>
          <a:xfrm>
            <a:off x="6903720" y="2103120"/>
            <a:ext cx="2258568" cy="1828800"/>
          </a:xfrm>
          <a:prstGeom prst="roundRect">
            <a:avLst>
              <a:gd name="adj" fmla="val 5000"/>
            </a:avLst>
          </a:prstGeom>
          <a:solidFill>
            <a:srgbClr val="F3F5F8"/>
          </a:solidFill>
          <a:ln w="12700">
            <a:solidFill>
              <a:srgbClr val="F3F5F8"/>
            </a:solidFill>
            <a:prstDash val="solid"/>
          </a:ln>
        </p:spPr>
      </p:sp>
      <p:sp>
        <p:nvSpPr>
          <p:cNvPr id="19" name="Text 13"/>
          <p:cNvSpPr txBox="1"/>
          <p:nvPr/>
        </p:nvSpPr>
        <p:spPr>
          <a:xfrm>
            <a:off x="7132320" y="2286000"/>
            <a:ext cx="1920240" cy="777240"/>
          </a:xfrm>
          <a:prstGeom prst="rect">
            <a:avLst/>
          </a:prstGeom>
          <a:noFill/>
          <a:ln/>
        </p:spPr>
        <p:txBody>
          <a:bodyPr wrap="square" lIns="0" tIns="0" rIns="0" bIns="0" rtlCol="0" anchor="ctr"/>
          <a:lstStyle/>
          <a:p>
            <a:pPr algn="l" indent="0" marL="0">
              <a:buNone/>
            </a:pPr>
            <a:r>
              <a:rPr lang="en-US" sz="4400" b="1" dirty="0">
                <a:solidFill>
                  <a:srgbClr val="E08A1E"/>
                </a:solidFill>
                <a:latin typeface="Arial" pitchFamily="34" charset="0"/>
                <a:ea typeface="Arial" pitchFamily="34" charset="-122"/>
                <a:cs typeface="Arial" pitchFamily="34" charset="-120"/>
              </a:rPr>
              <a:t>5</a:t>
            </a:r>
            <a:endParaRPr lang="en-US" sz="4400" dirty="0"/>
          </a:p>
        </p:txBody>
      </p:sp>
      <p:sp>
        <p:nvSpPr>
          <p:cNvPr id="20" name="Text 14"/>
          <p:cNvSpPr txBox="1"/>
          <p:nvPr/>
        </p:nvSpPr>
        <p:spPr>
          <a:xfrm>
            <a:off x="7132320" y="309067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autonomy levels, from plan-only to fully unattended</a:t>
            </a:r>
            <a:endParaRPr lang="en-US" sz="1250" dirty="0"/>
          </a:p>
        </p:txBody>
      </p:sp>
      <p:sp>
        <p:nvSpPr>
          <p:cNvPr id="21" name="Shape 15"/>
          <p:cNvSpPr/>
          <p:nvPr/>
        </p:nvSpPr>
        <p:spPr>
          <a:xfrm>
            <a:off x="9299448" y="2103120"/>
            <a:ext cx="2258568" cy="1828800"/>
          </a:xfrm>
          <a:prstGeom prst="roundRect">
            <a:avLst>
              <a:gd name="adj" fmla="val 5000"/>
            </a:avLst>
          </a:prstGeom>
          <a:solidFill>
            <a:srgbClr val="F3F5F8"/>
          </a:solidFill>
          <a:ln w="12700">
            <a:solidFill>
              <a:srgbClr val="F3F5F8"/>
            </a:solidFill>
            <a:prstDash val="solid"/>
          </a:ln>
        </p:spPr>
      </p:sp>
      <p:sp>
        <p:nvSpPr>
          <p:cNvPr id="22" name="Text 16"/>
          <p:cNvSpPr txBox="1"/>
          <p:nvPr/>
        </p:nvSpPr>
        <p:spPr>
          <a:xfrm>
            <a:off x="9528048" y="2286000"/>
            <a:ext cx="1920240" cy="777240"/>
          </a:xfrm>
          <a:prstGeom prst="rect">
            <a:avLst/>
          </a:prstGeom>
          <a:noFill/>
          <a:ln/>
        </p:spPr>
        <p:txBody>
          <a:bodyPr wrap="square" lIns="0" tIns="0" rIns="0" bIns="0" rtlCol="0" anchor="ctr"/>
          <a:lstStyle/>
          <a:p>
            <a:pPr algn="l" indent="0" marL="0">
              <a:buNone/>
            </a:pPr>
            <a:r>
              <a:rPr lang="en-US" sz="4400" b="1" dirty="0">
                <a:solidFill>
                  <a:srgbClr val="E08A1E"/>
                </a:solidFill>
                <a:latin typeface="Arial" pitchFamily="34" charset="0"/>
                <a:ea typeface="Arial" pitchFamily="34" charset="-122"/>
                <a:cs typeface="Arial" pitchFamily="34" charset="-120"/>
              </a:rPr>
              <a:t>4</a:t>
            </a:r>
            <a:endParaRPr lang="en-US" sz="4400" dirty="0"/>
          </a:p>
        </p:txBody>
      </p:sp>
      <p:sp>
        <p:nvSpPr>
          <p:cNvPr id="23" name="Text 17"/>
          <p:cNvSpPr txBox="1"/>
          <p:nvPr/>
        </p:nvSpPr>
        <p:spPr>
          <a:xfrm>
            <a:off x="9528048" y="309067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independent permission axes on every agent</a:t>
            </a:r>
            <a:endParaRPr lang="en-US" sz="1250" dirty="0"/>
          </a:p>
        </p:txBody>
      </p:sp>
      <p:sp>
        <p:nvSpPr>
          <p:cNvPr id="24" name="Shape 18"/>
          <p:cNvSpPr/>
          <p:nvPr/>
        </p:nvSpPr>
        <p:spPr>
          <a:xfrm>
            <a:off x="6903720" y="4114800"/>
            <a:ext cx="2258568" cy="1828800"/>
          </a:xfrm>
          <a:prstGeom prst="roundRect">
            <a:avLst>
              <a:gd name="adj" fmla="val 5000"/>
            </a:avLst>
          </a:prstGeom>
          <a:solidFill>
            <a:srgbClr val="F3F5F8"/>
          </a:solidFill>
          <a:ln w="12700">
            <a:solidFill>
              <a:srgbClr val="F3F5F8"/>
            </a:solidFill>
            <a:prstDash val="solid"/>
          </a:ln>
        </p:spPr>
      </p:sp>
      <p:sp>
        <p:nvSpPr>
          <p:cNvPr id="25" name="Text 19"/>
          <p:cNvSpPr txBox="1"/>
          <p:nvPr/>
        </p:nvSpPr>
        <p:spPr>
          <a:xfrm>
            <a:off x="7132320" y="4297680"/>
            <a:ext cx="1920240" cy="777240"/>
          </a:xfrm>
          <a:prstGeom prst="rect">
            <a:avLst/>
          </a:prstGeom>
          <a:noFill/>
          <a:ln/>
        </p:spPr>
        <p:txBody>
          <a:bodyPr wrap="square" lIns="0" tIns="0" rIns="0" bIns="0" rtlCol="0" anchor="ctr"/>
          <a:lstStyle/>
          <a:p>
            <a:pPr algn="l" indent="0" marL="0">
              <a:buNone/>
            </a:pPr>
            <a:r>
              <a:rPr lang="en-US" sz="4400" b="1" dirty="0">
                <a:solidFill>
                  <a:srgbClr val="E08A1E"/>
                </a:solidFill>
                <a:latin typeface="Arial" pitchFamily="34" charset="0"/>
                <a:ea typeface="Arial" pitchFamily="34" charset="-122"/>
                <a:cs typeface="Arial" pitchFamily="34" charset="-120"/>
              </a:rPr>
              <a:t>1</a:t>
            </a:r>
            <a:endParaRPr lang="en-US" sz="4400" dirty="0"/>
          </a:p>
        </p:txBody>
      </p:sp>
      <p:sp>
        <p:nvSpPr>
          <p:cNvPr id="26" name="Text 20"/>
          <p:cNvSpPr txBox="1"/>
          <p:nvPr/>
        </p:nvSpPr>
        <p:spPr>
          <a:xfrm>
            <a:off x="7132320" y="510235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door every run starts through, whoever starts it</a:t>
            </a:r>
            <a:endParaRPr lang="en-US" sz="1250" dirty="0"/>
          </a:p>
        </p:txBody>
      </p:sp>
      <p:sp>
        <p:nvSpPr>
          <p:cNvPr id="27" name="Shape 21"/>
          <p:cNvSpPr/>
          <p:nvPr/>
        </p:nvSpPr>
        <p:spPr>
          <a:xfrm>
            <a:off x="9299448" y="4114800"/>
            <a:ext cx="2258568" cy="1828800"/>
          </a:xfrm>
          <a:prstGeom prst="roundRect">
            <a:avLst>
              <a:gd name="adj" fmla="val 5000"/>
            </a:avLst>
          </a:prstGeom>
          <a:solidFill>
            <a:srgbClr val="F3F5F8"/>
          </a:solidFill>
          <a:ln w="12700">
            <a:solidFill>
              <a:srgbClr val="F3F5F8"/>
            </a:solidFill>
            <a:prstDash val="solid"/>
          </a:ln>
        </p:spPr>
      </p:sp>
      <p:sp>
        <p:nvSpPr>
          <p:cNvPr id="28" name="Text 22"/>
          <p:cNvSpPr txBox="1"/>
          <p:nvPr/>
        </p:nvSpPr>
        <p:spPr>
          <a:xfrm>
            <a:off x="9528048" y="4297680"/>
            <a:ext cx="1920240" cy="777240"/>
          </a:xfrm>
          <a:prstGeom prst="rect">
            <a:avLst/>
          </a:prstGeom>
          <a:noFill/>
          <a:ln/>
        </p:spPr>
        <p:txBody>
          <a:bodyPr wrap="square" lIns="0" tIns="0" rIns="0" bIns="0" rtlCol="0" anchor="ctr"/>
          <a:lstStyle/>
          <a:p>
            <a:pPr algn="l" indent="0" marL="0">
              <a:buNone/>
            </a:pPr>
            <a:r>
              <a:rPr lang="en-US" sz="3200" b="1" dirty="0">
                <a:solidFill>
                  <a:srgbClr val="E08A1E"/>
                </a:solidFill>
                <a:latin typeface="Arial" pitchFamily="34" charset="0"/>
                <a:ea typeface="Arial" pitchFamily="34" charset="-122"/>
                <a:cs typeface="Arial" pitchFamily="34" charset="-120"/>
              </a:rPr>
              <a:t>384 MB</a:t>
            </a:r>
            <a:endParaRPr lang="en-US" sz="3200" dirty="0"/>
          </a:p>
        </p:txBody>
      </p:sp>
      <p:sp>
        <p:nvSpPr>
          <p:cNvPr id="29" name="Text 23"/>
          <p:cNvSpPr txBox="1"/>
          <p:nvPr/>
        </p:nvSpPr>
        <p:spPr>
          <a:xfrm>
            <a:off x="9528048" y="510235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production web container the whole backend fits in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AGENDA</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Seven parts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One thread runs through all of them: every guardrail sits in one place, so nothing can skip it.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965960"/>
            <a:ext cx="2651760" cy="1965960"/>
          </a:xfrm>
          <a:prstGeom prst="roundRect">
            <a:avLst>
              <a:gd name="adj" fmla="val 4651"/>
            </a:avLst>
          </a:prstGeom>
          <a:solidFill>
            <a:srgbClr val="F3F5F8"/>
          </a:solidFill>
          <a:ln w="12700">
            <a:solidFill>
              <a:srgbClr val="F3F5F8"/>
            </a:solidFill>
            <a:prstDash val="solid"/>
          </a:ln>
        </p:spPr>
      </p:sp>
      <p:sp>
        <p:nvSpPr>
          <p:cNvPr id="7" name="Text 5"/>
          <p:cNvSpPr txBox="1"/>
          <p:nvPr/>
        </p:nvSpPr>
        <p:spPr>
          <a:xfrm>
            <a:off x="777240" y="214884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01</a:t>
            </a:r>
            <a:endParaRPr lang="en-US" sz="2200" dirty="0"/>
          </a:p>
        </p:txBody>
      </p:sp>
      <p:sp>
        <p:nvSpPr>
          <p:cNvPr id="8" name="Text 6"/>
          <p:cNvSpPr txBox="1"/>
          <p:nvPr/>
        </p:nvSpPr>
        <p:spPr>
          <a:xfrm>
            <a:off x="777240"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Shape</a:t>
            </a:r>
            <a:endParaRPr lang="en-US" sz="1700" dirty="0"/>
          </a:p>
        </p:txBody>
      </p:sp>
      <p:sp>
        <p:nvSpPr>
          <p:cNvPr id="9" name="Text 7"/>
          <p:cNvSpPr txBox="1"/>
          <p:nvPr/>
        </p:nvSpPr>
        <p:spPr>
          <a:xfrm>
            <a:off x="777240"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Request path, code layers, the one door, the turn loop</a:t>
            </a:r>
            <a:endParaRPr lang="en-US" sz="1250" dirty="0"/>
          </a:p>
        </p:txBody>
      </p:sp>
      <p:sp>
        <p:nvSpPr>
          <p:cNvPr id="10" name="Shape 8"/>
          <p:cNvSpPr/>
          <p:nvPr/>
        </p:nvSpPr>
        <p:spPr>
          <a:xfrm>
            <a:off x="3355848" y="1965960"/>
            <a:ext cx="2651760" cy="1965960"/>
          </a:xfrm>
          <a:prstGeom prst="roundRect">
            <a:avLst>
              <a:gd name="adj" fmla="val 4651"/>
            </a:avLst>
          </a:prstGeom>
          <a:solidFill>
            <a:srgbClr val="FDF0DE"/>
          </a:solidFill>
          <a:ln w="12700">
            <a:solidFill>
              <a:srgbClr val="FDF0DE"/>
            </a:solidFill>
            <a:prstDash val="solid"/>
          </a:ln>
        </p:spPr>
      </p:sp>
      <p:sp>
        <p:nvSpPr>
          <p:cNvPr id="11" name="Text 9"/>
          <p:cNvSpPr txBox="1"/>
          <p:nvPr/>
        </p:nvSpPr>
        <p:spPr>
          <a:xfrm>
            <a:off x="3584448" y="2148840"/>
            <a:ext cx="914400" cy="457200"/>
          </a:xfrm>
          <a:prstGeom prst="rect">
            <a:avLst/>
          </a:prstGeom>
          <a:noFill/>
          <a:ln/>
        </p:spPr>
        <p:txBody>
          <a:bodyPr wrap="square" lIns="0" tIns="0" rIns="0" bIns="0" rtlCol="0" anchor="t"/>
          <a:lstStyle/>
          <a:p>
            <a:pPr algn="l" indent="0" marL="0">
              <a:buNone/>
            </a:pPr>
            <a:r>
              <a:rPr lang="en-US" sz="2200" b="1" dirty="0">
                <a:solidFill>
                  <a:srgbClr val="E08A1E"/>
                </a:solidFill>
                <a:latin typeface="Arial" pitchFamily="34" charset="0"/>
                <a:ea typeface="Arial" pitchFamily="34" charset="-122"/>
                <a:cs typeface="Arial" pitchFamily="34" charset="-120"/>
              </a:rPr>
              <a:t>02</a:t>
            </a:r>
            <a:endParaRPr lang="en-US" sz="2200" dirty="0"/>
          </a:p>
        </p:txBody>
      </p:sp>
      <p:sp>
        <p:nvSpPr>
          <p:cNvPr id="12" name="Text 10"/>
          <p:cNvSpPr txBox="1"/>
          <p:nvPr/>
        </p:nvSpPr>
        <p:spPr>
          <a:xfrm>
            <a:off x="3584448"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Orchestration</a:t>
            </a:r>
            <a:endParaRPr lang="en-US" sz="1700" dirty="0"/>
          </a:p>
        </p:txBody>
      </p:sp>
      <p:sp>
        <p:nvSpPr>
          <p:cNvPr id="13" name="Text 11"/>
          <p:cNvSpPr txBox="1"/>
          <p:nvPr/>
        </p:nvSpPr>
        <p:spPr>
          <a:xfrm>
            <a:off x="3584448"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Manager and workers, delegation limits, escalation, approvals, permissions</a:t>
            </a:r>
            <a:endParaRPr lang="en-US" sz="1250" dirty="0"/>
          </a:p>
        </p:txBody>
      </p:sp>
      <p:sp>
        <p:nvSpPr>
          <p:cNvPr id="14" name="Shape 12"/>
          <p:cNvSpPr/>
          <p:nvPr/>
        </p:nvSpPr>
        <p:spPr>
          <a:xfrm>
            <a:off x="6163056" y="1965960"/>
            <a:ext cx="2651760" cy="1965960"/>
          </a:xfrm>
          <a:prstGeom prst="roundRect">
            <a:avLst>
              <a:gd name="adj" fmla="val 4651"/>
            </a:avLst>
          </a:prstGeom>
          <a:solidFill>
            <a:srgbClr val="FDF0DE"/>
          </a:solidFill>
          <a:ln w="12700">
            <a:solidFill>
              <a:srgbClr val="FDF0DE"/>
            </a:solidFill>
            <a:prstDash val="solid"/>
          </a:ln>
        </p:spPr>
      </p:sp>
      <p:sp>
        <p:nvSpPr>
          <p:cNvPr id="15" name="Text 13"/>
          <p:cNvSpPr txBox="1"/>
          <p:nvPr/>
        </p:nvSpPr>
        <p:spPr>
          <a:xfrm>
            <a:off x="6391656" y="2148840"/>
            <a:ext cx="914400" cy="457200"/>
          </a:xfrm>
          <a:prstGeom prst="rect">
            <a:avLst/>
          </a:prstGeom>
          <a:noFill/>
          <a:ln/>
        </p:spPr>
        <p:txBody>
          <a:bodyPr wrap="square" lIns="0" tIns="0" rIns="0" bIns="0" rtlCol="0" anchor="t"/>
          <a:lstStyle/>
          <a:p>
            <a:pPr algn="l" indent="0" marL="0">
              <a:buNone/>
            </a:pPr>
            <a:r>
              <a:rPr lang="en-US" sz="2200" b="1" dirty="0">
                <a:solidFill>
                  <a:srgbClr val="E08A1E"/>
                </a:solidFill>
                <a:latin typeface="Arial" pitchFamily="34" charset="0"/>
                <a:ea typeface="Arial" pitchFamily="34" charset="-122"/>
                <a:cs typeface="Arial" pitchFamily="34" charset="-120"/>
              </a:rPr>
              <a:t>03</a:t>
            </a:r>
            <a:endParaRPr lang="en-US" sz="2200" dirty="0"/>
          </a:p>
        </p:txBody>
      </p:sp>
      <p:sp>
        <p:nvSpPr>
          <p:cNvPr id="16" name="Text 14"/>
          <p:cNvSpPr txBox="1"/>
          <p:nvPr/>
        </p:nvSpPr>
        <p:spPr>
          <a:xfrm>
            <a:off x="6391656"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Context</a:t>
            </a:r>
            <a:endParaRPr lang="en-US" sz="1700" dirty="0"/>
          </a:p>
        </p:txBody>
      </p:sp>
      <p:sp>
        <p:nvSpPr>
          <p:cNvPr id="17" name="Text 15"/>
          <p:cNvSpPr txBox="1"/>
          <p:nvPr/>
        </p:nvSpPr>
        <p:spPr>
          <a:xfrm>
            <a:off x="6391656"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What the model sees, curation, the plan, every budget</a:t>
            </a:r>
            <a:endParaRPr lang="en-US" sz="1250" dirty="0"/>
          </a:p>
        </p:txBody>
      </p:sp>
      <p:sp>
        <p:nvSpPr>
          <p:cNvPr id="18" name="Shape 16"/>
          <p:cNvSpPr/>
          <p:nvPr/>
        </p:nvSpPr>
        <p:spPr>
          <a:xfrm>
            <a:off x="8970264" y="1965960"/>
            <a:ext cx="2651760" cy="1965960"/>
          </a:xfrm>
          <a:prstGeom prst="roundRect">
            <a:avLst>
              <a:gd name="adj" fmla="val 4651"/>
            </a:avLst>
          </a:prstGeom>
          <a:solidFill>
            <a:srgbClr val="FDF0DE"/>
          </a:solidFill>
          <a:ln w="12700">
            <a:solidFill>
              <a:srgbClr val="FDF0DE"/>
            </a:solidFill>
            <a:prstDash val="solid"/>
          </a:ln>
        </p:spPr>
      </p:sp>
      <p:sp>
        <p:nvSpPr>
          <p:cNvPr id="19" name="Text 17"/>
          <p:cNvSpPr txBox="1"/>
          <p:nvPr/>
        </p:nvSpPr>
        <p:spPr>
          <a:xfrm>
            <a:off x="9198864" y="2148840"/>
            <a:ext cx="914400" cy="457200"/>
          </a:xfrm>
          <a:prstGeom prst="rect">
            <a:avLst/>
          </a:prstGeom>
          <a:noFill/>
          <a:ln/>
        </p:spPr>
        <p:txBody>
          <a:bodyPr wrap="square" lIns="0" tIns="0" rIns="0" bIns="0" rtlCol="0" anchor="t"/>
          <a:lstStyle/>
          <a:p>
            <a:pPr algn="l" indent="0" marL="0">
              <a:buNone/>
            </a:pPr>
            <a:r>
              <a:rPr lang="en-US" sz="2200" b="1" dirty="0">
                <a:solidFill>
                  <a:srgbClr val="E08A1E"/>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9198864"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Files &amp; apps</a:t>
            </a:r>
            <a:endParaRPr lang="en-US" sz="1700" dirty="0"/>
          </a:p>
        </p:txBody>
      </p:sp>
      <p:sp>
        <p:nvSpPr>
          <p:cNvPr id="21" name="Text 19"/>
          <p:cNvSpPr txBox="1"/>
          <p:nvPr/>
        </p:nvSpPr>
        <p:spPr>
          <a:xfrm>
            <a:off x="9198864"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The virtual filesystem, locking, office files, fifteen apps, the full journey</a:t>
            </a:r>
            <a:endParaRPr lang="en-US" sz="1250" dirty="0"/>
          </a:p>
        </p:txBody>
      </p:sp>
      <p:sp>
        <p:nvSpPr>
          <p:cNvPr id="22" name="Shape 20"/>
          <p:cNvSpPr/>
          <p:nvPr/>
        </p:nvSpPr>
        <p:spPr>
          <a:xfrm>
            <a:off x="548640" y="4114800"/>
            <a:ext cx="2651760" cy="1965960"/>
          </a:xfrm>
          <a:prstGeom prst="roundRect">
            <a:avLst>
              <a:gd name="adj" fmla="val 4651"/>
            </a:avLst>
          </a:prstGeom>
          <a:solidFill>
            <a:srgbClr val="F3F5F8"/>
          </a:solidFill>
          <a:ln w="12700">
            <a:solidFill>
              <a:srgbClr val="F3F5F8"/>
            </a:solidFill>
            <a:prstDash val="solid"/>
          </a:ln>
        </p:spPr>
      </p:sp>
      <p:sp>
        <p:nvSpPr>
          <p:cNvPr id="23" name="Text 21"/>
          <p:cNvSpPr txBox="1"/>
          <p:nvPr/>
        </p:nvSpPr>
        <p:spPr>
          <a:xfrm>
            <a:off x="777240" y="429768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777240" y="480060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Runtime</a:t>
            </a:r>
            <a:endParaRPr lang="en-US" sz="1700" dirty="0"/>
          </a:p>
        </p:txBody>
      </p:sp>
      <p:sp>
        <p:nvSpPr>
          <p:cNvPr id="25" name="Text 23"/>
          <p:cNvSpPr txBox="1"/>
          <p:nvPr/>
        </p:nvSpPr>
        <p:spPr>
          <a:xfrm>
            <a:off x="777240" y="521208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Memory budget, parallel tools, the sandbox</a:t>
            </a:r>
            <a:endParaRPr lang="en-US" sz="1250" dirty="0"/>
          </a:p>
        </p:txBody>
      </p:sp>
      <p:sp>
        <p:nvSpPr>
          <p:cNvPr id="26" name="Shape 24"/>
          <p:cNvSpPr/>
          <p:nvPr/>
        </p:nvSpPr>
        <p:spPr>
          <a:xfrm>
            <a:off x="3355848" y="4114800"/>
            <a:ext cx="2651760" cy="1965960"/>
          </a:xfrm>
          <a:prstGeom prst="roundRect">
            <a:avLst>
              <a:gd name="adj" fmla="val 4651"/>
            </a:avLst>
          </a:prstGeom>
          <a:solidFill>
            <a:srgbClr val="F3F5F8"/>
          </a:solidFill>
          <a:ln w="12700">
            <a:solidFill>
              <a:srgbClr val="F3F5F8"/>
            </a:solidFill>
            <a:prstDash val="solid"/>
          </a:ln>
        </p:spPr>
      </p:sp>
      <p:sp>
        <p:nvSpPr>
          <p:cNvPr id="27" name="Text 25"/>
          <p:cNvSpPr txBox="1"/>
          <p:nvPr/>
        </p:nvSpPr>
        <p:spPr>
          <a:xfrm>
            <a:off x="3584448" y="429768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06</a:t>
            </a:r>
            <a:endParaRPr lang="en-US" sz="2200" dirty="0"/>
          </a:p>
        </p:txBody>
      </p:sp>
      <p:sp>
        <p:nvSpPr>
          <p:cNvPr id="28" name="Text 26"/>
          <p:cNvSpPr txBox="1"/>
          <p:nvPr/>
        </p:nvSpPr>
        <p:spPr>
          <a:xfrm>
            <a:off x="3584448" y="480060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Trust</a:t>
            </a:r>
            <a:endParaRPr lang="en-US" sz="1700" dirty="0"/>
          </a:p>
        </p:txBody>
      </p:sp>
      <p:sp>
        <p:nvSpPr>
          <p:cNvPr id="29" name="Text 27"/>
          <p:cNvSpPr txBox="1"/>
          <p:nvPr/>
        </p:nvSpPr>
        <p:spPr>
          <a:xfrm>
            <a:off x="3584448" y="521208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Prompt injection, solution memory, org isolation</a:t>
            </a:r>
            <a:endParaRPr lang="en-US" sz="1250" dirty="0"/>
          </a:p>
        </p:txBody>
      </p:sp>
      <p:sp>
        <p:nvSpPr>
          <p:cNvPr id="30" name="Shape 28"/>
          <p:cNvSpPr/>
          <p:nvPr/>
        </p:nvSpPr>
        <p:spPr>
          <a:xfrm>
            <a:off x="6163056" y="4114800"/>
            <a:ext cx="2651760" cy="1965960"/>
          </a:xfrm>
          <a:prstGeom prst="roundRect">
            <a:avLst>
              <a:gd name="adj" fmla="val 4651"/>
            </a:avLst>
          </a:prstGeom>
          <a:solidFill>
            <a:srgbClr val="F3F5F8"/>
          </a:solidFill>
          <a:ln w="12700">
            <a:solidFill>
              <a:srgbClr val="F3F5F8"/>
            </a:solidFill>
            <a:prstDash val="solid"/>
          </a:ln>
        </p:spPr>
      </p:sp>
      <p:sp>
        <p:nvSpPr>
          <p:cNvPr id="31" name="Text 29"/>
          <p:cNvSpPr txBox="1"/>
          <p:nvPr/>
        </p:nvSpPr>
        <p:spPr>
          <a:xfrm>
            <a:off x="6391656" y="429768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07</a:t>
            </a:r>
            <a:endParaRPr lang="en-US" sz="2200" dirty="0"/>
          </a:p>
        </p:txBody>
      </p:sp>
      <p:sp>
        <p:nvSpPr>
          <p:cNvPr id="32" name="Text 30"/>
          <p:cNvSpPr txBox="1"/>
          <p:nvPr/>
        </p:nvSpPr>
        <p:spPr>
          <a:xfrm>
            <a:off x="6391656" y="480060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Proof</a:t>
            </a:r>
            <a:endParaRPr lang="en-US" sz="1700" dirty="0"/>
          </a:p>
        </p:txBody>
      </p:sp>
      <p:sp>
        <p:nvSpPr>
          <p:cNvPr id="33" name="Text 31"/>
          <p:cNvSpPr txBox="1"/>
          <p:nvPr/>
        </p:nvSpPr>
        <p:spPr>
          <a:xfrm>
            <a:off x="6391656" y="521208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Run records, evals, operations, known gaps</a:t>
            </a:r>
            <a:endParaRPr lang="en-US" sz="1250" dirty="0"/>
          </a:p>
        </p:txBody>
      </p:sp>
      <p:sp>
        <p:nvSpPr>
          <p:cNvPr id="34" name="Shape 32"/>
          <p:cNvSpPr/>
          <p:nvPr/>
        </p:nvSpPr>
        <p:spPr>
          <a:xfrm>
            <a:off x="8970264" y="4114800"/>
            <a:ext cx="2651760" cy="1965960"/>
          </a:xfrm>
          <a:prstGeom prst="roundRect">
            <a:avLst>
              <a:gd name="adj" fmla="val 4651"/>
            </a:avLst>
          </a:prstGeom>
          <a:solidFill>
            <a:srgbClr val="151922"/>
          </a:solidFill>
          <a:ln w="12700">
            <a:solidFill>
              <a:srgbClr val="151922"/>
            </a:solidFill>
            <a:prstDash val="solid"/>
          </a:ln>
        </p:spPr>
      </p:sp>
      <p:sp>
        <p:nvSpPr>
          <p:cNvPr id="35" name="Text 33"/>
          <p:cNvSpPr txBox="1"/>
          <p:nvPr/>
        </p:nvSpPr>
        <p:spPr>
          <a:xfrm>
            <a:off x="9198864" y="4343400"/>
            <a:ext cx="2286000" cy="320040"/>
          </a:xfrm>
          <a:prstGeom prst="rect">
            <a:avLst/>
          </a:prstGeom>
          <a:noFill/>
          <a:ln/>
        </p:spPr>
        <p:txBody>
          <a:bodyPr wrap="square" lIns="0" tIns="0" rIns="0" bIns="0" rtlCol="0" anchor="t"/>
          <a:lstStyle/>
          <a:p>
            <a:pPr algn="l" indent="0" marL="0">
              <a:buNone/>
            </a:pPr>
            <a:r>
              <a:rPr lang="en-US" sz="1400" b="1" dirty="0">
                <a:solidFill>
                  <a:srgbClr val="E08A1E"/>
                </a:solidFill>
                <a:latin typeface="Arial" pitchFamily="34" charset="0"/>
                <a:ea typeface="Arial" pitchFamily="34" charset="-122"/>
                <a:cs typeface="Arial" pitchFamily="34" charset="-120"/>
              </a:rPr>
              <a:t>Deep dives today</a:t>
            </a:r>
            <a:endParaRPr lang="en-US" sz="1400" dirty="0"/>
          </a:p>
        </p:txBody>
      </p:sp>
      <p:sp>
        <p:nvSpPr>
          <p:cNvPr id="36" name="Text 34"/>
          <p:cNvSpPr txBox="1"/>
          <p:nvPr/>
        </p:nvSpPr>
        <p:spPr>
          <a:xfrm>
            <a:off x="9198864" y="4754880"/>
            <a:ext cx="2240280" cy="1188720"/>
          </a:xfrm>
          <a:prstGeom prst="rect">
            <a:avLst/>
          </a:prstGeom>
          <a:noFill/>
          <a:ln/>
        </p:spPr>
        <p:txBody>
          <a:bodyPr wrap="square" lIns="0" tIns="0" rIns="0" bIns="0" rtlCol="0" anchor="t"/>
          <a:lstStyle/>
          <a:p>
            <a:pPr algn="l" indent="0" marL="0">
              <a:buNone/>
            </a:pPr>
            <a:r>
              <a:rPr lang="en-US" sz="1300" dirty="0">
                <a:solidFill>
                  <a:srgbClr val="C9D0DB"/>
                </a:solidFill>
                <a:latin typeface="Calibri" pitchFamily="34" charset="0"/>
                <a:ea typeface="Calibri" pitchFamily="34" charset="-122"/>
                <a:cs typeface="Calibri" pitchFamily="34" charset="-120"/>
              </a:rPr>
              <a:t>Orchestration, context and files get the most time — highlighted in amber.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TOPOLOGY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Request path: browser to model and back</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One EC2 host runs every container; Caddy terminates TLS; the sandbox sits on a network with no way out.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5</a:t>
            </a:r>
            <a:endParaRPr lang="en-US" sz="1000" dirty="0"/>
          </a:p>
        </p:txBody>
      </p:sp>
      <p:sp>
        <p:nvSpPr>
          <p:cNvPr id="6" name="Text 4"/>
          <p:cNvSpPr txBox="1"/>
          <p:nvPr/>
        </p:nvSpPr>
        <p:spPr>
          <a:xfrm>
            <a:off x="548640" y="2926080"/>
            <a:ext cx="1965960" cy="2286000"/>
          </a:xfrm>
          <a:prstGeom prst="roundRect">
            <a:avLst>
              <a:gd name="adj" fmla="val 3721"/>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Browser</a:t>
            </a:r>
            <a:endParaRPr lang="en-US" sz="15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React + Vite SPA</a:t>
            </a:r>
            <a:endParaRPr lang="en-US" sz="1500" dirty="0"/>
          </a:p>
          <a:p>
            <a:pPr algn="ctr" indent="0" marL="0">
              <a:spcAft>
                <a:spcPts val="200"/>
              </a:spcAft>
              <a:buNone/>
            </a:pPr>
            <a:endParaRPr lang="en-US" sz="15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SSE for chat turns</a:t>
            </a:r>
            <a:endParaRPr lang="en-US" sz="15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WebSocket for runs, approvals, notifications</a:t>
            </a:r>
            <a:endParaRPr lang="en-US" sz="1500" dirty="0"/>
          </a:p>
        </p:txBody>
      </p:sp>
      <p:sp>
        <p:nvSpPr>
          <p:cNvPr id="7" name="Shape 5"/>
          <p:cNvSpPr/>
          <p:nvPr/>
        </p:nvSpPr>
        <p:spPr>
          <a:xfrm>
            <a:off x="2514600" y="4069080"/>
            <a:ext cx="548640" cy="0"/>
          </a:xfrm>
          <a:prstGeom prst="line">
            <a:avLst/>
          </a:prstGeom>
          <a:noFill/>
          <a:ln w="22225">
            <a:solidFill>
              <a:srgbClr val="4E5A6B"/>
            </a:solidFill>
            <a:prstDash val="solid"/>
            <a:headEnd type="triangle"/>
            <a:tailEnd type="triangle"/>
          </a:ln>
        </p:spPr>
      </p:sp>
      <p:sp>
        <p:nvSpPr>
          <p:cNvPr id="8" name="Text 6"/>
          <p:cNvSpPr txBox="1"/>
          <p:nvPr/>
        </p:nvSpPr>
        <p:spPr>
          <a:xfrm>
            <a:off x="3063240" y="3429000"/>
            <a:ext cx="1417320" cy="1280160"/>
          </a:xfrm>
          <a:prstGeom prst="roundRect">
            <a:avLst>
              <a:gd name="adj" fmla="val 5714"/>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Caddy</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TLS</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reverse proxy</a:t>
            </a:r>
            <a:endParaRPr lang="en-US" sz="1400" dirty="0"/>
          </a:p>
        </p:txBody>
      </p:sp>
      <p:sp>
        <p:nvSpPr>
          <p:cNvPr id="9" name="Shape 7"/>
          <p:cNvSpPr/>
          <p:nvPr/>
        </p:nvSpPr>
        <p:spPr>
          <a:xfrm>
            <a:off x="4480560" y="4069080"/>
            <a:ext cx="548640" cy="0"/>
          </a:xfrm>
          <a:prstGeom prst="line">
            <a:avLst/>
          </a:prstGeom>
          <a:noFill/>
          <a:ln w="22225">
            <a:solidFill>
              <a:srgbClr val="4E5A6B"/>
            </a:solidFill>
            <a:prstDash val="solid"/>
            <a:headEnd type="triangle"/>
            <a:tailEnd type="triangle"/>
          </a:ln>
        </p:spPr>
      </p:sp>
      <p:sp>
        <p:nvSpPr>
          <p:cNvPr id="10" name="Shape 8"/>
          <p:cNvSpPr/>
          <p:nvPr/>
        </p:nvSpPr>
        <p:spPr>
          <a:xfrm>
            <a:off x="5029200" y="2011680"/>
            <a:ext cx="3154680" cy="4160520"/>
          </a:xfrm>
          <a:prstGeom prst="roundRect">
            <a:avLst>
              <a:gd name="adj" fmla="val 2899"/>
            </a:avLst>
          </a:prstGeom>
          <a:solidFill>
            <a:srgbClr val="FDF0DE"/>
          </a:solidFill>
          <a:ln w="15875">
            <a:solidFill>
              <a:srgbClr val="E08A1E"/>
            </a:solidFill>
            <a:prstDash val="solid"/>
          </a:ln>
        </p:spPr>
      </p:sp>
      <p:sp>
        <p:nvSpPr>
          <p:cNvPr id="11" name="Text 9"/>
          <p:cNvSpPr txBox="1"/>
          <p:nvPr/>
        </p:nvSpPr>
        <p:spPr>
          <a:xfrm>
            <a:off x="5212080" y="2121408"/>
            <a:ext cx="2834640" cy="320040"/>
          </a:xfrm>
          <a:prstGeom prst="rect">
            <a:avLst/>
          </a:prstGeom>
          <a:noFill/>
          <a:ln/>
        </p:spPr>
        <p:txBody>
          <a:bodyPr wrap="square" lIns="0" tIns="0" rIns="0" bIns="0" rtlCol="0" anchor="t"/>
          <a:lstStyle/>
          <a:p>
            <a:pPr algn="l" indent="0" marL="0">
              <a:buNone/>
            </a:pPr>
            <a:r>
              <a:rPr lang="en-US" sz="1400" b="1" dirty="0">
                <a:solidFill>
                  <a:srgbClr val="9A5A0C"/>
                </a:solidFill>
                <a:latin typeface="Arial" pitchFamily="34" charset="0"/>
                <a:ea typeface="Arial" pitchFamily="34" charset="-122"/>
                <a:cs typeface="Arial" pitchFamily="34" charset="-120"/>
              </a:rPr>
              <a:t>Django ASGI  (Daphne)</a:t>
            </a:r>
            <a:endParaRPr lang="en-US" sz="1400" dirty="0"/>
          </a:p>
        </p:txBody>
      </p:sp>
      <p:sp>
        <p:nvSpPr>
          <p:cNvPr id="12" name="Text 10"/>
          <p:cNvSpPr txBox="1"/>
          <p:nvPr/>
        </p:nvSpPr>
        <p:spPr>
          <a:xfrm>
            <a:off x="5212080" y="2560320"/>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REST API · auth · throttling</a:t>
            </a:r>
            <a:endParaRPr lang="en-US" sz="1250" dirty="0"/>
          </a:p>
        </p:txBody>
      </p:sp>
      <p:sp>
        <p:nvSpPr>
          <p:cNvPr id="13" name="Text 11"/>
          <p:cNvSpPr txBox="1"/>
          <p:nvPr/>
        </p:nvSpPr>
        <p:spPr>
          <a:xfrm>
            <a:off x="5212080" y="3447288"/>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Agent runtime</a:t>
            </a:r>
            <a:endParaRPr lang="en-US" sz="12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LangGraph turn loop</a:t>
            </a:r>
            <a:endParaRPr lang="en-US" sz="1250" dirty="0"/>
          </a:p>
        </p:txBody>
      </p:sp>
      <p:sp>
        <p:nvSpPr>
          <p:cNvPr id="14" name="Text 12"/>
          <p:cNvSpPr txBox="1"/>
          <p:nvPr/>
        </p:nvSpPr>
        <p:spPr>
          <a:xfrm>
            <a:off x="5212080" y="4334256"/>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Scheduler loop</a:t>
            </a:r>
            <a:endParaRPr lang="en-US" sz="12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triggers + periodic jobs, DB lease</a:t>
            </a:r>
            <a:endParaRPr lang="en-US" sz="1250" dirty="0"/>
          </a:p>
        </p:txBody>
      </p:sp>
      <p:sp>
        <p:nvSpPr>
          <p:cNvPr id="15" name="Text 13"/>
          <p:cNvSpPr txBox="1"/>
          <p:nvPr/>
        </p:nvSpPr>
        <p:spPr>
          <a:xfrm>
            <a:off x="5212080" y="5221224"/>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Channels consumers</a:t>
            </a:r>
            <a:endParaRPr lang="en-US" sz="12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live run events</a:t>
            </a:r>
            <a:endParaRPr lang="en-US" sz="1250" dirty="0"/>
          </a:p>
        </p:txBody>
      </p:sp>
      <p:sp>
        <p:nvSpPr>
          <p:cNvPr id="16" name="Shape 14"/>
          <p:cNvSpPr/>
          <p:nvPr/>
        </p:nvSpPr>
        <p:spPr>
          <a:xfrm>
            <a:off x="8183880" y="2368296"/>
            <a:ext cx="548640" cy="0"/>
          </a:xfrm>
          <a:prstGeom prst="line">
            <a:avLst/>
          </a:prstGeom>
          <a:noFill/>
          <a:ln w="22225">
            <a:solidFill>
              <a:srgbClr val="4E5A6B"/>
            </a:solidFill>
            <a:prstDash val="solid"/>
            <a:tailEnd type="triangle"/>
          </a:ln>
        </p:spPr>
      </p:sp>
      <p:sp>
        <p:nvSpPr>
          <p:cNvPr id="17" name="Text 15"/>
          <p:cNvSpPr txBox="1"/>
          <p:nvPr/>
        </p:nvSpPr>
        <p:spPr>
          <a:xfrm>
            <a:off x="8732520" y="2011680"/>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PostgreSQL</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psycopg 3 connection pool</a:t>
            </a:r>
            <a:endParaRPr lang="en-US" sz="1300" dirty="0"/>
          </a:p>
        </p:txBody>
      </p:sp>
      <p:sp>
        <p:nvSpPr>
          <p:cNvPr id="18" name="Shape 16"/>
          <p:cNvSpPr/>
          <p:nvPr/>
        </p:nvSpPr>
        <p:spPr>
          <a:xfrm>
            <a:off x="8183880" y="3218688"/>
            <a:ext cx="548640" cy="0"/>
          </a:xfrm>
          <a:prstGeom prst="line">
            <a:avLst/>
          </a:prstGeom>
          <a:noFill/>
          <a:ln w="22225">
            <a:solidFill>
              <a:srgbClr val="4E5A6B"/>
            </a:solidFill>
            <a:prstDash val="solid"/>
            <a:tailEnd type="triangle"/>
          </a:ln>
        </p:spPr>
      </p:sp>
      <p:sp>
        <p:nvSpPr>
          <p:cNvPr id="19" name="Text 17"/>
          <p:cNvSpPr txBox="1"/>
          <p:nvPr/>
        </p:nvSpPr>
        <p:spPr>
          <a:xfrm>
            <a:off x="8732520" y="2862072"/>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Redis</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Channels layer</a:t>
            </a:r>
            <a:endParaRPr lang="en-US" sz="1300" dirty="0"/>
          </a:p>
        </p:txBody>
      </p:sp>
      <p:sp>
        <p:nvSpPr>
          <p:cNvPr id="20" name="Shape 18"/>
          <p:cNvSpPr/>
          <p:nvPr/>
        </p:nvSpPr>
        <p:spPr>
          <a:xfrm>
            <a:off x="8183880" y="4069080"/>
            <a:ext cx="548640" cy="0"/>
          </a:xfrm>
          <a:prstGeom prst="line">
            <a:avLst/>
          </a:prstGeom>
          <a:noFill/>
          <a:ln w="22225">
            <a:solidFill>
              <a:srgbClr val="4E5A6B"/>
            </a:solidFill>
            <a:prstDash val="solid"/>
            <a:tailEnd type="triangle"/>
          </a:ln>
        </p:spPr>
      </p:sp>
      <p:sp>
        <p:nvSpPr>
          <p:cNvPr id="21" name="Text 19"/>
          <p:cNvSpPr txBox="1"/>
          <p:nvPr/>
        </p:nvSpPr>
        <p:spPr>
          <a:xfrm>
            <a:off x="8732520" y="3712464"/>
            <a:ext cx="2907792" cy="713232"/>
          </a:xfrm>
          <a:prstGeom prst="roundRect">
            <a:avLst>
              <a:gd name="adj" fmla="val 10256"/>
            </a:avLst>
          </a:prstGeom>
          <a:solidFill>
            <a:srgbClr val="FBE8E6"/>
          </a:solidFill>
          <a:ln w="12700">
            <a:solidFill>
              <a:srgbClr val="C4433A"/>
            </a:solidFill>
            <a:prstDash val="solid"/>
          </a:ln>
        </p:spPr>
        <p:txBody>
          <a:bodyPr wrap="square" lIns="38100" tIns="127000" rIns="127000" bIns="38100" rtlCol="0" anchor="ctr"/>
          <a:lstStyle/>
          <a:p>
            <a:pPr algn="l" indent="0" marL="0">
              <a:spcAft>
                <a:spcPts val="200"/>
              </a:spcAft>
              <a:buNone/>
            </a:pPr>
            <a:r>
              <a:rPr lang="en-US" sz="1300" b="1" dirty="0">
                <a:solidFill>
                  <a:srgbClr val="8E2B24"/>
                </a:solidFill>
                <a:latin typeface="Arial" pitchFamily="34" charset="0"/>
                <a:ea typeface="Arial" pitchFamily="34" charset="-122"/>
                <a:cs typeface="Arial" pitchFamily="34" charset="-120"/>
              </a:rPr>
              <a:t>Sandbox sidecar</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internal network, no egress</a:t>
            </a:r>
            <a:endParaRPr lang="en-US" sz="1300" dirty="0"/>
          </a:p>
        </p:txBody>
      </p:sp>
      <p:sp>
        <p:nvSpPr>
          <p:cNvPr id="22" name="Shape 20"/>
          <p:cNvSpPr/>
          <p:nvPr/>
        </p:nvSpPr>
        <p:spPr>
          <a:xfrm>
            <a:off x="8183880" y="4919472"/>
            <a:ext cx="548640" cy="0"/>
          </a:xfrm>
          <a:prstGeom prst="line">
            <a:avLst/>
          </a:prstGeom>
          <a:noFill/>
          <a:ln w="22225">
            <a:solidFill>
              <a:srgbClr val="4E5A6B"/>
            </a:solidFill>
            <a:prstDash val="solid"/>
            <a:tailEnd type="triangle"/>
          </a:ln>
        </p:spPr>
      </p:sp>
      <p:sp>
        <p:nvSpPr>
          <p:cNvPr id="23" name="Text 21"/>
          <p:cNvSpPr txBox="1"/>
          <p:nvPr/>
        </p:nvSpPr>
        <p:spPr>
          <a:xfrm>
            <a:off x="8732520" y="4562856"/>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LLM providers</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OpenRouter · NVIDIA · OpenAI · Ollama · Zen</a:t>
            </a:r>
            <a:endParaRPr lang="en-US" sz="1300" dirty="0"/>
          </a:p>
        </p:txBody>
      </p:sp>
      <p:sp>
        <p:nvSpPr>
          <p:cNvPr id="24" name="Shape 22"/>
          <p:cNvSpPr/>
          <p:nvPr/>
        </p:nvSpPr>
        <p:spPr>
          <a:xfrm>
            <a:off x="8183880" y="5769864"/>
            <a:ext cx="548640" cy="0"/>
          </a:xfrm>
          <a:prstGeom prst="line">
            <a:avLst/>
          </a:prstGeom>
          <a:noFill/>
          <a:ln w="22225">
            <a:solidFill>
              <a:srgbClr val="4E5A6B"/>
            </a:solidFill>
            <a:prstDash val="solid"/>
            <a:tailEnd type="triangle"/>
          </a:ln>
        </p:spPr>
      </p:sp>
      <p:sp>
        <p:nvSpPr>
          <p:cNvPr id="25" name="Text 23"/>
          <p:cNvSpPr txBox="1"/>
          <p:nvPr/>
        </p:nvSpPr>
        <p:spPr>
          <a:xfrm>
            <a:off x="8732520" y="5413248"/>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Google REST APIs</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Gmail · Drive · Sheets · Calendar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CODE LAYERS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Apps form layers, and CI enforces them</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Four import-linter contracts run as a test; a break fails the build and names the import.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2057400"/>
            <a:ext cx="7589520" cy="1143000"/>
          </a:xfrm>
          <a:prstGeom prst="roundRect">
            <a:avLst>
              <a:gd name="adj" fmla="val 8000"/>
            </a:avLst>
          </a:prstGeom>
          <a:solidFill>
            <a:srgbClr val="FDF0DE"/>
          </a:solidFill>
          <a:ln w="12700">
            <a:solidFill>
              <a:srgbClr val="FDF0DE"/>
            </a:solidFill>
            <a:prstDash val="solid"/>
          </a:ln>
        </p:spPr>
      </p:sp>
      <p:sp>
        <p:nvSpPr>
          <p:cNvPr id="7" name="Text 5"/>
          <p:cNvSpPr txBox="1"/>
          <p:nvPr/>
        </p:nvSpPr>
        <p:spPr>
          <a:xfrm>
            <a:off x="777240" y="2167128"/>
            <a:ext cx="1828800" cy="274320"/>
          </a:xfrm>
          <a:prstGeom prst="rect">
            <a:avLst/>
          </a:prstGeom>
          <a:noFill/>
          <a:ln/>
        </p:spPr>
        <p:txBody>
          <a:bodyPr wrap="square" lIns="0" tIns="0" rIns="0" bIns="0" rtlCol="0" anchor="t"/>
          <a:lstStyle/>
          <a:p>
            <a:pPr algn="l" indent="0" marL="0">
              <a:buNone/>
            </a:pPr>
            <a:r>
              <a:rPr lang="en-US" sz="1300" b="1" dirty="0">
                <a:solidFill>
                  <a:srgbClr val="E08A1E"/>
                </a:solidFill>
                <a:latin typeface="Arial" pitchFamily="34" charset="0"/>
                <a:ea typeface="Arial" pitchFamily="34" charset="-122"/>
                <a:cs typeface="Arial" pitchFamily="34" charset="-120"/>
              </a:rPr>
              <a:t>Product</a:t>
            </a:r>
            <a:endParaRPr lang="en-US" sz="1300" dirty="0"/>
          </a:p>
        </p:txBody>
      </p:sp>
      <p:sp>
        <p:nvSpPr>
          <p:cNvPr id="8" name="Text 6"/>
          <p:cNvSpPr txBox="1"/>
          <p:nvPr/>
        </p:nvSpPr>
        <p:spPr>
          <a:xfrm>
            <a:off x="777240" y="2514600"/>
            <a:ext cx="592531"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chat</a:t>
            </a:r>
            <a:endParaRPr lang="en-US" sz="1050" dirty="0"/>
          </a:p>
        </p:txBody>
      </p:sp>
      <p:sp>
        <p:nvSpPr>
          <p:cNvPr id="9" name="Text 7"/>
          <p:cNvSpPr txBox="1"/>
          <p:nvPr/>
        </p:nvSpPr>
        <p:spPr>
          <a:xfrm>
            <a:off x="1461211" y="2514600"/>
            <a:ext cx="760781"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agents</a:t>
            </a:r>
            <a:endParaRPr lang="en-US" sz="1050" dirty="0"/>
          </a:p>
        </p:txBody>
      </p:sp>
      <p:sp>
        <p:nvSpPr>
          <p:cNvPr id="10" name="Text 8"/>
          <p:cNvSpPr txBox="1"/>
          <p:nvPr/>
        </p:nvSpPr>
        <p:spPr>
          <a:xfrm>
            <a:off x="2313432" y="2514600"/>
            <a:ext cx="592531"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eval</a:t>
            </a:r>
            <a:endParaRPr lang="en-US" sz="1050" dirty="0"/>
          </a:p>
        </p:txBody>
      </p:sp>
      <p:sp>
        <p:nvSpPr>
          <p:cNvPr id="11" name="Text 9"/>
          <p:cNvSpPr txBox="1"/>
          <p:nvPr/>
        </p:nvSpPr>
        <p:spPr>
          <a:xfrm>
            <a:off x="2997403" y="2514600"/>
            <a:ext cx="929030"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missions</a:t>
            </a:r>
            <a:endParaRPr lang="en-US" sz="1050" dirty="0"/>
          </a:p>
        </p:txBody>
      </p:sp>
      <p:sp>
        <p:nvSpPr>
          <p:cNvPr id="12" name="Text 10"/>
          <p:cNvSpPr txBox="1"/>
          <p:nvPr/>
        </p:nvSpPr>
        <p:spPr>
          <a:xfrm>
            <a:off x="4017874" y="2514600"/>
            <a:ext cx="844906"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imagine</a:t>
            </a:r>
            <a:endParaRPr lang="en-US" sz="1050" dirty="0"/>
          </a:p>
        </p:txBody>
      </p:sp>
      <p:sp>
        <p:nvSpPr>
          <p:cNvPr id="13" name="Text 11"/>
          <p:cNvSpPr txBox="1"/>
          <p:nvPr/>
        </p:nvSpPr>
        <p:spPr>
          <a:xfrm>
            <a:off x="4954219" y="2514600"/>
            <a:ext cx="1265530"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tools_config</a:t>
            </a:r>
            <a:endParaRPr lang="en-US" sz="1050" dirty="0"/>
          </a:p>
        </p:txBody>
      </p:sp>
      <p:sp>
        <p:nvSpPr>
          <p:cNvPr id="14" name="Text 12"/>
          <p:cNvSpPr txBox="1"/>
          <p:nvPr/>
        </p:nvSpPr>
        <p:spPr>
          <a:xfrm>
            <a:off x="6311189" y="2514600"/>
            <a:ext cx="1517904"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mcp_integration</a:t>
            </a:r>
            <a:endParaRPr lang="en-US" sz="1050" dirty="0"/>
          </a:p>
        </p:txBody>
      </p:sp>
      <p:sp>
        <p:nvSpPr>
          <p:cNvPr id="15" name="Text 13"/>
          <p:cNvSpPr txBox="1"/>
          <p:nvPr/>
        </p:nvSpPr>
        <p:spPr>
          <a:xfrm>
            <a:off x="777240" y="2843784"/>
            <a:ext cx="1013155"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messaging</a:t>
            </a:r>
            <a:endParaRPr lang="en-US" sz="1050" dirty="0"/>
          </a:p>
        </p:txBody>
      </p:sp>
      <p:sp>
        <p:nvSpPr>
          <p:cNvPr id="16" name="Text 14"/>
          <p:cNvSpPr txBox="1"/>
          <p:nvPr/>
        </p:nvSpPr>
        <p:spPr>
          <a:xfrm>
            <a:off x="1881835" y="2843784"/>
            <a:ext cx="1097280" cy="274320"/>
          </a:xfrm>
          <a:prstGeom prst="roundRect">
            <a:avLst>
              <a:gd name="adj" fmla="val 20000"/>
            </a:avLst>
          </a:prstGeom>
          <a:solidFill>
            <a:srgbClr val="FFFFFF"/>
          </a:solidFill>
          <a:ln w="9525">
            <a:solidFill>
              <a:srgbClr val="E08A1E"/>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workspaces</a:t>
            </a:r>
            <a:endParaRPr lang="en-US" sz="1050" dirty="0"/>
          </a:p>
        </p:txBody>
      </p:sp>
      <p:sp>
        <p:nvSpPr>
          <p:cNvPr id="17" name="Shape 15"/>
          <p:cNvSpPr/>
          <p:nvPr/>
        </p:nvSpPr>
        <p:spPr>
          <a:xfrm>
            <a:off x="4343400" y="3200400"/>
            <a:ext cx="0" cy="228600"/>
          </a:xfrm>
          <a:prstGeom prst="line">
            <a:avLst/>
          </a:prstGeom>
          <a:noFill/>
          <a:ln w="19050">
            <a:solidFill>
              <a:srgbClr val="8A93A1"/>
            </a:solidFill>
            <a:prstDash val="solid"/>
            <a:tailEnd type="triangle"/>
          </a:ln>
        </p:spPr>
      </p:sp>
      <p:sp>
        <p:nvSpPr>
          <p:cNvPr id="18" name="Shape 16"/>
          <p:cNvSpPr/>
          <p:nvPr/>
        </p:nvSpPr>
        <p:spPr>
          <a:xfrm>
            <a:off x="548640" y="3429000"/>
            <a:ext cx="7589520" cy="1143000"/>
          </a:xfrm>
          <a:prstGeom prst="roundRect">
            <a:avLst>
              <a:gd name="adj" fmla="val 8000"/>
            </a:avLst>
          </a:prstGeom>
          <a:solidFill>
            <a:srgbClr val="E1F2F0"/>
          </a:solidFill>
          <a:ln w="12700">
            <a:solidFill>
              <a:srgbClr val="E1F2F0"/>
            </a:solidFill>
            <a:prstDash val="solid"/>
          </a:ln>
        </p:spPr>
      </p:sp>
      <p:sp>
        <p:nvSpPr>
          <p:cNvPr id="19" name="Text 17"/>
          <p:cNvSpPr txBox="1"/>
          <p:nvPr/>
        </p:nvSpPr>
        <p:spPr>
          <a:xfrm>
            <a:off x="777240" y="3538728"/>
            <a:ext cx="1828800" cy="274320"/>
          </a:xfrm>
          <a:prstGeom prst="rect">
            <a:avLst/>
          </a:prstGeom>
          <a:noFill/>
          <a:ln/>
        </p:spPr>
        <p:txBody>
          <a:bodyPr wrap="square" lIns="0" tIns="0" rIns="0" bIns="0" rtlCol="0" anchor="t"/>
          <a:lstStyle/>
          <a:p>
            <a:pPr algn="l" indent="0" marL="0">
              <a:buNone/>
            </a:pPr>
            <a:r>
              <a:rPr lang="en-US" sz="1300" b="1" dirty="0">
                <a:solidFill>
                  <a:srgbClr val="15877D"/>
                </a:solidFill>
                <a:latin typeface="Arial" pitchFamily="34" charset="0"/>
                <a:ea typeface="Arial" pitchFamily="34" charset="-122"/>
                <a:cs typeface="Arial" pitchFamily="34" charset="-120"/>
              </a:rPr>
              <a:t>Providers &amp; data</a:t>
            </a:r>
            <a:endParaRPr lang="en-US" sz="1300" dirty="0"/>
          </a:p>
        </p:txBody>
      </p:sp>
      <p:sp>
        <p:nvSpPr>
          <p:cNvPr id="20" name="Text 18"/>
          <p:cNvSpPr txBox="1"/>
          <p:nvPr/>
        </p:nvSpPr>
        <p:spPr>
          <a:xfrm>
            <a:off x="777240" y="3886200"/>
            <a:ext cx="508406"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llm</a:t>
            </a:r>
            <a:endParaRPr lang="en-US" sz="1050" dirty="0"/>
          </a:p>
        </p:txBody>
      </p:sp>
      <p:sp>
        <p:nvSpPr>
          <p:cNvPr id="21" name="Text 19"/>
          <p:cNvSpPr txBox="1"/>
          <p:nvPr/>
        </p:nvSpPr>
        <p:spPr>
          <a:xfrm>
            <a:off x="1377086" y="3886200"/>
            <a:ext cx="1013155"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inference</a:t>
            </a:r>
            <a:endParaRPr lang="en-US" sz="1050" dirty="0"/>
          </a:p>
        </p:txBody>
      </p:sp>
      <p:sp>
        <p:nvSpPr>
          <p:cNvPr id="22" name="Text 20"/>
          <p:cNvSpPr txBox="1"/>
          <p:nvPr/>
        </p:nvSpPr>
        <p:spPr>
          <a:xfrm>
            <a:off x="2481682" y="3886200"/>
            <a:ext cx="592531"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logs</a:t>
            </a:r>
            <a:endParaRPr lang="en-US" sz="1050" dirty="0"/>
          </a:p>
        </p:txBody>
      </p:sp>
      <p:sp>
        <p:nvSpPr>
          <p:cNvPr id="23" name="Text 21"/>
          <p:cNvSpPr txBox="1"/>
          <p:nvPr/>
        </p:nvSpPr>
        <p:spPr>
          <a:xfrm>
            <a:off x="3165653" y="3886200"/>
            <a:ext cx="1349654"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notifications</a:t>
            </a:r>
            <a:endParaRPr lang="en-US" sz="1050" dirty="0"/>
          </a:p>
        </p:txBody>
      </p:sp>
      <p:sp>
        <p:nvSpPr>
          <p:cNvPr id="24" name="Text 22"/>
          <p:cNvSpPr txBox="1"/>
          <p:nvPr/>
        </p:nvSpPr>
        <p:spPr>
          <a:xfrm>
            <a:off x="4606747" y="3886200"/>
            <a:ext cx="1013155"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streaming</a:t>
            </a:r>
            <a:endParaRPr lang="en-US" sz="1050" dirty="0"/>
          </a:p>
        </p:txBody>
      </p:sp>
      <p:sp>
        <p:nvSpPr>
          <p:cNvPr id="25" name="Text 23"/>
          <p:cNvSpPr txBox="1"/>
          <p:nvPr/>
        </p:nvSpPr>
        <p:spPr>
          <a:xfrm>
            <a:off x="5711342" y="3886200"/>
            <a:ext cx="760781"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skills</a:t>
            </a:r>
            <a:endParaRPr lang="en-US" sz="1050" dirty="0"/>
          </a:p>
        </p:txBody>
      </p:sp>
      <p:sp>
        <p:nvSpPr>
          <p:cNvPr id="26" name="Text 24"/>
          <p:cNvSpPr txBox="1"/>
          <p:nvPr/>
        </p:nvSpPr>
        <p:spPr>
          <a:xfrm>
            <a:off x="6563563" y="3886200"/>
            <a:ext cx="1181405"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datasources</a:t>
            </a:r>
            <a:endParaRPr lang="en-US" sz="1050" dirty="0"/>
          </a:p>
        </p:txBody>
      </p:sp>
      <p:sp>
        <p:nvSpPr>
          <p:cNvPr id="27" name="Text 25"/>
          <p:cNvSpPr txBox="1"/>
          <p:nvPr/>
        </p:nvSpPr>
        <p:spPr>
          <a:xfrm>
            <a:off x="777240" y="4215384"/>
            <a:ext cx="929030"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browsing</a:t>
            </a:r>
            <a:endParaRPr lang="en-US" sz="1050" dirty="0"/>
          </a:p>
        </p:txBody>
      </p:sp>
      <p:sp>
        <p:nvSpPr>
          <p:cNvPr id="28" name="Text 26"/>
          <p:cNvSpPr txBox="1"/>
          <p:nvPr/>
        </p:nvSpPr>
        <p:spPr>
          <a:xfrm>
            <a:off x="1797710" y="4215384"/>
            <a:ext cx="676656"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esign</a:t>
            </a:r>
            <a:endParaRPr lang="en-US" sz="1050" dirty="0"/>
          </a:p>
        </p:txBody>
      </p:sp>
      <p:sp>
        <p:nvSpPr>
          <p:cNvPr id="29" name="Text 27"/>
          <p:cNvSpPr txBox="1"/>
          <p:nvPr/>
        </p:nvSpPr>
        <p:spPr>
          <a:xfrm>
            <a:off x="2565806" y="4215384"/>
            <a:ext cx="676656" cy="274320"/>
          </a:xfrm>
          <a:prstGeom prst="roundRect">
            <a:avLst>
              <a:gd name="adj" fmla="val 20000"/>
            </a:avLst>
          </a:prstGeom>
          <a:solidFill>
            <a:srgbClr val="FFFFFF"/>
          </a:solidFill>
          <a:ln w="9525">
            <a:solidFill>
              <a:srgbClr val="15877D"/>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voice</a:t>
            </a:r>
            <a:endParaRPr lang="en-US" sz="1050" dirty="0"/>
          </a:p>
        </p:txBody>
      </p:sp>
      <p:sp>
        <p:nvSpPr>
          <p:cNvPr id="30" name="Shape 28"/>
          <p:cNvSpPr/>
          <p:nvPr/>
        </p:nvSpPr>
        <p:spPr>
          <a:xfrm>
            <a:off x="4343400" y="4572000"/>
            <a:ext cx="0" cy="228600"/>
          </a:xfrm>
          <a:prstGeom prst="line">
            <a:avLst/>
          </a:prstGeom>
          <a:noFill/>
          <a:ln w="19050">
            <a:solidFill>
              <a:srgbClr val="8A93A1"/>
            </a:solidFill>
            <a:prstDash val="solid"/>
            <a:tailEnd type="triangle"/>
          </a:ln>
        </p:spPr>
      </p:sp>
      <p:sp>
        <p:nvSpPr>
          <p:cNvPr id="31" name="Shape 29"/>
          <p:cNvSpPr/>
          <p:nvPr/>
        </p:nvSpPr>
        <p:spPr>
          <a:xfrm>
            <a:off x="548640" y="4800600"/>
            <a:ext cx="7589520" cy="1143000"/>
          </a:xfrm>
          <a:prstGeom prst="roundRect">
            <a:avLst>
              <a:gd name="adj" fmla="val 8000"/>
            </a:avLst>
          </a:prstGeom>
          <a:solidFill>
            <a:srgbClr val="E9EDF2"/>
          </a:solidFill>
          <a:ln w="12700">
            <a:solidFill>
              <a:srgbClr val="E9EDF2"/>
            </a:solidFill>
            <a:prstDash val="solid"/>
          </a:ln>
        </p:spPr>
      </p:sp>
      <p:sp>
        <p:nvSpPr>
          <p:cNvPr id="32" name="Text 30"/>
          <p:cNvSpPr txBox="1"/>
          <p:nvPr/>
        </p:nvSpPr>
        <p:spPr>
          <a:xfrm>
            <a:off x="777240" y="4910328"/>
            <a:ext cx="1828800" cy="274320"/>
          </a:xfrm>
          <a:prstGeom prst="rect">
            <a:avLst/>
          </a:prstGeom>
          <a:noFill/>
          <a:ln/>
        </p:spPr>
        <p:txBody>
          <a:bodyPr wrap="square" lIns="0" tIns="0" rIns="0" bIns="0" rtlCol="0" anchor="t"/>
          <a:lstStyle/>
          <a:p>
            <a:pPr algn="l" indent="0" marL="0">
              <a:buNone/>
            </a:pPr>
            <a:r>
              <a:rPr lang="en-US" sz="1300" b="1" dirty="0">
                <a:solidFill>
                  <a:srgbClr val="4E5A6B"/>
                </a:solidFill>
                <a:latin typeface="Arial" pitchFamily="34" charset="0"/>
                <a:ea typeface="Arial" pitchFamily="34" charset="-122"/>
                <a:cs typeface="Arial" pitchFamily="34" charset="-120"/>
              </a:rPr>
              <a:t>Foundation</a:t>
            </a:r>
            <a:endParaRPr lang="en-US" sz="1300" dirty="0"/>
          </a:p>
        </p:txBody>
      </p:sp>
      <p:sp>
        <p:nvSpPr>
          <p:cNvPr id="33" name="Text 31"/>
          <p:cNvSpPr txBox="1"/>
          <p:nvPr/>
        </p:nvSpPr>
        <p:spPr>
          <a:xfrm>
            <a:off x="777240" y="5257800"/>
            <a:ext cx="1602029" cy="274320"/>
          </a:xfrm>
          <a:prstGeom prst="roundRect">
            <a:avLst>
              <a:gd name="adj" fmla="val 20000"/>
            </a:avLst>
          </a:prstGeom>
          <a:solidFill>
            <a:srgbClr val="FFFFFF"/>
          </a:solidFill>
          <a:ln w="9525">
            <a:solidFill>
              <a:srgbClr val="4E5A6B"/>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workflow_backend</a:t>
            </a:r>
            <a:endParaRPr lang="en-US" sz="1050" dirty="0"/>
          </a:p>
        </p:txBody>
      </p:sp>
      <p:sp>
        <p:nvSpPr>
          <p:cNvPr id="34" name="Text 32"/>
          <p:cNvSpPr txBox="1"/>
          <p:nvPr/>
        </p:nvSpPr>
        <p:spPr>
          <a:xfrm>
            <a:off x="2470709" y="5257800"/>
            <a:ext cx="592531" cy="274320"/>
          </a:xfrm>
          <a:prstGeom prst="roundRect">
            <a:avLst>
              <a:gd name="adj" fmla="val 20000"/>
            </a:avLst>
          </a:prstGeom>
          <a:solidFill>
            <a:srgbClr val="FFFFFF"/>
          </a:solidFill>
          <a:ln w="9525">
            <a:solidFill>
              <a:srgbClr val="4E5A6B"/>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core</a:t>
            </a:r>
            <a:endParaRPr lang="en-US" sz="1050" dirty="0"/>
          </a:p>
        </p:txBody>
      </p:sp>
      <p:sp>
        <p:nvSpPr>
          <p:cNvPr id="35" name="Text 33"/>
          <p:cNvSpPr txBox="1"/>
          <p:nvPr/>
        </p:nvSpPr>
        <p:spPr>
          <a:xfrm>
            <a:off x="3154680" y="5257800"/>
            <a:ext cx="1181405" cy="274320"/>
          </a:xfrm>
          <a:prstGeom prst="roundRect">
            <a:avLst>
              <a:gd name="adj" fmla="val 20000"/>
            </a:avLst>
          </a:prstGeom>
          <a:solidFill>
            <a:srgbClr val="FFFFFF"/>
          </a:solidFill>
          <a:ln w="9525">
            <a:solidFill>
              <a:srgbClr val="4E5A6B"/>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credentials</a:t>
            </a:r>
            <a:endParaRPr lang="en-US" sz="1050" dirty="0"/>
          </a:p>
        </p:txBody>
      </p:sp>
      <p:sp>
        <p:nvSpPr>
          <p:cNvPr id="36" name="Text 34"/>
          <p:cNvSpPr txBox="1"/>
          <p:nvPr/>
        </p:nvSpPr>
        <p:spPr>
          <a:xfrm>
            <a:off x="4427525" y="5257800"/>
            <a:ext cx="844906" cy="274320"/>
          </a:xfrm>
          <a:prstGeom prst="roundRect">
            <a:avLst>
              <a:gd name="adj" fmla="val 20000"/>
            </a:avLst>
          </a:prstGeom>
          <a:solidFill>
            <a:srgbClr val="FFFFFF"/>
          </a:solidFill>
          <a:ln w="9525">
            <a:solidFill>
              <a:srgbClr val="4E5A6B"/>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sandbox</a:t>
            </a:r>
            <a:endParaRPr lang="en-US" sz="1050" dirty="0"/>
          </a:p>
        </p:txBody>
      </p:sp>
      <p:sp>
        <p:nvSpPr>
          <p:cNvPr id="37" name="Text 35"/>
          <p:cNvSpPr txBox="1"/>
          <p:nvPr/>
        </p:nvSpPr>
        <p:spPr>
          <a:xfrm>
            <a:off x="5363870" y="5257800"/>
            <a:ext cx="760781" cy="274320"/>
          </a:xfrm>
          <a:prstGeom prst="roundRect">
            <a:avLst>
              <a:gd name="adj" fmla="val 20000"/>
            </a:avLst>
          </a:prstGeom>
          <a:solidFill>
            <a:srgbClr val="FFFFFF"/>
          </a:solidFill>
          <a:ln w="9525">
            <a:solidFill>
              <a:srgbClr val="4E5A6B"/>
            </a:solidFill>
          </a:ln>
        </p:spPr>
        <p:txBody>
          <a:bodyPr wrap="square" lIns="0" tIns="0" rIns="0" bIns="0" rtlCol="0" anchor="ctr"/>
          <a:lstStyle/>
          <a:p>
            <a:pPr algn="ctr" indent="0" marL="0">
              <a:buNone/>
            </a:pPr>
            <a:r>
              <a:rPr lang="en-US" sz="1050" dirty="0">
                <a:solidFill>
                  <a:srgbClr val="1C212B"/>
                </a:solidFill>
                <a:latin typeface="Courier New" pitchFamily="34" charset="0"/>
                <a:ea typeface="Courier New" pitchFamily="34" charset="-122"/>
                <a:cs typeface="Courier New" pitchFamily="34" charset="-120"/>
              </a:rPr>
              <a:t>office</a:t>
            </a:r>
            <a:endParaRPr lang="en-US" sz="1050" dirty="0"/>
          </a:p>
        </p:txBody>
      </p:sp>
      <p:sp>
        <p:nvSpPr>
          <p:cNvPr id="38" name="Text 36"/>
          <p:cNvSpPr txBox="1"/>
          <p:nvPr/>
        </p:nvSpPr>
        <p:spPr>
          <a:xfrm>
            <a:off x="4572000" y="3218688"/>
            <a:ext cx="3474720" cy="201168"/>
          </a:xfrm>
          <a:prstGeom prst="rect">
            <a:avLst/>
          </a:prstGeom>
          <a:noFill/>
          <a:ln/>
        </p:spPr>
        <p:txBody>
          <a:bodyPr wrap="square" lIns="0" tIns="0" rIns="0" bIns="0" rtlCol="0" anchor="t"/>
          <a:lstStyle/>
          <a:p>
            <a:pPr algn="l" indent="0" marL="0">
              <a:buNone/>
            </a:pPr>
            <a:r>
              <a:rPr lang="en-US" sz="1050" i="1" dirty="0">
                <a:solidFill>
                  <a:srgbClr val="5B6472"/>
                </a:solidFill>
                <a:latin typeface="Calibri" pitchFamily="34" charset="0"/>
                <a:ea typeface="Calibri" pitchFamily="34" charset="-122"/>
                <a:cs typeface="Calibri" pitchFamily="34" charset="-120"/>
              </a:rPr>
              <a:t>each layer may depend only on the layers below it</a:t>
            </a:r>
            <a:endParaRPr lang="en-US" sz="1050" dirty="0"/>
          </a:p>
        </p:txBody>
      </p:sp>
      <p:sp>
        <p:nvSpPr>
          <p:cNvPr id="39" name="Shape 37"/>
          <p:cNvSpPr/>
          <p:nvPr/>
        </p:nvSpPr>
        <p:spPr>
          <a:xfrm>
            <a:off x="8503920" y="2057400"/>
            <a:ext cx="3136392" cy="3886200"/>
          </a:xfrm>
          <a:prstGeom prst="roundRect">
            <a:avLst>
              <a:gd name="adj" fmla="val 2915"/>
            </a:avLst>
          </a:prstGeom>
          <a:solidFill>
            <a:srgbClr val="F3F5F8"/>
          </a:solidFill>
          <a:ln w="12700">
            <a:solidFill>
              <a:srgbClr val="F3F5F8"/>
            </a:solidFill>
            <a:prstDash val="solid"/>
          </a:ln>
        </p:spPr>
      </p:sp>
      <p:sp>
        <p:nvSpPr>
          <p:cNvPr id="40" name="Text 38"/>
          <p:cNvSpPr txBox="1"/>
          <p:nvPr/>
        </p:nvSpPr>
        <p:spPr>
          <a:xfrm>
            <a:off x="8732520" y="2240280"/>
            <a:ext cx="2743200" cy="3566160"/>
          </a:xfrm>
          <a:prstGeom prst="rect">
            <a:avLst/>
          </a:prstGeom>
          <a:noFill/>
          <a:ln/>
        </p:spPr>
        <p:txBody>
          <a:bodyPr wrap="square" lIns="0" tIns="0" rIns="0" bIns="0" rtlCol="0" anchor="t"/>
          <a:lstStyle/>
          <a:p>
            <a:pPr indent="0" marL="0">
              <a:buNone/>
            </a:pPr>
            <a:r>
              <a:rPr lang="en-US" sz="1300" b="1" dirty="0">
                <a:solidFill>
                  <a:srgbClr val="1C212B"/>
                </a:solidFill>
                <a:latin typeface="Arial" pitchFamily="34" charset="0"/>
                <a:ea typeface="Arial" pitchFamily="34" charset="-122"/>
                <a:cs typeface="Arial" pitchFamily="34" charset="-120"/>
              </a:rPr>
              <a:t>May read</a:t>
            </a:r>
            <a:endParaRPr lang="en-US" sz="130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a lower layer's models</a:t>
            </a:r>
            <a:endParaRPr lang="en-US" sz="1300" dirty="0"/>
          </a:p>
          <a:p>
            <a:pPr indent="0" marL="0">
              <a:buNone/>
            </a:pPr>
            <a:r>
              <a:rPr lang="en-US" sz="1300" b="1" dirty="0">
                <a:solidFill>
                  <a:srgbClr val="1C212B"/>
                </a:solidFill>
                <a:latin typeface="Arial" pitchFamily="34" charset="0"/>
                <a:ea typeface="Arial" pitchFamily="34" charset="-122"/>
                <a:cs typeface="Arial" pitchFamily="34" charset="-120"/>
              </a:rPr>
              <a:t>May not import</a:t>
            </a:r>
            <a:endParaRPr lang="en-US" sz="130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the agent runtime, chat engine, tool library, eval or missions from below</a:t>
            </a:r>
            <a:endParaRPr lang="en-US" sz="1300" dirty="0"/>
          </a:p>
          <a:p>
            <a:pPr indent="0" marL="0">
              <a:buNone/>
            </a:pPr>
            <a:r>
              <a:rPr lang="en-US" sz="1300" b="1" dirty="0">
                <a:solidFill>
                  <a:srgbClr val="1C212B"/>
                </a:solidFill>
                <a:latin typeface="Arial" pitchFamily="34" charset="0"/>
                <a:ea typeface="Arial" pitchFamily="34" charset="-122"/>
                <a:cs typeface="Arial" pitchFamily="34" charset="-120"/>
              </a:rPr>
              <a:t>Never</a:t>
            </a:r>
            <a:endParaRPr lang="en-US" sz="130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another app's views</a:t>
            </a:r>
            <a:endParaRPr lang="en-US" sz="1300" dirty="0"/>
          </a:p>
          <a:p>
            <a:pPr indent="0" marL="0">
              <a:buNone/>
            </a:pPr>
            <a:r>
              <a:rPr lang="en-US" sz="1300" b="1" dirty="0">
                <a:solidFill>
                  <a:srgbClr val="1C212B"/>
                </a:solidFill>
                <a:latin typeface="Arial" pitchFamily="34" charset="0"/>
                <a:ea typeface="Arial" pitchFamily="34" charset="-122"/>
                <a:cs typeface="Arial" pitchFamily="34" charset="-120"/>
              </a:rPr>
              <a:t>Checked</a:t>
            </a:r>
            <a:endParaRPr lang="en-US" sz="1300" dirty="0"/>
          </a:p>
          <a:p>
            <a:pPr indent="0" marL="0">
              <a:buNone/>
            </a:pPr>
            <a:r>
              <a:rPr lang="en-US" sz="1200" dirty="0">
                <a:solidFill>
                  <a:srgbClr val="5B6472"/>
                </a:solidFill>
                <a:latin typeface="Calibri" pitchFamily="34" charset="0"/>
                <a:ea typeface="Calibri" pitchFamily="34" charset="-122"/>
                <a:cs typeface="Calibri" pitchFamily="34" charset="-120"/>
              </a:rPr>
              <a:t>direct imports only; tests exempt; every exception listed with its reason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ONE DOOR</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Every run starts through the same function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Callers differ in configuration, never in code path — a second way in is a second place to forget a check.</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7</a:t>
            </a:r>
            <a:endParaRPr lang="en-US" sz="1000" dirty="0"/>
          </a:p>
        </p:txBody>
      </p:sp>
      <p:sp>
        <p:nvSpPr>
          <p:cNvPr id="6" name="Text 4"/>
          <p:cNvSpPr txBox="1"/>
          <p:nvPr/>
        </p:nvSpPr>
        <p:spPr>
          <a:xfrm>
            <a:off x="548640" y="2057400"/>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chat</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delegation from a conversation</a:t>
            </a:r>
            <a:endParaRPr lang="en-US" sz="1300" dirty="0"/>
          </a:p>
        </p:txBody>
      </p:sp>
      <p:sp>
        <p:nvSpPr>
          <p:cNvPr id="7" name="Shape 5"/>
          <p:cNvSpPr/>
          <p:nvPr/>
        </p:nvSpPr>
        <p:spPr>
          <a:xfrm>
            <a:off x="2926080" y="2377440"/>
            <a:ext cx="731520" cy="1600200"/>
          </a:xfrm>
          <a:prstGeom prst="line">
            <a:avLst/>
          </a:prstGeom>
          <a:noFill/>
          <a:ln w="15875">
            <a:solidFill>
              <a:srgbClr val="8A93A1"/>
            </a:solidFill>
            <a:prstDash val="solid"/>
            <a:tailEnd type="triangle"/>
          </a:ln>
        </p:spPr>
      </p:sp>
      <p:sp>
        <p:nvSpPr>
          <p:cNvPr id="8" name="Text 6"/>
          <p:cNvSpPr txBox="1"/>
          <p:nvPr/>
        </p:nvSpPr>
        <p:spPr>
          <a:xfrm>
            <a:off x="548640" y="2843784"/>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orchestrator</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a worker started by an agent</a:t>
            </a:r>
            <a:endParaRPr lang="en-US" sz="1300" dirty="0"/>
          </a:p>
        </p:txBody>
      </p:sp>
      <p:sp>
        <p:nvSpPr>
          <p:cNvPr id="9" name="Shape 7"/>
          <p:cNvSpPr/>
          <p:nvPr/>
        </p:nvSpPr>
        <p:spPr>
          <a:xfrm>
            <a:off x="2926080" y="3163824"/>
            <a:ext cx="731520" cy="813816"/>
          </a:xfrm>
          <a:prstGeom prst="line">
            <a:avLst/>
          </a:prstGeom>
          <a:noFill/>
          <a:ln w="15875">
            <a:solidFill>
              <a:srgbClr val="8A93A1"/>
            </a:solidFill>
            <a:prstDash val="solid"/>
            <a:tailEnd type="triangle"/>
          </a:ln>
        </p:spPr>
      </p:sp>
      <p:sp>
        <p:nvSpPr>
          <p:cNvPr id="10" name="Text 8"/>
          <p:cNvSpPr txBox="1"/>
          <p:nvPr/>
        </p:nvSpPr>
        <p:spPr>
          <a:xfrm>
            <a:off x="548640" y="3630168"/>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trigger</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schedule, webhook or event</a:t>
            </a:r>
            <a:endParaRPr lang="en-US" sz="1300" dirty="0"/>
          </a:p>
        </p:txBody>
      </p:sp>
      <p:sp>
        <p:nvSpPr>
          <p:cNvPr id="11" name="Shape 9"/>
          <p:cNvSpPr/>
          <p:nvPr/>
        </p:nvSpPr>
        <p:spPr>
          <a:xfrm>
            <a:off x="2926080" y="3950208"/>
            <a:ext cx="731520" cy="27432"/>
          </a:xfrm>
          <a:prstGeom prst="line">
            <a:avLst/>
          </a:prstGeom>
          <a:noFill/>
          <a:ln w="15875">
            <a:solidFill>
              <a:srgbClr val="8A93A1"/>
            </a:solidFill>
            <a:prstDash val="solid"/>
            <a:tailEnd type="triangle"/>
          </a:ln>
        </p:spPr>
      </p:sp>
      <p:sp>
        <p:nvSpPr>
          <p:cNvPr id="12" name="Text 10"/>
          <p:cNvSpPr txBox="1"/>
          <p:nvPr/>
        </p:nvSpPr>
        <p:spPr>
          <a:xfrm>
            <a:off x="548640" y="4416552"/>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api</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Run button, REST call</a:t>
            </a:r>
            <a:endParaRPr lang="en-US" sz="1300" dirty="0"/>
          </a:p>
        </p:txBody>
      </p:sp>
      <p:sp>
        <p:nvSpPr>
          <p:cNvPr id="13" name="Shape 11"/>
          <p:cNvSpPr/>
          <p:nvPr/>
        </p:nvSpPr>
        <p:spPr>
          <a:xfrm flipV="1">
            <a:off x="2926080" y="3977640"/>
            <a:ext cx="731520" cy="758952"/>
          </a:xfrm>
          <a:prstGeom prst="line">
            <a:avLst/>
          </a:prstGeom>
          <a:noFill/>
          <a:ln w="15875">
            <a:solidFill>
              <a:srgbClr val="8A93A1"/>
            </a:solidFill>
            <a:prstDash val="solid"/>
            <a:tailEnd type="triangle"/>
          </a:ln>
        </p:spPr>
      </p:sp>
      <p:sp>
        <p:nvSpPr>
          <p:cNvPr id="14" name="Text 12"/>
          <p:cNvSpPr txBox="1"/>
          <p:nvPr/>
        </p:nvSpPr>
        <p:spPr>
          <a:xfrm>
            <a:off x="548640" y="5202936"/>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eval</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benchmark and test sweeps</a:t>
            </a:r>
            <a:endParaRPr lang="en-US" sz="1300" dirty="0"/>
          </a:p>
        </p:txBody>
      </p:sp>
      <p:sp>
        <p:nvSpPr>
          <p:cNvPr id="15" name="Shape 13"/>
          <p:cNvSpPr/>
          <p:nvPr/>
        </p:nvSpPr>
        <p:spPr>
          <a:xfrm flipV="1">
            <a:off x="2926080" y="3977640"/>
            <a:ext cx="731520" cy="1545336"/>
          </a:xfrm>
          <a:prstGeom prst="line">
            <a:avLst/>
          </a:prstGeom>
          <a:noFill/>
          <a:ln w="15875">
            <a:solidFill>
              <a:srgbClr val="8A93A1"/>
            </a:solidFill>
            <a:prstDash val="solid"/>
            <a:tailEnd type="triangle"/>
          </a:ln>
        </p:spPr>
      </p:sp>
      <p:sp>
        <p:nvSpPr>
          <p:cNvPr id="16" name="Text 14"/>
          <p:cNvSpPr txBox="1"/>
          <p:nvPr/>
        </p:nvSpPr>
        <p:spPr>
          <a:xfrm>
            <a:off x="3657600" y="3337560"/>
            <a:ext cx="2377440" cy="1280160"/>
          </a:xfrm>
          <a:prstGeom prst="roundRect">
            <a:avLst>
              <a:gd name="adj" fmla="val 5714"/>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start_agent_run</a:t>
            </a:r>
            <a:endParaRPr lang="en-US" sz="1400" dirty="0"/>
          </a:p>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run_agent</a:t>
            </a:r>
            <a:endParaRPr lang="en-US" sz="14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agents/agent/runtime.py</a:t>
            </a:r>
            <a:endParaRPr lang="en-US" sz="1400" dirty="0"/>
          </a:p>
        </p:txBody>
      </p:sp>
      <p:sp>
        <p:nvSpPr>
          <p:cNvPr id="17" name="Shape 15"/>
          <p:cNvSpPr/>
          <p:nvPr/>
        </p:nvSpPr>
        <p:spPr>
          <a:xfrm>
            <a:off x="6035040" y="3977640"/>
            <a:ext cx="548640" cy="0"/>
          </a:xfrm>
          <a:prstGeom prst="line">
            <a:avLst/>
          </a:prstGeom>
          <a:noFill/>
          <a:ln w="22225">
            <a:solidFill>
              <a:srgbClr val="4E5A6B"/>
            </a:solidFill>
            <a:prstDash val="solid"/>
            <a:tailEnd type="triangle"/>
          </a:ln>
        </p:spPr>
      </p:sp>
      <p:sp>
        <p:nvSpPr>
          <p:cNvPr id="18" name="Shape 16"/>
          <p:cNvSpPr/>
          <p:nvPr/>
        </p:nvSpPr>
        <p:spPr>
          <a:xfrm>
            <a:off x="6583680" y="2148840"/>
            <a:ext cx="2971800" cy="3657600"/>
          </a:xfrm>
          <a:prstGeom prst="roundRect">
            <a:avLst>
              <a:gd name="adj" fmla="val 3077"/>
            </a:avLst>
          </a:prstGeom>
          <a:solidFill>
            <a:srgbClr val="FDF0DE"/>
          </a:solidFill>
          <a:ln w="12700">
            <a:solidFill>
              <a:srgbClr val="FDF0DE"/>
            </a:solidFill>
            <a:prstDash val="solid"/>
          </a:ln>
        </p:spPr>
      </p:sp>
      <p:sp>
        <p:nvSpPr>
          <p:cNvPr id="19" name="Text 17"/>
          <p:cNvSpPr txBox="1"/>
          <p:nvPr/>
        </p:nvSpPr>
        <p:spPr>
          <a:xfrm>
            <a:off x="6812280" y="2286000"/>
            <a:ext cx="2651760" cy="274320"/>
          </a:xfrm>
          <a:prstGeom prst="rect">
            <a:avLst/>
          </a:prstGeom>
          <a:noFill/>
          <a:ln/>
        </p:spPr>
        <p:txBody>
          <a:bodyPr wrap="square" lIns="0" tIns="0" rIns="0" bIns="0" rtlCol="0" anchor="t"/>
          <a:lstStyle/>
          <a:p>
            <a:pPr algn="l" indent="0" marL="0">
              <a:buNone/>
            </a:pPr>
            <a:r>
              <a:rPr lang="en-US" sz="1300" b="1" dirty="0">
                <a:solidFill>
                  <a:srgbClr val="9A5A0C"/>
                </a:solidFill>
                <a:latin typeface="Arial" pitchFamily="34" charset="0"/>
                <a:ea typeface="Arial" pitchFamily="34" charset="-122"/>
                <a:cs typeface="Arial" pitchFamily="34" charset="-120"/>
              </a:rPr>
              <a:t>Checked once, for everyone</a:t>
            </a:r>
            <a:endParaRPr lang="en-US" sz="1300" dirty="0"/>
          </a:p>
        </p:txBody>
      </p:sp>
      <p:sp>
        <p:nvSpPr>
          <p:cNvPr id="20" name="Text 18"/>
          <p:cNvSpPr txBox="1"/>
          <p:nvPr/>
        </p:nvSpPr>
        <p:spPr>
          <a:xfrm>
            <a:off x="6812280" y="2651760"/>
            <a:ext cx="2606040" cy="3063240"/>
          </a:xfrm>
          <a:prstGeom prst="rect">
            <a:avLst/>
          </a:prstGeom>
          <a:noFill/>
          <a:ln/>
        </p:spPr>
        <p:txBody>
          <a:bodyPr wrap="square" lIns="0" tIns="0" rIns="0" bIns="0" rtlCol="0" anchor="t"/>
          <a:lstStyle/>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Credential preflight — a missing key is a 402 before any log row exists</a:t>
            </a:r>
            <a:endParaRPr lang="en-US" sz="1200" dirty="0"/>
          </a:p>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Spend cap, against the tokens the run actually records</a:t>
            </a:r>
            <a:endParaRPr lang="en-US" sz="1200" dirty="0"/>
          </a:p>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Unattended callers need allow_unattended</a:t>
            </a:r>
            <a:endParaRPr lang="en-US" sz="1200" dirty="0"/>
          </a:p>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Account pause switch</a:t>
            </a:r>
            <a:endParaRPr lang="en-US" sz="1200" dirty="0"/>
          </a:p>
        </p:txBody>
      </p:sp>
      <p:sp>
        <p:nvSpPr>
          <p:cNvPr id="21" name="Shape 19"/>
          <p:cNvSpPr/>
          <p:nvPr/>
        </p:nvSpPr>
        <p:spPr>
          <a:xfrm>
            <a:off x="9555480" y="3977640"/>
            <a:ext cx="502920" cy="0"/>
          </a:xfrm>
          <a:prstGeom prst="line">
            <a:avLst/>
          </a:prstGeom>
          <a:noFill/>
          <a:ln w="22225">
            <a:solidFill>
              <a:srgbClr val="4E5A6B"/>
            </a:solidFill>
            <a:prstDash val="solid"/>
            <a:tailEnd type="triangle"/>
          </a:ln>
        </p:spPr>
      </p:sp>
      <p:sp>
        <p:nvSpPr>
          <p:cNvPr id="22" name="Text 20"/>
          <p:cNvSpPr txBox="1"/>
          <p:nvPr/>
        </p:nvSpPr>
        <p:spPr>
          <a:xfrm>
            <a:off x="10058400" y="3429000"/>
            <a:ext cx="1581912" cy="1097280"/>
          </a:xfrm>
          <a:prstGeom prst="roundRect">
            <a:avLst>
              <a:gd name="adj" fmla="val 6667"/>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Turn loop</a:t>
            </a:r>
            <a:endParaRPr lang="en-US" sz="13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next slide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THE LOOP</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One turn loop for chat and agents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LangGraph cycle; an iteration is four node visits, and the step budget is sized from that.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8</a:t>
            </a:r>
            <a:endParaRPr lang="en-US" sz="1000" dirty="0"/>
          </a:p>
        </p:txBody>
      </p:sp>
      <p:sp>
        <p:nvSpPr>
          <p:cNvPr id="6" name="Text 4"/>
          <p:cNvSpPr txBox="1"/>
          <p:nvPr/>
        </p:nvSpPr>
        <p:spPr>
          <a:xfrm>
            <a:off x="1097280" y="2331720"/>
            <a:ext cx="2011680" cy="868680"/>
          </a:xfrm>
          <a:prstGeom prst="roundRect">
            <a:avLst>
              <a:gd name="adj" fmla="val 8421"/>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agent</a:t>
            </a:r>
            <a:endParaRPr lang="en-US" sz="1700" dirty="0"/>
          </a:p>
        </p:txBody>
      </p:sp>
      <p:sp>
        <p:nvSpPr>
          <p:cNvPr id="7" name="Text 5"/>
          <p:cNvSpPr txBox="1"/>
          <p:nvPr/>
        </p:nvSpPr>
        <p:spPr>
          <a:xfrm>
            <a:off x="3931920" y="2331720"/>
            <a:ext cx="2011680" cy="868680"/>
          </a:xfrm>
          <a:prstGeom prst="roundRect">
            <a:avLst>
              <a:gd name="adj" fmla="val 8421"/>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tools</a:t>
            </a:r>
            <a:endParaRPr lang="en-US" sz="1700" dirty="0"/>
          </a:p>
        </p:txBody>
      </p:sp>
      <p:sp>
        <p:nvSpPr>
          <p:cNvPr id="8" name="Text 6"/>
          <p:cNvSpPr txBox="1"/>
          <p:nvPr/>
        </p:nvSpPr>
        <p:spPr>
          <a:xfrm>
            <a:off x="3931920" y="4572000"/>
            <a:ext cx="2011680" cy="868680"/>
          </a:xfrm>
          <a:prstGeom prst="roundRect">
            <a:avLst>
              <a:gd name="adj" fmla="val 8421"/>
            </a:avLst>
          </a:prstGeom>
          <a:solidFill>
            <a:srgbClr val="4E5A6B"/>
          </a:solidFill>
          <a:ln w="12700">
            <a:solidFill>
              <a:srgbClr val="4E5A6B"/>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curate</a:t>
            </a:r>
            <a:endParaRPr lang="en-US" sz="1700" dirty="0"/>
          </a:p>
        </p:txBody>
      </p:sp>
      <p:sp>
        <p:nvSpPr>
          <p:cNvPr id="9" name="Text 7"/>
          <p:cNvSpPr txBox="1"/>
          <p:nvPr/>
        </p:nvSpPr>
        <p:spPr>
          <a:xfrm>
            <a:off x="1097280" y="4572000"/>
            <a:ext cx="2011680" cy="868680"/>
          </a:xfrm>
          <a:prstGeom prst="roundRect">
            <a:avLst>
              <a:gd name="adj" fmla="val 8421"/>
            </a:avLst>
          </a:prstGeom>
          <a:solidFill>
            <a:srgbClr val="0D5C55"/>
          </a:solidFill>
          <a:ln w="12700">
            <a:solidFill>
              <a:srgbClr val="0D5C55"/>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steering</a:t>
            </a:r>
            <a:endParaRPr lang="en-US" sz="1700" dirty="0"/>
          </a:p>
        </p:txBody>
      </p:sp>
      <p:sp>
        <p:nvSpPr>
          <p:cNvPr id="10" name="Shape 8"/>
          <p:cNvSpPr/>
          <p:nvPr/>
        </p:nvSpPr>
        <p:spPr>
          <a:xfrm>
            <a:off x="3108960" y="2761488"/>
            <a:ext cx="822960" cy="0"/>
          </a:xfrm>
          <a:prstGeom prst="line">
            <a:avLst/>
          </a:prstGeom>
          <a:noFill/>
          <a:ln w="22225">
            <a:solidFill>
              <a:srgbClr val="4E5A6B"/>
            </a:solidFill>
            <a:prstDash val="solid"/>
            <a:tailEnd type="triangle"/>
          </a:ln>
        </p:spPr>
      </p:sp>
      <p:sp>
        <p:nvSpPr>
          <p:cNvPr id="11" name="Text 9"/>
          <p:cNvSpPr txBox="1"/>
          <p:nvPr/>
        </p:nvSpPr>
        <p:spPr>
          <a:xfrm>
            <a:off x="2743200" y="2487168"/>
            <a:ext cx="1828800" cy="237744"/>
          </a:xfrm>
          <a:prstGeom prst="rect">
            <a:avLst/>
          </a:prstGeom>
          <a:noFill/>
          <a:ln/>
        </p:spPr>
        <p:txBody>
          <a:bodyPr wrap="square" lIns="0" tIns="0" rIns="0" bIns="0" rtlCol="0" anchor="ctr"/>
          <a:lstStyle/>
          <a:p>
            <a:pPr algn="ctr" indent="0" marL="0">
              <a:buNone/>
            </a:pPr>
            <a:r>
              <a:rPr lang="en-US" sz="1050" i="1" dirty="0">
                <a:solidFill>
                  <a:srgbClr val="5B6472"/>
                </a:solidFill>
                <a:latin typeface="Calibri" pitchFamily="34" charset="0"/>
                <a:ea typeface="Calibri" pitchFamily="34" charset="-122"/>
                <a:cs typeface="Calibri" pitchFamily="34" charset="-120"/>
              </a:rPr>
              <a:t>tool calls</a:t>
            </a:r>
            <a:endParaRPr lang="en-US" sz="1050" dirty="0"/>
          </a:p>
        </p:txBody>
      </p:sp>
      <p:sp>
        <p:nvSpPr>
          <p:cNvPr id="12" name="Shape 10"/>
          <p:cNvSpPr/>
          <p:nvPr/>
        </p:nvSpPr>
        <p:spPr>
          <a:xfrm>
            <a:off x="4937760" y="3200400"/>
            <a:ext cx="0" cy="1371600"/>
          </a:xfrm>
          <a:prstGeom prst="line">
            <a:avLst/>
          </a:prstGeom>
          <a:noFill/>
          <a:ln w="22225">
            <a:solidFill>
              <a:srgbClr val="4E5A6B"/>
            </a:solidFill>
            <a:prstDash val="solid"/>
            <a:tailEnd type="triangle"/>
          </a:ln>
        </p:spPr>
      </p:sp>
      <p:sp>
        <p:nvSpPr>
          <p:cNvPr id="13" name="Shape 11"/>
          <p:cNvSpPr/>
          <p:nvPr/>
        </p:nvSpPr>
        <p:spPr>
          <a:xfrm flipH="1">
            <a:off x="3108960" y="5001768"/>
            <a:ext cx="822960" cy="0"/>
          </a:xfrm>
          <a:prstGeom prst="line">
            <a:avLst/>
          </a:prstGeom>
          <a:noFill/>
          <a:ln w="22225">
            <a:solidFill>
              <a:srgbClr val="4E5A6B"/>
            </a:solidFill>
            <a:prstDash val="solid"/>
            <a:tailEnd type="triangle"/>
          </a:ln>
        </p:spPr>
      </p:sp>
      <p:sp>
        <p:nvSpPr>
          <p:cNvPr id="14" name="Shape 12"/>
          <p:cNvSpPr/>
          <p:nvPr/>
        </p:nvSpPr>
        <p:spPr>
          <a:xfrm flipV="1">
            <a:off x="2103120" y="3200400"/>
            <a:ext cx="0" cy="1371600"/>
          </a:xfrm>
          <a:prstGeom prst="line">
            <a:avLst/>
          </a:prstGeom>
          <a:noFill/>
          <a:ln w="22225">
            <a:solidFill>
              <a:srgbClr val="4E5A6B"/>
            </a:solidFill>
            <a:prstDash val="solid"/>
            <a:tailEnd type="triangle"/>
          </a:ln>
        </p:spPr>
      </p:sp>
      <p:sp>
        <p:nvSpPr>
          <p:cNvPr id="15" name="Text 13"/>
          <p:cNvSpPr txBox="1"/>
          <p:nvPr/>
        </p:nvSpPr>
        <p:spPr>
          <a:xfrm>
            <a:off x="1097280" y="2011680"/>
            <a:ext cx="3200400" cy="256032"/>
          </a:xfrm>
          <a:prstGeom prst="rect">
            <a:avLst/>
          </a:prstGeom>
          <a:noFill/>
          <a:ln/>
        </p:spPr>
        <p:txBody>
          <a:bodyPr wrap="square" lIns="0" tIns="0" rIns="0" bIns="0" rtlCol="0" anchor="t"/>
          <a:lstStyle/>
          <a:p>
            <a:pPr algn="l" indent="0" marL="0">
              <a:buNone/>
            </a:pPr>
            <a:r>
              <a:rPr lang="en-US" sz="1100" i="1" dirty="0">
                <a:solidFill>
                  <a:srgbClr val="5B6472"/>
                </a:solidFill>
                <a:latin typeface="Calibri" pitchFamily="34" charset="0"/>
                <a:ea typeface="Calibri" pitchFamily="34" charset="-122"/>
                <a:cs typeface="Calibri" pitchFamily="34" charset="-120"/>
              </a:rPr>
              <a:t>no tool calls → final answer</a:t>
            </a:r>
            <a:endParaRPr lang="en-US" sz="1100" dirty="0"/>
          </a:p>
        </p:txBody>
      </p:sp>
      <p:sp>
        <p:nvSpPr>
          <p:cNvPr id="16" name="Text 14"/>
          <p:cNvSpPr txBox="1"/>
          <p:nvPr/>
        </p:nvSpPr>
        <p:spPr>
          <a:xfrm>
            <a:off x="2514600" y="3611880"/>
            <a:ext cx="1554480" cy="640080"/>
          </a:xfrm>
          <a:prstGeom prst="rect">
            <a:avLst/>
          </a:prstGeom>
          <a:noFill/>
          <a:ln/>
        </p:spPr>
        <p:txBody>
          <a:bodyPr wrap="square" lIns="0" tIns="0" rIns="0" bIns="0" rtlCol="0" anchor="t"/>
          <a:lstStyle/>
          <a:p>
            <a:pPr algn="ctr" indent="0" marL="0">
              <a:buNone/>
            </a:pPr>
            <a:r>
              <a:rPr lang="en-US" sz="1200" i="1" dirty="0">
                <a:solidFill>
                  <a:srgbClr val="8A93A1"/>
                </a:solidFill>
                <a:latin typeface="Calibri" pitchFamily="34" charset="0"/>
                <a:ea typeface="Calibri" pitchFamily="34" charset="-122"/>
                <a:cs typeface="Calibri" pitchFamily="34" charset="-120"/>
              </a:rPr>
              <a:t>×4 visits</a:t>
            </a:r>
            <a:endParaRPr lang="en-US" sz="1200" dirty="0"/>
          </a:p>
          <a:p>
            <a:pPr algn="ctr" indent="0" marL="0">
              <a:buNone/>
            </a:pPr>
            <a:r>
              <a:rPr lang="en-US" sz="1200" i="1" dirty="0">
                <a:solidFill>
                  <a:srgbClr val="8A93A1"/>
                </a:solidFill>
                <a:latin typeface="Calibri" pitchFamily="34" charset="0"/>
                <a:ea typeface="Calibri" pitchFamily="34" charset="-122"/>
                <a:cs typeface="Calibri" pitchFamily="34" charset="-120"/>
              </a:rPr>
              <a:t>per iteration</a:t>
            </a:r>
            <a:endParaRPr lang="en-US" sz="1200" dirty="0"/>
          </a:p>
        </p:txBody>
      </p:sp>
      <p:sp>
        <p:nvSpPr>
          <p:cNvPr id="17" name="Shape 15"/>
          <p:cNvSpPr/>
          <p:nvPr/>
        </p:nvSpPr>
        <p:spPr>
          <a:xfrm>
            <a:off x="6675120" y="2103120"/>
            <a:ext cx="548640" cy="548640"/>
          </a:xfrm>
          <a:prstGeom prst="ellipse">
            <a:avLst/>
          </a:prstGeom>
          <a:solidFill>
            <a:srgbClr val="E08A1E"/>
          </a:solidFill>
          <a:ln w="12700">
            <a:solidFill>
              <a:srgbClr val="E08A1E"/>
            </a:solidFill>
            <a:prstDash val="solid"/>
          </a:ln>
        </p:spPr>
      </p:sp>
      <p:pic>
        <p:nvPicPr>
          <p:cNvPr id="18" name="Image 0" descr="preencoded.png">    </p:cNvPr>
          <p:cNvPicPr>
            <a:picLocks noChangeAspect="1"/>
          </p:cNvPicPr>
          <p:nvPr/>
        </p:nvPicPr>
        <p:blipFill>
          <a:blip r:embed="rId1"/>
          <a:stretch>
            <a:fillRect/>
          </a:stretch>
        </p:blipFill>
        <p:spPr>
          <a:xfrm>
            <a:off x="6817766" y="2245766"/>
            <a:ext cx="263347" cy="263347"/>
          </a:xfrm>
          <a:prstGeom prst="rect">
            <a:avLst/>
          </a:prstGeom>
        </p:spPr>
      </p:pic>
      <p:sp>
        <p:nvSpPr>
          <p:cNvPr id="19" name="Text 16"/>
          <p:cNvSpPr txBox="1"/>
          <p:nvPr/>
        </p:nvSpPr>
        <p:spPr>
          <a:xfrm>
            <a:off x="7406640" y="2103120"/>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agent</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The model reasons and issues zero or more tool calls together.</a:t>
            </a:r>
            <a:endParaRPr lang="en-US" sz="1400" dirty="0"/>
          </a:p>
        </p:txBody>
      </p:sp>
      <p:sp>
        <p:nvSpPr>
          <p:cNvPr id="20" name="Shape 17"/>
          <p:cNvSpPr/>
          <p:nvPr/>
        </p:nvSpPr>
        <p:spPr>
          <a:xfrm>
            <a:off x="6675120" y="3081528"/>
            <a:ext cx="548640" cy="548640"/>
          </a:xfrm>
          <a:prstGeom prst="ellipse">
            <a:avLst/>
          </a:prstGeom>
          <a:solidFill>
            <a:srgbClr val="15877D"/>
          </a:solidFill>
          <a:ln w="12700">
            <a:solidFill>
              <a:srgbClr val="15877D"/>
            </a:solidFill>
            <a:prstDash val="solid"/>
          </a:ln>
        </p:spPr>
      </p:sp>
      <p:pic>
        <p:nvPicPr>
          <p:cNvPr id="21" name="Image 1" descr="preencoded.png">    </p:cNvPr>
          <p:cNvPicPr>
            <a:picLocks noChangeAspect="1"/>
          </p:cNvPicPr>
          <p:nvPr/>
        </p:nvPicPr>
        <p:blipFill>
          <a:blip r:embed="rId2"/>
          <a:stretch>
            <a:fillRect/>
          </a:stretch>
        </p:blipFill>
        <p:spPr>
          <a:xfrm>
            <a:off x="6817766" y="3224174"/>
            <a:ext cx="263347" cy="263347"/>
          </a:xfrm>
          <a:prstGeom prst="rect">
            <a:avLst/>
          </a:prstGeom>
        </p:spPr>
      </p:pic>
      <p:sp>
        <p:nvSpPr>
          <p:cNvPr id="22" name="Text 18"/>
          <p:cNvSpPr txBox="1"/>
          <p:nvPr/>
        </p:nvSpPr>
        <p:spPr>
          <a:xfrm>
            <a:off x="7406640" y="3081528"/>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tools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Settle every approval first, then dispatch — safe calls in parallel.</a:t>
            </a:r>
            <a:endParaRPr lang="en-US" sz="1400" dirty="0"/>
          </a:p>
        </p:txBody>
      </p:sp>
      <p:sp>
        <p:nvSpPr>
          <p:cNvPr id="23" name="Shape 19"/>
          <p:cNvSpPr/>
          <p:nvPr/>
        </p:nvSpPr>
        <p:spPr>
          <a:xfrm>
            <a:off x="6675120" y="4059936"/>
            <a:ext cx="548640" cy="548640"/>
          </a:xfrm>
          <a:prstGeom prst="ellipse">
            <a:avLst/>
          </a:prstGeom>
          <a:solidFill>
            <a:srgbClr val="4E5A6B"/>
          </a:solidFill>
          <a:ln w="12700">
            <a:solidFill>
              <a:srgbClr val="4E5A6B"/>
            </a:solidFill>
            <a:prstDash val="solid"/>
          </a:ln>
        </p:spPr>
      </p:sp>
      <p:pic>
        <p:nvPicPr>
          <p:cNvPr id="24" name="Image 2" descr="preencoded.png">    </p:cNvPr>
          <p:cNvPicPr>
            <a:picLocks noChangeAspect="1"/>
          </p:cNvPicPr>
          <p:nvPr/>
        </p:nvPicPr>
        <p:blipFill>
          <a:blip r:embed="rId3"/>
          <a:stretch>
            <a:fillRect/>
          </a:stretch>
        </p:blipFill>
        <p:spPr>
          <a:xfrm>
            <a:off x="6817766" y="4202582"/>
            <a:ext cx="263347" cy="263347"/>
          </a:xfrm>
          <a:prstGeom prst="rect">
            <a:avLst/>
          </a:prstGeom>
        </p:spPr>
      </p:pic>
      <p:sp>
        <p:nvSpPr>
          <p:cNvPr id="25" name="Text 20"/>
          <p:cNvSpPr txBox="1"/>
          <p:nvPr/>
        </p:nvSpPr>
        <p:spPr>
          <a:xfrm>
            <a:off x="7406640" y="4059936"/>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curate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At 70% of the context budget, fold the transcript down to 45%.</a:t>
            </a:r>
            <a:endParaRPr lang="en-US" sz="1400" dirty="0"/>
          </a:p>
        </p:txBody>
      </p:sp>
      <p:sp>
        <p:nvSpPr>
          <p:cNvPr id="26" name="Shape 21"/>
          <p:cNvSpPr/>
          <p:nvPr/>
        </p:nvSpPr>
        <p:spPr>
          <a:xfrm>
            <a:off x="6675120" y="5038344"/>
            <a:ext cx="548640" cy="548640"/>
          </a:xfrm>
          <a:prstGeom prst="ellipse">
            <a:avLst/>
          </a:prstGeom>
          <a:solidFill>
            <a:srgbClr val="0D5C55"/>
          </a:solidFill>
          <a:ln w="12700">
            <a:solidFill>
              <a:srgbClr val="0D5C55"/>
            </a:solidFill>
            <a:prstDash val="solid"/>
          </a:ln>
        </p:spPr>
      </p:sp>
      <p:pic>
        <p:nvPicPr>
          <p:cNvPr id="27" name="Image 3" descr="preencoded.png">    </p:cNvPr>
          <p:cNvPicPr>
            <a:picLocks noChangeAspect="1"/>
          </p:cNvPicPr>
          <p:nvPr/>
        </p:nvPicPr>
        <p:blipFill>
          <a:blip r:embed="rId4"/>
          <a:stretch>
            <a:fillRect/>
          </a:stretch>
        </p:blipFill>
        <p:spPr>
          <a:xfrm>
            <a:off x="6817766" y="5180990"/>
            <a:ext cx="263347" cy="263347"/>
          </a:xfrm>
          <a:prstGeom prst="rect">
            <a:avLst/>
          </a:prstGeom>
        </p:spPr>
      </p:pic>
      <p:sp>
        <p:nvSpPr>
          <p:cNvPr id="28" name="Text 22"/>
          <p:cNvSpPr txBox="1"/>
          <p:nvPr/>
        </p:nvSpPr>
        <p:spPr>
          <a:xfrm>
            <a:off x="7406640" y="5038344"/>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steering</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Drain instructions the user typed while the run was working.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ROLES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The chat plans; subagents hold the power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Chat cannot be configured the way an agent can, so it gets the narrowest reach, not the widest.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9</a:t>
            </a:r>
            <a:endParaRPr lang="en-US" sz="1000" dirty="0"/>
          </a:p>
        </p:txBody>
      </p:sp>
      <p:sp>
        <p:nvSpPr>
          <p:cNvPr id="6" name="Text 4"/>
          <p:cNvSpPr txBox="1"/>
          <p:nvPr/>
        </p:nvSpPr>
        <p:spPr>
          <a:xfrm>
            <a:off x="2148840" y="2011680"/>
            <a:ext cx="2743200" cy="658368"/>
          </a:xfrm>
          <a:prstGeom prst="roundRect">
            <a:avLst>
              <a:gd name="adj" fmla="val 11111"/>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You</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approve, answer, steer</a:t>
            </a:r>
            <a:endParaRPr lang="en-US" sz="1400" dirty="0"/>
          </a:p>
        </p:txBody>
      </p:sp>
      <p:sp>
        <p:nvSpPr>
          <p:cNvPr id="7" name="Shape 5"/>
          <p:cNvSpPr/>
          <p:nvPr/>
        </p:nvSpPr>
        <p:spPr>
          <a:xfrm>
            <a:off x="3520440" y="2670048"/>
            <a:ext cx="0" cy="393192"/>
          </a:xfrm>
          <a:prstGeom prst="line">
            <a:avLst/>
          </a:prstGeom>
          <a:noFill/>
          <a:ln w="22225">
            <a:solidFill>
              <a:srgbClr val="4E5A6B"/>
            </a:solidFill>
            <a:prstDash val="solid"/>
            <a:tailEnd type="triangle"/>
          </a:ln>
        </p:spPr>
      </p:sp>
      <p:sp>
        <p:nvSpPr>
          <p:cNvPr id="8" name="Text 6"/>
          <p:cNvSpPr txBox="1"/>
          <p:nvPr/>
        </p:nvSpPr>
        <p:spPr>
          <a:xfrm>
            <a:off x="1463040" y="3063240"/>
            <a:ext cx="4114800" cy="960120"/>
          </a:xfrm>
          <a:prstGeom prst="roundRect">
            <a:avLst>
              <a:gd name="adj" fmla="val 7619"/>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Chat orchestrator</a:t>
            </a:r>
            <a:endParaRPr lang="en-US" sz="1500" dirty="0"/>
          </a:p>
          <a:p>
            <a:pPr algn="ctr" indent="0" marL="0">
              <a:spcAft>
                <a:spcPts val="200"/>
              </a:spcAft>
              <a:buNone/>
            </a:pPr>
            <a:r>
              <a:rPr lang="en-US" sz="1200" dirty="0">
                <a:solidFill>
                  <a:srgbClr val="FFF3E3"/>
                </a:solidFill>
                <a:latin typeface="Calibri" pitchFamily="34" charset="0"/>
                <a:ea typeface="Calibri" pitchFamily="34" charset="-122"/>
                <a:cs typeface="Calibri" pitchFamily="34" charset="-120"/>
              </a:rPr>
              <a:t>reads · plans · delegates · staffs agents</a:t>
            </a:r>
            <a:endParaRPr lang="en-US" sz="1500" dirty="0"/>
          </a:p>
        </p:txBody>
      </p:sp>
      <p:sp>
        <p:nvSpPr>
          <p:cNvPr id="9" name="Shape 7"/>
          <p:cNvSpPr/>
          <p:nvPr/>
        </p:nvSpPr>
        <p:spPr>
          <a:xfrm flipH="1">
            <a:off x="1508760" y="4023360"/>
            <a:ext cx="2011680" cy="914400"/>
          </a:xfrm>
          <a:prstGeom prst="line">
            <a:avLst/>
          </a:prstGeom>
          <a:noFill/>
          <a:ln w="22225">
            <a:solidFill>
              <a:srgbClr val="4E5A6B"/>
            </a:solidFill>
            <a:prstDash val="solid"/>
            <a:tailEnd type="triangle"/>
          </a:ln>
        </p:spPr>
      </p:sp>
      <p:sp>
        <p:nvSpPr>
          <p:cNvPr id="10" name="Text 8"/>
          <p:cNvSpPr txBox="1"/>
          <p:nvPr/>
        </p:nvSpPr>
        <p:spPr>
          <a:xfrm>
            <a:off x="548640" y="4937760"/>
            <a:ext cx="1920240" cy="914400"/>
          </a:xfrm>
          <a:prstGeom prst="roundRect">
            <a:avLst>
              <a:gd name="adj" fmla="val 8000"/>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Analyst</a:t>
            </a:r>
            <a:endParaRPr lang="en-US" sz="135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code · files · office</a:t>
            </a:r>
            <a:endParaRPr lang="en-US" sz="1350" dirty="0"/>
          </a:p>
        </p:txBody>
      </p:sp>
      <p:sp>
        <p:nvSpPr>
          <p:cNvPr id="11" name="Shape 9"/>
          <p:cNvSpPr/>
          <p:nvPr/>
        </p:nvSpPr>
        <p:spPr>
          <a:xfrm>
            <a:off x="3520440" y="4023360"/>
            <a:ext cx="137160" cy="914400"/>
          </a:xfrm>
          <a:prstGeom prst="line">
            <a:avLst/>
          </a:prstGeom>
          <a:noFill/>
          <a:ln w="22225">
            <a:solidFill>
              <a:srgbClr val="4E5A6B"/>
            </a:solidFill>
            <a:prstDash val="solid"/>
            <a:tailEnd type="triangle"/>
          </a:ln>
        </p:spPr>
      </p:sp>
      <p:sp>
        <p:nvSpPr>
          <p:cNvPr id="12" name="Text 10"/>
          <p:cNvSpPr txBox="1"/>
          <p:nvPr/>
        </p:nvSpPr>
        <p:spPr>
          <a:xfrm>
            <a:off x="2697480" y="4937760"/>
            <a:ext cx="1920240" cy="914400"/>
          </a:xfrm>
          <a:prstGeom prst="roundRect">
            <a:avLst>
              <a:gd name="adj" fmla="val 8000"/>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Writer</a:t>
            </a:r>
            <a:endParaRPr lang="en-US" sz="135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files · office · knowledge</a:t>
            </a:r>
            <a:endParaRPr lang="en-US" sz="1350" dirty="0"/>
          </a:p>
        </p:txBody>
      </p:sp>
      <p:sp>
        <p:nvSpPr>
          <p:cNvPr id="13" name="Shape 11"/>
          <p:cNvSpPr/>
          <p:nvPr/>
        </p:nvSpPr>
        <p:spPr>
          <a:xfrm>
            <a:off x="3520440" y="4023360"/>
            <a:ext cx="2286000" cy="914400"/>
          </a:xfrm>
          <a:prstGeom prst="line">
            <a:avLst/>
          </a:prstGeom>
          <a:noFill/>
          <a:ln w="22225">
            <a:solidFill>
              <a:srgbClr val="4E5A6B"/>
            </a:solidFill>
            <a:prstDash val="solid"/>
            <a:tailEnd type="triangle"/>
          </a:ln>
        </p:spPr>
      </p:sp>
      <p:sp>
        <p:nvSpPr>
          <p:cNvPr id="14" name="Text 12"/>
          <p:cNvSpPr txBox="1"/>
          <p:nvPr/>
        </p:nvSpPr>
        <p:spPr>
          <a:xfrm>
            <a:off x="4846320" y="4937760"/>
            <a:ext cx="1920240" cy="914400"/>
          </a:xfrm>
          <a:prstGeom prst="roundRect">
            <a:avLst>
              <a:gd name="adj" fmla="val 8000"/>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Mailbox</a:t>
            </a:r>
            <a:endParaRPr lang="en-US" sz="135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Gmail, read-only</a:t>
            </a:r>
            <a:endParaRPr lang="en-US" sz="1350" dirty="0"/>
          </a:p>
        </p:txBody>
      </p:sp>
      <p:sp>
        <p:nvSpPr>
          <p:cNvPr id="15" name="Shape 13"/>
          <p:cNvSpPr/>
          <p:nvPr/>
        </p:nvSpPr>
        <p:spPr>
          <a:xfrm flipH="1" flipV="1">
            <a:off x="5577840" y="3611880"/>
            <a:ext cx="914400" cy="1325880"/>
          </a:xfrm>
          <a:prstGeom prst="line">
            <a:avLst/>
          </a:prstGeom>
          <a:noFill/>
          <a:ln w="22225">
            <a:solidFill>
              <a:srgbClr val="15877D"/>
            </a:solidFill>
            <a:prstDash val="dash"/>
            <a:tailEnd type="triangle"/>
          </a:ln>
        </p:spPr>
      </p:sp>
      <p:sp>
        <p:nvSpPr>
          <p:cNvPr id="16" name="Text 14"/>
          <p:cNvSpPr txBox="1"/>
          <p:nvPr/>
        </p:nvSpPr>
        <p:spPr>
          <a:xfrm>
            <a:off x="6172200" y="3749040"/>
            <a:ext cx="1371600" cy="685800"/>
          </a:xfrm>
          <a:prstGeom prst="rect">
            <a:avLst/>
          </a:prstGeom>
          <a:noFill/>
          <a:ln/>
        </p:spPr>
        <p:txBody>
          <a:bodyPr wrap="square" lIns="0" tIns="0" rIns="0" bIns="0" rtlCol="0" anchor="t"/>
          <a:lstStyle/>
          <a:p>
            <a:pPr algn="l" indent="0" marL="0">
              <a:buNone/>
            </a:pPr>
            <a:r>
              <a:rPr lang="en-US" sz="1100" i="1" dirty="0">
                <a:solidFill>
                  <a:srgbClr val="0D5C55"/>
                </a:solidFill>
                <a:latin typeface="Calibri" pitchFamily="34" charset="0"/>
                <a:ea typeface="Calibri" pitchFamily="34" charset="-122"/>
                <a:cs typeface="Calibri" pitchFamily="34" charset="-120"/>
              </a:rPr>
              <a:t>questions &amp;</a:t>
            </a:r>
            <a:endParaRPr lang="en-US" sz="1100" dirty="0"/>
          </a:p>
          <a:p>
            <a:pPr algn="l" indent="0" marL="0">
              <a:buNone/>
            </a:pPr>
            <a:r>
              <a:rPr lang="en-US" sz="1100" i="1" dirty="0">
                <a:solidFill>
                  <a:srgbClr val="0D5C55"/>
                </a:solidFill>
                <a:latin typeface="Calibri" pitchFamily="34" charset="0"/>
                <a:ea typeface="Calibri" pitchFamily="34" charset="-122"/>
                <a:cs typeface="Calibri" pitchFamily="34" charset="-120"/>
              </a:rPr>
              <a:t>approvals</a:t>
            </a:r>
            <a:endParaRPr lang="en-US" sz="1100" dirty="0"/>
          </a:p>
          <a:p>
            <a:pPr algn="l" indent="0" marL="0">
              <a:buNone/>
            </a:pPr>
            <a:r>
              <a:rPr lang="en-US" sz="1100" i="1" dirty="0">
                <a:solidFill>
                  <a:srgbClr val="0D5C55"/>
                </a:solidFill>
                <a:latin typeface="Calibri" pitchFamily="34" charset="0"/>
                <a:ea typeface="Calibri" pitchFamily="34" charset="-122"/>
                <a:cs typeface="Calibri" pitchFamily="34" charset="-120"/>
              </a:rPr>
              <a:t>come back up</a:t>
            </a:r>
            <a:endParaRPr lang="en-US" sz="1100" dirty="0"/>
          </a:p>
        </p:txBody>
      </p:sp>
      <p:sp>
        <p:nvSpPr>
          <p:cNvPr id="17" name="Shape 15"/>
          <p:cNvSpPr/>
          <p:nvPr/>
        </p:nvSpPr>
        <p:spPr>
          <a:xfrm>
            <a:off x="7680960" y="2011680"/>
            <a:ext cx="3959352" cy="1920240"/>
          </a:xfrm>
          <a:prstGeom prst="roundRect">
            <a:avLst>
              <a:gd name="adj" fmla="val 4762"/>
            </a:avLst>
          </a:prstGeom>
          <a:solidFill>
            <a:srgbClr val="E1F2F0"/>
          </a:solidFill>
          <a:ln w="12700">
            <a:solidFill>
              <a:srgbClr val="E1F2F0"/>
            </a:solidFill>
            <a:prstDash val="solid"/>
          </a:ln>
        </p:spPr>
      </p:sp>
      <p:sp>
        <p:nvSpPr>
          <p:cNvPr id="18" name="Text 16"/>
          <p:cNvSpPr txBox="1"/>
          <p:nvPr/>
        </p:nvSpPr>
        <p:spPr>
          <a:xfrm>
            <a:off x="7909560" y="2148840"/>
            <a:ext cx="3566160" cy="274320"/>
          </a:xfrm>
          <a:prstGeom prst="rect">
            <a:avLst/>
          </a:prstGeom>
          <a:noFill/>
          <a:ln/>
        </p:spPr>
        <p:txBody>
          <a:bodyPr wrap="square" lIns="0" tIns="0" rIns="0" bIns="0" rtlCol="0" anchor="t"/>
          <a:lstStyle/>
          <a:p>
            <a:pPr algn="l" indent="0" marL="0">
              <a:buNone/>
            </a:pPr>
            <a:r>
              <a:rPr lang="en-US" sz="1400" b="1" dirty="0">
                <a:solidFill>
                  <a:srgbClr val="0D5C55"/>
                </a:solidFill>
                <a:latin typeface="Arial" pitchFamily="34" charset="0"/>
                <a:ea typeface="Arial" pitchFamily="34" charset="-122"/>
                <a:cs typeface="Arial" pitchFamily="34" charset="-120"/>
              </a:rPr>
              <a:t>Chat holds</a:t>
            </a:r>
            <a:endParaRPr lang="en-US" sz="1400" dirty="0"/>
          </a:p>
        </p:txBody>
      </p:sp>
      <p:sp>
        <p:nvSpPr>
          <p:cNvPr id="19" name="Text 17"/>
          <p:cNvSpPr txBox="1"/>
          <p:nvPr/>
        </p:nvSpPr>
        <p:spPr>
          <a:xfrm>
            <a:off x="7909560" y="2514600"/>
            <a:ext cx="3611880" cy="132588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Read-only tools and read-only MCP calls</a:t>
            </a:r>
            <a:endParaRPr lang="en-US" sz="1250" dirty="0"/>
          </a:p>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Delegation, create / update agent</a:t>
            </a:r>
            <a:endParaRPr lang="en-US" sz="1250" dirty="0"/>
          </a:p>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User memory, start mission</a:t>
            </a:r>
            <a:endParaRPr lang="en-US" sz="1250" dirty="0"/>
          </a:p>
        </p:txBody>
      </p:sp>
      <p:sp>
        <p:nvSpPr>
          <p:cNvPr id="20" name="Shape 18"/>
          <p:cNvSpPr/>
          <p:nvPr/>
        </p:nvSpPr>
        <p:spPr>
          <a:xfrm>
            <a:off x="7680960" y="4069080"/>
            <a:ext cx="3959352" cy="1783080"/>
          </a:xfrm>
          <a:prstGeom prst="roundRect">
            <a:avLst>
              <a:gd name="adj" fmla="val 5128"/>
            </a:avLst>
          </a:prstGeom>
          <a:solidFill>
            <a:srgbClr val="FBE8E6"/>
          </a:solidFill>
          <a:ln w="12700">
            <a:solidFill>
              <a:srgbClr val="FBE8E6"/>
            </a:solidFill>
            <a:prstDash val="solid"/>
          </a:ln>
        </p:spPr>
      </p:sp>
      <p:sp>
        <p:nvSpPr>
          <p:cNvPr id="21" name="Text 19"/>
          <p:cNvSpPr txBox="1"/>
          <p:nvPr/>
        </p:nvSpPr>
        <p:spPr>
          <a:xfrm>
            <a:off x="7909560" y="4206240"/>
            <a:ext cx="3566160" cy="274320"/>
          </a:xfrm>
          <a:prstGeom prst="rect">
            <a:avLst/>
          </a:prstGeom>
          <a:noFill/>
          <a:ln/>
        </p:spPr>
        <p:txBody>
          <a:bodyPr wrap="square" lIns="0" tIns="0" rIns="0" bIns="0" rtlCol="0" anchor="t"/>
          <a:lstStyle/>
          <a:p>
            <a:pPr algn="l" indent="0" marL="0">
              <a:buNone/>
            </a:pPr>
            <a:r>
              <a:rPr lang="en-US" sz="1400" b="1" dirty="0">
                <a:solidFill>
                  <a:srgbClr val="8E2B24"/>
                </a:solidFill>
                <a:latin typeface="Arial" pitchFamily="34" charset="0"/>
                <a:ea typeface="Arial" pitchFamily="34" charset="-122"/>
                <a:cs typeface="Arial" pitchFamily="34" charset="-120"/>
              </a:rPr>
              <a:t>Chat never holds</a:t>
            </a:r>
            <a:endParaRPr lang="en-US" sz="1400" dirty="0"/>
          </a:p>
        </p:txBody>
      </p:sp>
      <p:sp>
        <p:nvSpPr>
          <p:cNvPr id="22" name="Text 20"/>
          <p:cNvSpPr txBox="1"/>
          <p:nvPr/>
        </p:nvSpPr>
        <p:spPr>
          <a:xfrm>
            <a:off x="7909560" y="4572000"/>
            <a:ext cx="3611880" cy="118872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Anything that writes, sends, publishes, renders or spends</a:t>
            </a:r>
            <a:endParaRPr lang="en-US" sz="1250" dirty="0"/>
          </a:p>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Refused at both doors: the offered list and dispatch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THE UNIT</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An agent is a configuration, not a graph</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workflow canvas was retired. An agent is a prompt, a model, and what it is allowed to do.</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2011680"/>
            <a:ext cx="5760720" cy="4160520"/>
          </a:xfrm>
          <a:prstGeom prst="roundRect">
            <a:avLst>
              <a:gd name="adj" fmla="val 2198"/>
            </a:avLst>
          </a:prstGeom>
          <a:solidFill>
            <a:srgbClr val="F3F5F8"/>
          </a:solidFill>
          <a:ln w="12700">
            <a:solidFill>
              <a:srgbClr val="F3F5F8"/>
            </a:solidFill>
            <a:prstDash val="solid"/>
          </a:ln>
        </p:spPr>
      </p:sp>
      <p:sp>
        <p:nvSpPr>
          <p:cNvPr id="7" name="Shape 5"/>
          <p:cNvSpPr/>
          <p:nvPr/>
        </p:nvSpPr>
        <p:spPr>
          <a:xfrm>
            <a:off x="777240" y="2194560"/>
            <a:ext cx="548640" cy="548640"/>
          </a:xfrm>
          <a:prstGeom prst="ellipse">
            <a:avLst/>
          </a:prstGeom>
          <a:solidFill>
            <a:srgbClr val="15877D"/>
          </a:solidFill>
          <a:ln w="12700">
            <a:solidFill>
              <a:srgbClr val="15877D"/>
            </a:solidFill>
            <a:prstDash val="solid"/>
          </a:ln>
        </p:spPr>
      </p:sp>
      <p:pic>
        <p:nvPicPr>
          <p:cNvPr id="8" name="Image 0" descr="preencoded.png">    </p:cNvPr>
          <p:cNvPicPr>
            <a:picLocks noChangeAspect="1"/>
          </p:cNvPicPr>
          <p:nvPr/>
        </p:nvPicPr>
        <p:blipFill>
          <a:blip r:embed="rId1"/>
          <a:stretch>
            <a:fillRect/>
          </a:stretch>
        </p:blipFill>
        <p:spPr>
          <a:xfrm>
            <a:off x="919886" y="2337206"/>
            <a:ext cx="263347" cy="263347"/>
          </a:xfrm>
          <a:prstGeom prst="rect">
            <a:avLst/>
          </a:prstGeom>
        </p:spPr>
      </p:pic>
      <p:sp>
        <p:nvSpPr>
          <p:cNvPr id="9" name="Text 6"/>
          <p:cNvSpPr txBox="1"/>
          <p:nvPr/>
        </p:nvSpPr>
        <p:spPr>
          <a:xfrm>
            <a:off x="1463040" y="2240280"/>
            <a:ext cx="2743200" cy="32004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Analyst</a:t>
            </a:r>
            <a:endParaRPr lang="en-US" sz="1700" dirty="0"/>
          </a:p>
        </p:txBody>
      </p:sp>
      <p:sp>
        <p:nvSpPr>
          <p:cNvPr id="10" name="Text 7"/>
          <p:cNvSpPr txBox="1"/>
          <p:nvPr/>
        </p:nvSpPr>
        <p:spPr>
          <a:xfrm>
            <a:off x="1463040" y="2560320"/>
            <a:ext cx="2743200" cy="228600"/>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subagent</a:t>
            </a:r>
            <a:endParaRPr lang="en-US" sz="1100" dirty="0"/>
          </a:p>
        </p:txBody>
      </p:sp>
      <p:sp>
        <p:nvSpPr>
          <p:cNvPr id="11" name="Shape 8"/>
          <p:cNvSpPr/>
          <p:nvPr/>
        </p:nvSpPr>
        <p:spPr>
          <a:xfrm>
            <a:off x="777240" y="2980944"/>
            <a:ext cx="5303520" cy="0"/>
          </a:xfrm>
          <a:prstGeom prst="line">
            <a:avLst/>
          </a:prstGeom>
          <a:noFill/>
          <a:ln w="9525">
            <a:solidFill>
              <a:srgbClr val="D3D9E1"/>
            </a:solidFill>
            <a:prstDash val="solid"/>
          </a:ln>
        </p:spPr>
      </p:sp>
      <p:sp>
        <p:nvSpPr>
          <p:cNvPr id="12" name="Text 9"/>
          <p:cNvSpPr txBox="1"/>
          <p:nvPr/>
        </p:nvSpPr>
        <p:spPr>
          <a:xfrm>
            <a:off x="777240" y="3072384"/>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prompt</a:t>
            </a:r>
            <a:endParaRPr lang="en-US" sz="1150" dirty="0"/>
          </a:p>
        </p:txBody>
      </p:sp>
      <p:sp>
        <p:nvSpPr>
          <p:cNvPr id="13" name="Text 10"/>
          <p:cNvSpPr txBox="1"/>
          <p:nvPr/>
        </p:nvSpPr>
        <p:spPr>
          <a:xfrm>
            <a:off x="2103120" y="3063240"/>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You analyse spreadsheets and report with numbers…</a:t>
            </a:r>
            <a:endParaRPr lang="en-US" sz="1250" dirty="0"/>
          </a:p>
        </p:txBody>
      </p:sp>
      <p:sp>
        <p:nvSpPr>
          <p:cNvPr id="14" name="Shape 11"/>
          <p:cNvSpPr/>
          <p:nvPr/>
        </p:nvSpPr>
        <p:spPr>
          <a:xfrm>
            <a:off x="777240" y="3410712"/>
            <a:ext cx="5303520" cy="0"/>
          </a:xfrm>
          <a:prstGeom prst="line">
            <a:avLst/>
          </a:prstGeom>
          <a:noFill/>
          <a:ln w="9525">
            <a:solidFill>
              <a:srgbClr val="D3D9E1"/>
            </a:solidFill>
            <a:prstDash val="solid"/>
          </a:ln>
        </p:spPr>
      </p:sp>
      <p:sp>
        <p:nvSpPr>
          <p:cNvPr id="15" name="Text 12"/>
          <p:cNvSpPr txBox="1"/>
          <p:nvPr/>
        </p:nvSpPr>
        <p:spPr>
          <a:xfrm>
            <a:off x="777240" y="3502152"/>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model</a:t>
            </a:r>
            <a:endParaRPr lang="en-US" sz="1150" dirty="0"/>
          </a:p>
        </p:txBody>
      </p:sp>
      <p:sp>
        <p:nvSpPr>
          <p:cNvPr id="16" name="Text 13"/>
          <p:cNvSpPr txBox="1"/>
          <p:nvPr/>
        </p:nvSpPr>
        <p:spPr>
          <a:xfrm>
            <a:off x="2103120" y="3493008"/>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deepseek/deepseek-v4.1-flash · medium effort</a:t>
            </a:r>
            <a:endParaRPr lang="en-US" sz="1250" dirty="0"/>
          </a:p>
        </p:txBody>
      </p:sp>
      <p:sp>
        <p:nvSpPr>
          <p:cNvPr id="17" name="Shape 14"/>
          <p:cNvSpPr/>
          <p:nvPr/>
        </p:nvSpPr>
        <p:spPr>
          <a:xfrm>
            <a:off x="777240" y="3840480"/>
            <a:ext cx="5303520" cy="0"/>
          </a:xfrm>
          <a:prstGeom prst="line">
            <a:avLst/>
          </a:prstGeom>
          <a:noFill/>
          <a:ln w="9525">
            <a:solidFill>
              <a:srgbClr val="D3D9E1"/>
            </a:solidFill>
            <a:prstDash val="solid"/>
          </a:ln>
        </p:spPr>
      </p:sp>
      <p:sp>
        <p:nvSpPr>
          <p:cNvPr id="18" name="Text 15"/>
          <p:cNvSpPr txBox="1"/>
          <p:nvPr/>
        </p:nvSpPr>
        <p:spPr>
          <a:xfrm>
            <a:off x="777240" y="3931920"/>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grants</a:t>
            </a:r>
            <a:endParaRPr lang="en-US" sz="1150" dirty="0"/>
          </a:p>
        </p:txBody>
      </p:sp>
      <p:sp>
        <p:nvSpPr>
          <p:cNvPr id="19" name="Text 16"/>
          <p:cNvSpPr txBox="1"/>
          <p:nvPr/>
        </p:nvSpPr>
        <p:spPr>
          <a:xfrm>
            <a:off x="2103120" y="3922776"/>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codeExecution · fileOps · office</a:t>
            </a:r>
            <a:endParaRPr lang="en-US" sz="1250" dirty="0"/>
          </a:p>
        </p:txBody>
      </p:sp>
      <p:sp>
        <p:nvSpPr>
          <p:cNvPr id="20" name="Shape 17"/>
          <p:cNvSpPr/>
          <p:nvPr/>
        </p:nvSpPr>
        <p:spPr>
          <a:xfrm>
            <a:off x="777240" y="4270248"/>
            <a:ext cx="5303520" cy="0"/>
          </a:xfrm>
          <a:prstGeom prst="line">
            <a:avLst/>
          </a:prstGeom>
          <a:noFill/>
          <a:ln w="9525">
            <a:solidFill>
              <a:srgbClr val="D3D9E1"/>
            </a:solidFill>
            <a:prstDash val="solid"/>
          </a:ln>
        </p:spPr>
      </p:sp>
      <p:sp>
        <p:nvSpPr>
          <p:cNvPr id="21" name="Text 18"/>
          <p:cNvSpPr txBox="1"/>
          <p:nvPr/>
        </p:nvSpPr>
        <p:spPr>
          <a:xfrm>
            <a:off x="777240" y="4361688"/>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fileAccess</a:t>
            </a:r>
            <a:endParaRPr lang="en-US" sz="1150" dirty="0"/>
          </a:p>
        </p:txBody>
      </p:sp>
      <p:sp>
        <p:nvSpPr>
          <p:cNvPr id="22" name="Text 19"/>
          <p:cNvSpPr txBox="1"/>
          <p:nvPr/>
        </p:nvSpPr>
        <p:spPr>
          <a:xfrm>
            <a:off x="2103120" y="4352544"/>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read_all_write_own</a:t>
            </a:r>
            <a:endParaRPr lang="en-US" sz="1250" dirty="0"/>
          </a:p>
        </p:txBody>
      </p:sp>
      <p:sp>
        <p:nvSpPr>
          <p:cNvPr id="23" name="Shape 20"/>
          <p:cNvSpPr/>
          <p:nvPr/>
        </p:nvSpPr>
        <p:spPr>
          <a:xfrm>
            <a:off x="777240" y="4700016"/>
            <a:ext cx="5303520" cy="0"/>
          </a:xfrm>
          <a:prstGeom prst="line">
            <a:avLst/>
          </a:prstGeom>
          <a:noFill/>
          <a:ln w="9525">
            <a:solidFill>
              <a:srgbClr val="D3D9E1"/>
            </a:solidFill>
            <a:prstDash val="solid"/>
          </a:ln>
        </p:spPr>
      </p:sp>
      <p:sp>
        <p:nvSpPr>
          <p:cNvPr id="24" name="Text 21"/>
          <p:cNvSpPr txBox="1"/>
          <p:nvPr/>
        </p:nvSpPr>
        <p:spPr>
          <a:xfrm>
            <a:off x="777240" y="4791456"/>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autonomy</a:t>
            </a:r>
            <a:endParaRPr lang="en-US" sz="1150" dirty="0"/>
          </a:p>
        </p:txBody>
      </p:sp>
      <p:sp>
        <p:nvSpPr>
          <p:cNvPr id="25" name="Text 22"/>
          <p:cNvSpPr txBox="1"/>
          <p:nvPr/>
        </p:nvSpPr>
        <p:spPr>
          <a:xfrm>
            <a:off x="2103120" y="4782312"/>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auto</a:t>
            </a:r>
            <a:endParaRPr lang="en-US" sz="1250" dirty="0"/>
          </a:p>
        </p:txBody>
      </p:sp>
      <p:sp>
        <p:nvSpPr>
          <p:cNvPr id="26" name="Shape 23"/>
          <p:cNvSpPr/>
          <p:nvPr/>
        </p:nvSpPr>
        <p:spPr>
          <a:xfrm>
            <a:off x="777240" y="5129784"/>
            <a:ext cx="5303520" cy="0"/>
          </a:xfrm>
          <a:prstGeom prst="line">
            <a:avLst/>
          </a:prstGeom>
          <a:noFill/>
          <a:ln w="9525">
            <a:solidFill>
              <a:srgbClr val="D3D9E1"/>
            </a:solidFill>
            <a:prstDash val="solid"/>
          </a:ln>
        </p:spPr>
      </p:sp>
      <p:sp>
        <p:nvSpPr>
          <p:cNvPr id="27" name="Text 24"/>
          <p:cNvSpPr txBox="1"/>
          <p:nvPr/>
        </p:nvSpPr>
        <p:spPr>
          <a:xfrm>
            <a:off x="777240" y="5221224"/>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output</a:t>
            </a:r>
            <a:endParaRPr lang="en-US" sz="1150" dirty="0"/>
          </a:p>
        </p:txBody>
      </p:sp>
      <p:sp>
        <p:nvSpPr>
          <p:cNvPr id="28" name="Text 25"/>
          <p:cNvSpPr txBox="1"/>
          <p:nvPr/>
        </p:nvSpPr>
        <p:spPr>
          <a:xfrm>
            <a:off x="2103120" y="5212080"/>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contract: files → { summary, files }</a:t>
            </a:r>
            <a:endParaRPr lang="en-US" sz="1250" dirty="0"/>
          </a:p>
        </p:txBody>
      </p:sp>
      <p:sp>
        <p:nvSpPr>
          <p:cNvPr id="29" name="Shape 26"/>
          <p:cNvSpPr/>
          <p:nvPr/>
        </p:nvSpPr>
        <p:spPr>
          <a:xfrm>
            <a:off x="777240" y="5559552"/>
            <a:ext cx="5303520" cy="0"/>
          </a:xfrm>
          <a:prstGeom prst="line">
            <a:avLst/>
          </a:prstGeom>
          <a:noFill/>
          <a:ln w="9525">
            <a:solidFill>
              <a:srgbClr val="D3D9E1"/>
            </a:solidFill>
            <a:prstDash val="solid"/>
          </a:ln>
        </p:spPr>
      </p:sp>
      <p:sp>
        <p:nvSpPr>
          <p:cNvPr id="30" name="Text 27"/>
          <p:cNvSpPr txBox="1"/>
          <p:nvPr/>
        </p:nvSpPr>
        <p:spPr>
          <a:xfrm>
            <a:off x="777240" y="5650992"/>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schedule</a:t>
            </a:r>
            <a:endParaRPr lang="en-US" sz="1150" dirty="0"/>
          </a:p>
        </p:txBody>
      </p:sp>
      <p:sp>
        <p:nvSpPr>
          <p:cNvPr id="31" name="Text 28"/>
          <p:cNvSpPr txBox="1"/>
          <p:nvPr/>
        </p:nvSpPr>
        <p:spPr>
          <a:xfrm>
            <a:off x="2103120" y="5641848"/>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Mondays 09:00, in the owner's timezone</a:t>
            </a:r>
            <a:endParaRPr lang="en-US" sz="1250" dirty="0"/>
          </a:p>
        </p:txBody>
      </p:sp>
      <p:sp>
        <p:nvSpPr>
          <p:cNvPr id="32" name="Text 29"/>
          <p:cNvSpPr txBox="1"/>
          <p:nvPr/>
        </p:nvSpPr>
        <p:spPr>
          <a:xfrm>
            <a:off x="6720840" y="2103120"/>
            <a:ext cx="4937760" cy="40690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No “kind” column</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An agent that delegates is one holding the subAgents grant — checked by the same code as web search.</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Contracts are a closed list</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files, patch, findings, code_plan… The UI can only render a shape it has a panel for.</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One save path</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The builder, chat's create_agent and template installs all write through AgentSerializer.</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Templates carry needs, not ids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Your knowledge base 2 is someone else's row 2. Install asks you to pick your own.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DELEGATION LIMITS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Delegation is bounded in three directions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Each bound compounds with the others: depth × width × size is what one request can cost.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2011680"/>
            <a:ext cx="3575304" cy="3291840"/>
          </a:xfrm>
          <a:prstGeom prst="roundRect">
            <a:avLst>
              <a:gd name="adj" fmla="val 2778"/>
            </a:avLst>
          </a:prstGeom>
          <a:solidFill>
            <a:srgbClr val="F3F5F8"/>
          </a:solidFill>
          <a:ln w="12700">
            <a:solidFill>
              <a:srgbClr val="F3F5F8"/>
            </a:solidFill>
            <a:prstDash val="solid"/>
          </a:ln>
        </p:spPr>
      </p:sp>
      <p:sp>
        <p:nvSpPr>
          <p:cNvPr id="7" name="Shape 5"/>
          <p:cNvSpPr/>
          <p:nvPr/>
        </p:nvSpPr>
        <p:spPr>
          <a:xfrm>
            <a:off x="822960" y="2240280"/>
            <a:ext cx="566928" cy="566928"/>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70361" y="2387681"/>
            <a:ext cx="272125" cy="272125"/>
          </a:xfrm>
          <a:prstGeom prst="rect">
            <a:avLst/>
          </a:prstGeom>
        </p:spPr>
      </p:pic>
      <p:sp>
        <p:nvSpPr>
          <p:cNvPr id="9" name="Text 6"/>
          <p:cNvSpPr txBox="1"/>
          <p:nvPr/>
        </p:nvSpPr>
        <p:spPr>
          <a:xfrm>
            <a:off x="1554480" y="2331720"/>
            <a:ext cx="237744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Depth</a:t>
            </a:r>
            <a:endParaRPr lang="en-US" sz="1700" dirty="0"/>
          </a:p>
        </p:txBody>
      </p:sp>
      <p:sp>
        <p:nvSpPr>
          <p:cNvPr id="10" name="Text 7"/>
          <p:cNvSpPr txBox="1"/>
          <p:nvPr/>
        </p:nvSpPr>
        <p:spPr>
          <a:xfrm>
            <a:off x="822960" y="3017520"/>
            <a:ext cx="3108960" cy="731520"/>
          </a:xfrm>
          <a:prstGeom prst="rect">
            <a:avLst/>
          </a:prstGeom>
          <a:noFill/>
          <a:ln/>
        </p:spPr>
        <p:txBody>
          <a:bodyPr wrap="square" lIns="0" tIns="0" rIns="0" bIns="0" rtlCol="0" anchor="t"/>
          <a:lstStyle/>
          <a:p>
            <a:pPr algn="l" indent="0" marL="0">
              <a:buNone/>
            </a:pPr>
            <a:r>
              <a:rPr lang="en-US" sz="3400" b="1" dirty="0">
                <a:solidFill>
                  <a:srgbClr val="E08A1E"/>
                </a:solidFill>
                <a:latin typeface="Arial" pitchFamily="34" charset="0"/>
                <a:ea typeface="Arial" pitchFamily="34" charset="-122"/>
                <a:cs typeface="Arial" pitchFamily="34" charset="-120"/>
              </a:rPr>
              <a:t>2 levels</a:t>
            </a:r>
            <a:endParaRPr lang="en-US" sz="3400" dirty="0"/>
          </a:p>
        </p:txBody>
      </p:sp>
      <p:sp>
        <p:nvSpPr>
          <p:cNvPr id="11" name="Text 8"/>
          <p:cNvSpPr txBox="1"/>
          <p:nvPr/>
        </p:nvSpPr>
        <p:spPr>
          <a:xfrm>
            <a:off x="822960" y="3840480"/>
            <a:ext cx="3063240" cy="141732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A user-started agent may delegate; its workers may not. Workers get a narrowed toolbox with no subAgents grant.</a:t>
            </a:r>
            <a:endParaRPr lang="en-US" sz="1300" dirty="0"/>
          </a:p>
        </p:txBody>
      </p:sp>
      <p:sp>
        <p:nvSpPr>
          <p:cNvPr id="12" name="Shape 9"/>
          <p:cNvSpPr/>
          <p:nvPr/>
        </p:nvSpPr>
        <p:spPr>
          <a:xfrm>
            <a:off x="4306824" y="2011680"/>
            <a:ext cx="3575304" cy="3291840"/>
          </a:xfrm>
          <a:prstGeom prst="roundRect">
            <a:avLst>
              <a:gd name="adj" fmla="val 2778"/>
            </a:avLst>
          </a:prstGeom>
          <a:solidFill>
            <a:srgbClr val="F3F5F8"/>
          </a:solidFill>
          <a:ln w="12700">
            <a:solidFill>
              <a:srgbClr val="F3F5F8"/>
            </a:solidFill>
            <a:prstDash val="solid"/>
          </a:ln>
        </p:spPr>
      </p:sp>
      <p:sp>
        <p:nvSpPr>
          <p:cNvPr id="13" name="Shape 10"/>
          <p:cNvSpPr/>
          <p:nvPr/>
        </p:nvSpPr>
        <p:spPr>
          <a:xfrm>
            <a:off x="4581144" y="2240280"/>
            <a:ext cx="566928" cy="566928"/>
          </a:xfrm>
          <a:prstGeom prst="ellipse">
            <a:avLst/>
          </a:prstGeom>
          <a:solidFill>
            <a:srgbClr val="15877D"/>
          </a:solidFill>
          <a:ln w="12700">
            <a:solidFill>
              <a:srgbClr val="15877D"/>
            </a:solidFill>
            <a:prstDash val="solid"/>
          </a:ln>
        </p:spPr>
      </p:sp>
      <p:pic>
        <p:nvPicPr>
          <p:cNvPr id="14" name="Image 1" descr="preencoded.png">    </p:cNvPr>
          <p:cNvPicPr>
            <a:picLocks noChangeAspect="1"/>
          </p:cNvPicPr>
          <p:nvPr/>
        </p:nvPicPr>
        <p:blipFill>
          <a:blip r:embed="rId2"/>
          <a:stretch>
            <a:fillRect/>
          </a:stretch>
        </p:blipFill>
        <p:spPr>
          <a:xfrm>
            <a:off x="4728545" y="2387681"/>
            <a:ext cx="272125" cy="272125"/>
          </a:xfrm>
          <a:prstGeom prst="rect">
            <a:avLst/>
          </a:prstGeom>
        </p:spPr>
      </p:pic>
      <p:sp>
        <p:nvSpPr>
          <p:cNvPr id="15" name="Text 11"/>
          <p:cNvSpPr txBox="1"/>
          <p:nvPr/>
        </p:nvSpPr>
        <p:spPr>
          <a:xfrm>
            <a:off x="5312664" y="2331720"/>
            <a:ext cx="237744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Budget</a:t>
            </a:r>
            <a:endParaRPr lang="en-US" sz="1700" dirty="0"/>
          </a:p>
        </p:txBody>
      </p:sp>
      <p:sp>
        <p:nvSpPr>
          <p:cNvPr id="16" name="Text 12"/>
          <p:cNvSpPr txBox="1"/>
          <p:nvPr/>
        </p:nvSpPr>
        <p:spPr>
          <a:xfrm>
            <a:off x="4581144" y="3017520"/>
            <a:ext cx="3108960" cy="731520"/>
          </a:xfrm>
          <a:prstGeom prst="rect">
            <a:avLst/>
          </a:prstGeom>
          <a:noFill/>
          <a:ln/>
        </p:spPr>
        <p:txBody>
          <a:bodyPr wrap="square" lIns="0" tIns="0" rIns="0" bIns="0" rtlCol="0" anchor="t"/>
          <a:lstStyle/>
          <a:p>
            <a:pPr algn="l" indent="0" marL="0">
              <a:buNone/>
            </a:pPr>
            <a:r>
              <a:rPr lang="en-US" sz="3400" b="1" dirty="0">
                <a:solidFill>
                  <a:srgbClr val="15877D"/>
                </a:solidFill>
                <a:latin typeface="Arial" pitchFamily="34" charset="0"/>
                <a:ea typeface="Arial" pitchFamily="34" charset="-122"/>
                <a:cs typeface="Arial" pitchFamily="34" charset="-120"/>
              </a:rPr>
              <a:t>÷ N</a:t>
            </a:r>
            <a:endParaRPr lang="en-US" sz="3400" dirty="0"/>
          </a:p>
        </p:txBody>
      </p:sp>
      <p:sp>
        <p:nvSpPr>
          <p:cNvPr id="17" name="Text 13"/>
          <p:cNvSpPr txBox="1"/>
          <p:nvPr/>
        </p:nvSpPr>
        <p:spPr>
          <a:xfrm>
            <a:off x="4581144" y="3840480"/>
            <a:ext cx="3063240" cy="141732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The spend cap is divided before workers start. Checks are read-then-run, so siblings started together would all see “under the cap”.</a:t>
            </a:r>
            <a:endParaRPr lang="en-US" sz="1300" dirty="0"/>
          </a:p>
        </p:txBody>
      </p:sp>
      <p:sp>
        <p:nvSpPr>
          <p:cNvPr id="18" name="Shape 14"/>
          <p:cNvSpPr/>
          <p:nvPr/>
        </p:nvSpPr>
        <p:spPr>
          <a:xfrm>
            <a:off x="8065008" y="2011680"/>
            <a:ext cx="3575304" cy="3291840"/>
          </a:xfrm>
          <a:prstGeom prst="roundRect">
            <a:avLst>
              <a:gd name="adj" fmla="val 2778"/>
            </a:avLst>
          </a:prstGeom>
          <a:solidFill>
            <a:srgbClr val="F3F5F8"/>
          </a:solidFill>
          <a:ln w="12700">
            <a:solidFill>
              <a:srgbClr val="F3F5F8"/>
            </a:solidFill>
            <a:prstDash val="solid"/>
          </a:ln>
        </p:spPr>
      </p:sp>
      <p:sp>
        <p:nvSpPr>
          <p:cNvPr id="19" name="Shape 15"/>
          <p:cNvSpPr/>
          <p:nvPr/>
        </p:nvSpPr>
        <p:spPr>
          <a:xfrm>
            <a:off x="8339328" y="2240280"/>
            <a:ext cx="566928" cy="566928"/>
          </a:xfrm>
          <a:prstGeom prst="ellipse">
            <a:avLst/>
          </a:prstGeom>
          <a:solidFill>
            <a:srgbClr val="4E5A6B"/>
          </a:solidFill>
          <a:ln w="12700">
            <a:solidFill>
              <a:srgbClr val="4E5A6B"/>
            </a:solidFill>
            <a:prstDash val="solid"/>
          </a:ln>
        </p:spPr>
      </p:sp>
      <p:pic>
        <p:nvPicPr>
          <p:cNvPr id="20" name="Image 2" descr="preencoded.png">    </p:cNvPr>
          <p:cNvPicPr>
            <a:picLocks noChangeAspect="1"/>
          </p:cNvPicPr>
          <p:nvPr/>
        </p:nvPicPr>
        <p:blipFill>
          <a:blip r:embed="rId3"/>
          <a:stretch>
            <a:fillRect/>
          </a:stretch>
        </p:blipFill>
        <p:spPr>
          <a:xfrm>
            <a:off x="8486729" y="2387681"/>
            <a:ext cx="272125" cy="272125"/>
          </a:xfrm>
          <a:prstGeom prst="rect">
            <a:avLst/>
          </a:prstGeom>
        </p:spPr>
      </p:pic>
      <p:sp>
        <p:nvSpPr>
          <p:cNvPr id="21" name="Text 16"/>
          <p:cNvSpPr txBox="1"/>
          <p:nvPr/>
        </p:nvSpPr>
        <p:spPr>
          <a:xfrm>
            <a:off x="9070848" y="2331720"/>
            <a:ext cx="237744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Size</a:t>
            </a:r>
            <a:endParaRPr lang="en-US" sz="1700" dirty="0"/>
          </a:p>
        </p:txBody>
      </p:sp>
      <p:sp>
        <p:nvSpPr>
          <p:cNvPr id="22" name="Text 17"/>
          <p:cNvSpPr txBox="1"/>
          <p:nvPr/>
        </p:nvSpPr>
        <p:spPr>
          <a:xfrm>
            <a:off x="8339328" y="3017520"/>
            <a:ext cx="3108960" cy="731520"/>
          </a:xfrm>
          <a:prstGeom prst="rect">
            <a:avLst/>
          </a:prstGeom>
          <a:noFill/>
          <a:ln/>
        </p:spPr>
        <p:txBody>
          <a:bodyPr wrap="square" lIns="0" tIns="0" rIns="0" bIns="0" rtlCol="0" anchor="t"/>
          <a:lstStyle/>
          <a:p>
            <a:pPr algn="l" indent="0" marL="0">
              <a:buNone/>
            </a:pPr>
            <a:r>
              <a:rPr lang="en-US" sz="3400" b="1" dirty="0">
                <a:solidFill>
                  <a:srgbClr val="4E5A6B"/>
                </a:solidFill>
                <a:latin typeface="Arial" pitchFamily="34" charset="0"/>
                <a:ea typeface="Arial" pitchFamily="34" charset="-122"/>
                <a:cs typeface="Arial" pitchFamily="34" charset="-120"/>
              </a:rPr>
              <a:t>8k ↓  20k ↑</a:t>
            </a:r>
            <a:endParaRPr lang="en-US" sz="3400" dirty="0"/>
          </a:p>
        </p:txBody>
      </p:sp>
      <p:sp>
        <p:nvSpPr>
          <p:cNvPr id="23" name="Text 18"/>
          <p:cNvSpPr txBox="1"/>
          <p:nvPr/>
        </p:nvSpPr>
        <p:spPr>
          <a:xfrm>
            <a:off x="8339328" y="3840480"/>
            <a:ext cx="3063240" cy="141732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Down: task ≤ 8,000 chars, one shared briefing ≤ 16,000, ≤ 16 workers, 8 at once — refused, not trimmed. Up: ≤ 20,000 per answer, 60,000 per fan-out; the cut is archived.</a:t>
            </a:r>
            <a:endParaRPr lang="en-US" sz="1300" dirty="0"/>
          </a:p>
        </p:txBody>
      </p:sp>
      <p:sp>
        <p:nvSpPr>
          <p:cNvPr id="24" name="Shape 19"/>
          <p:cNvSpPr/>
          <p:nvPr/>
        </p:nvSpPr>
        <p:spPr>
          <a:xfrm>
            <a:off x="548640" y="5486400"/>
            <a:ext cx="11091672" cy="685800"/>
          </a:xfrm>
          <a:prstGeom prst="roundRect">
            <a:avLst>
              <a:gd name="adj" fmla="val 13333"/>
            </a:avLst>
          </a:prstGeom>
          <a:solidFill>
            <a:srgbClr val="151922"/>
          </a:solidFill>
          <a:ln w="12700">
            <a:solidFill>
              <a:srgbClr val="151922"/>
            </a:solidFill>
            <a:prstDash val="solid"/>
          </a:ln>
        </p:spPr>
      </p:sp>
      <p:sp>
        <p:nvSpPr>
          <p:cNvPr id="25" name="Text 20"/>
          <p:cNvSpPr txBox="1"/>
          <p:nvPr/>
        </p:nvSpPr>
        <p:spPr>
          <a:xfrm>
            <a:off x="822960" y="5577840"/>
            <a:ext cx="10607040" cy="502920"/>
          </a:xfrm>
          <a:prstGeom prst="rect">
            <a:avLst/>
          </a:prstGeom>
          <a:noFill/>
          <a:ln/>
        </p:spPr>
        <p:txBody>
          <a:bodyPr wrap="square" lIns="0" tIns="0" rIns="0" bIns="0" rtlCol="0" anchor="ctr"/>
          <a:lstStyle/>
          <a:p>
            <a:pPr algn="l" indent="0" marL="0">
              <a:buNone/>
            </a:pPr>
            <a:r>
              <a:rPr lang="en-US" sz="1300" b="1" dirty="0">
                <a:solidFill>
                  <a:srgbClr val="E08A1E"/>
                </a:solidFill>
                <a:latin typeface="Calibri" pitchFamily="34" charset="0"/>
                <a:ea typeface="Calibri" pitchFamily="34" charset="-122"/>
                <a:cs typeface="Calibri" pitchFamily="34" charset="-120"/>
              </a:rPr>
              <a:t>Refuse going down, trim going up. </a:t>
            </a:r>
            <a:pPr algn="l" indent="0" marL="0">
              <a:buNone/>
            </a:pPr>
            <a:r>
              <a:rPr lang="en-US" sz="1300" dirty="0">
                <a:solidFill>
                  <a:srgbClr val="E6EAF0"/>
                </a:solidFill>
                <a:latin typeface="Calibri" pitchFamily="34" charset="0"/>
                <a:ea typeface="Calibri" pitchFamily="34" charset="-122"/>
                <a:cs typeface="Calibri" pitchFamily="34" charset="-120"/>
              </a:rPr>
              <a:t>An instruction our own model wrote can be retried shorter; a result arriving from outside cannot, so it is trimmed and archived.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RESULTS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Workers hand back files, not paragraphs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worker writes into the folder its caller writes to, and answers with a path.</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960120" y="2578608"/>
            <a:ext cx="0" cy="1828800"/>
          </a:xfrm>
          <a:prstGeom prst="line">
            <a:avLst/>
          </a:prstGeom>
          <a:noFill/>
          <a:ln w="15875">
            <a:solidFill>
              <a:srgbClr val="D3D9E1"/>
            </a:solidFill>
            <a:prstDash val="solid"/>
          </a:ln>
        </p:spPr>
      </p:sp>
      <p:sp>
        <p:nvSpPr>
          <p:cNvPr id="7" name="Shape 5"/>
          <p:cNvSpPr/>
          <p:nvPr/>
        </p:nvSpPr>
        <p:spPr>
          <a:xfrm>
            <a:off x="1508760" y="3218688"/>
            <a:ext cx="0" cy="411480"/>
          </a:xfrm>
          <a:prstGeom prst="line">
            <a:avLst/>
          </a:prstGeom>
          <a:noFill/>
          <a:ln w="15875">
            <a:solidFill>
              <a:srgbClr val="D3D9E1"/>
            </a:solidFill>
            <a:prstDash val="solid"/>
          </a:ln>
        </p:spPr>
      </p:sp>
      <p:sp>
        <p:nvSpPr>
          <p:cNvPr id="8" name="Shape 6"/>
          <p:cNvSpPr/>
          <p:nvPr/>
        </p:nvSpPr>
        <p:spPr>
          <a:xfrm>
            <a:off x="1508760" y="4590288"/>
            <a:ext cx="0" cy="411480"/>
          </a:xfrm>
          <a:prstGeom prst="line">
            <a:avLst/>
          </a:prstGeom>
          <a:noFill/>
          <a:ln w="15875">
            <a:solidFill>
              <a:srgbClr val="D3D9E1"/>
            </a:solidFill>
            <a:prstDash val="solid"/>
          </a:ln>
        </p:spPr>
      </p:sp>
      <p:sp>
        <p:nvSpPr>
          <p:cNvPr id="9" name="Text 7"/>
          <p:cNvSpPr txBox="1"/>
          <p:nvPr/>
        </p:nvSpPr>
        <p:spPr>
          <a:xfrm>
            <a:off x="731520" y="2103120"/>
            <a:ext cx="1463040" cy="475488"/>
          </a:xfrm>
          <a:prstGeom prst="roundRect">
            <a:avLst>
              <a:gd name="adj" fmla="val 15385"/>
            </a:avLst>
          </a:prstGeom>
          <a:solidFill>
            <a:srgbClr val="F3F5F8"/>
          </a:solidFill>
          <a:ln w="12700">
            <a:solidFill>
              <a:srgbClr val="D3D9E1"/>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your whole tree</a:t>
            </a:r>
            <a:endParaRPr lang="en-US" sz="1200" dirty="0"/>
          </a:p>
        </p:txBody>
      </p:sp>
      <p:sp>
        <p:nvSpPr>
          <p:cNvPr id="10" name="Text 8"/>
          <p:cNvSpPr txBox="1"/>
          <p:nvPr/>
        </p:nvSpPr>
        <p:spPr>
          <a:xfrm>
            <a:off x="1234440" y="2743200"/>
            <a:ext cx="3200400" cy="475488"/>
          </a:xfrm>
          <a:prstGeom prst="roundRect">
            <a:avLst>
              <a:gd name="adj" fmla="val 15385"/>
            </a:avLst>
          </a:prstGeom>
          <a:solidFill>
            <a:srgbClr val="FDF0DE"/>
          </a:solidFill>
          <a:ln w="12700">
            <a:solidFill>
              <a:srgbClr val="E08A1E"/>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/Chat/</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chat's folder — shared with its workers</a:t>
            </a:r>
            <a:endParaRPr lang="en-US" sz="1200" dirty="0"/>
          </a:p>
        </p:txBody>
      </p:sp>
      <p:sp>
        <p:nvSpPr>
          <p:cNvPr id="11" name="Text 9"/>
          <p:cNvSpPr txBox="1"/>
          <p:nvPr/>
        </p:nvSpPr>
        <p:spPr>
          <a:xfrm>
            <a:off x="1783080" y="3383280"/>
            <a:ext cx="2651760" cy="475488"/>
          </a:xfrm>
          <a:prstGeom prst="roundRect">
            <a:avLst>
              <a:gd name="adj" fmla="val 15385"/>
            </a:avLst>
          </a:prstGeom>
          <a:solidFill>
            <a:srgbClr val="E1F2F0"/>
          </a:solidFill>
          <a:ln w="12700">
            <a:solidFill>
              <a:srgbClr val="15877D"/>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findings-2.md</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written by the Analyst run</a:t>
            </a:r>
            <a:endParaRPr lang="en-US" sz="1200" dirty="0"/>
          </a:p>
        </p:txBody>
      </p:sp>
      <p:sp>
        <p:nvSpPr>
          <p:cNvPr id="12" name="Text 10"/>
          <p:cNvSpPr txBox="1"/>
          <p:nvPr/>
        </p:nvSpPr>
        <p:spPr>
          <a:xfrm>
            <a:off x="1234440" y="4114800"/>
            <a:ext cx="3200400" cy="475488"/>
          </a:xfrm>
          <a:prstGeom prst="roundRect">
            <a:avLst>
              <a:gd name="adj" fmla="val 15385"/>
            </a:avLst>
          </a:prstGeom>
          <a:solidFill>
            <a:srgbClr val="F3F5F8"/>
          </a:solidFill>
          <a:ln w="12700">
            <a:solidFill>
              <a:srgbClr val="D3D9E1"/>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/Agents/</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one home per agent</a:t>
            </a:r>
            <a:endParaRPr lang="en-US" sz="1200" dirty="0"/>
          </a:p>
        </p:txBody>
      </p:sp>
      <p:sp>
        <p:nvSpPr>
          <p:cNvPr id="13" name="Text 11"/>
          <p:cNvSpPr txBox="1"/>
          <p:nvPr/>
        </p:nvSpPr>
        <p:spPr>
          <a:xfrm>
            <a:off x="1783080" y="4754880"/>
            <a:ext cx="2651760" cy="475488"/>
          </a:xfrm>
          <a:prstGeom prst="roundRect">
            <a:avLst>
              <a:gd name="adj" fmla="val 15385"/>
            </a:avLst>
          </a:prstGeom>
          <a:solidFill>
            <a:srgbClr val="E9EDF2"/>
          </a:solidFill>
          <a:ln w="12700">
            <a:solidFill>
              <a:srgbClr val="4E5A6B"/>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/Agents/Analyst/</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the worker's own files</a:t>
            </a:r>
            <a:endParaRPr lang="en-US" sz="1200" dirty="0"/>
          </a:p>
        </p:txBody>
      </p:sp>
      <p:sp>
        <p:nvSpPr>
          <p:cNvPr id="14" name="Text 12"/>
          <p:cNvSpPr txBox="1"/>
          <p:nvPr/>
        </p:nvSpPr>
        <p:spPr>
          <a:xfrm>
            <a:off x="5120640" y="2103120"/>
            <a:ext cx="1828800" cy="777240"/>
          </a:xfrm>
          <a:prstGeom prst="roundRect">
            <a:avLst>
              <a:gd name="adj" fmla="val 9412"/>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300" b="1" dirty="0">
                <a:solidFill>
                  <a:srgbClr val="FFFFFF"/>
                </a:solidFill>
                <a:latin typeface="Arial" pitchFamily="34" charset="0"/>
                <a:ea typeface="Arial" pitchFamily="34" charset="-122"/>
                <a:cs typeface="Arial" pitchFamily="34" charset="-120"/>
              </a:rPr>
              <a:t>Chat</a:t>
            </a:r>
            <a:endParaRPr lang="en-US" sz="13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orchestrator</a:t>
            </a:r>
            <a:endParaRPr lang="en-US" sz="1300" dirty="0"/>
          </a:p>
        </p:txBody>
      </p:sp>
      <p:sp>
        <p:nvSpPr>
          <p:cNvPr id="15" name="Text 13"/>
          <p:cNvSpPr txBox="1"/>
          <p:nvPr/>
        </p:nvSpPr>
        <p:spPr>
          <a:xfrm>
            <a:off x="5120640" y="4206240"/>
            <a:ext cx="1828800" cy="777240"/>
          </a:xfrm>
          <a:prstGeom prst="roundRect">
            <a:avLst>
              <a:gd name="adj" fmla="val 9412"/>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00" b="1" dirty="0">
                <a:solidFill>
                  <a:srgbClr val="FFFFFF"/>
                </a:solidFill>
                <a:latin typeface="Arial" pitchFamily="34" charset="0"/>
                <a:ea typeface="Arial" pitchFamily="34" charset="-122"/>
                <a:cs typeface="Arial" pitchFamily="34" charset="-120"/>
              </a:rPr>
              <a:t>Analyst run</a:t>
            </a:r>
            <a:endParaRPr lang="en-US" sz="130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worker</a:t>
            </a:r>
            <a:endParaRPr lang="en-US" sz="1300" dirty="0"/>
          </a:p>
        </p:txBody>
      </p:sp>
      <p:sp>
        <p:nvSpPr>
          <p:cNvPr id="16" name="Shape 14"/>
          <p:cNvSpPr/>
          <p:nvPr/>
        </p:nvSpPr>
        <p:spPr>
          <a:xfrm flipH="1" flipV="1">
            <a:off x="4434840" y="3657600"/>
            <a:ext cx="685800" cy="822960"/>
          </a:xfrm>
          <a:prstGeom prst="line">
            <a:avLst/>
          </a:prstGeom>
          <a:noFill/>
          <a:ln w="22225">
            <a:solidFill>
              <a:srgbClr val="15877D"/>
            </a:solidFill>
            <a:prstDash val="solid"/>
            <a:tailEnd type="triangle"/>
          </a:ln>
        </p:spPr>
      </p:sp>
      <p:sp>
        <p:nvSpPr>
          <p:cNvPr id="17" name="Text 15"/>
          <p:cNvSpPr txBox="1"/>
          <p:nvPr/>
        </p:nvSpPr>
        <p:spPr>
          <a:xfrm>
            <a:off x="4572000" y="3310128"/>
            <a:ext cx="640080" cy="228600"/>
          </a:xfrm>
          <a:prstGeom prst="rect">
            <a:avLst/>
          </a:prstGeom>
          <a:noFill/>
          <a:ln/>
        </p:spPr>
        <p:txBody>
          <a:bodyPr wrap="square" lIns="0" tIns="0" rIns="0" bIns="0" rtlCol="0" anchor="t"/>
          <a:lstStyle/>
          <a:p>
            <a:pPr algn="l" indent="0" marL="0">
              <a:buNone/>
            </a:pPr>
            <a:r>
              <a:rPr lang="en-US" sz="1050" i="1" dirty="0">
                <a:solidFill>
                  <a:srgbClr val="0D5C55"/>
                </a:solidFill>
                <a:latin typeface="Calibri" pitchFamily="34" charset="0"/>
                <a:ea typeface="Calibri" pitchFamily="34" charset="-122"/>
                <a:cs typeface="Calibri" pitchFamily="34" charset="-120"/>
              </a:rPr>
              <a:t>writes</a:t>
            </a:r>
            <a:endParaRPr lang="en-US" sz="1050" dirty="0"/>
          </a:p>
        </p:txBody>
      </p:sp>
      <p:sp>
        <p:nvSpPr>
          <p:cNvPr id="18" name="Shape 16"/>
          <p:cNvSpPr/>
          <p:nvPr/>
        </p:nvSpPr>
        <p:spPr>
          <a:xfrm flipV="1">
            <a:off x="6035040" y="2880360"/>
            <a:ext cx="0" cy="1325880"/>
          </a:xfrm>
          <a:prstGeom prst="line">
            <a:avLst/>
          </a:prstGeom>
          <a:noFill/>
          <a:ln w="22225">
            <a:solidFill>
              <a:srgbClr val="E08A1E"/>
            </a:solidFill>
            <a:prstDash val="dash"/>
            <a:tailEnd type="triangle"/>
          </a:ln>
        </p:spPr>
      </p:sp>
      <p:sp>
        <p:nvSpPr>
          <p:cNvPr id="19" name="Text 17"/>
          <p:cNvSpPr txBox="1"/>
          <p:nvPr/>
        </p:nvSpPr>
        <p:spPr>
          <a:xfrm>
            <a:off x="6126480" y="3200400"/>
            <a:ext cx="1188720" cy="731520"/>
          </a:xfrm>
          <a:prstGeom prst="rect">
            <a:avLst/>
          </a:prstGeom>
          <a:noFill/>
          <a:ln/>
        </p:spPr>
        <p:txBody>
          <a:bodyPr wrap="square" lIns="0" tIns="0" rIns="0" bIns="0" rtlCol="0" anchor="t"/>
          <a:lstStyle/>
          <a:p>
            <a:pPr algn="l" indent="0" marL="0">
              <a:buNone/>
            </a:pPr>
            <a:r>
              <a:rPr lang="en-US" sz="1050" i="1" dirty="0">
                <a:solidFill>
                  <a:srgbClr val="9A5A0C"/>
                </a:solidFill>
                <a:latin typeface="Calibri" pitchFamily="34" charset="0"/>
                <a:ea typeface="Calibri" pitchFamily="34" charset="-122"/>
                <a:cs typeface="Calibri" pitchFamily="34" charset="-120"/>
              </a:rPr>
              <a:t>answers:</a:t>
            </a:r>
            <a:endParaRPr lang="en-US" sz="1050" dirty="0"/>
          </a:p>
          <a:p>
            <a:pPr algn="l" indent="0" marL="0">
              <a:buNone/>
            </a:pPr>
            <a:r>
              <a:rPr lang="en-US" sz="1050" i="1" dirty="0">
                <a:solidFill>
                  <a:srgbClr val="9A5A0C"/>
                </a:solidFill>
                <a:latin typeface="Calibri" pitchFamily="34" charset="0"/>
                <a:ea typeface="Calibri" pitchFamily="34" charset="-122"/>
                <a:cs typeface="Calibri" pitchFamily="34" charset="-120"/>
              </a:rPr>
              <a:t>“wrote /Chat/findings-2.md”</a:t>
            </a:r>
            <a:endParaRPr lang="en-US" sz="1050" dirty="0"/>
          </a:p>
        </p:txBody>
      </p:sp>
      <p:sp>
        <p:nvSpPr>
          <p:cNvPr id="20" name="Text 18"/>
          <p:cNvSpPr txBox="1"/>
          <p:nvPr/>
        </p:nvSpPr>
        <p:spPr>
          <a:xfrm>
            <a:off x="7680960" y="2103120"/>
            <a:ext cx="397764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The folder is passed down</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The worker gets its caller's own write folder — never rebuilt from a name, so it works when the caller is chat.</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Two named subtrees</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Its own home and the shared folder. Tools say which is which, and the worker is told to prefer the shared one.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It only ever adds</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Declined for a scoped or read-only worker, and for an empty prefix — which would mean “write anywhere”.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Archive read-through</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A worker may read what its parent's curation archived, one hop, read-only.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DETACHED DISPATCH</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lead starts workers and keeps its turn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invoke_subagent blocks until every worker ends. A coding lead needs to react while they run.</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13</a:t>
            </a:r>
            <a:endParaRPr lang="en-US" sz="1000" dirty="0"/>
          </a:p>
        </p:txBody>
      </p:sp>
      <p:sp>
        <p:nvSpPr>
          <p:cNvPr id="6" name="Text 4"/>
          <p:cNvSpPr txBox="1"/>
          <p:nvPr/>
        </p:nvSpPr>
        <p:spPr>
          <a:xfrm>
            <a:off x="548640" y="2286000"/>
            <a:ext cx="1097280" cy="274320"/>
          </a:xfrm>
          <a:prstGeom prst="rect">
            <a:avLst/>
          </a:prstGeom>
          <a:noFill/>
          <a:ln/>
        </p:spPr>
        <p:txBody>
          <a:bodyPr wrap="square" lIns="0" tIns="0" rIns="0" bIns="0" rtlCol="0" anchor="t"/>
          <a:lstStyle/>
          <a:p>
            <a:pPr algn="l" indent="0" marL="0">
              <a:buNone/>
            </a:pPr>
            <a:r>
              <a:rPr lang="en-US" sz="1250" b="1" dirty="0">
                <a:solidFill>
                  <a:srgbClr val="9A5A0C"/>
                </a:solidFill>
                <a:latin typeface="Arial" pitchFamily="34" charset="0"/>
                <a:ea typeface="Arial" pitchFamily="34" charset="-122"/>
                <a:cs typeface="Arial" pitchFamily="34" charset="-120"/>
              </a:rPr>
              <a:t>Lead</a:t>
            </a:r>
            <a:endParaRPr lang="en-US" sz="1250" dirty="0"/>
          </a:p>
        </p:txBody>
      </p:sp>
      <p:sp>
        <p:nvSpPr>
          <p:cNvPr id="7" name="Shape 5"/>
          <p:cNvSpPr/>
          <p:nvPr/>
        </p:nvSpPr>
        <p:spPr>
          <a:xfrm>
            <a:off x="1737360" y="2423160"/>
            <a:ext cx="5394960" cy="0"/>
          </a:xfrm>
          <a:prstGeom prst="line">
            <a:avLst/>
          </a:prstGeom>
          <a:noFill/>
          <a:ln w="9525">
            <a:solidFill>
              <a:srgbClr val="D3D9E1"/>
            </a:solidFill>
            <a:prstDash val="dash"/>
          </a:ln>
        </p:spPr>
      </p:sp>
      <p:sp>
        <p:nvSpPr>
          <p:cNvPr id="8" name="Text 6"/>
          <p:cNvSpPr txBox="1"/>
          <p:nvPr/>
        </p:nvSpPr>
        <p:spPr>
          <a:xfrm>
            <a:off x="548640" y="3108960"/>
            <a:ext cx="1097280" cy="274320"/>
          </a:xfrm>
          <a:prstGeom prst="rect">
            <a:avLst/>
          </a:prstGeom>
          <a:noFill/>
          <a:ln/>
        </p:spPr>
        <p:txBody>
          <a:bodyPr wrap="square" lIns="0" tIns="0" rIns="0" bIns="0" rtlCol="0" anchor="t"/>
          <a:lstStyle/>
          <a:p>
            <a:pPr algn="l" indent="0" marL="0">
              <a:buNone/>
            </a:pPr>
            <a:r>
              <a:rPr lang="en-US" sz="1250" b="1" dirty="0">
                <a:solidFill>
                  <a:srgbClr val="1C212B"/>
                </a:solidFill>
                <a:latin typeface="Arial" pitchFamily="34" charset="0"/>
                <a:ea typeface="Arial" pitchFamily="34" charset="-122"/>
                <a:cs typeface="Arial" pitchFamily="34" charset="-120"/>
              </a:rPr>
              <a:t>Worker 1</a:t>
            </a:r>
            <a:endParaRPr lang="en-US" sz="1250" dirty="0"/>
          </a:p>
        </p:txBody>
      </p:sp>
      <p:sp>
        <p:nvSpPr>
          <p:cNvPr id="9" name="Shape 7"/>
          <p:cNvSpPr/>
          <p:nvPr/>
        </p:nvSpPr>
        <p:spPr>
          <a:xfrm>
            <a:off x="1737360" y="3246120"/>
            <a:ext cx="5394960" cy="0"/>
          </a:xfrm>
          <a:prstGeom prst="line">
            <a:avLst/>
          </a:prstGeom>
          <a:noFill/>
          <a:ln w="9525">
            <a:solidFill>
              <a:srgbClr val="D3D9E1"/>
            </a:solidFill>
            <a:prstDash val="dash"/>
          </a:ln>
        </p:spPr>
      </p:sp>
      <p:sp>
        <p:nvSpPr>
          <p:cNvPr id="10" name="Text 8"/>
          <p:cNvSpPr txBox="1"/>
          <p:nvPr/>
        </p:nvSpPr>
        <p:spPr>
          <a:xfrm>
            <a:off x="548640" y="3931920"/>
            <a:ext cx="1097280" cy="274320"/>
          </a:xfrm>
          <a:prstGeom prst="rect">
            <a:avLst/>
          </a:prstGeom>
          <a:noFill/>
          <a:ln/>
        </p:spPr>
        <p:txBody>
          <a:bodyPr wrap="square" lIns="0" tIns="0" rIns="0" bIns="0" rtlCol="0" anchor="t"/>
          <a:lstStyle/>
          <a:p>
            <a:pPr algn="l" indent="0" marL="0">
              <a:buNone/>
            </a:pPr>
            <a:r>
              <a:rPr lang="en-US" sz="1250" b="1" dirty="0">
                <a:solidFill>
                  <a:srgbClr val="1C212B"/>
                </a:solidFill>
                <a:latin typeface="Arial" pitchFamily="34" charset="0"/>
                <a:ea typeface="Arial" pitchFamily="34" charset="-122"/>
                <a:cs typeface="Arial" pitchFamily="34" charset="-120"/>
              </a:rPr>
              <a:t>Worker 2</a:t>
            </a:r>
            <a:endParaRPr lang="en-US" sz="1250" dirty="0"/>
          </a:p>
        </p:txBody>
      </p:sp>
      <p:sp>
        <p:nvSpPr>
          <p:cNvPr id="11" name="Shape 9"/>
          <p:cNvSpPr/>
          <p:nvPr/>
        </p:nvSpPr>
        <p:spPr>
          <a:xfrm>
            <a:off x="1737360" y="4069080"/>
            <a:ext cx="5394960" cy="0"/>
          </a:xfrm>
          <a:prstGeom prst="line">
            <a:avLst/>
          </a:prstGeom>
          <a:noFill/>
          <a:ln w="9525">
            <a:solidFill>
              <a:srgbClr val="D3D9E1"/>
            </a:solidFill>
            <a:prstDash val="dash"/>
          </a:ln>
        </p:spPr>
      </p:sp>
      <p:sp>
        <p:nvSpPr>
          <p:cNvPr id="12" name="Text 10"/>
          <p:cNvSpPr txBox="1"/>
          <p:nvPr/>
        </p:nvSpPr>
        <p:spPr>
          <a:xfrm>
            <a:off x="548640" y="4754880"/>
            <a:ext cx="1097280" cy="274320"/>
          </a:xfrm>
          <a:prstGeom prst="rect">
            <a:avLst/>
          </a:prstGeom>
          <a:noFill/>
          <a:ln/>
        </p:spPr>
        <p:txBody>
          <a:bodyPr wrap="square" lIns="0" tIns="0" rIns="0" bIns="0" rtlCol="0" anchor="t"/>
          <a:lstStyle/>
          <a:p>
            <a:pPr algn="l" indent="0" marL="0">
              <a:buNone/>
            </a:pPr>
            <a:r>
              <a:rPr lang="en-US" sz="1250" b="1" dirty="0">
                <a:solidFill>
                  <a:srgbClr val="1C212B"/>
                </a:solidFill>
                <a:latin typeface="Arial" pitchFamily="34" charset="0"/>
                <a:ea typeface="Arial" pitchFamily="34" charset="-122"/>
                <a:cs typeface="Arial" pitchFamily="34" charset="-120"/>
              </a:rPr>
              <a:t>Worker 3</a:t>
            </a:r>
            <a:endParaRPr lang="en-US" sz="1250" dirty="0"/>
          </a:p>
        </p:txBody>
      </p:sp>
      <p:sp>
        <p:nvSpPr>
          <p:cNvPr id="13" name="Shape 11"/>
          <p:cNvSpPr/>
          <p:nvPr/>
        </p:nvSpPr>
        <p:spPr>
          <a:xfrm>
            <a:off x="1737360" y="4892040"/>
            <a:ext cx="5394960" cy="0"/>
          </a:xfrm>
          <a:prstGeom prst="line">
            <a:avLst/>
          </a:prstGeom>
          <a:noFill/>
          <a:ln w="9525">
            <a:solidFill>
              <a:srgbClr val="D3D9E1"/>
            </a:solidFill>
            <a:prstDash val="dash"/>
          </a:ln>
        </p:spPr>
      </p:sp>
      <p:sp>
        <p:nvSpPr>
          <p:cNvPr id="14" name="Text 12"/>
          <p:cNvSpPr txBox="1"/>
          <p:nvPr/>
        </p:nvSpPr>
        <p:spPr>
          <a:xfrm>
            <a:off x="1737360" y="2240280"/>
            <a:ext cx="777240" cy="365760"/>
          </a:xfrm>
          <a:prstGeom prst="roundRect">
            <a:avLst>
              <a:gd name="adj" fmla="val 12500"/>
            </a:avLst>
          </a:prstGeom>
          <a:solidFill>
            <a:srgbClr val="E08A1E"/>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start_tasks</a:t>
            </a:r>
            <a:endParaRPr lang="en-US" sz="1050" dirty="0"/>
          </a:p>
        </p:txBody>
      </p:sp>
      <p:sp>
        <p:nvSpPr>
          <p:cNvPr id="15" name="Text 13"/>
          <p:cNvSpPr txBox="1"/>
          <p:nvPr/>
        </p:nvSpPr>
        <p:spPr>
          <a:xfrm>
            <a:off x="2514600" y="2240280"/>
            <a:ext cx="1097280" cy="365760"/>
          </a:xfrm>
          <a:prstGeom prst="roundRect">
            <a:avLst>
              <a:gd name="adj" fmla="val 12500"/>
            </a:avLst>
          </a:prstGeom>
          <a:solidFill>
            <a:srgbClr val="FDF0DE"/>
          </a:solidFill>
          <a:ln w="9525">
            <a:solidFill>
              <a:srgbClr val="FFFFFF"/>
            </a:solidFill>
          </a:ln>
        </p:spPr>
        <p:txBody>
          <a:bodyPr wrap="square" lIns="0" tIns="0" rIns="0" bIns="0" rtlCol="0" anchor="ctr"/>
          <a:lstStyle/>
          <a:p>
            <a:pPr algn="ctr" indent="0" marL="0">
              <a:buNone/>
            </a:pPr>
            <a:r>
              <a:rPr lang="en-US" sz="1050" b="1" dirty="0">
                <a:solidFill>
                  <a:srgbClr val="9A5A0C"/>
                </a:solidFill>
                <a:latin typeface="Calibri" pitchFamily="34" charset="0"/>
                <a:ea typeface="Calibri" pitchFamily="34" charset="-122"/>
                <a:cs typeface="Calibri" pitchFamily="34" charset="-120"/>
              </a:rPr>
              <a:t>wait_tasks</a:t>
            </a:r>
            <a:endParaRPr lang="en-US" sz="1050" dirty="0"/>
          </a:p>
        </p:txBody>
      </p:sp>
      <p:sp>
        <p:nvSpPr>
          <p:cNvPr id="16" name="Text 14"/>
          <p:cNvSpPr txBox="1"/>
          <p:nvPr/>
        </p:nvSpPr>
        <p:spPr>
          <a:xfrm>
            <a:off x="3611880" y="2240280"/>
            <a:ext cx="777240" cy="365760"/>
          </a:xfrm>
          <a:prstGeom prst="roundRect">
            <a:avLst>
              <a:gd name="adj" fmla="val 12500"/>
            </a:avLst>
          </a:prstGeom>
          <a:solidFill>
            <a:srgbClr val="E08A1E"/>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steer_task</a:t>
            </a:r>
            <a:endParaRPr lang="en-US" sz="1050" dirty="0"/>
          </a:p>
        </p:txBody>
      </p:sp>
      <p:sp>
        <p:nvSpPr>
          <p:cNvPr id="17" name="Text 15"/>
          <p:cNvSpPr txBox="1"/>
          <p:nvPr/>
        </p:nvSpPr>
        <p:spPr>
          <a:xfrm>
            <a:off x="4389120" y="2240280"/>
            <a:ext cx="1143000" cy="365760"/>
          </a:xfrm>
          <a:prstGeom prst="roundRect">
            <a:avLst>
              <a:gd name="adj" fmla="val 12500"/>
            </a:avLst>
          </a:prstGeom>
          <a:solidFill>
            <a:srgbClr val="FDF0DE"/>
          </a:solidFill>
          <a:ln w="9525">
            <a:solidFill>
              <a:srgbClr val="FFFFFF"/>
            </a:solidFill>
          </a:ln>
        </p:spPr>
        <p:txBody>
          <a:bodyPr wrap="square" lIns="0" tIns="0" rIns="0" bIns="0" rtlCol="0" anchor="ctr"/>
          <a:lstStyle/>
          <a:p>
            <a:pPr algn="ctr" indent="0" marL="0">
              <a:buNone/>
            </a:pPr>
            <a:r>
              <a:rPr lang="en-US" sz="1050" b="1" dirty="0">
                <a:solidFill>
                  <a:srgbClr val="9A5A0C"/>
                </a:solidFill>
                <a:latin typeface="Calibri" pitchFamily="34" charset="0"/>
                <a:ea typeface="Calibri" pitchFamily="34" charset="-122"/>
                <a:cs typeface="Calibri" pitchFamily="34" charset="-120"/>
              </a:rPr>
              <a:t>wait_tasks</a:t>
            </a:r>
            <a:endParaRPr lang="en-US" sz="1050" dirty="0"/>
          </a:p>
        </p:txBody>
      </p:sp>
      <p:sp>
        <p:nvSpPr>
          <p:cNvPr id="18" name="Text 16"/>
          <p:cNvSpPr txBox="1"/>
          <p:nvPr/>
        </p:nvSpPr>
        <p:spPr>
          <a:xfrm>
            <a:off x="5532120" y="2240280"/>
            <a:ext cx="1600200" cy="365760"/>
          </a:xfrm>
          <a:prstGeom prst="roundRect">
            <a:avLst>
              <a:gd name="adj" fmla="val 12500"/>
            </a:avLst>
          </a:prstGeom>
          <a:solidFill>
            <a:srgbClr val="E08A1E"/>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review, next</a:t>
            </a:r>
            <a:endParaRPr lang="en-US" sz="1050" dirty="0"/>
          </a:p>
        </p:txBody>
      </p:sp>
      <p:sp>
        <p:nvSpPr>
          <p:cNvPr id="19" name="Text 17"/>
          <p:cNvSpPr txBox="1"/>
          <p:nvPr/>
        </p:nvSpPr>
        <p:spPr>
          <a:xfrm>
            <a:off x="2514600" y="3063240"/>
            <a:ext cx="3017520" cy="365760"/>
          </a:xfrm>
          <a:prstGeom prst="roundRect">
            <a:avLst>
              <a:gd name="adj" fmla="val 12500"/>
            </a:avLst>
          </a:prstGeom>
          <a:solidFill>
            <a:srgbClr val="15877D"/>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implement src/api</a:t>
            </a:r>
            <a:endParaRPr lang="en-US" sz="1050" dirty="0"/>
          </a:p>
        </p:txBody>
      </p:sp>
      <p:sp>
        <p:nvSpPr>
          <p:cNvPr id="20" name="Text 18"/>
          <p:cNvSpPr txBox="1"/>
          <p:nvPr/>
        </p:nvSpPr>
        <p:spPr>
          <a:xfrm>
            <a:off x="2514600" y="3886200"/>
            <a:ext cx="2514600" cy="365760"/>
          </a:xfrm>
          <a:prstGeom prst="roundRect">
            <a:avLst>
              <a:gd name="adj" fmla="val 12500"/>
            </a:avLst>
          </a:prstGeom>
          <a:solidFill>
            <a:srgbClr val="15877D"/>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implement src/ui</a:t>
            </a:r>
            <a:endParaRPr lang="en-US" sz="1050" dirty="0"/>
          </a:p>
        </p:txBody>
      </p:sp>
      <p:sp>
        <p:nvSpPr>
          <p:cNvPr id="21" name="Text 19"/>
          <p:cNvSpPr txBox="1"/>
          <p:nvPr/>
        </p:nvSpPr>
        <p:spPr>
          <a:xfrm>
            <a:off x="5532120" y="4709160"/>
            <a:ext cx="1600200" cy="365760"/>
          </a:xfrm>
          <a:prstGeom prst="roundRect">
            <a:avLst>
              <a:gd name="adj" fmla="val 12500"/>
            </a:avLst>
          </a:prstGeom>
          <a:solidFill>
            <a:srgbClr val="4E5A6B"/>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tests (after 1)</a:t>
            </a:r>
            <a:endParaRPr lang="en-US" sz="1050" dirty="0"/>
          </a:p>
        </p:txBody>
      </p:sp>
      <p:sp>
        <p:nvSpPr>
          <p:cNvPr id="22" name="Shape 20"/>
          <p:cNvSpPr/>
          <p:nvPr/>
        </p:nvSpPr>
        <p:spPr>
          <a:xfrm flipV="1">
            <a:off x="3611880" y="2606040"/>
            <a:ext cx="0" cy="457200"/>
          </a:xfrm>
          <a:prstGeom prst="line">
            <a:avLst/>
          </a:prstGeom>
          <a:noFill/>
          <a:ln w="19050">
            <a:solidFill>
              <a:srgbClr val="15877D"/>
            </a:solidFill>
            <a:prstDash val="solid"/>
            <a:tailEnd type="triangle"/>
          </a:ln>
        </p:spPr>
      </p:sp>
      <p:sp>
        <p:nvSpPr>
          <p:cNvPr id="23" name="Text 21"/>
          <p:cNvSpPr txBox="1"/>
          <p:nvPr/>
        </p:nvSpPr>
        <p:spPr>
          <a:xfrm>
            <a:off x="2606040" y="2697480"/>
            <a:ext cx="914400" cy="228600"/>
          </a:xfrm>
          <a:prstGeom prst="rect">
            <a:avLst/>
          </a:prstGeom>
          <a:noFill/>
          <a:ln/>
        </p:spPr>
        <p:txBody>
          <a:bodyPr wrap="square" lIns="0" tIns="0" rIns="0" bIns="0" rtlCol="0" anchor="t"/>
          <a:lstStyle/>
          <a:p>
            <a:pPr algn="r" indent="0" marL="0">
              <a:buNone/>
            </a:pPr>
            <a:r>
              <a:rPr lang="en-US" sz="950" i="1" dirty="0">
                <a:solidFill>
                  <a:srgbClr val="0D5C55"/>
                </a:solidFill>
                <a:latin typeface="Calibri" pitchFamily="34" charset="0"/>
                <a:ea typeface="Calibri" pitchFamily="34" charset="-122"/>
                <a:cs typeface="Calibri" pitchFamily="34" charset="-120"/>
              </a:rPr>
              <a:t>file changed</a:t>
            </a:r>
            <a:endParaRPr lang="en-US" sz="950" dirty="0"/>
          </a:p>
        </p:txBody>
      </p:sp>
      <p:sp>
        <p:nvSpPr>
          <p:cNvPr id="24" name="Shape 22"/>
          <p:cNvSpPr/>
          <p:nvPr/>
        </p:nvSpPr>
        <p:spPr>
          <a:xfrm>
            <a:off x="4023360" y="2606040"/>
            <a:ext cx="0" cy="1280160"/>
          </a:xfrm>
          <a:prstGeom prst="line">
            <a:avLst/>
          </a:prstGeom>
          <a:noFill/>
          <a:ln w="19050">
            <a:solidFill>
              <a:srgbClr val="E08A1E"/>
            </a:solidFill>
            <a:prstDash val="solid"/>
            <a:tailEnd type="triangle"/>
          </a:ln>
        </p:spPr>
      </p:sp>
      <p:sp>
        <p:nvSpPr>
          <p:cNvPr id="25" name="Text 23"/>
          <p:cNvSpPr txBox="1"/>
          <p:nvPr/>
        </p:nvSpPr>
        <p:spPr>
          <a:xfrm>
            <a:off x="4087368" y="3520440"/>
            <a:ext cx="548640" cy="228600"/>
          </a:xfrm>
          <a:prstGeom prst="rect">
            <a:avLst/>
          </a:prstGeom>
          <a:noFill/>
          <a:ln/>
        </p:spPr>
        <p:txBody>
          <a:bodyPr wrap="square" lIns="0" tIns="0" rIns="0" bIns="0" rtlCol="0" anchor="t"/>
          <a:lstStyle/>
          <a:p>
            <a:pPr algn="l" indent="0" marL="0">
              <a:buNone/>
            </a:pPr>
            <a:r>
              <a:rPr lang="en-US" sz="950" i="1" dirty="0">
                <a:solidFill>
                  <a:srgbClr val="9A5A0C"/>
                </a:solidFill>
                <a:latin typeface="Calibri" pitchFamily="34" charset="0"/>
                <a:ea typeface="Calibri" pitchFamily="34" charset="-122"/>
                <a:cs typeface="Calibri" pitchFamily="34" charset="-120"/>
              </a:rPr>
              <a:t>steer</a:t>
            </a:r>
            <a:endParaRPr lang="en-US" sz="950" dirty="0"/>
          </a:p>
        </p:txBody>
      </p:sp>
      <p:sp>
        <p:nvSpPr>
          <p:cNvPr id="26" name="Shape 24"/>
          <p:cNvSpPr/>
          <p:nvPr/>
        </p:nvSpPr>
        <p:spPr>
          <a:xfrm flipV="1">
            <a:off x="5532120" y="2606040"/>
            <a:ext cx="0" cy="457200"/>
          </a:xfrm>
          <a:prstGeom prst="line">
            <a:avLst/>
          </a:prstGeom>
          <a:noFill/>
          <a:ln w="19050">
            <a:solidFill>
              <a:srgbClr val="15877D"/>
            </a:solidFill>
            <a:prstDash val="solid"/>
            <a:tailEnd type="triangle"/>
          </a:ln>
        </p:spPr>
      </p:sp>
      <p:sp>
        <p:nvSpPr>
          <p:cNvPr id="27" name="Text 25"/>
          <p:cNvSpPr txBox="1"/>
          <p:nvPr/>
        </p:nvSpPr>
        <p:spPr>
          <a:xfrm>
            <a:off x="5577840" y="2697480"/>
            <a:ext cx="548640" cy="228600"/>
          </a:xfrm>
          <a:prstGeom prst="rect">
            <a:avLst/>
          </a:prstGeom>
          <a:noFill/>
          <a:ln/>
        </p:spPr>
        <p:txBody>
          <a:bodyPr wrap="square" lIns="0" tIns="0" rIns="0" bIns="0" rtlCol="0" anchor="t"/>
          <a:lstStyle/>
          <a:p>
            <a:pPr algn="l" indent="0" marL="0">
              <a:buNone/>
            </a:pPr>
            <a:r>
              <a:rPr lang="en-US" sz="950" i="1" dirty="0">
                <a:solidFill>
                  <a:srgbClr val="0D5C55"/>
                </a:solidFill>
                <a:latin typeface="Calibri" pitchFamily="34" charset="0"/>
                <a:ea typeface="Calibri" pitchFamily="34" charset="-122"/>
                <a:cs typeface="Calibri" pitchFamily="34" charset="-120"/>
              </a:rPr>
              <a:t>done</a:t>
            </a:r>
            <a:endParaRPr lang="en-US" sz="950" dirty="0"/>
          </a:p>
        </p:txBody>
      </p:sp>
      <p:sp>
        <p:nvSpPr>
          <p:cNvPr id="28" name="Text 26"/>
          <p:cNvSpPr txBox="1"/>
          <p:nvPr/>
        </p:nvSpPr>
        <p:spPr>
          <a:xfrm>
            <a:off x="6400800" y="5212080"/>
            <a:ext cx="731520" cy="228600"/>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time →</a:t>
            </a:r>
            <a:endParaRPr lang="en-US" sz="1100" dirty="0"/>
          </a:p>
        </p:txBody>
      </p:sp>
      <p:sp>
        <p:nvSpPr>
          <p:cNvPr id="29" name="Shape 27"/>
          <p:cNvSpPr/>
          <p:nvPr/>
        </p:nvSpPr>
        <p:spPr>
          <a:xfrm>
            <a:off x="548640" y="5532120"/>
            <a:ext cx="6583680" cy="640080"/>
          </a:xfrm>
          <a:prstGeom prst="roundRect">
            <a:avLst>
              <a:gd name="adj" fmla="val 14286"/>
            </a:avLst>
          </a:prstGeom>
          <a:solidFill>
            <a:srgbClr val="F3F5F8"/>
          </a:solidFill>
          <a:ln w="12700">
            <a:solidFill>
              <a:srgbClr val="F3F5F8"/>
            </a:solidFill>
            <a:prstDash val="solid"/>
          </a:ln>
        </p:spPr>
      </p:sp>
      <p:sp>
        <p:nvSpPr>
          <p:cNvPr id="30" name="Text 28"/>
          <p:cNvSpPr txBox="1"/>
          <p:nvPr/>
        </p:nvSpPr>
        <p:spPr>
          <a:xfrm>
            <a:off x="777240" y="5669280"/>
            <a:ext cx="6217920" cy="36576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The plan panel draws the same lanes, with Steer · Ask · Stop · Open run on each worker.</a:t>
            </a:r>
            <a:endParaRPr lang="en-US" sz="1250" dirty="0"/>
          </a:p>
        </p:txBody>
      </p:sp>
      <p:sp>
        <p:nvSpPr>
          <p:cNvPr id="31" name="Text 29"/>
          <p:cNvSpPr txBox="1"/>
          <p:nvPr/>
        </p:nvSpPr>
        <p:spPr>
          <a:xfrm>
            <a:off x="7680960" y="2103120"/>
            <a:ext cx="397764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start_tasks returns at once</a:t>
            </a:r>
            <a:endParaRPr lang="en-US" sz="1350" dirty="0"/>
          </a:p>
          <a:p>
            <a:pPr indent="0" marL="0">
              <a:spcAft>
                <a:spcPts val="1100"/>
              </a:spcAft>
              <a:buNone/>
            </a:pPr>
            <a:r>
              <a:rPr lang="en-US" sz="1200" dirty="0">
                <a:solidFill>
                  <a:srgbClr val="5B6472"/>
                </a:solidFill>
                <a:latin typeface="Calibri" pitchFamily="34" charset="0"/>
                <a:ea typeface="Calibri" pitchFamily="34" charset="-122"/>
                <a:cs typeface="Calibri" pitchFamily="34" charset="-120"/>
              </a:rPr>
              <a:t>Leases each worker's files, opens its log, starts it detached. Refuses overlapping claims, unfinished dependencies and a fourth worker.</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wait_tasks wakes on the first event</a:t>
            </a:r>
            <a:endParaRPr lang="en-US" sz="1350" dirty="0"/>
          </a:p>
          <a:p>
            <a:pPr indent="0" marL="0">
              <a:spcAft>
                <a:spcPts val="1100"/>
              </a:spcAft>
              <a:buNone/>
            </a:pPr>
            <a:r>
              <a:rPr lang="en-US" sz="1200" dirty="0">
                <a:solidFill>
                  <a:srgbClr val="5B6472"/>
                </a:solidFill>
                <a:latin typeface="Calibri" pitchFamily="34" charset="0"/>
                <a:ea typeface="Calibri" pitchFamily="34" charset="-122"/>
                <a:cs typeface="Calibri" pitchFamily="34" charset="-120"/>
              </a:rPr>
              <a:t>Done, failed, paused for approval, a file changed, or a timeout with progress.</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Verbs, not polling</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task_status, steer_task, stop_task, and revert_task — which undoes a worker's edits unless someone changed them since.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ESCALATION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worker's question goes to the manager first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Answering is the manager's call. Approving still meets the normal gates.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14</a:t>
            </a:r>
            <a:endParaRPr lang="en-US" sz="1000" dirty="0"/>
          </a:p>
        </p:txBody>
      </p:sp>
      <p:sp>
        <p:nvSpPr>
          <p:cNvPr id="6" name="Text 4"/>
          <p:cNvSpPr txBox="1"/>
          <p:nvPr/>
        </p:nvSpPr>
        <p:spPr>
          <a:xfrm>
            <a:off x="548640" y="3017520"/>
            <a:ext cx="2011680" cy="1188720"/>
          </a:xfrm>
          <a:prstGeom prst="roundRect">
            <a:avLst>
              <a:gd name="adj" fmla="val 6154"/>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Worker pauses</a:t>
            </a:r>
            <a:endParaRPr lang="en-US" sz="13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a row the Inbox also shows</a:t>
            </a:r>
            <a:endParaRPr lang="en-US" sz="1350" dirty="0"/>
          </a:p>
        </p:txBody>
      </p:sp>
      <p:sp>
        <p:nvSpPr>
          <p:cNvPr id="7" name="Shape 5"/>
          <p:cNvSpPr/>
          <p:nvPr/>
        </p:nvSpPr>
        <p:spPr>
          <a:xfrm>
            <a:off x="2560320" y="3611880"/>
            <a:ext cx="502920" cy="0"/>
          </a:xfrm>
          <a:prstGeom prst="line">
            <a:avLst/>
          </a:prstGeom>
          <a:noFill/>
          <a:ln w="22225">
            <a:solidFill>
              <a:srgbClr val="4E5A6B"/>
            </a:solidFill>
            <a:prstDash val="solid"/>
            <a:tailEnd type="triangle"/>
          </a:ln>
        </p:spPr>
      </p:sp>
      <p:sp>
        <p:nvSpPr>
          <p:cNvPr id="8" name="Text 6"/>
          <p:cNvSpPr txBox="1"/>
          <p:nvPr/>
        </p:nvSpPr>
        <p:spPr>
          <a:xfrm>
            <a:off x="3063240" y="3017520"/>
            <a:ext cx="2103120" cy="1188720"/>
          </a:xfrm>
          <a:prstGeom prst="roundRect">
            <a:avLst>
              <a:gd name="adj" fmla="val 6154"/>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Manager</a:t>
            </a:r>
            <a:endParaRPr lang="en-US" sz="14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sees waiting_on in the tool result</a:t>
            </a:r>
            <a:endParaRPr lang="en-US" sz="1400" dirty="0"/>
          </a:p>
        </p:txBody>
      </p:sp>
      <p:sp>
        <p:nvSpPr>
          <p:cNvPr id="9" name="Shape 7"/>
          <p:cNvSpPr/>
          <p:nvPr/>
        </p:nvSpPr>
        <p:spPr>
          <a:xfrm flipV="1">
            <a:off x="5166360" y="2468880"/>
            <a:ext cx="548640" cy="1143000"/>
          </a:xfrm>
          <a:prstGeom prst="line">
            <a:avLst/>
          </a:prstGeom>
          <a:noFill/>
          <a:ln w="22225">
            <a:solidFill>
              <a:srgbClr val="4E5A6B"/>
            </a:solidFill>
            <a:prstDash val="solid"/>
            <a:tailEnd type="triangle"/>
          </a:ln>
        </p:spPr>
      </p:sp>
      <p:sp>
        <p:nvSpPr>
          <p:cNvPr id="10" name="Text 8"/>
          <p:cNvSpPr txBox="1"/>
          <p:nvPr/>
        </p:nvSpPr>
        <p:spPr>
          <a:xfrm>
            <a:off x="5715000" y="2011680"/>
            <a:ext cx="3017520" cy="914400"/>
          </a:xfrm>
          <a:prstGeom prst="roundRect">
            <a:avLst>
              <a:gd name="adj" fmla="val 8000"/>
            </a:avLst>
          </a:prstGeom>
          <a:solidFill>
            <a:srgbClr val="E1F2F0"/>
          </a:solidFill>
          <a:ln w="12700">
            <a:solidFill>
              <a:srgbClr val="15877D"/>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 question</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the manager answers it with answer_subagent</a:t>
            </a:r>
            <a:endParaRPr lang="en-US" sz="1300" dirty="0"/>
          </a:p>
        </p:txBody>
      </p:sp>
      <p:sp>
        <p:nvSpPr>
          <p:cNvPr id="11" name="Shape 9"/>
          <p:cNvSpPr/>
          <p:nvPr/>
        </p:nvSpPr>
        <p:spPr>
          <a:xfrm>
            <a:off x="8732520" y="2468880"/>
            <a:ext cx="548640" cy="1143000"/>
          </a:xfrm>
          <a:prstGeom prst="line">
            <a:avLst/>
          </a:prstGeom>
          <a:noFill/>
          <a:ln w="22225">
            <a:solidFill>
              <a:srgbClr val="4E5A6B"/>
            </a:solidFill>
            <a:prstDash val="solid"/>
            <a:tailEnd type="triangle"/>
          </a:ln>
        </p:spPr>
      </p:sp>
      <p:sp>
        <p:nvSpPr>
          <p:cNvPr id="12" name="Shape 10"/>
          <p:cNvSpPr/>
          <p:nvPr/>
        </p:nvSpPr>
        <p:spPr>
          <a:xfrm>
            <a:off x="5166360" y="3611880"/>
            <a:ext cx="548640" cy="0"/>
          </a:xfrm>
          <a:prstGeom prst="line">
            <a:avLst/>
          </a:prstGeom>
          <a:noFill/>
          <a:ln w="22225">
            <a:solidFill>
              <a:srgbClr val="4E5A6B"/>
            </a:solidFill>
            <a:prstDash val="solid"/>
            <a:tailEnd type="triangle"/>
          </a:ln>
        </p:spPr>
      </p:sp>
      <p:sp>
        <p:nvSpPr>
          <p:cNvPr id="13" name="Text 11"/>
          <p:cNvSpPr txBox="1"/>
          <p:nvPr/>
        </p:nvSpPr>
        <p:spPr>
          <a:xfrm>
            <a:off x="5715000" y="3154680"/>
            <a:ext cx="3017520" cy="914400"/>
          </a:xfrm>
          <a:prstGeom prst="roundRect">
            <a:avLst>
              <a:gd name="adj" fmla="val 8000"/>
            </a:avLst>
          </a:prstGeom>
          <a:solidFill>
            <a:srgbClr val="FDF0DE"/>
          </a:solidFill>
          <a:ln w="12700">
            <a:solidFill>
              <a:srgbClr val="E08A1E"/>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An approval, in ask mode</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you get the card, showing the worker's request</a:t>
            </a:r>
            <a:endParaRPr lang="en-US" sz="1300" dirty="0"/>
          </a:p>
        </p:txBody>
      </p:sp>
      <p:sp>
        <p:nvSpPr>
          <p:cNvPr id="14" name="Shape 12"/>
          <p:cNvSpPr/>
          <p:nvPr/>
        </p:nvSpPr>
        <p:spPr>
          <a:xfrm>
            <a:off x="8732520" y="3611880"/>
            <a:ext cx="548640" cy="0"/>
          </a:xfrm>
          <a:prstGeom prst="line">
            <a:avLst/>
          </a:prstGeom>
          <a:noFill/>
          <a:ln w="22225">
            <a:solidFill>
              <a:srgbClr val="4E5A6B"/>
            </a:solidFill>
            <a:prstDash val="solid"/>
            <a:tailEnd type="triangle"/>
          </a:ln>
        </p:spPr>
      </p:sp>
      <p:sp>
        <p:nvSpPr>
          <p:cNvPr id="15" name="Shape 13"/>
          <p:cNvSpPr/>
          <p:nvPr/>
        </p:nvSpPr>
        <p:spPr>
          <a:xfrm>
            <a:off x="5166360" y="3611880"/>
            <a:ext cx="548640" cy="1143000"/>
          </a:xfrm>
          <a:prstGeom prst="line">
            <a:avLst/>
          </a:prstGeom>
          <a:noFill/>
          <a:ln w="22225">
            <a:solidFill>
              <a:srgbClr val="4E5A6B"/>
            </a:solidFill>
            <a:prstDash val="solid"/>
            <a:tailEnd type="triangle"/>
          </a:ln>
        </p:spPr>
      </p:sp>
      <p:sp>
        <p:nvSpPr>
          <p:cNvPr id="16" name="Text 14"/>
          <p:cNvSpPr txBox="1"/>
          <p:nvPr/>
        </p:nvSpPr>
        <p:spPr>
          <a:xfrm>
            <a:off x="5715000" y="4297680"/>
            <a:ext cx="3017520" cy="914400"/>
          </a:xfrm>
          <a:prstGeom prst="roundRect">
            <a:avLst>
              <a:gd name="adj" fmla="val 8000"/>
            </a:avLst>
          </a:prstGeom>
          <a:solidFill>
            <a:srgbClr val="E9EDF2"/>
          </a:solidFill>
          <a:ln w="12700">
            <a:solidFill>
              <a:srgbClr val="4E5A6B"/>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An approval, in auto mode</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the manager decides — auto's floor still applies</a:t>
            </a:r>
            <a:endParaRPr lang="en-US" sz="1300" dirty="0"/>
          </a:p>
        </p:txBody>
      </p:sp>
      <p:sp>
        <p:nvSpPr>
          <p:cNvPr id="17" name="Shape 15"/>
          <p:cNvSpPr/>
          <p:nvPr/>
        </p:nvSpPr>
        <p:spPr>
          <a:xfrm flipV="1">
            <a:off x="8732520" y="3611880"/>
            <a:ext cx="548640" cy="1143000"/>
          </a:xfrm>
          <a:prstGeom prst="line">
            <a:avLst/>
          </a:prstGeom>
          <a:noFill/>
          <a:ln w="22225">
            <a:solidFill>
              <a:srgbClr val="4E5A6B"/>
            </a:solidFill>
            <a:prstDash val="solid"/>
            <a:tailEnd type="triangle"/>
          </a:ln>
        </p:spPr>
      </p:sp>
      <p:sp>
        <p:nvSpPr>
          <p:cNvPr id="18" name="Text 16"/>
          <p:cNvSpPr txBox="1"/>
          <p:nvPr/>
        </p:nvSpPr>
        <p:spPr>
          <a:xfrm>
            <a:off x="9281160" y="3017520"/>
            <a:ext cx="2359152" cy="1188720"/>
          </a:xfrm>
          <a:prstGeom prst="roundRect">
            <a:avLst>
              <a:gd name="adj" fmla="val 6154"/>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Resume</a:t>
            </a:r>
            <a:endParaRPr lang="en-US" sz="13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same execution id, so the trace stays whole</a:t>
            </a:r>
            <a:endParaRPr lang="en-US" sz="1350" dirty="0"/>
          </a:p>
        </p:txBody>
      </p:sp>
      <p:sp>
        <p:nvSpPr>
          <p:cNvPr id="19" name="Shape 17"/>
          <p:cNvSpPr/>
          <p:nvPr/>
        </p:nvSpPr>
        <p:spPr>
          <a:xfrm>
            <a:off x="548640" y="5486400"/>
            <a:ext cx="5440680" cy="685800"/>
          </a:xfrm>
          <a:prstGeom prst="roundRect">
            <a:avLst>
              <a:gd name="adj" fmla="val 13333"/>
            </a:avLst>
          </a:prstGeom>
          <a:solidFill>
            <a:srgbClr val="F3F5F8"/>
          </a:solidFill>
          <a:ln w="12700">
            <a:solidFill>
              <a:srgbClr val="F3F5F8"/>
            </a:solidFill>
            <a:prstDash val="solid"/>
          </a:ln>
        </p:spPr>
      </p:sp>
      <p:sp>
        <p:nvSpPr>
          <p:cNvPr id="20" name="Text 18"/>
          <p:cNvSpPr txBox="1"/>
          <p:nvPr/>
        </p:nvSpPr>
        <p:spPr>
          <a:xfrm>
            <a:off x="777240" y="5577840"/>
            <a:ext cx="5029200" cy="548640"/>
          </a:xfrm>
          <a:prstGeom prst="rect">
            <a:avLst/>
          </a:prstGeom>
          <a:noFill/>
          <a:ln/>
        </p:spPr>
        <p:txBody>
          <a:bodyPr wrap="square" lIns="0" tIns="0" rIns="0" bIns="0" rtlCol="0" anchor="ctr"/>
          <a:lstStyle/>
          <a:p>
            <a:pPr algn="l" indent="0" marL="0">
              <a:buNone/>
            </a:pPr>
            <a:r>
              <a:rPr lang="en-US" sz="1200" b="1" dirty="0">
                <a:solidFill>
                  <a:srgbClr val="1C212B"/>
                </a:solidFill>
                <a:latin typeface="Calibri" pitchFamily="34" charset="0"/>
                <a:ea typeface="Calibri" pitchFamily="34" charset="-122"/>
                <a:cs typeface="Calibri" pitchFamily="34" charset="-120"/>
              </a:rPr>
              <a:t>Questions </a:t>
            </a:r>
            <a:pPr algn="l" indent="0" marL="0">
              <a:buNone/>
            </a:pPr>
            <a:r>
              <a:rPr lang="en-US" sz="1200" dirty="0">
                <a:solidFill>
                  <a:srgbClr val="1C212B"/>
                </a:solidFill>
                <a:latin typeface="Calibri" pitchFamily="34" charset="0"/>
                <a:ea typeface="Calibri" pitchFamily="34" charset="-122"/>
                <a:cs typeface="Calibri" pitchFamily="34" charset="-120"/>
              </a:rPr>
              <a:t>come as choice, multi-choice, number or text. Skipping means: go on with your stated assumption.</a:t>
            </a:r>
            <a:endParaRPr lang="en-US" sz="1200" dirty="0"/>
          </a:p>
        </p:txBody>
      </p:sp>
      <p:sp>
        <p:nvSpPr>
          <p:cNvPr id="21" name="Shape 19"/>
          <p:cNvSpPr/>
          <p:nvPr/>
        </p:nvSpPr>
        <p:spPr>
          <a:xfrm>
            <a:off x="6199632" y="5486400"/>
            <a:ext cx="5440680" cy="685800"/>
          </a:xfrm>
          <a:prstGeom prst="roundRect">
            <a:avLst>
              <a:gd name="adj" fmla="val 13333"/>
            </a:avLst>
          </a:prstGeom>
          <a:solidFill>
            <a:srgbClr val="F3F5F8"/>
          </a:solidFill>
          <a:ln w="12700">
            <a:solidFill>
              <a:srgbClr val="F3F5F8"/>
            </a:solidFill>
            <a:prstDash val="solid"/>
          </a:ln>
        </p:spPr>
      </p:sp>
      <p:sp>
        <p:nvSpPr>
          <p:cNvPr id="22" name="Text 20"/>
          <p:cNvSpPr txBox="1"/>
          <p:nvPr/>
        </p:nvSpPr>
        <p:spPr>
          <a:xfrm>
            <a:off x="6428232" y="5577840"/>
            <a:ext cx="5029200" cy="548640"/>
          </a:xfrm>
          <a:prstGeom prst="rect">
            <a:avLst/>
          </a:prstGeom>
          <a:noFill/>
          <a:ln/>
        </p:spPr>
        <p:txBody>
          <a:bodyPr wrap="square" lIns="0" tIns="0" rIns="0" bIns="0" rtlCol="0" anchor="ctr"/>
          <a:lstStyle/>
          <a:p>
            <a:pPr algn="l" indent="0" marL="0">
              <a:buNone/>
            </a:pPr>
            <a:r>
              <a:rPr lang="en-US" sz="1200" b="1" dirty="0">
                <a:solidFill>
                  <a:srgbClr val="1C212B"/>
                </a:solidFill>
                <a:latin typeface="Calibri" pitchFamily="34" charset="0"/>
                <a:ea typeface="Calibri" pitchFamily="34" charset="-122"/>
                <a:cs typeface="Calibri" pitchFamily="34" charset="-120"/>
              </a:rPr>
              <a:t>Nobody answering? </a:t>
            </a:r>
            <a:pPr algn="l" indent="0" marL="0">
              <a:buNone/>
            </a:pPr>
            <a:r>
              <a:rPr lang="en-US" sz="1200" dirty="0">
                <a:solidFill>
                  <a:srgbClr val="1C212B"/>
                </a:solidFill>
                <a:latin typeface="Calibri" pitchFamily="34" charset="0"/>
                <a:ea typeface="Calibri" pitchFamily="34" charset="-122"/>
                <a:cs typeface="Calibri" pitchFamily="34" charset="-120"/>
              </a:rPr>
              <a:t>Device reminders at +0, +1 h and +1 day, then a once-a-day email digest.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APPROVALS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Settle every approval before dispatching anything</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interrupt() discards a node's writes and replays it from the top. Graph state rolls back; the outside world does not.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2011680"/>
            <a:ext cx="5376672" cy="4114800"/>
          </a:xfrm>
          <a:prstGeom prst="roundRect">
            <a:avLst>
              <a:gd name="adj" fmla="val 2222"/>
            </a:avLst>
          </a:prstGeom>
          <a:solidFill>
            <a:srgbClr val="FBE8E6"/>
          </a:solidFill>
          <a:ln w="12700">
            <a:solidFill>
              <a:srgbClr val="FBE8E6"/>
            </a:solidFill>
            <a:prstDash val="solid"/>
          </a:ln>
        </p:spPr>
      </p:sp>
      <p:sp>
        <p:nvSpPr>
          <p:cNvPr id="7" name="Text 5"/>
          <p:cNvSpPr txBox="1"/>
          <p:nvPr/>
        </p:nvSpPr>
        <p:spPr>
          <a:xfrm>
            <a:off x="822960" y="2148840"/>
            <a:ext cx="4846320" cy="320040"/>
          </a:xfrm>
          <a:prstGeom prst="rect">
            <a:avLst/>
          </a:prstGeom>
          <a:noFill/>
          <a:ln/>
        </p:spPr>
        <p:txBody>
          <a:bodyPr wrap="square" lIns="0" tIns="0" rIns="0" bIns="0" rtlCol="0" anchor="t"/>
          <a:lstStyle/>
          <a:p>
            <a:pPr algn="l" indent="0" marL="0">
              <a:buNone/>
            </a:pPr>
            <a:r>
              <a:rPr lang="en-US" sz="1500" b="1" dirty="0">
                <a:solidFill>
                  <a:srgbClr val="8E2B24"/>
                </a:solidFill>
                <a:latin typeface="Arial" pitchFamily="34" charset="0"/>
                <a:ea typeface="Arial" pitchFamily="34" charset="-122"/>
                <a:cs typeface="Arial" pitchFamily="34" charset="-120"/>
              </a:rPr>
              <a:t>Checking inline — the trap</a:t>
            </a:r>
            <a:endParaRPr lang="en-US" sz="1500" dirty="0"/>
          </a:p>
        </p:txBody>
      </p:sp>
      <p:sp>
        <p:nvSpPr>
          <p:cNvPr id="8" name="Text 6"/>
          <p:cNvSpPr txBox="1"/>
          <p:nvPr/>
        </p:nvSpPr>
        <p:spPr>
          <a:xfrm>
            <a:off x="822960" y="2743200"/>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1463040" y="2697480"/>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Dispatch web_search()</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runs, result kept in graph state</a:t>
            </a:r>
            <a:endParaRPr lang="en-US" sz="1400" dirty="0"/>
          </a:p>
        </p:txBody>
      </p:sp>
      <p:sp>
        <p:nvSpPr>
          <p:cNvPr id="10" name="Shape 8"/>
          <p:cNvSpPr/>
          <p:nvPr/>
        </p:nvSpPr>
        <p:spPr>
          <a:xfrm>
            <a:off x="1051560" y="3200400"/>
            <a:ext cx="0" cy="384048"/>
          </a:xfrm>
          <a:prstGeom prst="line">
            <a:avLst/>
          </a:prstGeom>
          <a:noFill/>
          <a:ln w="15875">
            <a:solidFill>
              <a:srgbClr val="C4433A"/>
            </a:solidFill>
            <a:prstDash val="solid"/>
            <a:tailEnd type="triangle"/>
          </a:ln>
        </p:spPr>
      </p:sp>
      <p:sp>
        <p:nvSpPr>
          <p:cNvPr id="11" name="Text 9"/>
          <p:cNvSpPr txBox="1"/>
          <p:nvPr/>
        </p:nvSpPr>
        <p:spPr>
          <a:xfrm>
            <a:off x="822960" y="3584448"/>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1463040" y="3538728"/>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send_email() needs approval</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interrupt() pauses the run</a:t>
            </a:r>
            <a:endParaRPr lang="en-US" sz="1400" dirty="0"/>
          </a:p>
        </p:txBody>
      </p:sp>
      <p:sp>
        <p:nvSpPr>
          <p:cNvPr id="13" name="Shape 11"/>
          <p:cNvSpPr/>
          <p:nvPr/>
        </p:nvSpPr>
        <p:spPr>
          <a:xfrm>
            <a:off x="1051560" y="4041648"/>
            <a:ext cx="0" cy="384048"/>
          </a:xfrm>
          <a:prstGeom prst="line">
            <a:avLst/>
          </a:prstGeom>
          <a:noFill/>
          <a:ln w="15875">
            <a:solidFill>
              <a:srgbClr val="C4433A"/>
            </a:solidFill>
            <a:prstDash val="solid"/>
            <a:tailEnd type="triangle"/>
          </a:ln>
        </p:spPr>
      </p:sp>
      <p:sp>
        <p:nvSpPr>
          <p:cNvPr id="14" name="Text 12"/>
          <p:cNvSpPr txBox="1"/>
          <p:nvPr/>
        </p:nvSpPr>
        <p:spPr>
          <a:xfrm>
            <a:off x="822960" y="4425696"/>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463040" y="4379976"/>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User approves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the node replays from the top</a:t>
            </a:r>
            <a:endParaRPr lang="en-US" sz="1400" dirty="0"/>
          </a:p>
        </p:txBody>
      </p:sp>
      <p:sp>
        <p:nvSpPr>
          <p:cNvPr id="16" name="Shape 14"/>
          <p:cNvSpPr/>
          <p:nvPr/>
        </p:nvSpPr>
        <p:spPr>
          <a:xfrm>
            <a:off x="1051560" y="4882896"/>
            <a:ext cx="0" cy="384048"/>
          </a:xfrm>
          <a:prstGeom prst="line">
            <a:avLst/>
          </a:prstGeom>
          <a:noFill/>
          <a:ln w="15875">
            <a:solidFill>
              <a:srgbClr val="C4433A"/>
            </a:solidFill>
            <a:prstDash val="solid"/>
            <a:tailEnd type="triangle"/>
          </a:ln>
        </p:spPr>
      </p:sp>
      <p:sp>
        <p:nvSpPr>
          <p:cNvPr id="17" name="Text 15"/>
          <p:cNvSpPr txBox="1"/>
          <p:nvPr/>
        </p:nvSpPr>
        <p:spPr>
          <a:xfrm>
            <a:off x="822960" y="5266944"/>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463040" y="5221224"/>
            <a:ext cx="4297680" cy="731520"/>
          </a:xfrm>
          <a:prstGeom prst="rect">
            <a:avLst/>
          </a:prstGeom>
          <a:noFill/>
          <a:ln/>
        </p:spPr>
        <p:txBody>
          <a:bodyPr wrap="square" lIns="0" tIns="0" rIns="0" bIns="0" rtlCol="0" anchor="t"/>
          <a:lstStyle/>
          <a:p>
            <a:pPr indent="0" marL="0">
              <a:buNone/>
            </a:pPr>
            <a:r>
              <a:rPr lang="en-US" sz="1400" b="1" dirty="0">
                <a:solidFill>
                  <a:srgbClr val="8E2B24"/>
                </a:solidFill>
                <a:latin typeface="Arial" pitchFamily="34" charset="0"/>
                <a:ea typeface="Arial" pitchFamily="34" charset="-122"/>
                <a:cs typeface="Arial" pitchFamily="34" charset="-120"/>
              </a:rPr>
              <a:t>web_search() runs again</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a duplicate side effect</a:t>
            </a:r>
            <a:endParaRPr lang="en-US" sz="1400" dirty="0"/>
          </a:p>
        </p:txBody>
      </p:sp>
      <p:sp>
        <p:nvSpPr>
          <p:cNvPr id="19" name="Shape 17"/>
          <p:cNvSpPr/>
          <p:nvPr/>
        </p:nvSpPr>
        <p:spPr>
          <a:xfrm>
            <a:off x="6263640" y="2011680"/>
            <a:ext cx="5376672" cy="4114800"/>
          </a:xfrm>
          <a:prstGeom prst="roundRect">
            <a:avLst>
              <a:gd name="adj" fmla="val 2222"/>
            </a:avLst>
          </a:prstGeom>
          <a:solidFill>
            <a:srgbClr val="E1F2F0"/>
          </a:solidFill>
          <a:ln w="12700">
            <a:solidFill>
              <a:srgbClr val="E1F2F0"/>
            </a:solidFill>
            <a:prstDash val="solid"/>
          </a:ln>
        </p:spPr>
      </p:sp>
      <p:sp>
        <p:nvSpPr>
          <p:cNvPr id="20" name="Text 18"/>
          <p:cNvSpPr txBox="1"/>
          <p:nvPr/>
        </p:nvSpPr>
        <p:spPr>
          <a:xfrm>
            <a:off x="6537960" y="2148840"/>
            <a:ext cx="4846320" cy="320040"/>
          </a:xfrm>
          <a:prstGeom prst="rect">
            <a:avLst/>
          </a:prstGeom>
          <a:noFill/>
          <a:ln/>
        </p:spPr>
        <p:txBody>
          <a:bodyPr wrap="square" lIns="0" tIns="0" rIns="0" bIns="0" rtlCol="0" anchor="t"/>
          <a:lstStyle/>
          <a:p>
            <a:pPr algn="l" indent="0" marL="0">
              <a:buNone/>
            </a:pPr>
            <a:r>
              <a:rPr lang="en-US" sz="1500" b="1" dirty="0">
                <a:solidFill>
                  <a:srgbClr val="0D5C55"/>
                </a:solidFill>
                <a:latin typeface="Arial" pitchFamily="34" charset="0"/>
                <a:ea typeface="Arial" pitchFamily="34" charset="-122"/>
                <a:cs typeface="Arial" pitchFamily="34" charset="-120"/>
              </a:rPr>
              <a:t>Two passes — what AIAAS does</a:t>
            </a:r>
            <a:endParaRPr lang="en-US" sz="1500" dirty="0"/>
          </a:p>
        </p:txBody>
      </p:sp>
      <p:sp>
        <p:nvSpPr>
          <p:cNvPr id="21" name="Text 19"/>
          <p:cNvSpPr txBox="1"/>
          <p:nvPr/>
        </p:nvSpPr>
        <p:spPr>
          <a:xfrm>
            <a:off x="6537960" y="2743200"/>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2" name="Text 20"/>
          <p:cNvSpPr txBox="1"/>
          <p:nvPr/>
        </p:nvSpPr>
        <p:spPr>
          <a:xfrm>
            <a:off x="7178040" y="2697480"/>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Pass 1: settle every gate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pause here — nothing dispatched yet</a:t>
            </a:r>
            <a:endParaRPr lang="en-US" sz="1400" dirty="0"/>
          </a:p>
        </p:txBody>
      </p:sp>
      <p:sp>
        <p:nvSpPr>
          <p:cNvPr id="23" name="Shape 21"/>
          <p:cNvSpPr/>
          <p:nvPr/>
        </p:nvSpPr>
        <p:spPr>
          <a:xfrm>
            <a:off x="6766560" y="3200400"/>
            <a:ext cx="0" cy="384048"/>
          </a:xfrm>
          <a:prstGeom prst="line">
            <a:avLst/>
          </a:prstGeom>
          <a:noFill/>
          <a:ln w="15875">
            <a:solidFill>
              <a:srgbClr val="15877D"/>
            </a:solidFill>
            <a:prstDash val="solid"/>
            <a:tailEnd type="triangle"/>
          </a:ln>
        </p:spPr>
      </p:sp>
      <p:sp>
        <p:nvSpPr>
          <p:cNvPr id="24" name="Text 22"/>
          <p:cNvSpPr txBox="1"/>
          <p:nvPr/>
        </p:nvSpPr>
        <p:spPr>
          <a:xfrm>
            <a:off x="6537960" y="3584448"/>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5" name="Text 23"/>
          <p:cNvSpPr txBox="1"/>
          <p:nvPr/>
        </p:nvSpPr>
        <p:spPr>
          <a:xfrm>
            <a:off x="7178040" y="3538728"/>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Resume replays Pass 1</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calls already approved are skipped</a:t>
            </a:r>
            <a:endParaRPr lang="en-US" sz="1400" dirty="0"/>
          </a:p>
        </p:txBody>
      </p:sp>
      <p:sp>
        <p:nvSpPr>
          <p:cNvPr id="26" name="Shape 24"/>
          <p:cNvSpPr/>
          <p:nvPr/>
        </p:nvSpPr>
        <p:spPr>
          <a:xfrm>
            <a:off x="6766560" y="4041648"/>
            <a:ext cx="0" cy="384048"/>
          </a:xfrm>
          <a:prstGeom prst="line">
            <a:avLst/>
          </a:prstGeom>
          <a:noFill/>
          <a:ln w="15875">
            <a:solidFill>
              <a:srgbClr val="15877D"/>
            </a:solidFill>
            <a:prstDash val="solid"/>
            <a:tailEnd type="triangle"/>
          </a:ln>
        </p:spPr>
      </p:sp>
      <p:sp>
        <p:nvSpPr>
          <p:cNvPr id="27" name="Text 25"/>
          <p:cNvSpPr txBox="1"/>
          <p:nvPr/>
        </p:nvSpPr>
        <p:spPr>
          <a:xfrm>
            <a:off x="6537960" y="4425696"/>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8" name="Text 26"/>
          <p:cNvSpPr txBox="1"/>
          <p:nvPr/>
        </p:nvSpPr>
        <p:spPr>
          <a:xfrm>
            <a:off x="7178040" y="4379976"/>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Pass 2: dispatch</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each approved call runs exactly once</a:t>
            </a:r>
            <a:endParaRPr lang="en-US" sz="1400" dirty="0"/>
          </a:p>
        </p:txBody>
      </p:sp>
      <p:sp>
        <p:nvSpPr>
          <p:cNvPr id="29" name="Shape 27"/>
          <p:cNvSpPr/>
          <p:nvPr/>
        </p:nvSpPr>
        <p:spPr>
          <a:xfrm>
            <a:off x="6766560" y="4882896"/>
            <a:ext cx="0" cy="384048"/>
          </a:xfrm>
          <a:prstGeom prst="line">
            <a:avLst/>
          </a:prstGeom>
          <a:noFill/>
          <a:ln w="15875">
            <a:solidFill>
              <a:srgbClr val="15877D"/>
            </a:solidFill>
            <a:prstDash val="solid"/>
            <a:tailEnd type="triangle"/>
          </a:ln>
        </p:spPr>
      </p:sp>
      <p:sp>
        <p:nvSpPr>
          <p:cNvPr id="30" name="Text 28"/>
          <p:cNvSpPr txBox="1"/>
          <p:nvPr/>
        </p:nvSpPr>
        <p:spPr>
          <a:xfrm>
            <a:off x="6537960" y="5266944"/>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1" name="Text 29"/>
          <p:cNvSpPr txBox="1"/>
          <p:nvPr/>
        </p:nvSpPr>
        <p:spPr>
          <a:xfrm>
            <a:off x="7178040" y="5221224"/>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Record in call order</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same trace whichever call finished first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AUTONOMY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Autonomy is a ladder with five rungs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Given only "always ask" and "never ask", people pick never. The middle rungs are the point.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2194560"/>
            <a:ext cx="11064240" cy="0"/>
          </a:xfrm>
          <a:prstGeom prst="line">
            <a:avLst/>
          </a:prstGeom>
          <a:noFill/>
          <a:ln w="15875">
            <a:solidFill>
              <a:srgbClr val="8A93A1"/>
            </a:solidFill>
            <a:prstDash val="solid"/>
            <a:tailEnd type="triangle"/>
          </a:ln>
        </p:spPr>
      </p:sp>
      <p:sp>
        <p:nvSpPr>
          <p:cNvPr id="7" name="Text 5"/>
          <p:cNvSpPr txBox="1"/>
          <p:nvPr/>
        </p:nvSpPr>
        <p:spPr>
          <a:xfrm>
            <a:off x="8869680" y="1892808"/>
            <a:ext cx="2743200" cy="237744"/>
          </a:xfrm>
          <a:prstGeom prst="rect">
            <a:avLst/>
          </a:prstGeom>
          <a:noFill/>
          <a:ln/>
        </p:spPr>
        <p:txBody>
          <a:bodyPr wrap="square" lIns="0" tIns="0" rIns="0" bIns="0" rtlCol="0" anchor="t"/>
          <a:lstStyle/>
          <a:p>
            <a:pPr algn="r" indent="0" marL="0">
              <a:buNone/>
            </a:pPr>
            <a:r>
              <a:rPr lang="en-US" sz="1100" i="1" dirty="0">
                <a:solidFill>
                  <a:srgbClr val="5B6472"/>
                </a:solidFill>
                <a:latin typeface="Calibri" pitchFamily="34" charset="0"/>
                <a:ea typeface="Calibri" pitchFamily="34" charset="-122"/>
                <a:cs typeface="Calibri" pitchFamily="34" charset="-120"/>
              </a:rPr>
              <a:t>fewer interruptions, more trust</a:t>
            </a:r>
            <a:endParaRPr lang="en-US" sz="1100" dirty="0"/>
          </a:p>
        </p:txBody>
      </p:sp>
      <p:sp>
        <p:nvSpPr>
          <p:cNvPr id="8" name="Text 6"/>
          <p:cNvSpPr txBox="1"/>
          <p:nvPr/>
        </p:nvSpPr>
        <p:spPr>
          <a:xfrm>
            <a:off x="548640" y="3886200"/>
            <a:ext cx="2103120" cy="640080"/>
          </a:xfrm>
          <a:prstGeom prst="roundRect">
            <a:avLst>
              <a:gd name="adj" fmla="val 11429"/>
            </a:avLst>
          </a:prstGeom>
          <a:solidFill>
            <a:srgbClr val="0D5C55"/>
          </a:solidFill>
          <a:ln>
            <a:solidFill>
              <a:srgbClr val="0D5C55"/>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plan</a:t>
            </a:r>
            <a:endParaRPr lang="en-US" sz="1700" dirty="0"/>
          </a:p>
        </p:txBody>
      </p:sp>
      <p:sp>
        <p:nvSpPr>
          <p:cNvPr id="9" name="Text 7"/>
          <p:cNvSpPr txBox="1"/>
          <p:nvPr/>
        </p:nvSpPr>
        <p:spPr>
          <a:xfrm>
            <a:off x="59436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Mutating tools are withheld, not gated. Read and plan only.</a:t>
            </a:r>
            <a:endParaRPr lang="en-US" sz="1250" dirty="0"/>
          </a:p>
        </p:txBody>
      </p:sp>
      <p:sp>
        <p:nvSpPr>
          <p:cNvPr id="10" name="Text 8"/>
          <p:cNvSpPr txBox="1"/>
          <p:nvPr/>
        </p:nvSpPr>
        <p:spPr>
          <a:xfrm>
            <a:off x="2788920" y="3593592"/>
            <a:ext cx="2103120" cy="932688"/>
          </a:xfrm>
          <a:prstGeom prst="roundRect">
            <a:avLst>
              <a:gd name="adj" fmla="val 7843"/>
            </a:avLst>
          </a:prstGeom>
          <a:solidFill>
            <a:srgbClr val="15877D"/>
          </a:solidFill>
          <a:ln>
            <a:solidFill>
              <a:srgbClr val="15877D"/>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review</a:t>
            </a:r>
            <a:endParaRPr lang="en-US" sz="1700" dirty="0"/>
          </a:p>
        </p:txBody>
      </p:sp>
      <p:sp>
        <p:nvSpPr>
          <p:cNvPr id="11" name="Text 9"/>
          <p:cNvSpPr txBox="1"/>
          <p:nvPr/>
        </p:nvSpPr>
        <p:spPr>
          <a:xfrm>
            <a:off x="283464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Everything that changes something pauses for approval.</a:t>
            </a:r>
            <a:endParaRPr lang="en-US" sz="1250" dirty="0"/>
          </a:p>
        </p:txBody>
      </p:sp>
      <p:sp>
        <p:nvSpPr>
          <p:cNvPr id="12" name="Text 10"/>
          <p:cNvSpPr txBox="1"/>
          <p:nvPr/>
        </p:nvSpPr>
        <p:spPr>
          <a:xfrm>
            <a:off x="5029200" y="3300984"/>
            <a:ext cx="2103120" cy="1225296"/>
          </a:xfrm>
          <a:prstGeom prst="roundRect">
            <a:avLst>
              <a:gd name="adj" fmla="val 5970"/>
            </a:avLst>
          </a:prstGeom>
          <a:solidFill>
            <a:srgbClr val="4E5A6B"/>
          </a:solidFill>
          <a:ln>
            <a:solidFill>
              <a:srgbClr val="4E5A6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ask</a:t>
            </a:r>
            <a:endParaRPr lang="en-US" sz="1700" dirty="0"/>
          </a:p>
        </p:txBody>
      </p:sp>
      <p:sp>
        <p:nvSpPr>
          <p:cNvPr id="13" name="Text 11"/>
          <p:cNvSpPr txBox="1"/>
          <p:nvPr/>
        </p:nvSpPr>
        <p:spPr>
          <a:xfrm>
            <a:off x="507492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Default. Sensitive tools and credentialed connector calls pause.</a:t>
            </a:r>
            <a:endParaRPr lang="en-US" sz="1250" dirty="0"/>
          </a:p>
        </p:txBody>
      </p:sp>
      <p:sp>
        <p:nvSpPr>
          <p:cNvPr id="14" name="Text 12"/>
          <p:cNvSpPr txBox="1"/>
          <p:nvPr/>
        </p:nvSpPr>
        <p:spPr>
          <a:xfrm>
            <a:off x="7269480" y="3008376"/>
            <a:ext cx="2103120" cy="1517904"/>
          </a:xfrm>
          <a:prstGeom prst="roundRect">
            <a:avLst>
              <a:gd name="adj" fmla="val 4819"/>
            </a:avLst>
          </a:prstGeom>
          <a:solidFill>
            <a:srgbClr val="E08A1E"/>
          </a:solidFill>
          <a:ln>
            <a:solidFill>
              <a:srgbClr val="E08A1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auto</a:t>
            </a:r>
            <a:endParaRPr lang="en-US" sz="1700" dirty="0"/>
          </a:p>
        </p:txBody>
      </p:sp>
      <p:sp>
        <p:nvSpPr>
          <p:cNvPr id="15" name="Text 13"/>
          <p:cNvSpPr txBox="1"/>
          <p:nvPr/>
        </p:nvSpPr>
        <p:spPr>
          <a:xfrm>
            <a:off x="731520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Gated on effect: irreversible calls pause; a fast judge may allow the rest.</a:t>
            </a:r>
            <a:endParaRPr lang="en-US" sz="1250" dirty="0"/>
          </a:p>
        </p:txBody>
      </p:sp>
      <p:sp>
        <p:nvSpPr>
          <p:cNvPr id="16" name="Text 14"/>
          <p:cNvSpPr txBox="1"/>
          <p:nvPr/>
        </p:nvSpPr>
        <p:spPr>
          <a:xfrm>
            <a:off x="9509760" y="2715768"/>
            <a:ext cx="2103120" cy="1810512"/>
          </a:xfrm>
          <a:prstGeom prst="roundRect">
            <a:avLst>
              <a:gd name="adj" fmla="val 4040"/>
            </a:avLst>
          </a:prstGeom>
          <a:solidFill>
            <a:srgbClr val="C4433A"/>
          </a:solidFill>
          <a:ln>
            <a:solidFill>
              <a:srgbClr val="C4433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full</a:t>
            </a:r>
            <a:endParaRPr lang="en-US" sz="1700" dirty="0"/>
          </a:p>
        </p:txBody>
      </p:sp>
      <p:sp>
        <p:nvSpPr>
          <p:cNvPr id="17" name="Text 15"/>
          <p:cNvSpPr txBox="1"/>
          <p:nvPr/>
        </p:nvSpPr>
        <p:spPr>
          <a:xfrm>
            <a:off x="955548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Nothing pauses. Opt-in per agent, never offered in chat.</a:t>
            </a:r>
            <a:endParaRPr lang="en-US" sz="1250" dirty="0"/>
          </a:p>
        </p:txBody>
      </p:sp>
      <p:sp>
        <p:nvSpPr>
          <p:cNvPr id="18" name="Shape 16"/>
          <p:cNvSpPr/>
          <p:nvPr/>
        </p:nvSpPr>
        <p:spPr>
          <a:xfrm>
            <a:off x="548640" y="5623560"/>
            <a:ext cx="11091672" cy="548640"/>
          </a:xfrm>
          <a:prstGeom prst="roundRect">
            <a:avLst>
              <a:gd name="adj" fmla="val 16667"/>
            </a:avLst>
          </a:prstGeom>
          <a:solidFill>
            <a:srgbClr val="F3F5F8"/>
          </a:solidFill>
          <a:ln w="12700">
            <a:solidFill>
              <a:srgbClr val="F3F5F8"/>
            </a:solidFill>
            <a:prstDash val="solid"/>
          </a:ln>
        </p:spPr>
      </p:sp>
      <p:sp>
        <p:nvSpPr>
          <p:cNvPr id="19" name="Text 17"/>
          <p:cNvSpPr txBox="1"/>
          <p:nvPr/>
        </p:nvSpPr>
        <p:spPr>
          <a:xfrm>
            <a:off x="777240" y="5742432"/>
            <a:ext cx="10607040" cy="320040"/>
          </a:xfrm>
          <a:prstGeom prst="rect">
            <a:avLst/>
          </a:prstGeom>
          <a:noFill/>
          <a:ln/>
        </p:spPr>
        <p:txBody>
          <a:bodyPr wrap="square" lIns="0" tIns="0" rIns="0" bIns="0" rtlCol="0" anchor="t"/>
          <a:lstStyle/>
          <a:p>
            <a:pPr algn="l" indent="0" marL="0">
              <a:buNone/>
            </a:pPr>
            <a:r>
              <a:rPr lang="en-US" sz="1250" b="1" dirty="0">
                <a:solidFill>
                  <a:srgbClr val="1C212B"/>
                </a:solidFill>
                <a:latin typeface="Calibri" pitchFamily="34" charset="0"/>
                <a:ea typeface="Calibri" pitchFamily="34" charset="-122"/>
                <a:cs typeface="Calibri" pitchFamily="34" charset="-120"/>
              </a:rPr>
              <a:t>Switchable mid-run </a:t>
            </a:r>
            <a:pPr algn="l" indent="0" marL="0">
              <a:buNone/>
            </a:pPr>
            <a:r>
              <a:rPr lang="en-US" sz="1250" dirty="0">
                <a:solidFill>
                  <a:srgbClr val="1C212B"/>
                </a:solidFill>
                <a:latin typeface="Calibri" pitchFamily="34" charset="0"/>
                <a:ea typeface="Calibri" pitchFamily="34" charset="-122"/>
                <a:cs typeface="Calibri" pitchFamily="34" charset="-120"/>
              </a:rPr>
              <a:t>through the steering mailbox, never retroactively.   </a:t>
            </a:r>
            <a:pPr algn="l" indent="0" marL="0">
              <a:buNone/>
            </a:pPr>
            <a:r>
              <a:rPr lang="en-US" sz="1250" b="1" dirty="0">
                <a:solidFill>
                  <a:srgbClr val="1C212B"/>
                </a:solidFill>
                <a:latin typeface="Calibri" pitchFamily="34" charset="0"/>
                <a:ea typeface="Calibri" pitchFamily="34" charset="-122"/>
                <a:cs typeface="Calibri" pitchFamily="34" charset="-120"/>
              </a:rPr>
              <a:t>Approvals scope </a:t>
            </a:r>
            <a:pPr algn="l" indent="0" marL="0">
              <a:buNone/>
            </a:pPr>
            <a:r>
              <a:rPr lang="en-US" sz="1250" dirty="0">
                <a:solidFill>
                  <a:srgbClr val="1C212B"/>
                </a:solidFill>
                <a:latin typeface="Calibri" pitchFamily="34" charset="0"/>
                <a:ea typeface="Calibri" pitchFamily="34" charset="-122"/>
                <a:cs typeface="Calibri" pitchFamily="34" charset="-120"/>
              </a:rPr>
              <a:t>to once · this session · always.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PERMISSIONS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Four independent axes decide what an agent may touch</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Each can only narrow. Empty means unrestricted, so agents built before an axis existed keep working.</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2011680"/>
            <a:ext cx="5440680" cy="1828800"/>
          </a:xfrm>
          <a:prstGeom prst="roundRect">
            <a:avLst>
              <a:gd name="adj" fmla="val 5000"/>
            </a:avLst>
          </a:prstGeom>
          <a:solidFill>
            <a:srgbClr val="F3F5F8"/>
          </a:solidFill>
          <a:ln w="12700">
            <a:solidFill>
              <a:srgbClr val="F3F5F8"/>
            </a:solidFill>
            <a:prstDash val="solid"/>
          </a:ln>
        </p:spPr>
      </p:sp>
      <p:sp>
        <p:nvSpPr>
          <p:cNvPr id="7" name="Shape 5"/>
          <p:cNvSpPr/>
          <p:nvPr/>
        </p:nvSpPr>
        <p:spPr>
          <a:xfrm>
            <a:off x="822960" y="2286000"/>
            <a:ext cx="640080" cy="640080"/>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89381" y="2452421"/>
            <a:ext cx="307238" cy="307238"/>
          </a:xfrm>
          <a:prstGeom prst="rect">
            <a:avLst/>
          </a:prstGeom>
        </p:spPr>
      </p:pic>
      <p:sp>
        <p:nvSpPr>
          <p:cNvPr id="9" name="Text 6"/>
          <p:cNvSpPr txBox="1"/>
          <p:nvPr/>
        </p:nvSpPr>
        <p:spPr>
          <a:xfrm>
            <a:off x="1691640" y="226771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Grant — whether</a:t>
            </a:r>
            <a:endParaRPr lang="en-US" sz="1600" dirty="0"/>
          </a:p>
        </p:txBody>
      </p:sp>
      <p:sp>
        <p:nvSpPr>
          <p:cNvPr id="10" name="Text 7"/>
          <p:cNvSpPr txBox="1"/>
          <p:nvPr/>
        </p:nvSpPr>
        <p:spPr>
          <a:xfrm>
            <a:off x="1691640" y="2651760"/>
            <a:ext cx="4114800" cy="274320"/>
          </a:xfrm>
          <a:prstGeom prst="rect">
            <a:avLst/>
          </a:prstGeom>
          <a:noFill/>
          <a:ln/>
        </p:spPr>
        <p:txBody>
          <a:bodyPr wrap="square" lIns="0" tIns="0" rIns="0" bIns="0" rtlCol="0" anchor="t"/>
          <a:lstStyle/>
          <a:p>
            <a:pPr algn="l" indent="0" marL="0">
              <a:buNone/>
            </a:pPr>
            <a:r>
              <a:rPr lang="en-US" sz="1150" b="1" dirty="0">
                <a:solidFill>
                  <a:srgbClr val="9A5A0C"/>
                </a:solidFill>
                <a:latin typeface="Courier New" pitchFamily="34" charset="0"/>
                <a:ea typeface="Courier New" pitchFamily="34" charset="-122"/>
                <a:cs typeface="Courier New" pitchFamily="34" charset="-120"/>
              </a:rPr>
              <a:t>tool_grants</a:t>
            </a:r>
            <a:endParaRPr lang="en-US" sz="1150" dirty="0"/>
          </a:p>
        </p:txBody>
      </p:sp>
      <p:sp>
        <p:nvSpPr>
          <p:cNvPr id="11" name="Text 8"/>
          <p:cNvSpPr txBox="1"/>
          <p:nvPr/>
        </p:nvSpPr>
        <p:spPr>
          <a:xfrm>
            <a:off x="1691640" y="301752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May this agent reach connectors, files, office, delegation at all?</a:t>
            </a:r>
            <a:endParaRPr lang="en-US" sz="1400" dirty="0"/>
          </a:p>
        </p:txBody>
      </p:sp>
      <p:sp>
        <p:nvSpPr>
          <p:cNvPr id="12" name="Shape 9"/>
          <p:cNvSpPr/>
          <p:nvPr/>
        </p:nvSpPr>
        <p:spPr>
          <a:xfrm>
            <a:off x="6199632" y="2011680"/>
            <a:ext cx="5440680" cy="1828800"/>
          </a:xfrm>
          <a:prstGeom prst="roundRect">
            <a:avLst>
              <a:gd name="adj" fmla="val 5000"/>
            </a:avLst>
          </a:prstGeom>
          <a:solidFill>
            <a:srgbClr val="F3F5F8"/>
          </a:solidFill>
          <a:ln w="12700">
            <a:solidFill>
              <a:srgbClr val="F3F5F8"/>
            </a:solidFill>
            <a:prstDash val="solid"/>
          </a:ln>
        </p:spPr>
      </p:sp>
      <p:sp>
        <p:nvSpPr>
          <p:cNvPr id="13" name="Shape 10"/>
          <p:cNvSpPr/>
          <p:nvPr/>
        </p:nvSpPr>
        <p:spPr>
          <a:xfrm>
            <a:off x="6473952" y="2286000"/>
            <a:ext cx="640080" cy="640080"/>
          </a:xfrm>
          <a:prstGeom prst="ellipse">
            <a:avLst/>
          </a:prstGeom>
          <a:solidFill>
            <a:srgbClr val="15877D"/>
          </a:solidFill>
          <a:ln w="12700">
            <a:solidFill>
              <a:srgbClr val="15877D"/>
            </a:solidFill>
            <a:prstDash val="solid"/>
          </a:ln>
        </p:spPr>
      </p:sp>
      <p:pic>
        <p:nvPicPr>
          <p:cNvPr id="14" name="Image 1" descr="preencoded.png">    </p:cNvPr>
          <p:cNvPicPr>
            <a:picLocks noChangeAspect="1"/>
          </p:cNvPicPr>
          <p:nvPr/>
        </p:nvPicPr>
        <p:blipFill>
          <a:blip r:embed="rId2"/>
          <a:stretch>
            <a:fillRect/>
          </a:stretch>
        </p:blipFill>
        <p:spPr>
          <a:xfrm>
            <a:off x="6640373" y="2452421"/>
            <a:ext cx="307238" cy="307238"/>
          </a:xfrm>
          <a:prstGeom prst="rect">
            <a:avLst/>
          </a:prstGeom>
        </p:spPr>
      </p:pic>
      <p:sp>
        <p:nvSpPr>
          <p:cNvPr id="15" name="Text 11"/>
          <p:cNvSpPr txBox="1"/>
          <p:nvPr/>
        </p:nvSpPr>
        <p:spPr>
          <a:xfrm>
            <a:off x="7342632" y="226771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Scope — which rows</a:t>
            </a:r>
            <a:endParaRPr lang="en-US" sz="1600" dirty="0"/>
          </a:p>
        </p:txBody>
      </p:sp>
      <p:sp>
        <p:nvSpPr>
          <p:cNvPr id="16" name="Text 12"/>
          <p:cNvSpPr txBox="1"/>
          <p:nvPr/>
        </p:nvSpPr>
        <p:spPr>
          <a:xfrm>
            <a:off x="7342632" y="2651760"/>
            <a:ext cx="4114800" cy="274320"/>
          </a:xfrm>
          <a:prstGeom prst="rect">
            <a:avLst/>
          </a:prstGeom>
          <a:noFill/>
          <a:ln/>
        </p:spPr>
        <p:txBody>
          <a:bodyPr wrap="square" lIns="0" tIns="0" rIns="0" bIns="0" rtlCol="0" anchor="t"/>
          <a:lstStyle/>
          <a:p>
            <a:pPr algn="l" indent="0" marL="0">
              <a:buNone/>
            </a:pPr>
            <a:r>
              <a:rPr lang="en-US" sz="1150" b="1" dirty="0">
                <a:solidFill>
                  <a:srgbClr val="0D5C55"/>
                </a:solidFill>
                <a:latin typeface="Courier New" pitchFamily="34" charset="0"/>
                <a:ea typeface="Courier New" pitchFamily="34" charset="-122"/>
                <a:cs typeface="Courier New" pitchFamily="34" charset="-120"/>
              </a:rPr>
              <a:t>connectors · knowledgeBases · fileAccess</a:t>
            </a:r>
            <a:endParaRPr lang="en-US" sz="1150" dirty="0"/>
          </a:p>
        </p:txBody>
      </p:sp>
      <p:sp>
        <p:nvSpPr>
          <p:cNvPr id="17" name="Text 13"/>
          <p:cNvSpPr txBox="1"/>
          <p:nvPr/>
        </p:nvSpPr>
        <p:spPr>
          <a:xfrm>
            <a:off x="7342632" y="301752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This mailbox, read-only; this knowledge base; its own folder; these delegates.</a:t>
            </a:r>
            <a:endParaRPr lang="en-US" sz="1400" dirty="0"/>
          </a:p>
        </p:txBody>
      </p:sp>
      <p:sp>
        <p:nvSpPr>
          <p:cNvPr id="18" name="Shape 14"/>
          <p:cNvSpPr/>
          <p:nvPr/>
        </p:nvSpPr>
        <p:spPr>
          <a:xfrm>
            <a:off x="548640" y="4023360"/>
            <a:ext cx="5440680" cy="1828800"/>
          </a:xfrm>
          <a:prstGeom prst="roundRect">
            <a:avLst>
              <a:gd name="adj" fmla="val 5000"/>
            </a:avLst>
          </a:prstGeom>
          <a:solidFill>
            <a:srgbClr val="F3F5F8"/>
          </a:solidFill>
          <a:ln w="12700">
            <a:solidFill>
              <a:srgbClr val="F3F5F8"/>
            </a:solidFill>
            <a:prstDash val="solid"/>
          </a:ln>
        </p:spPr>
      </p:sp>
      <p:sp>
        <p:nvSpPr>
          <p:cNvPr id="19" name="Shape 15"/>
          <p:cNvSpPr/>
          <p:nvPr/>
        </p:nvSpPr>
        <p:spPr>
          <a:xfrm>
            <a:off x="822960" y="4297680"/>
            <a:ext cx="640080" cy="640080"/>
          </a:xfrm>
          <a:prstGeom prst="ellipse">
            <a:avLst/>
          </a:prstGeom>
          <a:solidFill>
            <a:srgbClr val="4E5A6B"/>
          </a:solidFill>
          <a:ln w="12700">
            <a:solidFill>
              <a:srgbClr val="4E5A6B"/>
            </a:solidFill>
            <a:prstDash val="solid"/>
          </a:ln>
        </p:spPr>
      </p:sp>
      <p:pic>
        <p:nvPicPr>
          <p:cNvPr id="20" name="Image 2" descr="preencoded.png">    </p:cNvPr>
          <p:cNvPicPr>
            <a:picLocks noChangeAspect="1"/>
          </p:cNvPicPr>
          <p:nvPr/>
        </p:nvPicPr>
        <p:blipFill>
          <a:blip r:embed="rId3"/>
          <a:stretch>
            <a:fillRect/>
          </a:stretch>
        </p:blipFill>
        <p:spPr>
          <a:xfrm>
            <a:off x="989381" y="4464101"/>
            <a:ext cx="307238" cy="307238"/>
          </a:xfrm>
          <a:prstGeom prst="rect">
            <a:avLst/>
          </a:prstGeom>
        </p:spPr>
      </p:pic>
      <p:sp>
        <p:nvSpPr>
          <p:cNvPr id="21" name="Text 16"/>
          <p:cNvSpPr txBox="1"/>
          <p:nvPr/>
        </p:nvSpPr>
        <p:spPr>
          <a:xfrm>
            <a:off x="1691640" y="427939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Tool scope — which tools</a:t>
            </a:r>
            <a:endParaRPr lang="en-US" sz="1600" dirty="0"/>
          </a:p>
        </p:txBody>
      </p:sp>
      <p:sp>
        <p:nvSpPr>
          <p:cNvPr id="22" name="Text 17"/>
          <p:cNvSpPr txBox="1"/>
          <p:nvPr/>
        </p:nvSpPr>
        <p:spPr>
          <a:xfrm>
            <a:off x="1691640" y="4663440"/>
            <a:ext cx="4114800" cy="274320"/>
          </a:xfrm>
          <a:prstGeom prst="rect">
            <a:avLst/>
          </a:prstGeom>
          <a:noFill/>
          <a:ln/>
        </p:spPr>
        <p:txBody>
          <a:bodyPr wrap="square" lIns="0" tIns="0" rIns="0" bIns="0" rtlCol="0" anchor="t"/>
          <a:lstStyle/>
          <a:p>
            <a:pPr algn="l" indent="0" marL="0">
              <a:buNone/>
            </a:pPr>
            <a:r>
              <a:rPr lang="en-US" sz="1150" b="1" dirty="0">
                <a:solidFill>
                  <a:srgbClr val="4E5A6B"/>
                </a:solidFill>
                <a:latin typeface="Courier New" pitchFamily="34" charset="0"/>
                <a:ea typeface="Courier New" pitchFamily="34" charset="-122"/>
                <a:cs typeface="Courier New" pitchFamily="34" charset="-120"/>
              </a:rPr>
              <a:t>toolScope</a:t>
            </a:r>
            <a:endParaRPr lang="en-US" sz="1150" dirty="0"/>
          </a:p>
        </p:txBody>
      </p:sp>
      <p:sp>
        <p:nvSpPr>
          <p:cNvPr id="23" name="Text 18"/>
          <p:cNvSpPr txBox="1"/>
          <p:nvPr/>
        </p:nvSpPr>
        <p:spPr>
          <a:xfrm>
            <a:off x="1691640" y="502920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Of everything the grants unlock, only find_files and read_file.</a:t>
            </a:r>
            <a:endParaRPr lang="en-US" sz="1400" dirty="0"/>
          </a:p>
        </p:txBody>
      </p:sp>
      <p:sp>
        <p:nvSpPr>
          <p:cNvPr id="24" name="Shape 19"/>
          <p:cNvSpPr/>
          <p:nvPr/>
        </p:nvSpPr>
        <p:spPr>
          <a:xfrm>
            <a:off x="6199632" y="4023360"/>
            <a:ext cx="5440680" cy="1828800"/>
          </a:xfrm>
          <a:prstGeom prst="roundRect">
            <a:avLst>
              <a:gd name="adj" fmla="val 5000"/>
            </a:avLst>
          </a:prstGeom>
          <a:solidFill>
            <a:srgbClr val="F3F5F8"/>
          </a:solidFill>
          <a:ln w="12700">
            <a:solidFill>
              <a:srgbClr val="F3F5F8"/>
            </a:solidFill>
            <a:prstDash val="solid"/>
          </a:ln>
        </p:spPr>
      </p:sp>
      <p:sp>
        <p:nvSpPr>
          <p:cNvPr id="25" name="Shape 20"/>
          <p:cNvSpPr/>
          <p:nvPr/>
        </p:nvSpPr>
        <p:spPr>
          <a:xfrm>
            <a:off x="6473952" y="4297680"/>
            <a:ext cx="640080" cy="640080"/>
          </a:xfrm>
          <a:prstGeom prst="ellipse">
            <a:avLst/>
          </a:prstGeom>
          <a:solidFill>
            <a:srgbClr val="0D5C55"/>
          </a:solidFill>
          <a:ln w="12700">
            <a:solidFill>
              <a:srgbClr val="0D5C55"/>
            </a:solidFill>
            <a:prstDash val="solid"/>
          </a:ln>
        </p:spPr>
      </p:sp>
      <p:pic>
        <p:nvPicPr>
          <p:cNvPr id="26" name="Image 3" descr="preencoded.png">    </p:cNvPr>
          <p:cNvPicPr>
            <a:picLocks noChangeAspect="1"/>
          </p:cNvPicPr>
          <p:nvPr/>
        </p:nvPicPr>
        <p:blipFill>
          <a:blip r:embed="rId4"/>
          <a:stretch>
            <a:fillRect/>
          </a:stretch>
        </p:blipFill>
        <p:spPr>
          <a:xfrm>
            <a:off x="6640373" y="4464101"/>
            <a:ext cx="307238" cy="307238"/>
          </a:xfrm>
          <a:prstGeom prst="rect">
            <a:avLst/>
          </a:prstGeom>
        </p:spPr>
      </p:pic>
      <p:sp>
        <p:nvSpPr>
          <p:cNvPr id="27" name="Text 21"/>
          <p:cNvSpPr txBox="1"/>
          <p:nvPr/>
        </p:nvSpPr>
        <p:spPr>
          <a:xfrm>
            <a:off x="7342632" y="427939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Tool permission — how</a:t>
            </a:r>
            <a:endParaRPr lang="en-US" sz="1600" dirty="0"/>
          </a:p>
        </p:txBody>
      </p:sp>
      <p:sp>
        <p:nvSpPr>
          <p:cNvPr id="28" name="Text 22"/>
          <p:cNvSpPr txBox="1"/>
          <p:nvPr/>
        </p:nvSpPr>
        <p:spPr>
          <a:xfrm>
            <a:off x="7342632" y="4663440"/>
            <a:ext cx="4114800" cy="274320"/>
          </a:xfrm>
          <a:prstGeom prst="rect">
            <a:avLst/>
          </a:prstGeom>
          <a:noFill/>
          <a:ln/>
        </p:spPr>
        <p:txBody>
          <a:bodyPr wrap="square" lIns="0" tIns="0" rIns="0" bIns="0" rtlCol="0" anchor="t"/>
          <a:lstStyle/>
          <a:p>
            <a:pPr algn="l" indent="0" marL="0">
              <a:buNone/>
            </a:pPr>
            <a:r>
              <a:rPr lang="en-US" sz="1150" b="1" dirty="0">
                <a:solidFill>
                  <a:srgbClr val="0D5C55"/>
                </a:solidFill>
                <a:latin typeface="Courier New" pitchFamily="34" charset="0"/>
                <a:ea typeface="Courier New" pitchFamily="34" charset="-122"/>
                <a:cs typeface="Courier New" pitchFamily="34" charset="-120"/>
              </a:rPr>
              <a:t>toolPermissions: allow · ask · deny</a:t>
            </a:r>
            <a:endParaRPr lang="en-US" sz="1150" dirty="0"/>
          </a:p>
        </p:txBody>
      </p:sp>
      <p:sp>
        <p:nvSpPr>
          <p:cNvPr id="29" name="Text 23"/>
          <p:cNvSpPr txBox="1"/>
          <p:nvPr/>
        </p:nvSpPr>
        <p:spPr>
          <a:xfrm>
            <a:off x="7342632" y="502920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send_email always asks; list_files never does.</a:t>
            </a:r>
            <a:endParaRPr lang="en-US" sz="1400" dirty="0"/>
          </a:p>
        </p:txBody>
      </p:sp>
      <p:sp>
        <p:nvSpPr>
          <p:cNvPr id="30" name="Text 24"/>
          <p:cNvSpPr txBox="1"/>
          <p:nvPr/>
        </p:nvSpPr>
        <p:spPr>
          <a:xfrm>
            <a:off x="548640" y="5989320"/>
            <a:ext cx="10424160" cy="365760"/>
          </a:xfrm>
          <a:prstGeom prst="rect">
            <a:avLst/>
          </a:prstGeom>
          <a:noFill/>
          <a:ln/>
        </p:spPr>
        <p:txBody>
          <a:bodyPr wrap="square" lIns="0" tIns="0" rIns="0" bIns="0" rtlCol="0" anchor="t"/>
          <a:lstStyle/>
          <a:p>
            <a:pPr algn="l" indent="0" marL="0">
              <a:buNone/>
            </a:pPr>
            <a:r>
              <a:rPr lang="en-US" sz="1200" i="1" dirty="0">
                <a:solidFill>
                  <a:srgbClr val="5B6472"/>
                </a:solidFill>
                <a:latin typeface="Calibri" pitchFamily="34" charset="0"/>
                <a:ea typeface="Calibri" pitchFamily="34" charset="-122"/>
                <a:cs typeface="Calibri" pitchFamily="34" charset="-120"/>
              </a:rPr>
              <a:t>Delegation intersects parent and worker — most restrictive wins. Enforced both when tools are offered and at dispatch.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ASSEMBLY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What the model sees on every call</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Stable parts first, so a provider can reuse the cached prefix; anything that changes goes after them.</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18</a:t>
            </a:r>
            <a:endParaRPr lang="en-US" sz="1000" dirty="0"/>
          </a:p>
        </p:txBody>
      </p:sp>
      <p:sp>
        <p:nvSpPr>
          <p:cNvPr id="6" name="Text 4"/>
          <p:cNvSpPr txBox="1"/>
          <p:nvPr/>
        </p:nvSpPr>
        <p:spPr>
          <a:xfrm>
            <a:off x="1371600" y="2011680"/>
            <a:ext cx="5120640" cy="868680"/>
          </a:xfrm>
          <a:prstGeom prst="roundRect">
            <a:avLst>
              <a:gd name="adj" fmla="val 8421"/>
            </a:avLst>
          </a:prstGeom>
          <a:solidFill>
            <a:srgbClr val="4E5A6B"/>
          </a:solidFill>
          <a:ln w="12700">
            <a:solidFill>
              <a:srgbClr val="4E5A6B"/>
            </a:solidFill>
            <a:prstDash val="solid"/>
          </a:ln>
        </p:spPr>
        <p:txBody>
          <a:bodyPr wrap="square" lIns="38100" tIns="152400" rIns="152400" bIns="38100" rtlCol="0" anchor="ctr"/>
          <a:lstStyle/>
          <a:p>
            <a:pPr algn="l" indent="0" marL="0">
              <a:spcAft>
                <a:spcPts val="200"/>
              </a:spcAft>
              <a:buNone/>
            </a:pPr>
            <a:r>
              <a:rPr lang="en-US" sz="1350" b="1" dirty="0">
                <a:solidFill>
                  <a:srgbClr val="FFFFFF"/>
                </a:solidFill>
                <a:latin typeface="Arial" pitchFamily="34" charset="0"/>
                <a:ea typeface="Arial" pitchFamily="34" charset="-122"/>
                <a:cs typeface="Arial" pitchFamily="34" charset="-120"/>
              </a:rPr>
              <a:t>System prompt</a:t>
            </a:r>
            <a:endParaRPr lang="en-US" sz="1350" dirty="0"/>
          </a:p>
          <a:p>
            <a:pPr algn="l" indent="0" marL="0">
              <a:spcAft>
                <a:spcPts val="200"/>
              </a:spcAft>
              <a:buNone/>
            </a:pPr>
            <a:r>
              <a:rPr lang="en-US" sz="1150" dirty="0">
                <a:solidFill>
                  <a:srgbClr val="DDE2E8"/>
                </a:solidFill>
                <a:latin typeface="Calibri" pitchFamily="34" charset="0"/>
                <a:ea typeface="Calibri" pitchFamily="34" charset="-122"/>
                <a:cs typeface="Calibri" pitchFamily="34" charset="-120"/>
              </a:rPr>
              <a:t>session prompt · core rules · user memory (≤ 2,000 chars)</a:t>
            </a:r>
            <a:endParaRPr lang="en-US" sz="1350" dirty="0"/>
          </a:p>
        </p:txBody>
      </p:sp>
      <p:sp>
        <p:nvSpPr>
          <p:cNvPr id="7" name="Text 5"/>
          <p:cNvSpPr txBox="1"/>
          <p:nvPr/>
        </p:nvSpPr>
        <p:spPr>
          <a:xfrm>
            <a:off x="1371600" y="2990088"/>
            <a:ext cx="5120640" cy="731520"/>
          </a:xfrm>
          <a:prstGeom prst="roundRect">
            <a:avLst>
              <a:gd name="adj" fmla="val 10000"/>
            </a:avLst>
          </a:prstGeom>
          <a:solidFill>
            <a:srgbClr val="E9EDF2"/>
          </a:solidFill>
          <a:ln w="12700">
            <a:solidFill>
              <a:srgbClr val="E9EDF2"/>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Earlier turns</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from the database — windowed, older ones summarised</a:t>
            </a:r>
            <a:endParaRPr lang="en-US" sz="1350" dirty="0"/>
          </a:p>
        </p:txBody>
      </p:sp>
      <p:sp>
        <p:nvSpPr>
          <p:cNvPr id="8" name="Text 6"/>
          <p:cNvSpPr txBox="1"/>
          <p:nvPr/>
        </p:nvSpPr>
        <p:spPr>
          <a:xfrm>
            <a:off x="1371600" y="3831336"/>
            <a:ext cx="5120640" cy="731520"/>
          </a:xfrm>
          <a:prstGeom prst="roundRect">
            <a:avLst>
              <a:gd name="adj" fmla="val 10000"/>
            </a:avLst>
          </a:prstGeom>
          <a:solidFill>
            <a:srgbClr val="FDF0DE"/>
          </a:solidFill>
          <a:ln w="12700">
            <a:solidFill>
              <a:srgbClr val="FDF0DE"/>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Context update</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clock · approval mode · open plan items · what was trimmed</a:t>
            </a:r>
            <a:endParaRPr lang="en-US" sz="1350" dirty="0"/>
          </a:p>
        </p:txBody>
      </p:sp>
      <p:sp>
        <p:nvSpPr>
          <p:cNvPr id="9" name="Text 7"/>
          <p:cNvSpPr txBox="1"/>
          <p:nvPr/>
        </p:nvSpPr>
        <p:spPr>
          <a:xfrm>
            <a:off x="1371600" y="4672584"/>
            <a:ext cx="5120640" cy="502920"/>
          </a:xfrm>
          <a:prstGeom prst="roundRect">
            <a:avLst>
              <a:gd name="adj" fmla="val 14545"/>
            </a:avLst>
          </a:prstGeom>
          <a:solidFill>
            <a:srgbClr val="FFFFFF"/>
          </a:solidFill>
          <a:ln w="12700">
            <a:solidFill>
              <a:srgbClr val="D3D9E1"/>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Your message</a:t>
            </a:r>
            <a:endParaRPr lang="en-US" sz="1350" dirty="0"/>
          </a:p>
        </p:txBody>
      </p:sp>
      <p:sp>
        <p:nvSpPr>
          <p:cNvPr id="10" name="Text 8"/>
          <p:cNvSpPr txBox="1"/>
          <p:nvPr/>
        </p:nvSpPr>
        <p:spPr>
          <a:xfrm>
            <a:off x="1371600" y="5285232"/>
            <a:ext cx="5120640" cy="868680"/>
          </a:xfrm>
          <a:prstGeom prst="roundRect">
            <a:avLst>
              <a:gd name="adj" fmla="val 8421"/>
            </a:avLst>
          </a:prstGeom>
          <a:solidFill>
            <a:srgbClr val="E1F2F0"/>
          </a:solidFill>
          <a:ln w="12700">
            <a:solidFill>
              <a:srgbClr val="E1F2F0"/>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This turn's work</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tool calls and results — curated at 70% of the window</a:t>
            </a:r>
            <a:endParaRPr lang="en-US" sz="1350" dirty="0"/>
          </a:p>
        </p:txBody>
      </p:sp>
      <p:sp>
        <p:nvSpPr>
          <p:cNvPr id="11" name="Shape 9"/>
          <p:cNvSpPr/>
          <p:nvPr/>
        </p:nvSpPr>
        <p:spPr>
          <a:xfrm>
            <a:off x="1097280" y="2011680"/>
            <a:ext cx="0" cy="1709928"/>
          </a:xfrm>
          <a:prstGeom prst="line">
            <a:avLst/>
          </a:prstGeom>
          <a:noFill/>
          <a:ln w="25400">
            <a:solidFill>
              <a:srgbClr val="15877D"/>
            </a:solidFill>
            <a:prstDash val="solid"/>
          </a:ln>
        </p:spPr>
      </p:sp>
      <p:sp>
        <p:nvSpPr>
          <p:cNvPr id="12" name="Text 10"/>
          <p:cNvSpPr txBox="1"/>
          <p:nvPr/>
        </p:nvSpPr>
        <p:spPr>
          <a:xfrm>
            <a:off x="411480" y="2560320"/>
            <a:ext cx="640080" cy="548640"/>
          </a:xfrm>
          <a:prstGeom prst="rect">
            <a:avLst/>
          </a:prstGeom>
          <a:noFill/>
          <a:ln/>
        </p:spPr>
        <p:txBody>
          <a:bodyPr wrap="square" lIns="0" tIns="0" rIns="0" bIns="0" rtlCol="0" anchor="t"/>
          <a:lstStyle/>
          <a:p>
            <a:pPr algn="r" indent="0" marL="0">
              <a:buNone/>
            </a:pPr>
            <a:r>
              <a:rPr lang="en-US" sz="1050" i="1" dirty="0">
                <a:solidFill>
                  <a:srgbClr val="0D5C55"/>
                </a:solidFill>
                <a:latin typeface="Calibri" pitchFamily="34" charset="0"/>
                <a:ea typeface="Calibri" pitchFamily="34" charset="-122"/>
                <a:cs typeface="Calibri" pitchFamily="34" charset="-120"/>
              </a:rPr>
              <a:t>stable</a:t>
            </a:r>
            <a:endParaRPr lang="en-US" sz="1050" dirty="0"/>
          </a:p>
          <a:p>
            <a:pPr algn="r" indent="0" marL="0">
              <a:buNone/>
            </a:pPr>
            <a:r>
              <a:rPr lang="en-US" sz="1050" i="1" dirty="0">
                <a:solidFill>
                  <a:srgbClr val="0D5C55"/>
                </a:solidFill>
                <a:latin typeface="Calibri" pitchFamily="34" charset="0"/>
                <a:ea typeface="Calibri" pitchFamily="34" charset="-122"/>
                <a:cs typeface="Calibri" pitchFamily="34" charset="-120"/>
              </a:rPr>
              <a:t>cached</a:t>
            </a:r>
            <a:endParaRPr lang="en-US" sz="1050" dirty="0"/>
          </a:p>
        </p:txBody>
      </p:sp>
      <p:sp>
        <p:nvSpPr>
          <p:cNvPr id="13" name="Shape 11"/>
          <p:cNvSpPr/>
          <p:nvPr/>
        </p:nvSpPr>
        <p:spPr>
          <a:xfrm>
            <a:off x="1097280" y="3831336"/>
            <a:ext cx="0" cy="2340864"/>
          </a:xfrm>
          <a:prstGeom prst="line">
            <a:avLst/>
          </a:prstGeom>
          <a:noFill/>
          <a:ln w="25400">
            <a:solidFill>
              <a:srgbClr val="E08A1E"/>
            </a:solidFill>
            <a:prstDash val="solid"/>
          </a:ln>
        </p:spPr>
      </p:sp>
      <p:sp>
        <p:nvSpPr>
          <p:cNvPr id="14" name="Text 12"/>
          <p:cNvSpPr txBox="1"/>
          <p:nvPr/>
        </p:nvSpPr>
        <p:spPr>
          <a:xfrm>
            <a:off x="320040" y="4663440"/>
            <a:ext cx="731520" cy="548640"/>
          </a:xfrm>
          <a:prstGeom prst="rect">
            <a:avLst/>
          </a:prstGeom>
          <a:noFill/>
          <a:ln/>
        </p:spPr>
        <p:txBody>
          <a:bodyPr wrap="square" lIns="0" tIns="0" rIns="0" bIns="0" rtlCol="0" anchor="t"/>
          <a:lstStyle/>
          <a:p>
            <a:pPr algn="r" indent="0" marL="0">
              <a:buNone/>
            </a:pPr>
            <a:r>
              <a:rPr lang="en-US" sz="1050" i="1" dirty="0">
                <a:solidFill>
                  <a:srgbClr val="9A5A0C"/>
                </a:solidFill>
                <a:latin typeface="Calibri" pitchFamily="34" charset="0"/>
                <a:ea typeface="Calibri" pitchFamily="34" charset="-122"/>
                <a:cs typeface="Calibri" pitchFamily="34" charset="-120"/>
              </a:rPr>
              <a:t>changes</a:t>
            </a:r>
            <a:endParaRPr lang="en-US" sz="1050" dirty="0"/>
          </a:p>
          <a:p>
            <a:pPr algn="r" indent="0" marL="0">
              <a:buNone/>
            </a:pPr>
            <a:r>
              <a:rPr lang="en-US" sz="1050" i="1" dirty="0">
                <a:solidFill>
                  <a:srgbClr val="9A5A0C"/>
                </a:solidFill>
                <a:latin typeface="Calibri" pitchFamily="34" charset="0"/>
                <a:ea typeface="Calibri" pitchFamily="34" charset="-122"/>
                <a:cs typeface="Calibri" pitchFamily="34" charset="-120"/>
              </a:rPr>
              <a:t>each turn</a:t>
            </a:r>
            <a:endParaRPr lang="en-US" sz="1050" dirty="0"/>
          </a:p>
        </p:txBody>
      </p:sp>
      <p:sp>
        <p:nvSpPr>
          <p:cNvPr id="15" name="Text 13"/>
          <p:cNvSpPr txBox="1"/>
          <p:nvPr/>
        </p:nvSpPr>
        <p:spPr>
          <a:xfrm>
            <a:off x="7132320" y="2011680"/>
            <a:ext cx="457200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Outside the window, one tool call away</a:t>
            </a:r>
            <a:endParaRPr lang="en-US" sz="1400" dirty="0"/>
          </a:p>
        </p:txBody>
      </p:sp>
      <p:sp>
        <p:nvSpPr>
          <p:cNvPr id="16" name="Shape 14"/>
          <p:cNvSpPr/>
          <p:nvPr/>
        </p:nvSpPr>
        <p:spPr>
          <a:xfrm>
            <a:off x="7132320" y="2514600"/>
            <a:ext cx="502920" cy="502920"/>
          </a:xfrm>
          <a:prstGeom prst="ellipse">
            <a:avLst/>
          </a:prstGeom>
          <a:solidFill>
            <a:srgbClr val="E08A1E"/>
          </a:solidFill>
          <a:ln w="12700">
            <a:solidFill>
              <a:srgbClr val="E08A1E"/>
            </a:solidFill>
            <a:prstDash val="solid"/>
          </a:ln>
        </p:spPr>
      </p:sp>
      <p:pic>
        <p:nvPicPr>
          <p:cNvPr id="17" name="Image 0" descr="preencoded.png">    </p:cNvPr>
          <p:cNvPicPr>
            <a:picLocks noChangeAspect="1"/>
          </p:cNvPicPr>
          <p:nvPr/>
        </p:nvPicPr>
        <p:blipFill>
          <a:blip r:embed="rId1"/>
          <a:stretch>
            <a:fillRect/>
          </a:stretch>
        </p:blipFill>
        <p:spPr>
          <a:xfrm>
            <a:off x="7263079" y="2645359"/>
            <a:ext cx="241402" cy="241402"/>
          </a:xfrm>
          <a:prstGeom prst="rect">
            <a:avLst/>
          </a:prstGeom>
        </p:spPr>
      </p:pic>
      <p:sp>
        <p:nvSpPr>
          <p:cNvPr id="18" name="Text 15"/>
          <p:cNvSpPr txBox="1"/>
          <p:nvPr/>
        </p:nvSpPr>
        <p:spPr>
          <a:xfrm>
            <a:off x="7818120" y="24963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The plan</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kept in turn metadata — curation never touches it</a:t>
            </a:r>
            <a:endParaRPr lang="en-US" sz="1350" dirty="0"/>
          </a:p>
        </p:txBody>
      </p:sp>
      <p:sp>
        <p:nvSpPr>
          <p:cNvPr id="19" name="Shape 16"/>
          <p:cNvSpPr/>
          <p:nvPr/>
        </p:nvSpPr>
        <p:spPr>
          <a:xfrm>
            <a:off x="7132320" y="3429000"/>
            <a:ext cx="502920" cy="502920"/>
          </a:xfrm>
          <a:prstGeom prst="ellipse">
            <a:avLst/>
          </a:prstGeom>
          <a:solidFill>
            <a:srgbClr val="15877D"/>
          </a:solidFill>
          <a:ln w="12700">
            <a:solidFill>
              <a:srgbClr val="15877D"/>
            </a:solidFill>
            <a:prstDash val="solid"/>
          </a:ln>
        </p:spPr>
      </p:sp>
      <p:pic>
        <p:nvPicPr>
          <p:cNvPr id="20" name="Image 1" descr="preencoded.png">    </p:cNvPr>
          <p:cNvPicPr>
            <a:picLocks noChangeAspect="1"/>
          </p:cNvPicPr>
          <p:nvPr/>
        </p:nvPicPr>
        <p:blipFill>
          <a:blip r:embed="rId2"/>
          <a:stretch>
            <a:fillRect/>
          </a:stretch>
        </p:blipFill>
        <p:spPr>
          <a:xfrm>
            <a:off x="7263079" y="3559759"/>
            <a:ext cx="241402" cy="241402"/>
          </a:xfrm>
          <a:prstGeom prst="rect">
            <a:avLst/>
          </a:prstGeom>
        </p:spPr>
      </p:pic>
      <p:sp>
        <p:nvSpPr>
          <p:cNvPr id="21" name="Text 17"/>
          <p:cNvSpPr txBox="1"/>
          <p:nvPr/>
        </p:nvSpPr>
        <p:spPr>
          <a:xfrm>
            <a:off x="7818120" y="34107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The archive</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everything curated away or oversized: recall_context, read_tool_output</a:t>
            </a:r>
            <a:endParaRPr lang="en-US" sz="1350" dirty="0"/>
          </a:p>
        </p:txBody>
      </p:sp>
      <p:sp>
        <p:nvSpPr>
          <p:cNvPr id="22" name="Shape 18"/>
          <p:cNvSpPr/>
          <p:nvPr/>
        </p:nvSpPr>
        <p:spPr>
          <a:xfrm>
            <a:off x="7132320" y="4343400"/>
            <a:ext cx="502920" cy="502920"/>
          </a:xfrm>
          <a:prstGeom prst="ellipse">
            <a:avLst/>
          </a:prstGeom>
          <a:solidFill>
            <a:srgbClr val="4E5A6B"/>
          </a:solidFill>
          <a:ln w="12700">
            <a:solidFill>
              <a:srgbClr val="4E5A6B"/>
            </a:solidFill>
            <a:prstDash val="solid"/>
          </a:ln>
        </p:spPr>
      </p:sp>
      <p:pic>
        <p:nvPicPr>
          <p:cNvPr id="23" name="Image 2" descr="preencoded.png">    </p:cNvPr>
          <p:cNvPicPr>
            <a:picLocks noChangeAspect="1"/>
          </p:cNvPicPr>
          <p:nvPr/>
        </p:nvPicPr>
        <p:blipFill>
          <a:blip r:embed="rId3"/>
          <a:stretch>
            <a:fillRect/>
          </a:stretch>
        </p:blipFill>
        <p:spPr>
          <a:xfrm>
            <a:off x="7263079" y="4474159"/>
            <a:ext cx="241402" cy="241402"/>
          </a:xfrm>
          <a:prstGeom prst="rect">
            <a:avLst/>
          </a:prstGeom>
        </p:spPr>
      </p:pic>
      <p:sp>
        <p:nvSpPr>
          <p:cNvPr id="24" name="Text 19"/>
          <p:cNvSpPr txBox="1"/>
          <p:nvPr/>
        </p:nvSpPr>
        <p:spPr>
          <a:xfrm>
            <a:off x="7818120" y="43251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Files</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read_file, find_files over the virtual filesystem</a:t>
            </a:r>
            <a:endParaRPr lang="en-US" sz="1350" dirty="0"/>
          </a:p>
        </p:txBody>
      </p:sp>
      <p:sp>
        <p:nvSpPr>
          <p:cNvPr id="25" name="Shape 20"/>
          <p:cNvSpPr/>
          <p:nvPr/>
        </p:nvSpPr>
        <p:spPr>
          <a:xfrm>
            <a:off x="7132320" y="5257800"/>
            <a:ext cx="502920" cy="502920"/>
          </a:xfrm>
          <a:prstGeom prst="ellipse">
            <a:avLst/>
          </a:prstGeom>
          <a:solidFill>
            <a:srgbClr val="0D5C55"/>
          </a:solidFill>
          <a:ln w="12700">
            <a:solidFill>
              <a:srgbClr val="0D5C55"/>
            </a:solidFill>
            <a:prstDash val="solid"/>
          </a:ln>
        </p:spPr>
      </p:sp>
      <p:pic>
        <p:nvPicPr>
          <p:cNvPr id="26" name="Image 3" descr="preencoded.png">    </p:cNvPr>
          <p:cNvPicPr>
            <a:picLocks noChangeAspect="1"/>
          </p:cNvPicPr>
          <p:nvPr/>
        </p:nvPicPr>
        <p:blipFill>
          <a:blip r:embed="rId4"/>
          <a:stretch>
            <a:fillRect/>
          </a:stretch>
        </p:blipFill>
        <p:spPr>
          <a:xfrm>
            <a:off x="7263079" y="5388559"/>
            <a:ext cx="241402" cy="241402"/>
          </a:xfrm>
          <a:prstGeom prst="rect">
            <a:avLst/>
          </a:prstGeom>
        </p:spPr>
      </p:pic>
      <p:sp>
        <p:nvSpPr>
          <p:cNvPr id="27" name="Text 21"/>
          <p:cNvSpPr txBox="1"/>
          <p:nvPr/>
        </p:nvSpPr>
        <p:spPr>
          <a:xfrm>
            <a:off x="7818120" y="52395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Solutions</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what the organisation already solved: search_solutions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CURATION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Long runs curate their own transcript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An agent may take 40 iterations with results up to 64k characters each. Without curation, the run does not degrade — it dies.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19</a:t>
            </a:r>
            <a:endParaRPr lang="en-US" sz="1000" dirty="0"/>
          </a:p>
        </p:txBody>
      </p:sp>
      <p:graphicFrame>
        <p:nvGraphicFramePr>
          <p:cNvPr id="6" name="Chart 0" descr=""/>
          <p:cNvGraphicFramePr/>
          <p:nvPr/>
        </p:nvGraphicFramePr>
        <p:xfrm>
          <a:off x="457200" y="201168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6035040"/>
            <a:ext cx="6675120" cy="256032"/>
          </a:xfrm>
          <a:prstGeom prst="rect">
            <a:avLst/>
          </a:prstGeom>
          <a:noFill/>
          <a:ln/>
        </p:spPr>
        <p:txBody>
          <a:bodyPr wrap="square" lIns="0" tIns="0" rIns="0" bIns="0" rtlCol="0" anchor="t"/>
          <a:lstStyle/>
          <a:p>
            <a:pPr algn="l" indent="0" marL="0">
              <a:buNone/>
            </a:pPr>
            <a:r>
              <a:rPr lang="en-US" sz="1050" i="1" dirty="0">
                <a:solidFill>
                  <a:srgbClr val="8A93A1"/>
                </a:solidFill>
                <a:latin typeface="Calibri" pitchFamily="34" charset="0"/>
                <a:ea typeface="Calibri" pitchFamily="34" charset="-122"/>
                <a:cs typeface="Calibri" pitchFamily="34" charset="-120"/>
              </a:rPr>
              <a:t>Illustrative shape, not a measurement</a:t>
            </a:r>
            <a:endParaRPr lang="en-US" sz="1050" dirty="0"/>
          </a:p>
        </p:txBody>
      </p:sp>
      <p:sp>
        <p:nvSpPr>
          <p:cNvPr id="8" name="Text 5"/>
          <p:cNvSpPr txBox="1"/>
          <p:nvPr/>
        </p:nvSpPr>
        <p:spPr>
          <a:xfrm>
            <a:off x="7818120" y="2148840"/>
            <a:ext cx="3840480" cy="393192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Cut whole segments</a:t>
            </a:r>
            <a:endParaRPr lang="en-US" sz="1450" dirty="0"/>
          </a:p>
          <a:p>
            <a:pPr indent="0" marL="0">
              <a:spcAft>
                <a:spcPts val="1400"/>
              </a:spcAft>
              <a:buNone/>
            </a:pPr>
            <a:r>
              <a:rPr lang="en-US" sz="1250" dirty="0">
                <a:solidFill>
                  <a:srgbClr val="5B6472"/>
                </a:solidFill>
                <a:latin typeface="Calibri" pitchFamily="34" charset="0"/>
                <a:ea typeface="Calibri" pitchFamily="34" charset="-122"/>
                <a:cs typeface="Calibri" pitchFamily="34" charset="-120"/>
              </a:rPr>
              <a:t>An assistant tool-call turn and its results leave together. A dangling tool_call_id is a provider 400.</a:t>
            </a:r>
            <a:endParaRPr lang="en-US" sz="1450" dirty="0"/>
          </a:p>
          <a:p>
            <a:pPr indent="0" marL="0">
              <a:buNone/>
            </a:pPr>
            <a:r>
              <a:rPr lang="en-US" sz="1450" b="1" dirty="0">
                <a:solidFill>
                  <a:srgbClr val="1C212B"/>
                </a:solidFill>
                <a:latin typeface="Arial" pitchFamily="34" charset="0"/>
                <a:ea typeface="Arial" pitchFamily="34" charset="-122"/>
                <a:cs typeface="Arial" pitchFamily="34" charset="-120"/>
              </a:rPr>
              <a:t>Fire at a watermark</a:t>
            </a:r>
            <a:endParaRPr lang="en-US" sz="1450" dirty="0"/>
          </a:p>
          <a:p>
            <a:pPr indent="0" marL="0">
              <a:spcAft>
                <a:spcPts val="1400"/>
              </a:spcAft>
              <a:buNone/>
            </a:pPr>
            <a:r>
              <a:rPr lang="en-US" sz="1250" dirty="0">
                <a:solidFill>
                  <a:srgbClr val="5B6472"/>
                </a:solidFill>
                <a:latin typeface="Calibri" pitchFamily="34" charset="0"/>
                <a:ea typeface="Calibri" pitchFamily="34" charset="-122"/>
                <a:cs typeface="Calibri" pitchFamily="34" charset="-120"/>
              </a:rPr>
              <a:t>At 70%, cut to 45%. Curating every turn would rewrite the prefix and forfeit prompt caching.</a:t>
            </a:r>
            <a:endParaRPr lang="en-US" sz="1450" dirty="0"/>
          </a:p>
          <a:p>
            <a:pPr indent="0" marL="0">
              <a:buNone/>
            </a:pPr>
            <a:r>
              <a:rPr lang="en-US" sz="1450" b="1" dirty="0">
                <a:solidFill>
                  <a:srgbClr val="1C212B"/>
                </a:solidFill>
                <a:latin typeface="Arial" pitchFamily="34" charset="0"/>
                <a:ea typeface="Arial" pitchFamily="34" charset="-122"/>
                <a:cs typeface="Arial" pitchFamily="34" charset="-120"/>
              </a:rPr>
              <a:t>Keep what is cut</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Removed text is archived; recall_context and read_tool_output fetch it back.</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A BUG WORTH TELLING</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Chat was sending every earlier turn twice</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Every unit test passed. A test of what actually reached the provider on turn 3 did not.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20</a:t>
            </a:r>
            <a:endParaRPr lang="en-US" sz="1000" dirty="0"/>
          </a:p>
        </p:txBody>
      </p:sp>
      <p:sp>
        <p:nvSpPr>
          <p:cNvPr id="6" name="Text 4"/>
          <p:cNvSpPr txBox="1"/>
          <p:nvPr/>
        </p:nvSpPr>
        <p:spPr>
          <a:xfrm>
            <a:off x="548640" y="2057400"/>
            <a:ext cx="2743200" cy="27432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Turn 3, before</a:t>
            </a:r>
            <a:endParaRPr lang="en-US" sz="1350" dirty="0"/>
          </a:p>
        </p:txBody>
      </p:sp>
      <p:sp>
        <p:nvSpPr>
          <p:cNvPr id="7" name="Text 5"/>
          <p:cNvSpPr txBox="1"/>
          <p:nvPr/>
        </p:nvSpPr>
        <p:spPr>
          <a:xfrm>
            <a:off x="548640" y="2423160"/>
            <a:ext cx="731520" cy="685800"/>
          </a:xfrm>
          <a:prstGeom prst="rect">
            <a:avLst/>
          </a:prstGeom>
          <a:solidFill>
            <a:srgbClr val="4E5A6B"/>
          </a:solidFill>
          <a:ln w="19050">
            <a:solidFill>
              <a:srgbClr val="FFFFFF"/>
            </a:solidFill>
          </a:ln>
        </p:spPr>
        <p:txBody>
          <a:bodyPr wrap="square" lIns="25400" tIns="25400" rIns="25400" bIns="254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system</a:t>
            </a:r>
            <a:endParaRPr lang="en-US" sz="1050" dirty="0"/>
          </a:p>
        </p:txBody>
      </p:sp>
      <p:sp>
        <p:nvSpPr>
          <p:cNvPr id="8" name="Text 6"/>
          <p:cNvSpPr txBox="1"/>
          <p:nvPr/>
        </p:nvSpPr>
        <p:spPr>
          <a:xfrm>
            <a:off x="1280160" y="2423160"/>
            <a:ext cx="1188720" cy="685800"/>
          </a:xfrm>
          <a:prstGeom prst="rect">
            <a:avLst/>
          </a:prstGeom>
          <a:solidFill>
            <a:srgbClr val="E9EDF2"/>
          </a:solidFill>
          <a:ln w="19050">
            <a:solidFill>
              <a:srgbClr val="FFFFFF"/>
            </a:solidFill>
          </a:ln>
        </p:spPr>
        <p:txBody>
          <a:bodyPr wrap="square" lIns="25400" tIns="25400" rIns="25400" bIns="25400" rtlCol="0" anchor="ctr"/>
          <a:lstStyle/>
          <a:p>
            <a:pPr algn="ctr" indent="0" marL="0">
              <a:buNone/>
            </a:pPr>
            <a:r>
              <a:rPr lang="en-US" sz="1050" dirty="0">
                <a:solidFill>
                  <a:srgbClr val="1C212B"/>
                </a:solidFill>
                <a:latin typeface="Calibri" pitchFamily="34" charset="0"/>
                <a:ea typeface="Calibri" pitchFamily="34" charset="-122"/>
                <a:cs typeface="Calibri" pitchFamily="34" charset="-120"/>
              </a:rPr>
              <a:t>turns 1–2</a:t>
            </a:r>
            <a:endParaRPr lang="en-US" sz="1050" dirty="0"/>
          </a:p>
          <a:p>
            <a:pPr algn="ctr" indent="0" marL="0">
              <a:buNone/>
            </a:pPr>
            <a:r>
              <a:rPr lang="en-US" sz="1050" dirty="0">
                <a:solidFill>
                  <a:srgbClr val="1C212B"/>
                </a:solidFill>
                <a:latin typeface="Calibri" pitchFamily="34" charset="0"/>
                <a:ea typeface="Calibri" pitchFamily="34" charset="-122"/>
                <a:cs typeface="Calibri" pitchFamily="34" charset="-120"/>
              </a:rPr>
              <a:t>(from DB)</a:t>
            </a:r>
            <a:endParaRPr lang="en-US" sz="1050" dirty="0"/>
          </a:p>
        </p:txBody>
      </p:sp>
      <p:sp>
        <p:nvSpPr>
          <p:cNvPr id="9" name="Text 7"/>
          <p:cNvSpPr txBox="1"/>
          <p:nvPr/>
        </p:nvSpPr>
        <p:spPr>
          <a:xfrm>
            <a:off x="2468880" y="2423160"/>
            <a:ext cx="1645920" cy="685800"/>
          </a:xfrm>
          <a:prstGeom prst="rect">
            <a:avLst/>
          </a:prstGeom>
          <a:solidFill>
            <a:srgbClr val="C4433A"/>
          </a:solidFill>
          <a:ln w="19050">
            <a:solidFill>
              <a:srgbClr val="FFFFFF"/>
            </a:solidFill>
          </a:ln>
        </p:spPr>
        <p:txBody>
          <a:bodyPr wrap="square" lIns="25400" tIns="25400" rIns="25400" bIns="254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turn 1 again — every tool call</a:t>
            </a:r>
            <a:endParaRPr lang="en-US" sz="1050" dirty="0"/>
          </a:p>
        </p:txBody>
      </p:sp>
      <p:sp>
        <p:nvSpPr>
          <p:cNvPr id="10" name="Text 8"/>
          <p:cNvSpPr txBox="1"/>
          <p:nvPr/>
        </p:nvSpPr>
        <p:spPr>
          <a:xfrm>
            <a:off x="4114800" y="2423160"/>
            <a:ext cx="1554480" cy="685800"/>
          </a:xfrm>
          <a:prstGeom prst="rect">
            <a:avLst/>
          </a:prstGeom>
          <a:solidFill>
            <a:srgbClr val="C4433A"/>
          </a:solidFill>
          <a:ln w="19050">
            <a:solidFill>
              <a:srgbClr val="FFFFFF"/>
            </a:solidFill>
          </a:ln>
        </p:spPr>
        <p:txBody>
          <a:bodyPr wrap="square" lIns="25400" tIns="25400" rIns="25400" bIns="254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turn 2 again — every tool call</a:t>
            </a:r>
            <a:endParaRPr lang="en-US" sz="1050" dirty="0"/>
          </a:p>
        </p:txBody>
      </p:sp>
      <p:sp>
        <p:nvSpPr>
          <p:cNvPr id="11" name="Text 9"/>
          <p:cNvSpPr txBox="1"/>
          <p:nvPr/>
        </p:nvSpPr>
        <p:spPr>
          <a:xfrm>
            <a:off x="5669280" y="2423160"/>
            <a:ext cx="914400" cy="685800"/>
          </a:xfrm>
          <a:prstGeom prst="rect">
            <a:avLst/>
          </a:prstGeom>
          <a:solidFill>
            <a:srgbClr val="E1F2F0"/>
          </a:solidFill>
          <a:ln w="19050">
            <a:solidFill>
              <a:srgbClr val="FFFFFF"/>
            </a:solidFill>
          </a:ln>
        </p:spPr>
        <p:txBody>
          <a:bodyPr wrap="square" lIns="25400" tIns="25400" rIns="25400" bIns="25400" rtlCol="0" anchor="ctr"/>
          <a:lstStyle/>
          <a:p>
            <a:pPr algn="ctr" indent="0" marL="0">
              <a:buNone/>
            </a:pPr>
            <a:r>
              <a:rPr lang="en-US" sz="1050" dirty="0">
                <a:solidFill>
                  <a:srgbClr val="1C212B"/>
                </a:solidFill>
                <a:latin typeface="Calibri" pitchFamily="34" charset="0"/>
                <a:ea typeface="Calibri" pitchFamily="34" charset="-122"/>
                <a:cs typeface="Calibri" pitchFamily="34" charset="-120"/>
              </a:rPr>
              <a:t>turn 3</a:t>
            </a:r>
            <a:endParaRPr lang="en-US" sz="1050" dirty="0"/>
          </a:p>
        </p:txBody>
      </p:sp>
      <p:sp>
        <p:nvSpPr>
          <p:cNvPr id="12" name="Text 10"/>
          <p:cNvSpPr txBox="1"/>
          <p:nvPr/>
        </p:nvSpPr>
        <p:spPr>
          <a:xfrm>
            <a:off x="548640" y="3611880"/>
            <a:ext cx="2743200" cy="27432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Turn 3, after</a:t>
            </a:r>
            <a:endParaRPr lang="en-US" sz="1350" dirty="0"/>
          </a:p>
        </p:txBody>
      </p:sp>
      <p:sp>
        <p:nvSpPr>
          <p:cNvPr id="13" name="Text 11"/>
          <p:cNvSpPr txBox="1"/>
          <p:nvPr/>
        </p:nvSpPr>
        <p:spPr>
          <a:xfrm>
            <a:off x="548640" y="3977640"/>
            <a:ext cx="731520" cy="685800"/>
          </a:xfrm>
          <a:prstGeom prst="rect">
            <a:avLst/>
          </a:prstGeom>
          <a:solidFill>
            <a:srgbClr val="4E5A6B"/>
          </a:solidFill>
          <a:ln w="19050">
            <a:solidFill>
              <a:srgbClr val="FFFFFF"/>
            </a:solidFill>
          </a:ln>
        </p:spPr>
        <p:txBody>
          <a:bodyPr wrap="square" lIns="25400" tIns="25400" rIns="25400" bIns="2540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system</a:t>
            </a:r>
            <a:endParaRPr lang="en-US" sz="1050" dirty="0"/>
          </a:p>
        </p:txBody>
      </p:sp>
      <p:sp>
        <p:nvSpPr>
          <p:cNvPr id="14" name="Text 12"/>
          <p:cNvSpPr txBox="1"/>
          <p:nvPr/>
        </p:nvSpPr>
        <p:spPr>
          <a:xfrm>
            <a:off x="1280160" y="3977640"/>
            <a:ext cx="1188720" cy="685800"/>
          </a:xfrm>
          <a:prstGeom prst="rect">
            <a:avLst/>
          </a:prstGeom>
          <a:solidFill>
            <a:srgbClr val="E9EDF2"/>
          </a:solidFill>
          <a:ln w="19050">
            <a:solidFill>
              <a:srgbClr val="FFFFFF"/>
            </a:solidFill>
          </a:ln>
        </p:spPr>
        <p:txBody>
          <a:bodyPr wrap="square" lIns="25400" tIns="25400" rIns="25400" bIns="25400" rtlCol="0" anchor="ctr"/>
          <a:lstStyle/>
          <a:p>
            <a:pPr algn="ctr" indent="0" marL="0">
              <a:buNone/>
            </a:pPr>
            <a:r>
              <a:rPr lang="en-US" sz="1050" dirty="0">
                <a:solidFill>
                  <a:srgbClr val="1C212B"/>
                </a:solidFill>
                <a:latin typeface="Calibri" pitchFamily="34" charset="0"/>
                <a:ea typeface="Calibri" pitchFamily="34" charset="-122"/>
                <a:cs typeface="Calibri" pitchFamily="34" charset="-120"/>
              </a:rPr>
              <a:t>turns 1–2</a:t>
            </a:r>
            <a:endParaRPr lang="en-US" sz="1050" dirty="0"/>
          </a:p>
          <a:p>
            <a:pPr algn="ctr" indent="0" marL="0">
              <a:buNone/>
            </a:pPr>
            <a:r>
              <a:rPr lang="en-US" sz="1050" dirty="0">
                <a:solidFill>
                  <a:srgbClr val="1C212B"/>
                </a:solidFill>
                <a:latin typeface="Calibri" pitchFamily="34" charset="0"/>
                <a:ea typeface="Calibri" pitchFamily="34" charset="-122"/>
                <a:cs typeface="Calibri" pitchFamily="34" charset="-120"/>
              </a:rPr>
              <a:t>(from DB)</a:t>
            </a:r>
            <a:endParaRPr lang="en-US" sz="1050" dirty="0"/>
          </a:p>
        </p:txBody>
      </p:sp>
      <p:sp>
        <p:nvSpPr>
          <p:cNvPr id="15" name="Text 13"/>
          <p:cNvSpPr txBox="1"/>
          <p:nvPr/>
        </p:nvSpPr>
        <p:spPr>
          <a:xfrm>
            <a:off x="2468880" y="3977640"/>
            <a:ext cx="914400" cy="685800"/>
          </a:xfrm>
          <a:prstGeom prst="rect">
            <a:avLst/>
          </a:prstGeom>
          <a:solidFill>
            <a:srgbClr val="E1F2F0"/>
          </a:solidFill>
          <a:ln w="19050">
            <a:solidFill>
              <a:srgbClr val="FFFFFF"/>
            </a:solidFill>
          </a:ln>
        </p:spPr>
        <p:txBody>
          <a:bodyPr wrap="square" lIns="25400" tIns="25400" rIns="25400" bIns="25400" rtlCol="0" anchor="ctr"/>
          <a:lstStyle/>
          <a:p>
            <a:pPr algn="ctr" indent="0" marL="0">
              <a:buNone/>
            </a:pPr>
            <a:r>
              <a:rPr lang="en-US" sz="1050" dirty="0">
                <a:solidFill>
                  <a:srgbClr val="1C212B"/>
                </a:solidFill>
                <a:latin typeface="Calibri" pitchFamily="34" charset="0"/>
                <a:ea typeface="Calibri" pitchFamily="34" charset="-122"/>
                <a:cs typeface="Calibri" pitchFamily="34" charset="-120"/>
              </a:rPr>
              <a:t>turn 3</a:t>
            </a:r>
            <a:endParaRPr lang="en-US" sz="1050" dirty="0"/>
          </a:p>
        </p:txBody>
      </p:sp>
      <p:sp>
        <p:nvSpPr>
          <p:cNvPr id="16" name="Text 14"/>
          <p:cNvSpPr txBox="1"/>
          <p:nvPr/>
        </p:nvSpPr>
        <p:spPr>
          <a:xfrm>
            <a:off x="548640" y="3154680"/>
            <a:ext cx="6217920" cy="274320"/>
          </a:xfrm>
          <a:prstGeom prst="rect">
            <a:avLst/>
          </a:prstGeom>
          <a:noFill/>
          <a:ln/>
        </p:spPr>
        <p:txBody>
          <a:bodyPr wrap="square" lIns="0" tIns="0" rIns="0" bIns="0" rtlCol="0" anchor="t"/>
          <a:lstStyle/>
          <a:p>
            <a:pPr algn="l" indent="0" marL="0">
              <a:buNone/>
            </a:pPr>
            <a:r>
              <a:rPr lang="en-US" sz="1150" i="1" dirty="0">
                <a:solidFill>
                  <a:srgbClr val="8E2B24"/>
                </a:solidFill>
                <a:latin typeface="Calibri" pitchFamily="34" charset="0"/>
                <a:ea typeface="Calibri" pitchFamily="34" charset="-122"/>
                <a:cs typeface="Calibri" pitchFamily="34" charset="-120"/>
              </a:rPr>
              <a:t>The red part grew with every turn, without limit.</a:t>
            </a:r>
            <a:endParaRPr lang="en-US" sz="1150" dirty="0"/>
          </a:p>
        </p:txBody>
      </p:sp>
      <p:sp>
        <p:nvSpPr>
          <p:cNvPr id="17" name="Shape 15"/>
          <p:cNvSpPr/>
          <p:nvPr/>
        </p:nvSpPr>
        <p:spPr>
          <a:xfrm>
            <a:off x="548640" y="4892040"/>
            <a:ext cx="6035040" cy="914400"/>
          </a:xfrm>
          <a:prstGeom prst="roundRect">
            <a:avLst>
              <a:gd name="adj" fmla="val 10000"/>
            </a:avLst>
          </a:prstGeom>
          <a:solidFill>
            <a:srgbClr val="F3F5F8"/>
          </a:solidFill>
          <a:ln w="12700">
            <a:solidFill>
              <a:srgbClr val="F3F5F8"/>
            </a:solidFill>
            <a:prstDash val="solid"/>
          </a:ln>
        </p:spPr>
      </p:sp>
      <p:sp>
        <p:nvSpPr>
          <p:cNvPr id="18" name="Text 16"/>
          <p:cNvSpPr txBox="1"/>
          <p:nvPr/>
        </p:nvSpPr>
        <p:spPr>
          <a:xfrm>
            <a:off x="777240" y="5001768"/>
            <a:ext cx="5577840" cy="731520"/>
          </a:xfrm>
          <a:prstGeom prst="rect">
            <a:avLst/>
          </a:prstGeom>
          <a:noFill/>
          <a:ln/>
        </p:spPr>
        <p:txBody>
          <a:bodyPr wrap="square" lIns="0" tIns="0" rIns="0" bIns="0" rtlCol="0" anchor="ctr"/>
          <a:lstStyle/>
          <a:p>
            <a:pPr algn="l" indent="0" marL="0">
              <a:buNone/>
            </a:pPr>
            <a:r>
              <a:rPr lang="en-US" sz="1250" b="1" dirty="0">
                <a:solidFill>
                  <a:srgbClr val="1C212B"/>
                </a:solidFill>
                <a:latin typeface="Calibri" pitchFamily="34" charset="0"/>
                <a:ea typeface="Calibri" pitchFamily="34" charset="-122"/>
                <a:cs typeface="Calibri" pitchFamily="34" charset="-120"/>
              </a:rPr>
              <a:t>Side effect: </a:t>
            </a:r>
            <a:pPr algn="l" indent="0" marL="0">
              <a:buNone/>
            </a:pPr>
            <a:r>
              <a:rPr lang="en-US" sz="1250" dirty="0">
                <a:solidFill>
                  <a:srgbClr val="1C212B"/>
                </a:solidFill>
                <a:latin typeface="Calibri" pitchFamily="34" charset="0"/>
                <a:ea typeface="Calibri" pitchFamily="34" charset="-122"/>
                <a:cs typeface="Calibri" pitchFamily="34" charset="-120"/>
              </a:rPr>
              <a:t>the iteration cap counted the whole session, so a long chat hit its tool-call limit on a turn's first call.</a:t>
            </a:r>
            <a:endParaRPr lang="en-US" sz="1250" dirty="0"/>
          </a:p>
        </p:txBody>
      </p:sp>
      <p:sp>
        <p:nvSpPr>
          <p:cNvPr id="19" name="Text 17"/>
          <p:cNvSpPr txBox="1"/>
          <p:nvPr/>
        </p:nvSpPr>
        <p:spPr>
          <a:xfrm>
            <a:off x="7086600" y="2103120"/>
            <a:ext cx="4572000" cy="40690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Cause</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The checkpoint is keyed by session, and the message reducer appends each new turn to every earlier one. The model call sent history from the database and the checkpoint.</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Fix</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A new chat turn clears the checkpoint first. A resume never clears it, so approvals still resume where they paused.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Bonus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With one turn in the checkpoint, chat can now curate its transcript like agents do.</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THE PLAN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The plan lives outside the transcript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Curation folds away the oldest messages — which is exactly where the original instruction is.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2011680"/>
            <a:ext cx="5577840" cy="4160520"/>
          </a:xfrm>
          <a:prstGeom prst="roundRect">
            <a:avLst>
              <a:gd name="adj" fmla="val 2198"/>
            </a:avLst>
          </a:prstGeom>
          <a:solidFill>
            <a:srgbClr val="F3F5F8"/>
          </a:solidFill>
          <a:ln w="12700">
            <a:solidFill>
              <a:srgbClr val="F3F5F8"/>
            </a:solidFill>
            <a:prstDash val="solid"/>
          </a:ln>
        </p:spPr>
      </p:sp>
      <p:sp>
        <p:nvSpPr>
          <p:cNvPr id="7" name="Text 5"/>
          <p:cNvSpPr txBox="1"/>
          <p:nvPr/>
        </p:nvSpPr>
        <p:spPr>
          <a:xfrm>
            <a:off x="822960" y="2194560"/>
            <a:ext cx="182880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Plan</a:t>
            </a:r>
            <a:endParaRPr lang="en-US" sz="1500" dirty="0"/>
          </a:p>
        </p:txBody>
      </p:sp>
      <p:sp>
        <p:nvSpPr>
          <p:cNvPr id="8" name="Text 6"/>
          <p:cNvSpPr txBox="1"/>
          <p:nvPr/>
        </p:nvSpPr>
        <p:spPr>
          <a:xfrm>
            <a:off x="3200400" y="2221992"/>
            <a:ext cx="27432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revision 4 of 4 · history</a:t>
            </a:r>
            <a:endParaRPr lang="en-US" sz="1100" dirty="0"/>
          </a:p>
        </p:txBody>
      </p:sp>
      <p:sp>
        <p:nvSpPr>
          <p:cNvPr id="9" name="Shape 7"/>
          <p:cNvSpPr/>
          <p:nvPr/>
        </p:nvSpPr>
        <p:spPr>
          <a:xfrm>
            <a:off x="822960" y="2606040"/>
            <a:ext cx="5029200" cy="0"/>
          </a:xfrm>
          <a:prstGeom prst="line">
            <a:avLst/>
          </a:prstGeom>
          <a:noFill/>
          <a:ln w="9525">
            <a:solidFill>
              <a:srgbClr val="D3D9E1"/>
            </a:solidFill>
            <a:prstDash val="solid"/>
          </a:ln>
        </p:spPr>
      </p:sp>
      <p:sp>
        <p:nvSpPr>
          <p:cNvPr id="10" name="Text 8"/>
          <p:cNvSpPr txBox="1"/>
          <p:nvPr/>
        </p:nvSpPr>
        <p:spPr>
          <a:xfrm>
            <a:off x="822960" y="2743200"/>
            <a:ext cx="914400" cy="274320"/>
          </a:xfrm>
          <a:prstGeom prst="roundRect">
            <a:avLst>
              <a:gd name="adj" fmla="val 20000"/>
            </a:avLst>
          </a:prstGeom>
          <a:solidFill>
            <a:srgbClr val="15877D"/>
          </a:solidFill>
          <a:ln w="9525">
            <a:solidFill>
              <a:srgbClr val="15877D"/>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11" name="Text 9"/>
          <p:cNvSpPr txBox="1"/>
          <p:nvPr/>
        </p:nvSpPr>
        <p:spPr>
          <a:xfrm>
            <a:off x="1920240" y="2715768"/>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Read the three sales exports</a:t>
            </a:r>
            <a:endParaRPr lang="en-US" sz="1300" dirty="0"/>
          </a:p>
        </p:txBody>
      </p:sp>
      <p:sp>
        <p:nvSpPr>
          <p:cNvPr id="12" name="Shape 10"/>
          <p:cNvSpPr/>
          <p:nvPr/>
        </p:nvSpPr>
        <p:spPr>
          <a:xfrm>
            <a:off x="822960" y="3273552"/>
            <a:ext cx="5029200" cy="0"/>
          </a:xfrm>
          <a:prstGeom prst="line">
            <a:avLst/>
          </a:prstGeom>
          <a:noFill/>
          <a:ln w="9525">
            <a:solidFill>
              <a:srgbClr val="D3D9E1"/>
            </a:solidFill>
            <a:prstDash val="solid"/>
          </a:ln>
        </p:spPr>
      </p:sp>
      <p:sp>
        <p:nvSpPr>
          <p:cNvPr id="13" name="Text 11"/>
          <p:cNvSpPr txBox="1"/>
          <p:nvPr/>
        </p:nvSpPr>
        <p:spPr>
          <a:xfrm>
            <a:off x="822960" y="3410712"/>
            <a:ext cx="914400" cy="274320"/>
          </a:xfrm>
          <a:prstGeom prst="roundRect">
            <a:avLst>
              <a:gd name="adj" fmla="val 20000"/>
            </a:avLst>
          </a:prstGeom>
          <a:solidFill>
            <a:srgbClr val="E08A1E"/>
          </a:solidFill>
          <a:ln w="9525">
            <a:solidFill>
              <a:srgbClr val="E08A1E"/>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doing</a:t>
            </a:r>
            <a:endParaRPr lang="en-US" sz="1050" dirty="0"/>
          </a:p>
        </p:txBody>
      </p:sp>
      <p:sp>
        <p:nvSpPr>
          <p:cNvPr id="14" name="Text 12"/>
          <p:cNvSpPr txBox="1"/>
          <p:nvPr/>
        </p:nvSpPr>
        <p:spPr>
          <a:xfrm>
            <a:off x="1920240" y="3383280"/>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Reconcile totals by region</a:t>
            </a:r>
            <a:endParaRPr lang="en-US" sz="1300" dirty="0"/>
          </a:p>
        </p:txBody>
      </p:sp>
      <p:sp>
        <p:nvSpPr>
          <p:cNvPr id="15" name="Shape 13"/>
          <p:cNvSpPr/>
          <p:nvPr/>
        </p:nvSpPr>
        <p:spPr>
          <a:xfrm>
            <a:off x="822960" y="3941064"/>
            <a:ext cx="5029200" cy="0"/>
          </a:xfrm>
          <a:prstGeom prst="line">
            <a:avLst/>
          </a:prstGeom>
          <a:noFill/>
          <a:ln w="9525">
            <a:solidFill>
              <a:srgbClr val="D3D9E1"/>
            </a:solidFill>
            <a:prstDash val="solid"/>
          </a:ln>
        </p:spPr>
      </p:sp>
      <p:sp>
        <p:nvSpPr>
          <p:cNvPr id="16" name="Text 14"/>
          <p:cNvSpPr txBox="1"/>
          <p:nvPr/>
        </p:nvSpPr>
        <p:spPr>
          <a:xfrm>
            <a:off x="822960" y="4078224"/>
            <a:ext cx="914400" cy="274320"/>
          </a:xfrm>
          <a:prstGeom prst="roundRect">
            <a:avLst>
              <a:gd name="adj" fmla="val 20000"/>
            </a:avLst>
          </a:prstGeom>
          <a:solidFill>
            <a:srgbClr val="C4433A"/>
          </a:solidFill>
          <a:ln w="9525">
            <a:solidFill>
              <a:srgbClr val="C443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blocked</a:t>
            </a:r>
            <a:endParaRPr lang="en-US" sz="1050" dirty="0"/>
          </a:p>
        </p:txBody>
      </p:sp>
      <p:sp>
        <p:nvSpPr>
          <p:cNvPr id="17" name="Text 15"/>
          <p:cNvSpPr txBox="1"/>
          <p:nvPr/>
        </p:nvSpPr>
        <p:spPr>
          <a:xfrm>
            <a:off x="1920240" y="4050792"/>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Pull Q2 refunds</a:t>
            </a:r>
            <a:endParaRPr lang="en-US" sz="1300" dirty="0"/>
          </a:p>
        </p:txBody>
      </p:sp>
      <p:sp>
        <p:nvSpPr>
          <p:cNvPr id="18" name="Text 16"/>
          <p:cNvSpPr txBox="1"/>
          <p:nvPr/>
        </p:nvSpPr>
        <p:spPr>
          <a:xfrm>
            <a:off x="1920240" y="4325112"/>
            <a:ext cx="3931920" cy="228600"/>
          </a:xfrm>
          <a:prstGeom prst="rect">
            <a:avLst/>
          </a:prstGeom>
          <a:noFill/>
          <a:ln/>
        </p:spPr>
        <p:txBody>
          <a:bodyPr wrap="square" lIns="0" tIns="0" rIns="0" bIns="0" rtlCol="0" anchor="t"/>
          <a:lstStyle/>
          <a:p>
            <a:pPr algn="l" indent="0" marL="0">
              <a:buNone/>
            </a:pPr>
            <a:r>
              <a:rPr lang="en-US" sz="1100" i="1" dirty="0">
                <a:solidFill>
                  <a:srgbClr val="8E2B24"/>
                </a:solidFill>
                <a:latin typeface="Calibri" pitchFamily="34" charset="0"/>
                <a:ea typeface="Calibri" pitchFamily="34" charset="-122"/>
                <a:cs typeface="Calibri" pitchFamily="34" charset="-120"/>
              </a:rPr>
              <a:t>no access to the refunds sheet</a:t>
            </a:r>
            <a:endParaRPr lang="en-US" sz="1100" dirty="0"/>
          </a:p>
        </p:txBody>
      </p:sp>
      <p:sp>
        <p:nvSpPr>
          <p:cNvPr id="19" name="Shape 17"/>
          <p:cNvSpPr/>
          <p:nvPr/>
        </p:nvSpPr>
        <p:spPr>
          <a:xfrm>
            <a:off x="822960" y="4608576"/>
            <a:ext cx="5029200" cy="0"/>
          </a:xfrm>
          <a:prstGeom prst="line">
            <a:avLst/>
          </a:prstGeom>
          <a:noFill/>
          <a:ln w="9525">
            <a:solidFill>
              <a:srgbClr val="D3D9E1"/>
            </a:solidFill>
            <a:prstDash val="solid"/>
          </a:ln>
        </p:spPr>
      </p:sp>
      <p:sp>
        <p:nvSpPr>
          <p:cNvPr id="20" name="Text 18"/>
          <p:cNvSpPr txBox="1"/>
          <p:nvPr/>
        </p:nvSpPr>
        <p:spPr>
          <a:xfrm>
            <a:off x="822960" y="4745736"/>
            <a:ext cx="914400" cy="274320"/>
          </a:xfrm>
          <a:prstGeom prst="roundRect">
            <a:avLst>
              <a:gd name="adj" fmla="val 20000"/>
            </a:avLst>
          </a:prstGeom>
          <a:solidFill>
            <a:srgbClr val="F3F5F8"/>
          </a:solidFill>
          <a:ln w="9525">
            <a:solidFill>
              <a:srgbClr val="8A93A1"/>
            </a:solidFill>
          </a:ln>
        </p:spPr>
        <p:txBody>
          <a:bodyPr wrap="square" lIns="0" tIns="0" rIns="0" bIns="0" rtlCol="0" anchor="ctr"/>
          <a:lstStyle/>
          <a:p>
            <a:pPr algn="ctr" indent="0" marL="0">
              <a:buNone/>
            </a:pPr>
            <a:r>
              <a:rPr lang="en-US" sz="1050" b="1" dirty="0">
                <a:solidFill>
                  <a:srgbClr val="5B6472"/>
                </a:solidFill>
                <a:latin typeface="Calibri" pitchFamily="34" charset="0"/>
                <a:ea typeface="Calibri" pitchFamily="34" charset="-122"/>
                <a:cs typeface="Calibri" pitchFamily="34" charset="-120"/>
              </a:rPr>
              <a:t>todo</a:t>
            </a:r>
            <a:endParaRPr lang="en-US" sz="1050" dirty="0"/>
          </a:p>
        </p:txBody>
      </p:sp>
      <p:sp>
        <p:nvSpPr>
          <p:cNvPr id="21" name="Text 19"/>
          <p:cNvSpPr txBox="1"/>
          <p:nvPr/>
        </p:nvSpPr>
        <p:spPr>
          <a:xfrm>
            <a:off x="1920240" y="4718304"/>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Draft the deck with the Slides agent</a:t>
            </a:r>
            <a:endParaRPr lang="en-US" sz="1300" dirty="0"/>
          </a:p>
        </p:txBody>
      </p:sp>
      <p:sp>
        <p:nvSpPr>
          <p:cNvPr id="22" name="Shape 20"/>
          <p:cNvSpPr/>
          <p:nvPr/>
        </p:nvSpPr>
        <p:spPr>
          <a:xfrm>
            <a:off x="822960" y="5276088"/>
            <a:ext cx="5029200" cy="0"/>
          </a:xfrm>
          <a:prstGeom prst="line">
            <a:avLst/>
          </a:prstGeom>
          <a:noFill/>
          <a:ln w="9525">
            <a:solidFill>
              <a:srgbClr val="D3D9E1"/>
            </a:solidFill>
            <a:prstDash val="solid"/>
          </a:ln>
        </p:spPr>
      </p:sp>
      <p:sp>
        <p:nvSpPr>
          <p:cNvPr id="23" name="Text 21"/>
          <p:cNvSpPr txBox="1"/>
          <p:nvPr/>
        </p:nvSpPr>
        <p:spPr>
          <a:xfrm>
            <a:off x="822960" y="5413248"/>
            <a:ext cx="914400" cy="274320"/>
          </a:xfrm>
          <a:prstGeom prst="roundRect">
            <a:avLst>
              <a:gd name="adj" fmla="val 20000"/>
            </a:avLst>
          </a:prstGeom>
          <a:solidFill>
            <a:srgbClr val="F3F5F8"/>
          </a:solidFill>
          <a:ln w="9525">
            <a:solidFill>
              <a:srgbClr val="8A93A1"/>
            </a:solidFill>
          </a:ln>
        </p:spPr>
        <p:txBody>
          <a:bodyPr wrap="square" lIns="0" tIns="0" rIns="0" bIns="0" rtlCol="0" anchor="ctr"/>
          <a:lstStyle/>
          <a:p>
            <a:pPr algn="ctr" indent="0" marL="0">
              <a:buNone/>
            </a:pPr>
            <a:r>
              <a:rPr lang="en-US" sz="1050" b="1" dirty="0">
                <a:solidFill>
                  <a:srgbClr val="5B6472"/>
                </a:solidFill>
                <a:latin typeface="Calibri" pitchFamily="34" charset="0"/>
                <a:ea typeface="Calibri" pitchFamily="34" charset="-122"/>
                <a:cs typeface="Calibri" pitchFamily="34" charset="-120"/>
              </a:rPr>
              <a:t>dropped</a:t>
            </a:r>
            <a:endParaRPr lang="en-US" sz="1050" dirty="0"/>
          </a:p>
        </p:txBody>
      </p:sp>
      <p:sp>
        <p:nvSpPr>
          <p:cNvPr id="24" name="Text 22"/>
          <p:cNvSpPr txBox="1"/>
          <p:nvPr/>
        </p:nvSpPr>
        <p:spPr>
          <a:xfrm>
            <a:off x="1920240" y="5385816"/>
            <a:ext cx="3931920" cy="274320"/>
          </a:xfrm>
          <a:prstGeom prst="rect">
            <a:avLst/>
          </a:prstGeom>
          <a:noFill/>
          <a:ln/>
        </p:spPr>
        <p:txBody>
          <a:bodyPr wrap="square" lIns="0" tIns="0" rIns="0" bIns="0" rtlCol="0" anchor="t"/>
          <a:lstStyle/>
          <a:p>
            <a:pPr algn="l" indent="0" marL="0">
              <a:buNone/>
            </a:pPr>
            <a:r>
              <a:rPr lang="en-US" sz="1300" dirty="0">
                <a:solidFill>
                  <a:srgbClr val="8A93A1"/>
                </a:solidFill>
                <a:latin typeface="Calibri" pitchFamily="34" charset="0"/>
                <a:ea typeface="Calibri" pitchFamily="34" charset="-122"/>
                <a:cs typeface="Calibri" pitchFamily="34" charset="-120"/>
              </a:rPr>
              <a:t>Email finance the summary</a:t>
            </a:r>
            <a:endParaRPr lang="en-US" sz="1300" dirty="0"/>
          </a:p>
        </p:txBody>
      </p:sp>
      <p:sp>
        <p:nvSpPr>
          <p:cNvPr id="25" name="Text 23"/>
          <p:cNvSpPr txBox="1"/>
          <p:nvPr/>
        </p:nvSpPr>
        <p:spPr>
          <a:xfrm>
            <a:off x="1920240" y="5660136"/>
            <a:ext cx="3931920" cy="228600"/>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removed unfinished in revision 3</a:t>
            </a:r>
            <a:endParaRPr lang="en-US" sz="1100" dirty="0"/>
          </a:p>
        </p:txBody>
      </p:sp>
      <p:sp>
        <p:nvSpPr>
          <p:cNvPr id="26" name="Text 24"/>
          <p:cNvSpPr txBox="1"/>
          <p:nvPr/>
        </p:nvSpPr>
        <p:spPr>
          <a:xfrm>
            <a:off x="6583680" y="2103120"/>
            <a:ext cx="5074920" cy="40690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Safe by construction</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Curation only ever rewrites messages. The plan is in turn metadata, so no exclusion list is needed.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Replace, don't patch</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update_todos sends the whole list. No ids for the model to track and eventually get wrong.</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Re-read every turn</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Open items ride in the context update — never the system prompt, which must stay stable.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Honest endings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blocked needs a reason; up to 30 revisions are kept and the original plan is never trimmed.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BUDGETS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Every input has a limit, and says what happens past it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rule: a truncated result and a genuinely short one must never look alike.</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651760"/>
                <a:gridCol w="3108960"/>
                <a:gridCol w="5330952"/>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Past the limit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Tool result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64,000 chars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Full text stored; the model gets a preview and an id to read the rest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Worker answer</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20,000 each · 60,000 per fan-out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Trimmed proportionally with a notice; the full answer is archived</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Task sent to a worker</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8,000 chars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Refused — the model is told to shorten it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Shared briefing</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16,000 chars, sent once</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Refused, for the same reason</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Steering message</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4,000 each · 8,000 per delivery</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Oldest dropped, and the drop is counted back to you</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User memory in prompt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2,000 chars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Filled by priority: profile, preference, project, context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Plan history</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30 revisions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Older ones trimmed; the original plan is always kept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Transcript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70% of the window</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Cut to 45% in whole segments; the cut is archived</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VIRTUAL FILESYSTEM</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An agent's filesystem is rows, not files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os is never imported and no handle is ever opened. The worst a path bug reaches is another row.</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2011680"/>
            <a:ext cx="5852160" cy="2148840"/>
          </a:xfrm>
          <a:prstGeom prst="roundRect">
            <a:avLst>
              <a:gd name="adj" fmla="val 4255"/>
            </a:avLst>
          </a:prstGeom>
          <a:solidFill>
            <a:srgbClr val="F3F5F8"/>
          </a:solidFill>
          <a:ln w="12700">
            <a:solidFill>
              <a:srgbClr val="F3F5F8"/>
            </a:solidFill>
            <a:prstDash val="solid"/>
          </a:ln>
        </p:spPr>
      </p:sp>
      <p:sp>
        <p:nvSpPr>
          <p:cNvPr id="7" name="Text 5"/>
          <p:cNvSpPr txBox="1"/>
          <p:nvPr/>
        </p:nvSpPr>
        <p:spPr>
          <a:xfrm>
            <a:off x="777240" y="2176272"/>
            <a:ext cx="5486400" cy="320040"/>
          </a:xfrm>
          <a:prstGeom prst="rect">
            <a:avLst/>
          </a:prstGeom>
          <a:noFill/>
          <a:ln/>
        </p:spPr>
        <p:txBody>
          <a:bodyPr wrap="square" lIns="0" tIns="0" rIns="0" bIns="0" rtlCol="0" anchor="t"/>
          <a:lstStyle/>
          <a:p>
            <a:pPr algn="l" indent="0" marL="0">
              <a:buNone/>
            </a:pPr>
            <a:r>
              <a:rPr lang="en-US" sz="1300" b="1" dirty="0">
                <a:solidFill>
                  <a:srgbClr val="8E2B24"/>
                </a:solidFill>
                <a:latin typeface="Courier New" pitchFamily="34" charset="0"/>
                <a:ea typeface="Courier New" pitchFamily="34" charset="-122"/>
                <a:cs typeface="Courier New" pitchFamily="34" charset="-120"/>
              </a:rPr>
              <a:t>read_file("../../etc/passwd")</a:t>
            </a:r>
            <a:endParaRPr lang="en-US" sz="1300" dirty="0"/>
          </a:p>
        </p:txBody>
      </p:sp>
      <p:sp>
        <p:nvSpPr>
          <p:cNvPr id="8" name="Text 6"/>
          <p:cNvSpPr txBox="1"/>
          <p:nvPr/>
        </p:nvSpPr>
        <p:spPr>
          <a:xfrm>
            <a:off x="777240" y="2697480"/>
            <a:ext cx="960120" cy="548640"/>
          </a:xfrm>
          <a:prstGeom prst="roundRect">
            <a:avLst>
              <a:gd name="adj" fmla="val 10000"/>
            </a:avLst>
          </a:prstGeom>
          <a:solidFill>
            <a:srgbClr val="E9EDF2"/>
          </a:solidFill>
          <a:ln>
            <a:solidFill>
              <a:srgbClr val="E9EDF2"/>
            </a:solidFill>
          </a:ln>
        </p:spPr>
        <p:txBody>
          <a:bodyPr wrap="square" lIns="25400" tIns="25400" rIns="25400" bIns="25400" rtlCol="0" anchor="ctr"/>
          <a:lstStyle/>
          <a:p>
            <a:pPr algn="ctr" indent="0" marL="0">
              <a:buNone/>
            </a:pPr>
            <a:r>
              <a:rPr lang="en-US" sz="1100" b="1" dirty="0">
                <a:solidFill>
                  <a:srgbClr val="1C212B"/>
                </a:solidFill>
                <a:latin typeface="Calibri" pitchFamily="34" charset="0"/>
                <a:ea typeface="Calibri" pitchFamily="34" charset="-122"/>
                <a:cs typeface="Calibri" pitchFamily="34" charset="-120"/>
              </a:rPr>
              <a:t>scope root</a:t>
            </a:r>
            <a:endParaRPr lang="en-US" sz="1100" dirty="0"/>
          </a:p>
        </p:txBody>
      </p:sp>
      <p:sp>
        <p:nvSpPr>
          <p:cNvPr id="9" name="Shape 7"/>
          <p:cNvSpPr/>
          <p:nvPr/>
        </p:nvSpPr>
        <p:spPr>
          <a:xfrm>
            <a:off x="1737360" y="2971800"/>
            <a:ext cx="155448" cy="0"/>
          </a:xfrm>
          <a:prstGeom prst="line">
            <a:avLst/>
          </a:prstGeom>
          <a:noFill/>
          <a:ln w="15875">
            <a:solidFill>
              <a:srgbClr val="4E5A6B"/>
            </a:solidFill>
            <a:prstDash val="solid"/>
            <a:tailEnd type="triangle"/>
          </a:ln>
        </p:spPr>
      </p:sp>
      <p:sp>
        <p:nvSpPr>
          <p:cNvPr id="10" name="Text 8"/>
          <p:cNvSpPr txBox="1"/>
          <p:nvPr/>
        </p:nvSpPr>
        <p:spPr>
          <a:xfrm>
            <a:off x="1892808" y="2697480"/>
            <a:ext cx="960120" cy="548640"/>
          </a:xfrm>
          <a:prstGeom prst="roundRect">
            <a:avLst>
              <a:gd name="adj" fmla="val 10000"/>
            </a:avLst>
          </a:prstGeom>
          <a:solidFill>
            <a:srgbClr val="FDF0DE"/>
          </a:solidFill>
          <a:ln>
            <a:solidFill>
              <a:srgbClr val="FDF0DE"/>
            </a:solidFill>
          </a:ln>
        </p:spPr>
        <p:txBody>
          <a:bodyPr wrap="square" lIns="25400" tIns="25400" rIns="25400" bIns="2540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  clamped</a:t>
            </a:r>
            <a:endParaRPr lang="en-US" sz="1100" dirty="0"/>
          </a:p>
        </p:txBody>
      </p:sp>
      <p:sp>
        <p:nvSpPr>
          <p:cNvPr id="11" name="Shape 9"/>
          <p:cNvSpPr/>
          <p:nvPr/>
        </p:nvSpPr>
        <p:spPr>
          <a:xfrm>
            <a:off x="2852928" y="2971800"/>
            <a:ext cx="155448" cy="0"/>
          </a:xfrm>
          <a:prstGeom prst="line">
            <a:avLst/>
          </a:prstGeom>
          <a:noFill/>
          <a:ln w="15875">
            <a:solidFill>
              <a:srgbClr val="4E5A6B"/>
            </a:solidFill>
            <a:prstDash val="solid"/>
            <a:tailEnd type="triangle"/>
          </a:ln>
        </p:spPr>
      </p:sp>
      <p:sp>
        <p:nvSpPr>
          <p:cNvPr id="12" name="Text 10"/>
          <p:cNvSpPr txBox="1"/>
          <p:nvPr/>
        </p:nvSpPr>
        <p:spPr>
          <a:xfrm>
            <a:off x="3008376" y="2697480"/>
            <a:ext cx="960120" cy="548640"/>
          </a:xfrm>
          <a:prstGeom prst="roundRect">
            <a:avLst>
              <a:gd name="adj" fmla="val 10000"/>
            </a:avLst>
          </a:prstGeom>
          <a:solidFill>
            <a:srgbClr val="FDF0DE"/>
          </a:solidFill>
          <a:ln>
            <a:solidFill>
              <a:srgbClr val="FDF0DE"/>
            </a:solidFill>
          </a:ln>
        </p:spPr>
        <p:txBody>
          <a:bodyPr wrap="square" lIns="25400" tIns="25400" rIns="25400" bIns="2540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  clamped</a:t>
            </a:r>
            <a:endParaRPr lang="en-US" sz="1100" dirty="0"/>
          </a:p>
        </p:txBody>
      </p:sp>
      <p:sp>
        <p:nvSpPr>
          <p:cNvPr id="13" name="Shape 11"/>
          <p:cNvSpPr/>
          <p:nvPr/>
        </p:nvSpPr>
        <p:spPr>
          <a:xfrm>
            <a:off x="3968496" y="2971800"/>
            <a:ext cx="155448" cy="0"/>
          </a:xfrm>
          <a:prstGeom prst="line">
            <a:avLst/>
          </a:prstGeom>
          <a:noFill/>
          <a:ln w="15875">
            <a:solidFill>
              <a:srgbClr val="4E5A6B"/>
            </a:solidFill>
            <a:prstDash val="solid"/>
            <a:tailEnd type="triangle"/>
          </a:ln>
        </p:spPr>
      </p:sp>
      <p:sp>
        <p:nvSpPr>
          <p:cNvPr id="14" name="Text 12"/>
          <p:cNvSpPr txBox="1"/>
          <p:nvPr/>
        </p:nvSpPr>
        <p:spPr>
          <a:xfrm>
            <a:off x="4123944" y="2697480"/>
            <a:ext cx="960120" cy="548640"/>
          </a:xfrm>
          <a:prstGeom prst="roundRect">
            <a:avLst>
              <a:gd name="adj" fmla="val 10000"/>
            </a:avLst>
          </a:prstGeom>
          <a:solidFill>
            <a:srgbClr val="E9EDF2"/>
          </a:solidFill>
          <a:ln>
            <a:solidFill>
              <a:srgbClr val="E9EDF2"/>
            </a:solidFill>
          </a:ln>
        </p:spPr>
        <p:txBody>
          <a:bodyPr wrap="square" lIns="25400" tIns="25400" rIns="25400" bIns="25400" rtlCol="0" anchor="ctr"/>
          <a:lstStyle/>
          <a:p>
            <a:pPr algn="ctr" indent="0" marL="0">
              <a:buNone/>
            </a:pPr>
            <a:r>
              <a:rPr lang="en-US" sz="1100" b="1" dirty="0">
                <a:solidFill>
                  <a:srgbClr val="1C212B"/>
                </a:solidFill>
                <a:latin typeface="Calibri" pitchFamily="34" charset="0"/>
                <a:ea typeface="Calibri" pitchFamily="34" charset="-122"/>
                <a:cs typeface="Calibri" pitchFamily="34" charset="-120"/>
              </a:rPr>
              <a:t>etc</a:t>
            </a:r>
            <a:endParaRPr lang="en-US" sz="1100" dirty="0"/>
          </a:p>
        </p:txBody>
      </p:sp>
      <p:sp>
        <p:nvSpPr>
          <p:cNvPr id="15" name="Shape 13"/>
          <p:cNvSpPr/>
          <p:nvPr/>
        </p:nvSpPr>
        <p:spPr>
          <a:xfrm>
            <a:off x="5084064" y="2971800"/>
            <a:ext cx="155448" cy="0"/>
          </a:xfrm>
          <a:prstGeom prst="line">
            <a:avLst/>
          </a:prstGeom>
          <a:noFill/>
          <a:ln w="15875">
            <a:solidFill>
              <a:srgbClr val="4E5A6B"/>
            </a:solidFill>
            <a:prstDash val="solid"/>
            <a:tailEnd type="triangle"/>
          </a:ln>
        </p:spPr>
      </p:sp>
      <p:sp>
        <p:nvSpPr>
          <p:cNvPr id="16" name="Text 14"/>
          <p:cNvSpPr txBox="1"/>
          <p:nvPr/>
        </p:nvSpPr>
        <p:spPr>
          <a:xfrm>
            <a:off x="5239512" y="2697480"/>
            <a:ext cx="960120" cy="548640"/>
          </a:xfrm>
          <a:prstGeom prst="roundRect">
            <a:avLst>
              <a:gd name="adj" fmla="val 10000"/>
            </a:avLst>
          </a:prstGeom>
          <a:solidFill>
            <a:srgbClr val="FBE8E6"/>
          </a:solidFill>
          <a:ln>
            <a:solidFill>
              <a:srgbClr val="FBE8E6"/>
            </a:solidFill>
          </a:ln>
        </p:spPr>
        <p:txBody>
          <a:bodyPr wrap="square" lIns="25400" tIns="25400" rIns="25400" bIns="25400" rtlCol="0" anchor="ctr"/>
          <a:lstStyle/>
          <a:p>
            <a:pPr algn="ctr" indent="0" marL="0">
              <a:buNone/>
            </a:pPr>
            <a:r>
              <a:rPr lang="en-US" sz="1100" b="1" dirty="0">
                <a:solidFill>
                  <a:srgbClr val="8E2B24"/>
                </a:solidFill>
                <a:latin typeface="Calibri" pitchFamily="34" charset="0"/>
                <a:ea typeface="Calibri" pitchFamily="34" charset="-122"/>
                <a:cs typeface="Calibri" pitchFamily="34" charset="-120"/>
              </a:rPr>
              <a:t>No such file</a:t>
            </a:r>
            <a:endParaRPr lang="en-US" sz="1100" dirty="0"/>
          </a:p>
        </p:txBody>
      </p:sp>
      <p:sp>
        <p:nvSpPr>
          <p:cNvPr id="17" name="Text 15"/>
          <p:cNvSpPr txBox="1"/>
          <p:nvPr/>
        </p:nvSpPr>
        <p:spPr>
          <a:xfrm>
            <a:off x="777240" y="3383280"/>
            <a:ext cx="5440680" cy="73152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Paths are walked one folder at a time from the scope root. Popping past the root does nothing — models write ../ constantly, and a clamp behaves like a chroot.</a:t>
            </a:r>
            <a:endParaRPr lang="en-US" sz="1200" dirty="0"/>
          </a:p>
        </p:txBody>
      </p:sp>
      <p:sp>
        <p:nvSpPr>
          <p:cNvPr id="18" name="Text 16"/>
          <p:cNvSpPr txBox="1"/>
          <p:nvPr/>
        </p:nvSpPr>
        <p:spPr>
          <a:xfrm>
            <a:off x="548640" y="4389120"/>
            <a:ext cx="5852160" cy="1783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Root is NULL, not a row</a:t>
            </a:r>
            <a:endParaRPr lang="en-US" sz="1350" dirty="0"/>
          </a:p>
          <a:p>
            <a:pPr indent="0" marL="0">
              <a:spcAft>
                <a:spcPts val="800"/>
              </a:spcAft>
              <a:buNone/>
            </a:pPr>
            <a:r>
              <a:rPr lang="en-US" sz="1200" dirty="0">
                <a:solidFill>
                  <a:srgbClr val="5B6472"/>
                </a:solidFill>
                <a:latin typeface="Calibri" pitchFamily="34" charset="0"/>
                <a:ea typeface="Calibri" pitchFamily="34" charset="-122"/>
                <a:cs typeface="Calibri" pitchFamily="34" charset="-120"/>
              </a:rPr>
              <a:t>The most-used location cannot be forged, and old documents were placed correctly the moment the column appeared.</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The API is id-addressed</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No route accepts a path as a locator, so traversal is off the table rather than guarded against.</a:t>
            </a:r>
            <a:endParaRPr lang="en-US" sz="1350" dirty="0"/>
          </a:p>
        </p:txBody>
      </p:sp>
      <p:sp>
        <p:nvSpPr>
          <p:cNvPr id="19" name="Text 17"/>
          <p:cNvSpPr txBox="1"/>
          <p:nvPr/>
        </p:nvSpPr>
        <p:spPr>
          <a:xfrm>
            <a:off x="6858000" y="2011680"/>
            <a:ext cx="475488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fileAccess — five modes</a:t>
            </a:r>
            <a:endParaRPr lang="en-US" sz="1400" dirty="0"/>
          </a:p>
        </p:txBody>
      </p:sp>
      <p:sp>
        <p:nvSpPr>
          <p:cNvPr id="20" name="Text 18"/>
          <p:cNvSpPr txBox="1"/>
          <p:nvPr/>
        </p:nvSpPr>
        <p:spPr>
          <a:xfrm>
            <a:off x="8915400" y="2377440"/>
            <a:ext cx="1280160" cy="228600"/>
          </a:xfrm>
          <a:prstGeom prst="rect">
            <a:avLst/>
          </a:prstGeom>
          <a:noFill/>
          <a:ln/>
        </p:spPr>
        <p:txBody>
          <a:bodyPr wrap="square" lIns="0" tIns="0" rIns="0" bIns="0" rtlCol="0" anchor="t"/>
          <a:lstStyle/>
          <a:p>
            <a:pPr algn="l" indent="0" marL="0">
              <a:buNone/>
            </a:pPr>
            <a:r>
              <a:rPr lang="en-US" sz="1100" b="1" dirty="0">
                <a:solidFill>
                  <a:srgbClr val="0D5C55"/>
                </a:solidFill>
                <a:latin typeface="Calibri" pitchFamily="34" charset="0"/>
                <a:ea typeface="Calibri" pitchFamily="34" charset="-122"/>
                <a:cs typeface="Calibri" pitchFamily="34" charset="-120"/>
              </a:rPr>
              <a:t>can read</a:t>
            </a:r>
            <a:endParaRPr lang="en-US" sz="1100" dirty="0"/>
          </a:p>
        </p:txBody>
      </p:sp>
      <p:sp>
        <p:nvSpPr>
          <p:cNvPr id="21" name="Text 19"/>
          <p:cNvSpPr txBox="1"/>
          <p:nvPr/>
        </p:nvSpPr>
        <p:spPr>
          <a:xfrm>
            <a:off x="10332720" y="2377440"/>
            <a:ext cx="1280160" cy="228600"/>
          </a:xfrm>
          <a:prstGeom prst="rect">
            <a:avLst/>
          </a:prstGeom>
          <a:noFill/>
          <a:ln/>
        </p:spPr>
        <p:txBody>
          <a:bodyPr wrap="square" lIns="0" tIns="0" rIns="0" bIns="0" rtlCol="0" anchor="t"/>
          <a:lstStyle/>
          <a:p>
            <a:pPr algn="l" indent="0" marL="0">
              <a:buNone/>
            </a:pPr>
            <a:r>
              <a:rPr lang="en-US" sz="1100" b="1" dirty="0">
                <a:solidFill>
                  <a:srgbClr val="9A5A0C"/>
                </a:solidFill>
                <a:latin typeface="Calibri" pitchFamily="34" charset="0"/>
                <a:ea typeface="Calibri" pitchFamily="34" charset="-122"/>
                <a:cs typeface="Calibri" pitchFamily="34" charset="-120"/>
              </a:rPr>
              <a:t>can write</a:t>
            </a:r>
            <a:endParaRPr lang="en-US" sz="1100" dirty="0"/>
          </a:p>
        </p:txBody>
      </p:sp>
      <p:sp>
        <p:nvSpPr>
          <p:cNvPr id="22" name="Shape 20"/>
          <p:cNvSpPr/>
          <p:nvPr/>
        </p:nvSpPr>
        <p:spPr>
          <a:xfrm>
            <a:off x="6858000" y="2670048"/>
            <a:ext cx="4782312" cy="0"/>
          </a:xfrm>
          <a:prstGeom prst="line">
            <a:avLst/>
          </a:prstGeom>
          <a:noFill/>
          <a:ln w="9525">
            <a:solidFill>
              <a:srgbClr val="D3D9E1"/>
            </a:solidFill>
            <a:prstDash val="solid"/>
          </a:ln>
        </p:spPr>
      </p:sp>
      <p:sp>
        <p:nvSpPr>
          <p:cNvPr id="23" name="Text 21"/>
          <p:cNvSpPr txBox="1"/>
          <p:nvPr/>
        </p:nvSpPr>
        <p:spPr>
          <a:xfrm>
            <a:off x="6858000" y="281635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none</a:t>
            </a:r>
            <a:endParaRPr lang="en-US" sz="1150" dirty="0"/>
          </a:p>
        </p:txBody>
      </p:sp>
      <p:sp>
        <p:nvSpPr>
          <p:cNvPr id="24" name="Shape 22"/>
          <p:cNvSpPr/>
          <p:nvPr/>
        </p:nvSpPr>
        <p:spPr>
          <a:xfrm>
            <a:off x="8915400" y="2834640"/>
            <a:ext cx="1234440" cy="256032"/>
          </a:xfrm>
          <a:prstGeom prst="rect">
            <a:avLst/>
          </a:prstGeom>
          <a:solidFill>
            <a:srgbClr val="F3F5F8"/>
          </a:solidFill>
          <a:ln w="12700">
            <a:solidFill>
              <a:srgbClr val="F3F5F8"/>
            </a:solidFill>
            <a:prstDash val="solid"/>
          </a:ln>
        </p:spPr>
      </p:sp>
      <p:sp>
        <p:nvSpPr>
          <p:cNvPr id="25" name="Shape 23"/>
          <p:cNvSpPr/>
          <p:nvPr/>
        </p:nvSpPr>
        <p:spPr>
          <a:xfrm>
            <a:off x="10332720" y="2834640"/>
            <a:ext cx="1234440" cy="256032"/>
          </a:xfrm>
          <a:prstGeom prst="rect">
            <a:avLst/>
          </a:prstGeom>
          <a:solidFill>
            <a:srgbClr val="F3F5F8"/>
          </a:solidFill>
          <a:ln w="12700">
            <a:solidFill>
              <a:srgbClr val="F3F5F8"/>
            </a:solidFill>
            <a:prstDash val="solid"/>
          </a:ln>
        </p:spPr>
      </p:sp>
      <p:sp>
        <p:nvSpPr>
          <p:cNvPr id="26" name="Shape 24"/>
          <p:cNvSpPr/>
          <p:nvPr/>
        </p:nvSpPr>
        <p:spPr>
          <a:xfrm>
            <a:off x="6858000" y="3310128"/>
            <a:ext cx="4782312" cy="0"/>
          </a:xfrm>
          <a:prstGeom prst="line">
            <a:avLst/>
          </a:prstGeom>
          <a:noFill/>
          <a:ln w="9525">
            <a:solidFill>
              <a:srgbClr val="D3D9E1"/>
            </a:solidFill>
            <a:prstDash val="solid"/>
          </a:ln>
        </p:spPr>
      </p:sp>
      <p:sp>
        <p:nvSpPr>
          <p:cNvPr id="27" name="Text 25"/>
          <p:cNvSpPr txBox="1"/>
          <p:nvPr/>
        </p:nvSpPr>
        <p:spPr>
          <a:xfrm>
            <a:off x="6858000" y="345643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readonly</a:t>
            </a:r>
            <a:endParaRPr lang="en-US" sz="1150" dirty="0"/>
          </a:p>
        </p:txBody>
      </p:sp>
      <p:sp>
        <p:nvSpPr>
          <p:cNvPr id="28" name="Shape 26"/>
          <p:cNvSpPr/>
          <p:nvPr/>
        </p:nvSpPr>
        <p:spPr>
          <a:xfrm>
            <a:off x="8915400" y="3474720"/>
            <a:ext cx="1234440" cy="256032"/>
          </a:xfrm>
          <a:prstGeom prst="rect">
            <a:avLst/>
          </a:prstGeom>
          <a:solidFill>
            <a:srgbClr val="F3F5F8"/>
          </a:solidFill>
          <a:ln w="12700">
            <a:solidFill>
              <a:srgbClr val="F3F5F8"/>
            </a:solidFill>
            <a:prstDash val="solid"/>
          </a:ln>
        </p:spPr>
      </p:sp>
      <p:sp>
        <p:nvSpPr>
          <p:cNvPr id="29" name="Shape 27"/>
          <p:cNvSpPr/>
          <p:nvPr/>
        </p:nvSpPr>
        <p:spPr>
          <a:xfrm>
            <a:off x="8915400" y="3474720"/>
            <a:ext cx="1234440" cy="256032"/>
          </a:xfrm>
          <a:prstGeom prst="rect">
            <a:avLst/>
          </a:prstGeom>
          <a:solidFill>
            <a:srgbClr val="15877D"/>
          </a:solidFill>
          <a:ln w="12700">
            <a:solidFill>
              <a:srgbClr val="15877D"/>
            </a:solidFill>
            <a:prstDash val="solid"/>
          </a:ln>
        </p:spPr>
      </p:sp>
      <p:sp>
        <p:nvSpPr>
          <p:cNvPr id="30" name="Shape 28"/>
          <p:cNvSpPr/>
          <p:nvPr/>
        </p:nvSpPr>
        <p:spPr>
          <a:xfrm>
            <a:off x="10332720" y="3474720"/>
            <a:ext cx="1234440" cy="256032"/>
          </a:xfrm>
          <a:prstGeom prst="rect">
            <a:avLst/>
          </a:prstGeom>
          <a:solidFill>
            <a:srgbClr val="F3F5F8"/>
          </a:solidFill>
          <a:ln w="12700">
            <a:solidFill>
              <a:srgbClr val="F3F5F8"/>
            </a:solidFill>
            <a:prstDash val="solid"/>
          </a:ln>
        </p:spPr>
      </p:sp>
      <p:sp>
        <p:nvSpPr>
          <p:cNvPr id="31" name="Shape 29"/>
          <p:cNvSpPr/>
          <p:nvPr/>
        </p:nvSpPr>
        <p:spPr>
          <a:xfrm>
            <a:off x="6858000" y="3950208"/>
            <a:ext cx="4782312" cy="0"/>
          </a:xfrm>
          <a:prstGeom prst="line">
            <a:avLst/>
          </a:prstGeom>
          <a:noFill/>
          <a:ln w="9525">
            <a:solidFill>
              <a:srgbClr val="D3D9E1"/>
            </a:solidFill>
            <a:prstDash val="solid"/>
          </a:ln>
        </p:spPr>
      </p:sp>
      <p:sp>
        <p:nvSpPr>
          <p:cNvPr id="32" name="Text 30"/>
          <p:cNvSpPr txBox="1"/>
          <p:nvPr/>
        </p:nvSpPr>
        <p:spPr>
          <a:xfrm>
            <a:off x="6858000" y="409651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scoped</a:t>
            </a:r>
            <a:endParaRPr lang="en-US" sz="1150" dirty="0"/>
          </a:p>
        </p:txBody>
      </p:sp>
      <p:sp>
        <p:nvSpPr>
          <p:cNvPr id="33" name="Shape 31"/>
          <p:cNvSpPr/>
          <p:nvPr/>
        </p:nvSpPr>
        <p:spPr>
          <a:xfrm>
            <a:off x="8915400" y="4114800"/>
            <a:ext cx="1234440" cy="256032"/>
          </a:xfrm>
          <a:prstGeom prst="rect">
            <a:avLst/>
          </a:prstGeom>
          <a:solidFill>
            <a:srgbClr val="F3F5F8"/>
          </a:solidFill>
          <a:ln w="12700">
            <a:solidFill>
              <a:srgbClr val="F3F5F8"/>
            </a:solidFill>
            <a:prstDash val="solid"/>
          </a:ln>
        </p:spPr>
      </p:sp>
      <p:sp>
        <p:nvSpPr>
          <p:cNvPr id="34" name="Shape 32"/>
          <p:cNvSpPr/>
          <p:nvPr/>
        </p:nvSpPr>
        <p:spPr>
          <a:xfrm>
            <a:off x="8915400" y="4114800"/>
            <a:ext cx="432054" cy="256032"/>
          </a:xfrm>
          <a:prstGeom prst="rect">
            <a:avLst/>
          </a:prstGeom>
          <a:solidFill>
            <a:srgbClr val="15877D"/>
          </a:solidFill>
          <a:ln w="12700">
            <a:solidFill>
              <a:srgbClr val="15877D"/>
            </a:solidFill>
            <a:prstDash val="solid"/>
          </a:ln>
        </p:spPr>
      </p:sp>
      <p:sp>
        <p:nvSpPr>
          <p:cNvPr id="35" name="Shape 33"/>
          <p:cNvSpPr/>
          <p:nvPr/>
        </p:nvSpPr>
        <p:spPr>
          <a:xfrm>
            <a:off x="10332720" y="4114800"/>
            <a:ext cx="1234440" cy="256032"/>
          </a:xfrm>
          <a:prstGeom prst="rect">
            <a:avLst/>
          </a:prstGeom>
          <a:solidFill>
            <a:srgbClr val="F3F5F8"/>
          </a:solidFill>
          <a:ln w="12700">
            <a:solidFill>
              <a:srgbClr val="F3F5F8"/>
            </a:solidFill>
            <a:prstDash val="solid"/>
          </a:ln>
        </p:spPr>
      </p:sp>
      <p:sp>
        <p:nvSpPr>
          <p:cNvPr id="36" name="Shape 34"/>
          <p:cNvSpPr/>
          <p:nvPr/>
        </p:nvSpPr>
        <p:spPr>
          <a:xfrm>
            <a:off x="10332720" y="4114800"/>
            <a:ext cx="432054" cy="256032"/>
          </a:xfrm>
          <a:prstGeom prst="rect">
            <a:avLst/>
          </a:prstGeom>
          <a:solidFill>
            <a:srgbClr val="E08A1E"/>
          </a:solidFill>
          <a:ln w="12700">
            <a:solidFill>
              <a:srgbClr val="E08A1E"/>
            </a:solidFill>
            <a:prstDash val="solid"/>
          </a:ln>
        </p:spPr>
      </p:sp>
      <p:sp>
        <p:nvSpPr>
          <p:cNvPr id="37" name="Shape 35"/>
          <p:cNvSpPr/>
          <p:nvPr/>
        </p:nvSpPr>
        <p:spPr>
          <a:xfrm>
            <a:off x="6858000" y="4590288"/>
            <a:ext cx="4782312" cy="0"/>
          </a:xfrm>
          <a:prstGeom prst="line">
            <a:avLst/>
          </a:prstGeom>
          <a:noFill/>
          <a:ln w="9525">
            <a:solidFill>
              <a:srgbClr val="D3D9E1"/>
            </a:solidFill>
            <a:prstDash val="solid"/>
          </a:ln>
        </p:spPr>
      </p:sp>
      <p:sp>
        <p:nvSpPr>
          <p:cNvPr id="38" name="Text 36"/>
          <p:cNvSpPr txBox="1"/>
          <p:nvPr/>
        </p:nvSpPr>
        <p:spPr>
          <a:xfrm>
            <a:off x="6858000" y="4736592"/>
            <a:ext cx="2011680" cy="274320"/>
          </a:xfrm>
          <a:prstGeom prst="rect">
            <a:avLst/>
          </a:prstGeom>
          <a:noFill/>
          <a:ln/>
        </p:spPr>
        <p:txBody>
          <a:bodyPr wrap="square" lIns="0" tIns="0" rIns="0" bIns="0" rtlCol="0" anchor="t"/>
          <a:lstStyle/>
          <a:p>
            <a:pPr algn="l" indent="0" marL="0">
              <a:buNone/>
            </a:pPr>
            <a:r>
              <a:rPr lang="en-US" sz="1150" b="1" dirty="0">
                <a:solidFill>
                  <a:srgbClr val="1C212B"/>
                </a:solidFill>
                <a:latin typeface="Courier New" pitchFamily="34" charset="0"/>
                <a:ea typeface="Courier New" pitchFamily="34" charset="-122"/>
                <a:cs typeface="Courier New" pitchFamily="34" charset="-120"/>
              </a:rPr>
              <a:t>read_all_write_own</a:t>
            </a:r>
            <a:endParaRPr lang="en-US" sz="1150" dirty="0"/>
          </a:p>
        </p:txBody>
      </p:sp>
      <p:sp>
        <p:nvSpPr>
          <p:cNvPr id="39" name="Shape 37"/>
          <p:cNvSpPr/>
          <p:nvPr/>
        </p:nvSpPr>
        <p:spPr>
          <a:xfrm>
            <a:off x="8915400" y="4754880"/>
            <a:ext cx="1234440" cy="256032"/>
          </a:xfrm>
          <a:prstGeom prst="rect">
            <a:avLst/>
          </a:prstGeom>
          <a:solidFill>
            <a:srgbClr val="F3F5F8"/>
          </a:solidFill>
          <a:ln w="12700">
            <a:solidFill>
              <a:srgbClr val="F3F5F8"/>
            </a:solidFill>
            <a:prstDash val="solid"/>
          </a:ln>
        </p:spPr>
      </p:sp>
      <p:sp>
        <p:nvSpPr>
          <p:cNvPr id="40" name="Shape 38"/>
          <p:cNvSpPr/>
          <p:nvPr/>
        </p:nvSpPr>
        <p:spPr>
          <a:xfrm>
            <a:off x="8915400" y="4754880"/>
            <a:ext cx="1234440" cy="256032"/>
          </a:xfrm>
          <a:prstGeom prst="rect">
            <a:avLst/>
          </a:prstGeom>
          <a:solidFill>
            <a:srgbClr val="15877D"/>
          </a:solidFill>
          <a:ln w="12700">
            <a:solidFill>
              <a:srgbClr val="15877D"/>
            </a:solidFill>
            <a:prstDash val="solid"/>
          </a:ln>
        </p:spPr>
      </p:sp>
      <p:sp>
        <p:nvSpPr>
          <p:cNvPr id="41" name="Shape 39"/>
          <p:cNvSpPr/>
          <p:nvPr/>
        </p:nvSpPr>
        <p:spPr>
          <a:xfrm>
            <a:off x="10332720" y="4754880"/>
            <a:ext cx="1234440" cy="256032"/>
          </a:xfrm>
          <a:prstGeom prst="rect">
            <a:avLst/>
          </a:prstGeom>
          <a:solidFill>
            <a:srgbClr val="F3F5F8"/>
          </a:solidFill>
          <a:ln w="12700">
            <a:solidFill>
              <a:srgbClr val="F3F5F8"/>
            </a:solidFill>
            <a:prstDash val="solid"/>
          </a:ln>
        </p:spPr>
      </p:sp>
      <p:sp>
        <p:nvSpPr>
          <p:cNvPr id="42" name="Shape 40"/>
          <p:cNvSpPr/>
          <p:nvPr/>
        </p:nvSpPr>
        <p:spPr>
          <a:xfrm>
            <a:off x="10332720" y="4754880"/>
            <a:ext cx="432054" cy="256032"/>
          </a:xfrm>
          <a:prstGeom prst="rect">
            <a:avLst/>
          </a:prstGeom>
          <a:solidFill>
            <a:srgbClr val="E08A1E"/>
          </a:solidFill>
          <a:ln w="12700">
            <a:solidFill>
              <a:srgbClr val="E08A1E"/>
            </a:solidFill>
            <a:prstDash val="solid"/>
          </a:ln>
        </p:spPr>
      </p:sp>
      <p:sp>
        <p:nvSpPr>
          <p:cNvPr id="43" name="Shape 41"/>
          <p:cNvSpPr/>
          <p:nvPr/>
        </p:nvSpPr>
        <p:spPr>
          <a:xfrm>
            <a:off x="6858000" y="5230368"/>
            <a:ext cx="4782312" cy="0"/>
          </a:xfrm>
          <a:prstGeom prst="line">
            <a:avLst/>
          </a:prstGeom>
          <a:noFill/>
          <a:ln w="9525">
            <a:solidFill>
              <a:srgbClr val="D3D9E1"/>
            </a:solidFill>
            <a:prstDash val="solid"/>
          </a:ln>
        </p:spPr>
      </p:sp>
      <p:sp>
        <p:nvSpPr>
          <p:cNvPr id="44" name="Text 42"/>
          <p:cNvSpPr txBox="1"/>
          <p:nvPr/>
        </p:nvSpPr>
        <p:spPr>
          <a:xfrm>
            <a:off x="6858000" y="537667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full</a:t>
            </a:r>
            <a:endParaRPr lang="en-US" sz="1150" dirty="0"/>
          </a:p>
        </p:txBody>
      </p:sp>
      <p:sp>
        <p:nvSpPr>
          <p:cNvPr id="45" name="Shape 43"/>
          <p:cNvSpPr/>
          <p:nvPr/>
        </p:nvSpPr>
        <p:spPr>
          <a:xfrm>
            <a:off x="8915400" y="5394960"/>
            <a:ext cx="1234440" cy="256032"/>
          </a:xfrm>
          <a:prstGeom prst="rect">
            <a:avLst/>
          </a:prstGeom>
          <a:solidFill>
            <a:srgbClr val="F3F5F8"/>
          </a:solidFill>
          <a:ln w="12700">
            <a:solidFill>
              <a:srgbClr val="F3F5F8"/>
            </a:solidFill>
            <a:prstDash val="solid"/>
          </a:ln>
        </p:spPr>
      </p:sp>
      <p:sp>
        <p:nvSpPr>
          <p:cNvPr id="46" name="Shape 44"/>
          <p:cNvSpPr/>
          <p:nvPr/>
        </p:nvSpPr>
        <p:spPr>
          <a:xfrm>
            <a:off x="8915400" y="5394960"/>
            <a:ext cx="1234440" cy="256032"/>
          </a:xfrm>
          <a:prstGeom prst="rect">
            <a:avLst/>
          </a:prstGeom>
          <a:solidFill>
            <a:srgbClr val="15877D"/>
          </a:solidFill>
          <a:ln w="12700">
            <a:solidFill>
              <a:srgbClr val="15877D"/>
            </a:solidFill>
            <a:prstDash val="solid"/>
          </a:ln>
        </p:spPr>
      </p:sp>
      <p:sp>
        <p:nvSpPr>
          <p:cNvPr id="47" name="Shape 45"/>
          <p:cNvSpPr/>
          <p:nvPr/>
        </p:nvSpPr>
        <p:spPr>
          <a:xfrm>
            <a:off x="10332720" y="5394960"/>
            <a:ext cx="1234440" cy="256032"/>
          </a:xfrm>
          <a:prstGeom prst="rect">
            <a:avLst/>
          </a:prstGeom>
          <a:solidFill>
            <a:srgbClr val="F3F5F8"/>
          </a:solidFill>
          <a:ln w="12700">
            <a:solidFill>
              <a:srgbClr val="F3F5F8"/>
            </a:solidFill>
            <a:prstDash val="solid"/>
          </a:ln>
        </p:spPr>
      </p:sp>
      <p:sp>
        <p:nvSpPr>
          <p:cNvPr id="48" name="Shape 46"/>
          <p:cNvSpPr/>
          <p:nvPr/>
        </p:nvSpPr>
        <p:spPr>
          <a:xfrm>
            <a:off x="10332720" y="5394960"/>
            <a:ext cx="1234440" cy="256032"/>
          </a:xfrm>
          <a:prstGeom prst="rect">
            <a:avLst/>
          </a:prstGeom>
          <a:solidFill>
            <a:srgbClr val="E08A1E"/>
          </a:solidFill>
          <a:ln w="12700">
            <a:solidFill>
              <a:srgbClr val="E08A1E"/>
            </a:solidFill>
            <a:prstDash val="solid"/>
          </a:ln>
        </p:spPr>
      </p:sp>
      <p:sp>
        <p:nvSpPr>
          <p:cNvPr id="49" name="Text 47"/>
          <p:cNvSpPr txBox="1"/>
          <p:nvPr/>
        </p:nvSpPr>
        <p:spPr>
          <a:xfrm>
            <a:off x="6858000" y="5989320"/>
            <a:ext cx="4800600" cy="457200"/>
          </a:xfrm>
          <a:prstGeom prst="rect">
            <a:avLst/>
          </a:prstGeom>
          <a:noFill/>
          <a:ln/>
        </p:spPr>
        <p:txBody>
          <a:bodyPr wrap="square" lIns="0" tIns="0" rIns="0" bIns="0" rtlCol="0" anchor="t"/>
          <a:lstStyle/>
          <a:p>
            <a:pPr algn="l" indent="0" marL="0">
              <a:buNone/>
            </a:pPr>
            <a:r>
              <a:rPr lang="en-US" sz="1100" i="1" dirty="0">
                <a:solidFill>
                  <a:srgbClr val="5B6472"/>
                </a:solidFill>
                <a:latin typeface="Calibri" pitchFamily="34" charset="0"/>
                <a:ea typeface="Calibri" pitchFamily="34" charset="-122"/>
                <a:cs typeface="Calibri" pitchFamily="34" charset="-120"/>
              </a:rPr>
              <a:t>Short bar = only the agent's own folder. read_all_write_own is what most tasks want: read everything, save somewhere bounded.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CONCURRENCY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Two writers, one file: how the VFS stays consistent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An agent, a person in an editor and another agent can all touch the same document.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24</a:t>
            </a:r>
            <a:endParaRPr lang="en-US" sz="1000" dirty="0"/>
          </a:p>
        </p:txBody>
      </p:sp>
      <p:sp>
        <p:nvSpPr>
          <p:cNvPr id="6" name="Text 4"/>
          <p:cNvSpPr txBox="1"/>
          <p:nvPr/>
        </p:nvSpPr>
        <p:spPr>
          <a:xfrm>
            <a:off x="502920" y="2011680"/>
            <a:ext cx="1463040" cy="502920"/>
          </a:xfrm>
          <a:prstGeom prst="roundRect">
            <a:avLst>
              <a:gd name="adj" fmla="val 14545"/>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Agent</a:t>
            </a:r>
            <a:endParaRPr lang="en-US" sz="1300" dirty="0"/>
          </a:p>
        </p:txBody>
      </p:sp>
      <p:sp>
        <p:nvSpPr>
          <p:cNvPr id="7" name="Shape 5"/>
          <p:cNvSpPr/>
          <p:nvPr/>
        </p:nvSpPr>
        <p:spPr>
          <a:xfrm>
            <a:off x="1234440" y="2514600"/>
            <a:ext cx="0" cy="3611880"/>
          </a:xfrm>
          <a:prstGeom prst="line">
            <a:avLst/>
          </a:prstGeom>
          <a:noFill/>
          <a:ln w="15875">
            <a:solidFill>
              <a:srgbClr val="D3D9E1"/>
            </a:solidFill>
            <a:prstDash val="dash"/>
          </a:ln>
        </p:spPr>
      </p:sp>
      <p:sp>
        <p:nvSpPr>
          <p:cNvPr id="8" name="Text 6"/>
          <p:cNvSpPr txBox="1"/>
          <p:nvPr/>
        </p:nvSpPr>
        <p:spPr>
          <a:xfrm>
            <a:off x="2880360" y="2011680"/>
            <a:ext cx="1463040" cy="502920"/>
          </a:xfrm>
          <a:prstGeom prst="roundRect">
            <a:avLst>
              <a:gd name="adj" fmla="val 14545"/>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300" b="1" dirty="0">
                <a:solidFill>
                  <a:srgbClr val="FFFFFF"/>
                </a:solidFill>
                <a:latin typeface="Arial" pitchFamily="34" charset="0"/>
                <a:ea typeface="Arial" pitchFamily="34" charset="-122"/>
                <a:cs typeface="Arial" pitchFamily="34" charset="-120"/>
              </a:rPr>
              <a:t>VFS</a:t>
            </a:r>
            <a:endParaRPr lang="en-US" sz="1300" dirty="0"/>
          </a:p>
        </p:txBody>
      </p:sp>
      <p:sp>
        <p:nvSpPr>
          <p:cNvPr id="9" name="Shape 7"/>
          <p:cNvSpPr/>
          <p:nvPr/>
        </p:nvSpPr>
        <p:spPr>
          <a:xfrm>
            <a:off x="3611880" y="2514600"/>
            <a:ext cx="0" cy="3611880"/>
          </a:xfrm>
          <a:prstGeom prst="line">
            <a:avLst/>
          </a:prstGeom>
          <a:noFill/>
          <a:ln w="15875">
            <a:solidFill>
              <a:srgbClr val="D3D9E1"/>
            </a:solidFill>
            <a:prstDash val="dash"/>
          </a:ln>
        </p:spPr>
      </p:sp>
      <p:sp>
        <p:nvSpPr>
          <p:cNvPr id="10" name="Text 8"/>
          <p:cNvSpPr txBox="1"/>
          <p:nvPr/>
        </p:nvSpPr>
        <p:spPr>
          <a:xfrm>
            <a:off x="5257800" y="2011680"/>
            <a:ext cx="1463040" cy="502920"/>
          </a:xfrm>
          <a:prstGeom prst="roundRect">
            <a:avLst>
              <a:gd name="adj" fmla="val 14545"/>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You (editor)</a:t>
            </a:r>
            <a:endParaRPr lang="en-US" sz="1300" dirty="0"/>
          </a:p>
        </p:txBody>
      </p:sp>
      <p:sp>
        <p:nvSpPr>
          <p:cNvPr id="11" name="Shape 9"/>
          <p:cNvSpPr/>
          <p:nvPr/>
        </p:nvSpPr>
        <p:spPr>
          <a:xfrm>
            <a:off x="5989320" y="2514600"/>
            <a:ext cx="0" cy="3611880"/>
          </a:xfrm>
          <a:prstGeom prst="line">
            <a:avLst/>
          </a:prstGeom>
          <a:noFill/>
          <a:ln w="15875">
            <a:solidFill>
              <a:srgbClr val="D3D9E1"/>
            </a:solidFill>
            <a:prstDash val="dash"/>
          </a:ln>
        </p:spPr>
      </p:sp>
      <p:sp>
        <p:nvSpPr>
          <p:cNvPr id="12" name="Shape 10"/>
          <p:cNvSpPr/>
          <p:nvPr/>
        </p:nvSpPr>
        <p:spPr>
          <a:xfrm>
            <a:off x="1234440" y="2971800"/>
            <a:ext cx="2377440" cy="0"/>
          </a:xfrm>
          <a:prstGeom prst="line">
            <a:avLst/>
          </a:prstGeom>
          <a:noFill/>
          <a:ln w="22225">
            <a:solidFill>
              <a:srgbClr val="4E5A6B"/>
            </a:solidFill>
            <a:prstDash val="solid"/>
            <a:tailEnd type="triangle"/>
          </a:ln>
        </p:spPr>
      </p:sp>
      <p:sp>
        <p:nvSpPr>
          <p:cNvPr id="13" name="Text 11"/>
          <p:cNvSpPr txBox="1"/>
          <p:nvPr/>
        </p:nvSpPr>
        <p:spPr>
          <a:xfrm>
            <a:off x="1307592" y="2697480"/>
            <a:ext cx="2231136" cy="237744"/>
          </a:xfrm>
          <a:prstGeom prst="rect">
            <a:avLst/>
          </a:prstGeom>
          <a:noFill/>
          <a:ln/>
        </p:spPr>
        <p:txBody>
          <a:bodyPr wrap="square" lIns="0" tIns="0" rIns="0" bIns="0" rtlCol="0" anchor="t"/>
          <a:lstStyle/>
          <a:p>
            <a:pPr algn="ctr" indent="0" marL="0">
              <a:buNone/>
            </a:pPr>
            <a:r>
              <a:rPr lang="en-US" sz="1050" dirty="0">
                <a:solidFill>
                  <a:srgbClr val="1C212B"/>
                </a:solidFill>
                <a:latin typeface="Calibri" pitchFamily="34" charset="0"/>
                <a:ea typeface="Calibri" pitchFamily="34" charset="-122"/>
                <a:cs typeface="Calibri" pitchFamily="34" charset="-120"/>
              </a:rPr>
              <a:t>read_file</a:t>
            </a:r>
            <a:endParaRPr lang="en-US" sz="1050" dirty="0"/>
          </a:p>
        </p:txBody>
      </p:sp>
      <p:sp>
        <p:nvSpPr>
          <p:cNvPr id="14" name="Shape 12"/>
          <p:cNvSpPr/>
          <p:nvPr/>
        </p:nvSpPr>
        <p:spPr>
          <a:xfrm flipH="1">
            <a:off x="1234440" y="3474720"/>
            <a:ext cx="2377440" cy="0"/>
          </a:xfrm>
          <a:prstGeom prst="line">
            <a:avLst/>
          </a:prstGeom>
          <a:noFill/>
          <a:ln w="22225">
            <a:solidFill>
              <a:srgbClr val="4E5A6B"/>
            </a:solidFill>
            <a:prstDash val="dash"/>
            <a:tailEnd type="triangle"/>
          </a:ln>
        </p:spPr>
      </p:sp>
      <p:sp>
        <p:nvSpPr>
          <p:cNvPr id="15" name="Text 13"/>
          <p:cNvSpPr txBox="1"/>
          <p:nvPr/>
        </p:nvSpPr>
        <p:spPr>
          <a:xfrm>
            <a:off x="1307592" y="3200400"/>
            <a:ext cx="2231136" cy="237744"/>
          </a:xfrm>
          <a:prstGeom prst="rect">
            <a:avLst/>
          </a:prstGeom>
          <a:noFill/>
          <a:ln/>
        </p:spPr>
        <p:txBody>
          <a:bodyPr wrap="square" lIns="0" tIns="0" rIns="0" bIns="0" rtlCol="0" anchor="t"/>
          <a:lstStyle/>
          <a:p>
            <a:pPr algn="ctr" indent="0" marL="0">
              <a:buNone/>
            </a:pPr>
            <a:r>
              <a:rPr lang="en-US" sz="1050" i="1" dirty="0">
                <a:solidFill>
                  <a:srgbClr val="5B6472"/>
                </a:solidFill>
                <a:latin typeface="Calibri" pitchFamily="34" charset="0"/>
                <a:ea typeface="Calibri" pitchFamily="34" charset="-122"/>
                <a:cs typeface="Calibri" pitchFamily="34" charset="-120"/>
              </a:rPr>
              <a:t>content + version v7</a:t>
            </a:r>
            <a:endParaRPr lang="en-US" sz="1050" dirty="0"/>
          </a:p>
        </p:txBody>
      </p:sp>
      <p:sp>
        <p:nvSpPr>
          <p:cNvPr id="16" name="Shape 14"/>
          <p:cNvSpPr/>
          <p:nvPr/>
        </p:nvSpPr>
        <p:spPr>
          <a:xfrm flipH="1">
            <a:off x="3611880" y="4114800"/>
            <a:ext cx="2377440" cy="0"/>
          </a:xfrm>
          <a:prstGeom prst="line">
            <a:avLst/>
          </a:prstGeom>
          <a:noFill/>
          <a:ln w="22225">
            <a:solidFill>
              <a:srgbClr val="4E5A6B"/>
            </a:solidFill>
            <a:prstDash val="solid"/>
            <a:tailEnd type="triangle"/>
          </a:ln>
        </p:spPr>
      </p:sp>
      <p:sp>
        <p:nvSpPr>
          <p:cNvPr id="17" name="Text 15"/>
          <p:cNvSpPr txBox="1"/>
          <p:nvPr/>
        </p:nvSpPr>
        <p:spPr>
          <a:xfrm>
            <a:off x="3685032" y="3840480"/>
            <a:ext cx="2231136" cy="237744"/>
          </a:xfrm>
          <a:prstGeom prst="rect">
            <a:avLst/>
          </a:prstGeom>
          <a:noFill/>
          <a:ln/>
        </p:spPr>
        <p:txBody>
          <a:bodyPr wrap="square" lIns="0" tIns="0" rIns="0" bIns="0" rtlCol="0" anchor="t"/>
          <a:lstStyle/>
          <a:p>
            <a:pPr algn="ctr" indent="0" marL="0">
              <a:buNone/>
            </a:pPr>
            <a:r>
              <a:rPr lang="en-US" sz="1050" dirty="0">
                <a:solidFill>
                  <a:srgbClr val="1C212B"/>
                </a:solidFill>
                <a:latin typeface="Calibri" pitchFamily="34" charset="0"/>
                <a:ea typeface="Calibri" pitchFamily="34" charset="-122"/>
                <a:cs typeface="Calibri" pitchFamily="34" charset="-120"/>
              </a:rPr>
              <a:t>autosave an edit</a:t>
            </a:r>
            <a:endParaRPr lang="en-US" sz="1050" dirty="0"/>
          </a:p>
        </p:txBody>
      </p:sp>
      <p:sp>
        <p:nvSpPr>
          <p:cNvPr id="18" name="Text 16"/>
          <p:cNvSpPr txBox="1"/>
          <p:nvPr/>
        </p:nvSpPr>
        <p:spPr>
          <a:xfrm>
            <a:off x="3703320" y="4251960"/>
            <a:ext cx="2103120" cy="237744"/>
          </a:xfrm>
          <a:prstGeom prst="rect">
            <a:avLst/>
          </a:prstGeom>
          <a:noFill/>
          <a:ln/>
        </p:spPr>
        <p:txBody>
          <a:bodyPr wrap="square" lIns="0" tIns="0" rIns="0" bIns="0" rtlCol="0" anchor="t"/>
          <a:lstStyle/>
          <a:p>
            <a:pPr algn="l" indent="0" marL="0">
              <a:buNone/>
            </a:pPr>
            <a:r>
              <a:rPr lang="en-US" sz="1050" i="1" dirty="0">
                <a:solidFill>
                  <a:srgbClr val="0D5C55"/>
                </a:solidFill>
                <a:latin typeface="Calibri" pitchFamily="34" charset="0"/>
                <a:ea typeface="Calibri" pitchFamily="34" charset="-122"/>
                <a:cs typeface="Calibri" pitchFamily="34" charset="-120"/>
              </a:rPr>
              <a:t>v7 kept as a version → v8</a:t>
            </a:r>
            <a:endParaRPr lang="en-US" sz="1050" dirty="0"/>
          </a:p>
        </p:txBody>
      </p:sp>
      <p:sp>
        <p:nvSpPr>
          <p:cNvPr id="19" name="Shape 17"/>
          <p:cNvSpPr/>
          <p:nvPr/>
        </p:nvSpPr>
        <p:spPr>
          <a:xfrm>
            <a:off x="1234440" y="4937760"/>
            <a:ext cx="2377440" cy="0"/>
          </a:xfrm>
          <a:prstGeom prst="line">
            <a:avLst/>
          </a:prstGeom>
          <a:noFill/>
          <a:ln w="22225">
            <a:solidFill>
              <a:srgbClr val="4E5A6B"/>
            </a:solidFill>
            <a:prstDash val="solid"/>
            <a:tailEnd type="triangle"/>
          </a:ln>
        </p:spPr>
      </p:sp>
      <p:sp>
        <p:nvSpPr>
          <p:cNvPr id="20" name="Text 18"/>
          <p:cNvSpPr txBox="1"/>
          <p:nvPr/>
        </p:nvSpPr>
        <p:spPr>
          <a:xfrm>
            <a:off x="1307592" y="4663440"/>
            <a:ext cx="2231136" cy="237744"/>
          </a:xfrm>
          <a:prstGeom prst="rect">
            <a:avLst/>
          </a:prstGeom>
          <a:noFill/>
          <a:ln/>
        </p:spPr>
        <p:txBody>
          <a:bodyPr wrap="square" lIns="0" tIns="0" rIns="0" bIns="0" rtlCol="0" anchor="t"/>
          <a:lstStyle/>
          <a:p>
            <a:pPr algn="ctr" indent="0" marL="0">
              <a:buNone/>
            </a:pPr>
            <a:r>
              <a:rPr lang="en-US" sz="1050" dirty="0">
                <a:solidFill>
                  <a:srgbClr val="1C212B"/>
                </a:solidFill>
                <a:latin typeface="Calibri" pitchFamily="34" charset="0"/>
                <a:ea typeface="Calibri" pitchFamily="34" charset="-122"/>
                <a:cs typeface="Calibri" pitchFamily="34" charset="-120"/>
              </a:rPr>
              <a:t>edit_file(expected_version = v7)</a:t>
            </a:r>
            <a:endParaRPr lang="en-US" sz="1050" dirty="0"/>
          </a:p>
        </p:txBody>
      </p:sp>
      <p:sp>
        <p:nvSpPr>
          <p:cNvPr id="21" name="Shape 19"/>
          <p:cNvSpPr/>
          <p:nvPr/>
        </p:nvSpPr>
        <p:spPr>
          <a:xfrm flipH="1">
            <a:off x="1234440" y="5440680"/>
            <a:ext cx="2377440" cy="0"/>
          </a:xfrm>
          <a:prstGeom prst="line">
            <a:avLst/>
          </a:prstGeom>
          <a:noFill/>
          <a:ln w="22225">
            <a:solidFill>
              <a:srgbClr val="C4433A"/>
            </a:solidFill>
            <a:prstDash val="dash"/>
            <a:tailEnd type="triangle"/>
          </a:ln>
        </p:spPr>
      </p:sp>
      <p:sp>
        <p:nvSpPr>
          <p:cNvPr id="22" name="Text 20"/>
          <p:cNvSpPr txBox="1"/>
          <p:nvPr/>
        </p:nvSpPr>
        <p:spPr>
          <a:xfrm>
            <a:off x="1307592" y="5166360"/>
            <a:ext cx="2231136" cy="237744"/>
          </a:xfrm>
          <a:prstGeom prst="rect">
            <a:avLst/>
          </a:prstGeom>
          <a:noFill/>
          <a:ln/>
        </p:spPr>
        <p:txBody>
          <a:bodyPr wrap="square" lIns="0" tIns="0" rIns="0" bIns="0" rtlCol="0" anchor="t"/>
          <a:lstStyle/>
          <a:p>
            <a:pPr algn="ctr" indent="0" marL="0">
              <a:buNone/>
            </a:pPr>
            <a:r>
              <a:rPr lang="en-US" sz="1050" i="1" dirty="0">
                <a:solidFill>
                  <a:srgbClr val="8E2B24"/>
                </a:solidFill>
                <a:latin typeface="Calibri" pitchFamily="34" charset="0"/>
                <a:ea typeface="Calibri" pitchFamily="34" charset="-122"/>
                <a:cs typeface="Calibri" pitchFamily="34" charset="-120"/>
              </a:rPr>
              <a:t>refused: changed since you read it</a:t>
            </a:r>
            <a:endParaRPr lang="en-US" sz="1050" dirty="0"/>
          </a:p>
        </p:txBody>
      </p:sp>
      <p:sp>
        <p:nvSpPr>
          <p:cNvPr id="23" name="Text 21"/>
          <p:cNvSpPr txBox="1"/>
          <p:nvPr/>
        </p:nvSpPr>
        <p:spPr>
          <a:xfrm>
            <a:off x="7086600" y="2103120"/>
            <a:ext cx="457200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No unique-name constraint, on purpose</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Uploads and attachments create same-named siblings by design; a constraint would fail the second upload of report.pdf.</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Lock the name, not the table</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Look-up-then-write runs under a Postgres advisory lock per folder and name (SQLite: an immediate transaction).</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Stale writes are refused</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Reads return a version; writes may pass expected_version — the same check the apps' autosave uses.</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Nothing is lost</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Every overwrite keeps a version: 25 kept, up to 25 MB, one per 5-minute burst. Delete is a state, restorable for 30 days.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CODE WORKSPACES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coding team shares one tree, with leases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Several workers edit one repository at once. Claims stop collisions; a hash check catches the rest.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2011680"/>
            <a:ext cx="6035040" cy="2926080"/>
          </a:xfrm>
          <a:prstGeom prst="roundRect">
            <a:avLst>
              <a:gd name="adj" fmla="val 3125"/>
            </a:avLst>
          </a:prstGeom>
          <a:solidFill>
            <a:srgbClr val="F3F5F8"/>
          </a:solidFill>
          <a:ln w="12700">
            <a:solidFill>
              <a:srgbClr val="F3F5F8"/>
            </a:solidFill>
            <a:prstDash val="solid"/>
          </a:ln>
        </p:spPr>
      </p:sp>
      <p:sp>
        <p:nvSpPr>
          <p:cNvPr id="7" name="Text 5"/>
          <p:cNvSpPr txBox="1"/>
          <p:nvPr/>
        </p:nvSpPr>
        <p:spPr>
          <a:xfrm>
            <a:off x="822960" y="2240280"/>
            <a:ext cx="2743200" cy="274320"/>
          </a:xfrm>
          <a:prstGeom prst="rect">
            <a:avLst/>
          </a:prstGeom>
          <a:noFill/>
          <a:ln/>
        </p:spPr>
        <p:txBody>
          <a:bodyPr wrap="square" lIns="0" tIns="0" rIns="0" bIns="0" rtlCol="0" anchor="t"/>
          <a:lstStyle/>
          <a:p>
            <a:pPr algn="l" indent="0" marL="0">
              <a:buNone/>
            </a:pPr>
            <a:r>
              <a:rPr lang="en-US" sz="1300" b="1" dirty="0">
                <a:solidFill>
                  <a:srgbClr val="1C212B"/>
                </a:solidFill>
                <a:latin typeface="Courier New" pitchFamily="34" charset="0"/>
                <a:ea typeface="Courier New" pitchFamily="34" charset="-122"/>
                <a:cs typeface="Courier New" pitchFamily="34" charset="-120"/>
              </a:rPr>
              <a:t>repo/</a:t>
            </a:r>
            <a:endParaRPr lang="en-US" sz="1300" dirty="0"/>
          </a:p>
        </p:txBody>
      </p:sp>
      <p:sp>
        <p:nvSpPr>
          <p:cNvPr id="8" name="Text 6"/>
          <p:cNvSpPr txBox="1"/>
          <p:nvPr/>
        </p:nvSpPr>
        <p:spPr>
          <a:xfrm>
            <a:off x="822960" y="2770632"/>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src/api/</a:t>
            </a:r>
            <a:endParaRPr lang="en-US" sz="1300" dirty="0"/>
          </a:p>
        </p:txBody>
      </p:sp>
      <p:sp>
        <p:nvSpPr>
          <p:cNvPr id="9" name="Text 7"/>
          <p:cNvSpPr txBox="1"/>
          <p:nvPr/>
        </p:nvSpPr>
        <p:spPr>
          <a:xfrm>
            <a:off x="3931920" y="2724912"/>
            <a:ext cx="2377440" cy="347472"/>
          </a:xfrm>
          <a:prstGeom prst="roundRect">
            <a:avLst>
              <a:gd name="adj" fmla="val 15789"/>
            </a:avLst>
          </a:prstGeom>
          <a:solidFill>
            <a:srgbClr val="15877D"/>
          </a:solidFill>
          <a:ln>
            <a:solidFill>
              <a:srgbClr val="15877D"/>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Implementer 1</a:t>
            </a:r>
            <a:endParaRPr lang="en-US" sz="1150" dirty="0"/>
          </a:p>
        </p:txBody>
      </p:sp>
      <p:sp>
        <p:nvSpPr>
          <p:cNvPr id="10" name="Text 8"/>
          <p:cNvSpPr txBox="1"/>
          <p:nvPr/>
        </p:nvSpPr>
        <p:spPr>
          <a:xfrm>
            <a:off x="822960" y="3300984"/>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src/ui/</a:t>
            </a:r>
            <a:endParaRPr lang="en-US" sz="1300" dirty="0"/>
          </a:p>
        </p:txBody>
      </p:sp>
      <p:sp>
        <p:nvSpPr>
          <p:cNvPr id="11" name="Text 9"/>
          <p:cNvSpPr txBox="1"/>
          <p:nvPr/>
        </p:nvSpPr>
        <p:spPr>
          <a:xfrm>
            <a:off x="3931920" y="3255264"/>
            <a:ext cx="2377440" cy="347472"/>
          </a:xfrm>
          <a:prstGeom prst="roundRect">
            <a:avLst>
              <a:gd name="adj" fmla="val 15789"/>
            </a:avLst>
          </a:prstGeom>
          <a:solidFill>
            <a:srgbClr val="E08A1E"/>
          </a:solidFill>
          <a:ln>
            <a:solidFill>
              <a:srgbClr val="E08A1E"/>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Implementer 2</a:t>
            </a:r>
            <a:endParaRPr lang="en-US" sz="1150" dirty="0"/>
          </a:p>
        </p:txBody>
      </p:sp>
      <p:sp>
        <p:nvSpPr>
          <p:cNvPr id="12" name="Text 10"/>
          <p:cNvSpPr txBox="1"/>
          <p:nvPr/>
        </p:nvSpPr>
        <p:spPr>
          <a:xfrm>
            <a:off x="822960" y="3831336"/>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tests/</a:t>
            </a:r>
            <a:endParaRPr lang="en-US" sz="1300" dirty="0"/>
          </a:p>
        </p:txBody>
      </p:sp>
      <p:sp>
        <p:nvSpPr>
          <p:cNvPr id="13" name="Text 11"/>
          <p:cNvSpPr txBox="1"/>
          <p:nvPr/>
        </p:nvSpPr>
        <p:spPr>
          <a:xfrm>
            <a:off x="3931920" y="3785616"/>
            <a:ext cx="2377440" cy="347472"/>
          </a:xfrm>
          <a:prstGeom prst="roundRect">
            <a:avLst>
              <a:gd name="adj" fmla="val 15789"/>
            </a:avLst>
          </a:prstGeom>
          <a:solidFill>
            <a:srgbClr val="4E5A6B"/>
          </a:solidFill>
          <a:ln>
            <a:solidFill>
              <a:srgbClr val="4E5A6B"/>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Test-writer</a:t>
            </a:r>
            <a:endParaRPr lang="en-US" sz="1150" dirty="0"/>
          </a:p>
        </p:txBody>
      </p:sp>
      <p:sp>
        <p:nvSpPr>
          <p:cNvPr id="14" name="Text 12"/>
          <p:cNvSpPr txBox="1"/>
          <p:nvPr/>
        </p:nvSpPr>
        <p:spPr>
          <a:xfrm>
            <a:off x="822960" y="4361688"/>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README.md</a:t>
            </a:r>
            <a:endParaRPr lang="en-US" sz="1300" dirty="0"/>
          </a:p>
        </p:txBody>
      </p:sp>
      <p:sp>
        <p:nvSpPr>
          <p:cNvPr id="15" name="Text 13"/>
          <p:cNvSpPr txBox="1"/>
          <p:nvPr/>
        </p:nvSpPr>
        <p:spPr>
          <a:xfrm>
            <a:off x="3931920" y="4315968"/>
            <a:ext cx="2377440" cy="347472"/>
          </a:xfrm>
          <a:prstGeom prst="roundRect">
            <a:avLst>
              <a:gd name="adj" fmla="val 15789"/>
            </a:avLst>
          </a:prstGeom>
          <a:solidFill>
            <a:srgbClr val="F3F5F8"/>
          </a:solidFill>
          <a:ln>
            <a:solidFill>
              <a:srgbClr val="D3D9E1"/>
            </a:solidFill>
          </a:ln>
        </p:spPr>
        <p:txBody>
          <a:bodyPr wrap="square" lIns="0" tIns="0" rIns="0" bIns="0" rtlCol="0" anchor="ctr"/>
          <a:lstStyle/>
          <a:p>
            <a:pPr algn="ctr" indent="0" marL="0">
              <a:buNone/>
            </a:pPr>
            <a:r>
              <a:rPr lang="en-US" sz="1150" b="1" dirty="0">
                <a:solidFill>
                  <a:srgbClr val="5B6472"/>
                </a:solidFill>
                <a:latin typeface="Calibri" pitchFamily="34" charset="0"/>
                <a:ea typeface="Calibri" pitchFamily="34" charset="-122"/>
                <a:cs typeface="Calibri" pitchFamily="34" charset="-120"/>
              </a:rPr>
              <a:t>free</a:t>
            </a:r>
            <a:endParaRPr lang="en-US" sz="1150" dirty="0"/>
          </a:p>
        </p:txBody>
      </p:sp>
      <p:sp>
        <p:nvSpPr>
          <p:cNvPr id="16" name="Text 14"/>
          <p:cNvSpPr txBox="1"/>
          <p:nvPr/>
        </p:nvSpPr>
        <p:spPr>
          <a:xfrm>
            <a:off x="548640" y="5120640"/>
            <a:ext cx="6035040" cy="1005840"/>
          </a:xfrm>
          <a:prstGeom prst="roundRect">
            <a:avLst>
              <a:gd name="adj" fmla="val 7273"/>
            </a:avLst>
          </a:prstGeom>
          <a:solidFill>
            <a:srgbClr val="FBE8E6"/>
          </a:solidFill>
          <a:ln w="12700">
            <a:solidFill>
              <a:srgbClr val="C4433A"/>
            </a:solidFill>
            <a:prstDash val="solid"/>
          </a:ln>
        </p:spPr>
        <p:txBody>
          <a:bodyPr wrap="square" lIns="50800" tIns="177800" rIns="177800" bIns="50800" rtlCol="0" anchor="ctr"/>
          <a:lstStyle/>
          <a:p>
            <a:pPr algn="l" indent="0" marL="0">
              <a:spcAft>
                <a:spcPts val="200"/>
              </a:spcAft>
              <a:buNone/>
            </a:pPr>
            <a:r>
              <a:rPr lang="en-US" sz="1350" b="1" dirty="0">
                <a:solidFill>
                  <a:srgbClr val="8E2B24"/>
                </a:solidFill>
                <a:latin typeface="Arial" pitchFamily="34" charset="0"/>
                <a:ea typeface="Arial" pitchFamily="34" charset="-122"/>
                <a:cs typeface="Arial" pitchFamily="34" charset="-120"/>
              </a:rPr>
              <a:t>Implementer 3 → claim src/api/client.ts</a:t>
            </a:r>
            <a:endParaRPr lang="en-US" sz="1350" dirty="0"/>
          </a:p>
          <a:p>
            <a:pPr algn="l" indent="0" marL="0">
              <a:spcAft>
                <a:spcPts val="200"/>
              </a:spcAft>
              <a:buNone/>
            </a:pPr>
            <a:r>
              <a:rPr lang="en-US" sz="1200" dirty="0">
                <a:solidFill>
                  <a:srgbClr val="5B6472"/>
                </a:solidFill>
                <a:latin typeface="Calibri" pitchFamily="34" charset="0"/>
                <a:ea typeface="Calibri" pitchFamily="34" charset="-122"/>
                <a:cs typeface="Calibri" pitchFamily="34" charset="-120"/>
              </a:rPr>
              <a:t>refused: held by Implementer 1 — the reason names the holder</a:t>
            </a:r>
            <a:endParaRPr lang="en-US" sz="1350" dirty="0"/>
          </a:p>
        </p:txBody>
      </p:sp>
      <p:sp>
        <p:nvSpPr>
          <p:cNvPr id="17" name="Text 15"/>
          <p:cNvSpPr txBox="1"/>
          <p:nvPr/>
        </p:nvSpPr>
        <p:spPr>
          <a:xfrm>
            <a:off x="7040880" y="2103120"/>
            <a:ext cx="461772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Claims are leases</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Taken atomically at dispatch, implicitly on write; released on every ending, plus a recovery sweep.</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The real guarantee: a stale-write guard</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ws_read records each file's sha256. An edit is refused if the file changed since — by a worker, the editor or a git checkout.</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Changes tell whoever read them</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Runs that read or claimed a path get one coalesced notice through the steering mailbox.</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Shared tree, not worktrees</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A deliberate choice, with at most three workers at once.</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OFFICE FILES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An office file is a spec our code renders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model says what each slide says and which layout says it. Our code decides how it looks.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26</a:t>
            </a:r>
            <a:endParaRPr lang="en-US" sz="1000" dirty="0"/>
          </a:p>
        </p:txBody>
      </p:sp>
      <p:sp>
        <p:nvSpPr>
          <p:cNvPr id="6" name="Text 4"/>
          <p:cNvSpPr txBox="1"/>
          <p:nvPr/>
        </p:nvSpPr>
        <p:spPr>
          <a:xfrm>
            <a:off x="548640" y="2103120"/>
            <a:ext cx="1554480" cy="1554480"/>
          </a:xfrm>
          <a:prstGeom prst="roundRect">
            <a:avLst>
              <a:gd name="adj" fmla="val 4706"/>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Model</a:t>
            </a:r>
            <a:endParaRPr lang="en-US" sz="14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render_deck</a:t>
            </a:r>
            <a:endParaRPr lang="en-US" sz="14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render_workbook</a:t>
            </a:r>
            <a:endParaRPr lang="en-US" sz="14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render_document</a:t>
            </a:r>
            <a:endParaRPr lang="en-US" sz="1400" dirty="0"/>
          </a:p>
        </p:txBody>
      </p:sp>
      <p:sp>
        <p:nvSpPr>
          <p:cNvPr id="7" name="Shape 5"/>
          <p:cNvSpPr/>
          <p:nvPr/>
        </p:nvSpPr>
        <p:spPr>
          <a:xfrm>
            <a:off x="2103120" y="2880360"/>
            <a:ext cx="411480" cy="0"/>
          </a:xfrm>
          <a:prstGeom prst="line">
            <a:avLst/>
          </a:prstGeom>
          <a:noFill/>
          <a:ln w="22225">
            <a:solidFill>
              <a:srgbClr val="4E5A6B"/>
            </a:solidFill>
            <a:prstDash val="solid"/>
            <a:tailEnd type="triangle"/>
          </a:ln>
        </p:spPr>
      </p:sp>
      <p:sp>
        <p:nvSpPr>
          <p:cNvPr id="8" name="Shape 6"/>
          <p:cNvSpPr/>
          <p:nvPr/>
        </p:nvSpPr>
        <p:spPr>
          <a:xfrm>
            <a:off x="2514600" y="2103120"/>
            <a:ext cx="3840480" cy="1554480"/>
          </a:xfrm>
          <a:prstGeom prst="roundRect">
            <a:avLst>
              <a:gd name="adj" fmla="val 4706"/>
            </a:avLst>
          </a:prstGeom>
          <a:solidFill>
            <a:srgbClr val="151922"/>
          </a:solidFill>
          <a:ln w="12700">
            <a:solidFill>
              <a:srgbClr val="151922"/>
            </a:solidFill>
            <a:prstDash val="solid"/>
          </a:ln>
        </p:spPr>
      </p:sp>
      <p:sp>
        <p:nvSpPr>
          <p:cNvPr id="9" name="Text 7"/>
          <p:cNvSpPr txBox="1"/>
          <p:nvPr/>
        </p:nvSpPr>
        <p:spPr>
          <a:xfrm>
            <a:off x="2697480" y="2286000"/>
            <a:ext cx="3566160" cy="1188720"/>
          </a:xfrm>
          <a:prstGeom prst="rect">
            <a:avLst/>
          </a:prstGeom>
          <a:noFill/>
          <a:ln/>
        </p:spPr>
        <p:txBody>
          <a:bodyPr wrap="square" lIns="0" tIns="0" rIns="0" bIns="0" rtlCol="0" anchor="ctr"/>
          <a:lstStyle/>
          <a:p>
            <a:pPr algn="l" indent="0" marL="0">
              <a:buNone/>
            </a:pPr>
            <a:r>
              <a:rPr lang="en-US" sz="1200" dirty="0">
                <a:solidFill>
                  <a:srgbClr val="C9D0DB"/>
                </a:solidFill>
                <a:latin typeface="Courier New" pitchFamily="34" charset="0"/>
                <a:ea typeface="Courier New" pitchFamily="34" charset="-122"/>
                <a:cs typeface="Courier New" pitchFamily="34" charset="-120"/>
              </a:rPr>
              <a:t>{ "layout": "title_bullets",</a:t>
            </a:r>
            <a:endParaRPr lang="en-US" sz="1200" dirty="0"/>
          </a:p>
          <a:p>
            <a:pPr algn="l" indent="0" marL="0">
              <a:buNone/>
            </a:pPr>
            <a:r>
              <a:rPr lang="en-US" sz="1200" dirty="0">
                <a:solidFill>
                  <a:srgbClr val="C9D0DB"/>
                </a:solidFill>
                <a:latin typeface="Courier New" pitchFamily="34" charset="0"/>
                <a:ea typeface="Courier New" pitchFamily="34" charset="-122"/>
                <a:cs typeface="Courier New" pitchFamily="34" charset="-120"/>
              </a:rPr>
              <a:t>  "title": "Q3 revenue",</a:t>
            </a:r>
            <a:endParaRPr lang="en-US" sz="1200" dirty="0"/>
          </a:p>
          <a:p>
            <a:pPr algn="l" indent="0" marL="0">
              <a:buNone/>
            </a:pPr>
            <a:r>
              <a:rPr lang="en-US" sz="1200" dirty="0">
                <a:solidFill>
                  <a:srgbClr val="C9D0DB"/>
                </a:solidFill>
                <a:latin typeface="Courier New" pitchFamily="34" charset="0"/>
                <a:ea typeface="Courier New" pitchFamily="34" charset="-122"/>
                <a:cs typeface="Courier New" pitchFamily="34" charset="-120"/>
              </a:rPr>
              <a:t>  "bullets": ["North +12%", …] }</a:t>
            </a:r>
            <a:endParaRPr lang="en-US" sz="1200" dirty="0"/>
          </a:p>
        </p:txBody>
      </p:sp>
      <p:sp>
        <p:nvSpPr>
          <p:cNvPr id="10" name="Shape 8"/>
          <p:cNvSpPr/>
          <p:nvPr/>
        </p:nvSpPr>
        <p:spPr>
          <a:xfrm>
            <a:off x="6355080" y="2880360"/>
            <a:ext cx="411480" cy="0"/>
          </a:xfrm>
          <a:prstGeom prst="line">
            <a:avLst/>
          </a:prstGeom>
          <a:noFill/>
          <a:ln w="22225">
            <a:solidFill>
              <a:srgbClr val="4E5A6B"/>
            </a:solidFill>
            <a:prstDash val="solid"/>
            <a:tailEnd type="triangle"/>
          </a:ln>
        </p:spPr>
      </p:sp>
      <p:sp>
        <p:nvSpPr>
          <p:cNvPr id="11" name="Text 9"/>
          <p:cNvSpPr txBox="1"/>
          <p:nvPr/>
        </p:nvSpPr>
        <p:spPr>
          <a:xfrm>
            <a:off x="6766560" y="2103120"/>
            <a:ext cx="2286000" cy="1554480"/>
          </a:xfrm>
          <a:prstGeom prst="roundRect">
            <a:avLst>
              <a:gd name="adj" fmla="val 4706"/>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Renderer</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python-pptx · xlsxwriter · python-docx</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+ 3 themes, chart palette</a:t>
            </a:r>
            <a:endParaRPr lang="en-US" sz="1400" dirty="0"/>
          </a:p>
        </p:txBody>
      </p:sp>
      <p:sp>
        <p:nvSpPr>
          <p:cNvPr id="12" name="Shape 10"/>
          <p:cNvSpPr/>
          <p:nvPr/>
        </p:nvSpPr>
        <p:spPr>
          <a:xfrm>
            <a:off x="9052560" y="2880360"/>
            <a:ext cx="411480" cy="0"/>
          </a:xfrm>
          <a:prstGeom prst="line">
            <a:avLst/>
          </a:prstGeom>
          <a:noFill/>
          <a:ln w="22225">
            <a:solidFill>
              <a:srgbClr val="4E5A6B"/>
            </a:solidFill>
            <a:prstDash val="solid"/>
            <a:tailEnd type="triangle"/>
          </a:ln>
        </p:spPr>
      </p:sp>
      <p:sp>
        <p:nvSpPr>
          <p:cNvPr id="13" name="Text 11"/>
          <p:cNvSpPr txBox="1"/>
          <p:nvPr/>
        </p:nvSpPr>
        <p:spPr>
          <a:xfrm>
            <a:off x="9464040" y="2103120"/>
            <a:ext cx="2176272" cy="457200"/>
          </a:xfrm>
          <a:prstGeom prst="roundRect">
            <a:avLst>
              <a:gd name="adj" fmla="val 12000"/>
            </a:avLst>
          </a:prstGeom>
          <a:solidFill>
            <a:srgbClr val="E9EDF2"/>
          </a:solidFill>
          <a:ln w="9525">
            <a:solidFill>
              <a:srgbClr val="4E5A6B"/>
            </a:solidFill>
          </a:ln>
        </p:spPr>
        <p:txBody>
          <a:bodyPr wrap="square" lIns="0" tIns="0" rIns="0" bIns="0" rtlCol="0" anchor="ctr"/>
          <a:lstStyle/>
          <a:p>
            <a:pPr algn="ctr" indent="0" marL="0">
              <a:buNone/>
            </a:pPr>
            <a:r>
              <a:rPr lang="en-US" sz="1200" b="1" dirty="0">
                <a:solidFill>
                  <a:srgbClr val="1C212B"/>
                </a:solidFill>
                <a:latin typeface="Courier New" pitchFamily="34" charset="0"/>
                <a:ea typeface="Courier New" pitchFamily="34" charset="-122"/>
                <a:cs typeface="Courier New" pitchFamily="34" charset="-120"/>
              </a:rPr>
              <a:t>report.pptx</a:t>
            </a:r>
            <a:endParaRPr lang="en-US" sz="1200" dirty="0"/>
          </a:p>
        </p:txBody>
      </p:sp>
      <p:sp>
        <p:nvSpPr>
          <p:cNvPr id="14" name="Text 12"/>
          <p:cNvSpPr txBox="1"/>
          <p:nvPr/>
        </p:nvSpPr>
        <p:spPr>
          <a:xfrm>
            <a:off x="9464040" y="2651760"/>
            <a:ext cx="2176272" cy="457200"/>
          </a:xfrm>
          <a:prstGeom prst="roundRect">
            <a:avLst>
              <a:gd name="adj" fmla="val 12000"/>
            </a:avLst>
          </a:prstGeom>
          <a:solidFill>
            <a:srgbClr val="E9EDF2"/>
          </a:solidFill>
          <a:ln w="9525">
            <a:solidFill>
              <a:srgbClr val="4E5A6B"/>
            </a:solidFill>
          </a:ln>
        </p:spPr>
        <p:txBody>
          <a:bodyPr wrap="square" lIns="0" tIns="0" rIns="0" bIns="0" rtlCol="0" anchor="ctr"/>
          <a:lstStyle/>
          <a:p>
            <a:pPr algn="ctr" indent="0" marL="0">
              <a:buNone/>
            </a:pPr>
            <a:r>
              <a:rPr lang="en-US" sz="1200" b="1" dirty="0">
                <a:solidFill>
                  <a:srgbClr val="1C212B"/>
                </a:solidFill>
                <a:latin typeface="Courier New" pitchFamily="34" charset="0"/>
                <a:ea typeface="Courier New" pitchFamily="34" charset="-122"/>
                <a:cs typeface="Courier New" pitchFamily="34" charset="-120"/>
              </a:rPr>
              <a:t>totals.xlsx</a:t>
            </a:r>
            <a:endParaRPr lang="en-US" sz="1200" dirty="0"/>
          </a:p>
        </p:txBody>
      </p:sp>
      <p:sp>
        <p:nvSpPr>
          <p:cNvPr id="15" name="Text 13"/>
          <p:cNvSpPr txBox="1"/>
          <p:nvPr/>
        </p:nvSpPr>
        <p:spPr>
          <a:xfrm>
            <a:off x="9464040" y="3200400"/>
            <a:ext cx="2176272" cy="457200"/>
          </a:xfrm>
          <a:prstGeom prst="roundRect">
            <a:avLst>
              <a:gd name="adj" fmla="val 12000"/>
            </a:avLst>
          </a:prstGeom>
          <a:solidFill>
            <a:srgbClr val="E9EDF2"/>
          </a:solidFill>
          <a:ln w="9525">
            <a:solidFill>
              <a:srgbClr val="4E5A6B"/>
            </a:solidFill>
          </a:ln>
        </p:spPr>
        <p:txBody>
          <a:bodyPr wrap="square" lIns="0" tIns="0" rIns="0" bIns="0" rtlCol="0" anchor="ctr"/>
          <a:lstStyle/>
          <a:p>
            <a:pPr algn="ctr" indent="0" marL="0">
              <a:buNone/>
            </a:pPr>
            <a:r>
              <a:rPr lang="en-US" sz="1200" b="1" dirty="0">
                <a:solidFill>
                  <a:srgbClr val="1C212B"/>
                </a:solidFill>
                <a:latin typeface="Courier New" pitchFamily="34" charset="0"/>
                <a:ea typeface="Courier New" pitchFamily="34" charset="-122"/>
                <a:cs typeface="Courier New" pitchFamily="34" charset="-120"/>
              </a:rPr>
              <a:t>memo.docx</a:t>
            </a:r>
            <a:endParaRPr lang="en-US" sz="1200" dirty="0"/>
          </a:p>
        </p:txBody>
      </p:sp>
      <p:sp>
        <p:nvSpPr>
          <p:cNvPr id="16" name="Shape 14"/>
          <p:cNvSpPr/>
          <p:nvPr/>
        </p:nvSpPr>
        <p:spPr>
          <a:xfrm>
            <a:off x="548640" y="4069080"/>
            <a:ext cx="2651760" cy="2103120"/>
          </a:xfrm>
          <a:prstGeom prst="roundRect">
            <a:avLst>
              <a:gd name="adj" fmla="val 4348"/>
            </a:avLst>
          </a:prstGeom>
          <a:solidFill>
            <a:srgbClr val="F3F5F8"/>
          </a:solidFill>
          <a:ln w="12700">
            <a:solidFill>
              <a:srgbClr val="F3F5F8"/>
            </a:solidFill>
            <a:prstDash val="solid"/>
          </a:ln>
        </p:spPr>
      </p:sp>
      <p:sp>
        <p:nvSpPr>
          <p:cNvPr id="17" name="Text 15"/>
          <p:cNvSpPr txBox="1"/>
          <p:nvPr/>
        </p:nvSpPr>
        <p:spPr>
          <a:xfrm>
            <a:off x="777240"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Limits refuse, never shrink</a:t>
            </a:r>
            <a:endParaRPr lang="en-US" sz="1400" dirty="0"/>
          </a:p>
        </p:txBody>
      </p:sp>
      <p:sp>
        <p:nvSpPr>
          <p:cNvPr id="18" name="Text 16"/>
          <p:cNvSpPr txBox="1"/>
          <p:nvPr/>
        </p:nvSpPr>
        <p:spPr>
          <a:xfrm>
            <a:off x="777240"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An overfull slide comes back as “split it”. Auto-fit is how a deck grows a 9-point slide.</a:t>
            </a:r>
            <a:endParaRPr lang="en-US" sz="1350" dirty="0"/>
          </a:p>
        </p:txBody>
      </p:sp>
      <p:sp>
        <p:nvSpPr>
          <p:cNvPr id="19" name="Shape 17"/>
          <p:cNvSpPr/>
          <p:nvPr/>
        </p:nvSpPr>
        <p:spPr>
          <a:xfrm>
            <a:off x="3355848" y="4069080"/>
            <a:ext cx="2651760" cy="2103120"/>
          </a:xfrm>
          <a:prstGeom prst="roundRect">
            <a:avLst>
              <a:gd name="adj" fmla="val 4348"/>
            </a:avLst>
          </a:prstGeom>
          <a:solidFill>
            <a:srgbClr val="F3F5F8"/>
          </a:solidFill>
          <a:ln w="12700">
            <a:solidFill>
              <a:srgbClr val="F3F5F8"/>
            </a:solidFill>
            <a:prstDash val="solid"/>
          </a:ln>
        </p:spPr>
      </p:sp>
      <p:sp>
        <p:nvSpPr>
          <p:cNvPr id="20" name="Text 18"/>
          <p:cNvSpPr txBox="1"/>
          <p:nvPr/>
        </p:nvSpPr>
        <p:spPr>
          <a:xfrm>
            <a:off x="3584448"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Formulas stay formulas</a:t>
            </a:r>
            <a:endParaRPr lang="en-US" sz="1400" dirty="0"/>
          </a:p>
        </p:txBody>
      </p:sp>
      <p:sp>
        <p:nvSpPr>
          <p:cNvPr id="21" name="Text 19"/>
          <p:cNvSpPr txBox="1"/>
          <p:nvPr/>
        </p:nvSpPr>
        <p:spPr>
          <a:xfrm>
            <a:off x="3584448"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 starts one, totals write SUM, and WEBSERVICE-style formulas are refused.</a:t>
            </a:r>
            <a:endParaRPr lang="en-US" sz="1350" dirty="0"/>
          </a:p>
        </p:txBody>
      </p:sp>
      <p:sp>
        <p:nvSpPr>
          <p:cNvPr id="22" name="Shape 20"/>
          <p:cNvSpPr/>
          <p:nvPr/>
        </p:nvSpPr>
        <p:spPr>
          <a:xfrm>
            <a:off x="6163056" y="4069080"/>
            <a:ext cx="2651760" cy="2103120"/>
          </a:xfrm>
          <a:prstGeom prst="roundRect">
            <a:avLst>
              <a:gd name="adj" fmla="val 4348"/>
            </a:avLst>
          </a:prstGeom>
          <a:solidFill>
            <a:srgbClr val="F3F5F8"/>
          </a:solidFill>
          <a:ln w="12700">
            <a:solidFill>
              <a:srgbClr val="F3F5F8"/>
            </a:solidFill>
            <a:prstDash val="solid"/>
          </a:ln>
        </p:spPr>
      </p:sp>
      <p:sp>
        <p:nvSpPr>
          <p:cNvPr id="23" name="Text 21"/>
          <p:cNvSpPr txBox="1"/>
          <p:nvPr/>
        </p:nvSpPr>
        <p:spPr>
          <a:xfrm>
            <a:off x="6391656"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Charts are native</a:t>
            </a:r>
            <a:endParaRPr lang="en-US" sz="1400" dirty="0"/>
          </a:p>
        </p:txBody>
      </p:sp>
      <p:sp>
        <p:nvSpPr>
          <p:cNvPr id="24" name="Text 22"/>
          <p:cNvSpPr txBox="1"/>
          <p:nvPr/>
        </p:nvSpPr>
        <p:spPr>
          <a:xfrm>
            <a:off x="6391656"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A chart on a slide takes render_chart's spec and becomes an editable PowerPoint chart.</a:t>
            </a:r>
            <a:endParaRPr lang="en-US" sz="1350" dirty="0"/>
          </a:p>
        </p:txBody>
      </p:sp>
      <p:sp>
        <p:nvSpPr>
          <p:cNvPr id="25" name="Shape 23"/>
          <p:cNvSpPr/>
          <p:nvPr/>
        </p:nvSpPr>
        <p:spPr>
          <a:xfrm>
            <a:off x="8970264" y="4069080"/>
            <a:ext cx="2651760" cy="2103120"/>
          </a:xfrm>
          <a:prstGeom prst="roundRect">
            <a:avLst>
              <a:gd name="adj" fmla="val 4348"/>
            </a:avLst>
          </a:prstGeom>
          <a:solidFill>
            <a:srgbClr val="F3F5F8"/>
          </a:solidFill>
          <a:ln w="12700">
            <a:solidFill>
              <a:srgbClr val="F3F5F8"/>
            </a:solidFill>
            <a:prstDash val="solid"/>
          </a:ln>
        </p:spPr>
      </p:sp>
      <p:sp>
        <p:nvSpPr>
          <p:cNvPr id="26" name="Text 24"/>
          <p:cNvSpPr txBox="1"/>
          <p:nvPr/>
        </p:nvSpPr>
        <p:spPr>
          <a:xfrm>
            <a:off x="9198864"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Stored three ways</a:t>
            </a:r>
            <a:endParaRPr lang="en-US" sz="1400" dirty="0"/>
          </a:p>
        </p:txBody>
      </p:sp>
      <p:sp>
        <p:nvSpPr>
          <p:cNvPr id="27" name="Text 25"/>
          <p:cNvSpPr txBox="1"/>
          <p:nvPr/>
        </p:nvSpPr>
        <p:spPr>
          <a:xfrm>
            <a:off x="9198864"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Bytes on the file, text extracted for search, the spec kept so the browser can preview.</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THE APPS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Fifteen apps over one file tree</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Whatever an agent writes, you can open, edit and share — in the same product, on the same files.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1965960"/>
            <a:ext cx="2103120" cy="1161288"/>
          </a:xfrm>
          <a:prstGeom prst="roundRect">
            <a:avLst>
              <a:gd name="adj" fmla="val 7874"/>
            </a:avLst>
          </a:prstGeom>
          <a:solidFill>
            <a:srgbClr val="F3F5F8"/>
          </a:solidFill>
          <a:ln w="12700">
            <a:solidFill>
              <a:srgbClr val="F3F5F8"/>
            </a:solidFill>
            <a:prstDash val="solid"/>
          </a:ln>
        </p:spPr>
      </p:sp>
      <p:sp>
        <p:nvSpPr>
          <p:cNvPr id="7" name="Shape 5"/>
          <p:cNvSpPr/>
          <p:nvPr/>
        </p:nvSpPr>
        <p:spPr>
          <a:xfrm>
            <a:off x="731520" y="2148840"/>
            <a:ext cx="457200" cy="457200"/>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850392" y="2267712"/>
            <a:ext cx="219456" cy="219456"/>
          </a:xfrm>
          <a:prstGeom prst="rect">
            <a:avLst/>
          </a:prstGeom>
        </p:spPr>
      </p:pic>
      <p:sp>
        <p:nvSpPr>
          <p:cNvPr id="9" name="Text 6"/>
          <p:cNvSpPr txBox="1"/>
          <p:nvPr/>
        </p:nvSpPr>
        <p:spPr>
          <a:xfrm>
            <a:off x="1325880"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Files</a:t>
            </a:r>
            <a:endParaRPr lang="en-US" sz="1400" dirty="0"/>
          </a:p>
        </p:txBody>
      </p:sp>
      <p:sp>
        <p:nvSpPr>
          <p:cNvPr id="10" name="Text 7"/>
          <p:cNvSpPr txBox="1"/>
          <p:nvPr/>
        </p:nvSpPr>
        <p:spPr>
          <a:xfrm>
            <a:off x="731520"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browse, preview, restore</a:t>
            </a:r>
            <a:endParaRPr lang="en-US" sz="1150" dirty="0"/>
          </a:p>
        </p:txBody>
      </p:sp>
      <p:sp>
        <p:nvSpPr>
          <p:cNvPr id="11" name="Shape 8"/>
          <p:cNvSpPr/>
          <p:nvPr/>
        </p:nvSpPr>
        <p:spPr>
          <a:xfrm>
            <a:off x="2793492" y="1965960"/>
            <a:ext cx="2103120" cy="1161288"/>
          </a:xfrm>
          <a:prstGeom prst="roundRect">
            <a:avLst>
              <a:gd name="adj" fmla="val 7874"/>
            </a:avLst>
          </a:prstGeom>
          <a:solidFill>
            <a:srgbClr val="F3F5F8"/>
          </a:solidFill>
          <a:ln w="12700">
            <a:solidFill>
              <a:srgbClr val="F3F5F8"/>
            </a:solidFill>
            <a:prstDash val="solid"/>
          </a:ln>
        </p:spPr>
      </p:sp>
      <p:sp>
        <p:nvSpPr>
          <p:cNvPr id="12" name="Shape 9"/>
          <p:cNvSpPr/>
          <p:nvPr/>
        </p:nvSpPr>
        <p:spPr>
          <a:xfrm>
            <a:off x="2976372" y="2148840"/>
            <a:ext cx="457200" cy="457200"/>
          </a:xfrm>
          <a:prstGeom prst="ellipse">
            <a:avLst/>
          </a:prstGeom>
          <a:solidFill>
            <a:srgbClr val="15877D"/>
          </a:solidFill>
          <a:ln w="12700">
            <a:solidFill>
              <a:srgbClr val="15877D"/>
            </a:solidFill>
            <a:prstDash val="solid"/>
          </a:ln>
        </p:spPr>
      </p:sp>
      <p:pic>
        <p:nvPicPr>
          <p:cNvPr id="13" name="Image 1" descr="preencoded.png">    </p:cNvPr>
          <p:cNvPicPr>
            <a:picLocks noChangeAspect="1"/>
          </p:cNvPicPr>
          <p:nvPr/>
        </p:nvPicPr>
        <p:blipFill>
          <a:blip r:embed="rId2"/>
          <a:stretch>
            <a:fillRect/>
          </a:stretch>
        </p:blipFill>
        <p:spPr>
          <a:xfrm>
            <a:off x="3095244" y="2267712"/>
            <a:ext cx="219456" cy="219456"/>
          </a:xfrm>
          <a:prstGeom prst="rect">
            <a:avLst/>
          </a:prstGeom>
        </p:spPr>
      </p:pic>
      <p:sp>
        <p:nvSpPr>
          <p:cNvPr id="14" name="Text 10"/>
          <p:cNvSpPr txBox="1"/>
          <p:nvPr/>
        </p:nvSpPr>
        <p:spPr>
          <a:xfrm>
            <a:off x="3570732"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Docs</a:t>
            </a:r>
            <a:endParaRPr lang="en-US" sz="1400" dirty="0"/>
          </a:p>
        </p:txBody>
      </p:sp>
      <p:sp>
        <p:nvSpPr>
          <p:cNvPr id="15" name="Text 11"/>
          <p:cNvSpPr txBox="1"/>
          <p:nvPr/>
        </p:nvSpPr>
        <p:spPr>
          <a:xfrm>
            <a:off x="2976372"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Word &amp; Markdown · TipTap</a:t>
            </a:r>
            <a:endParaRPr lang="en-US" sz="1150" dirty="0"/>
          </a:p>
        </p:txBody>
      </p:sp>
      <p:sp>
        <p:nvSpPr>
          <p:cNvPr id="16" name="Shape 12"/>
          <p:cNvSpPr/>
          <p:nvPr/>
        </p:nvSpPr>
        <p:spPr>
          <a:xfrm>
            <a:off x="5038344" y="1965960"/>
            <a:ext cx="2103120" cy="1161288"/>
          </a:xfrm>
          <a:prstGeom prst="roundRect">
            <a:avLst>
              <a:gd name="adj" fmla="val 7874"/>
            </a:avLst>
          </a:prstGeom>
          <a:solidFill>
            <a:srgbClr val="F3F5F8"/>
          </a:solidFill>
          <a:ln w="12700">
            <a:solidFill>
              <a:srgbClr val="F3F5F8"/>
            </a:solidFill>
            <a:prstDash val="solid"/>
          </a:ln>
        </p:spPr>
      </p:sp>
      <p:sp>
        <p:nvSpPr>
          <p:cNvPr id="17" name="Shape 13"/>
          <p:cNvSpPr/>
          <p:nvPr/>
        </p:nvSpPr>
        <p:spPr>
          <a:xfrm>
            <a:off x="5221224" y="2148840"/>
            <a:ext cx="457200" cy="457200"/>
          </a:xfrm>
          <a:prstGeom prst="ellipse">
            <a:avLst/>
          </a:prstGeom>
          <a:solidFill>
            <a:srgbClr val="4E5A6B"/>
          </a:solidFill>
          <a:ln w="12700">
            <a:solidFill>
              <a:srgbClr val="4E5A6B"/>
            </a:solidFill>
            <a:prstDash val="solid"/>
          </a:ln>
        </p:spPr>
      </p:sp>
      <p:pic>
        <p:nvPicPr>
          <p:cNvPr id="18" name="Image 2" descr="preencoded.png">    </p:cNvPr>
          <p:cNvPicPr>
            <a:picLocks noChangeAspect="1"/>
          </p:cNvPicPr>
          <p:nvPr/>
        </p:nvPicPr>
        <p:blipFill>
          <a:blip r:embed="rId3"/>
          <a:stretch>
            <a:fillRect/>
          </a:stretch>
        </p:blipFill>
        <p:spPr>
          <a:xfrm>
            <a:off x="5340096" y="2267712"/>
            <a:ext cx="219456" cy="219456"/>
          </a:xfrm>
          <a:prstGeom prst="rect">
            <a:avLst/>
          </a:prstGeom>
        </p:spPr>
      </p:pic>
      <p:sp>
        <p:nvSpPr>
          <p:cNvPr id="19" name="Text 14"/>
          <p:cNvSpPr txBox="1"/>
          <p:nvPr/>
        </p:nvSpPr>
        <p:spPr>
          <a:xfrm>
            <a:off x="5815584"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Sheets</a:t>
            </a:r>
            <a:endParaRPr lang="en-US" sz="1400" dirty="0"/>
          </a:p>
        </p:txBody>
      </p:sp>
      <p:sp>
        <p:nvSpPr>
          <p:cNvPr id="20" name="Text 15"/>
          <p:cNvSpPr txBox="1"/>
          <p:nvPr/>
        </p:nvSpPr>
        <p:spPr>
          <a:xfrm>
            <a:off x="5221224"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Excel &amp; CSV · Univer</a:t>
            </a:r>
            <a:endParaRPr lang="en-US" sz="1150" dirty="0"/>
          </a:p>
        </p:txBody>
      </p:sp>
      <p:sp>
        <p:nvSpPr>
          <p:cNvPr id="21" name="Shape 16"/>
          <p:cNvSpPr/>
          <p:nvPr/>
        </p:nvSpPr>
        <p:spPr>
          <a:xfrm>
            <a:off x="7283196" y="1965960"/>
            <a:ext cx="2103120" cy="1161288"/>
          </a:xfrm>
          <a:prstGeom prst="roundRect">
            <a:avLst>
              <a:gd name="adj" fmla="val 7874"/>
            </a:avLst>
          </a:prstGeom>
          <a:solidFill>
            <a:srgbClr val="F3F5F8"/>
          </a:solidFill>
          <a:ln w="12700">
            <a:solidFill>
              <a:srgbClr val="F3F5F8"/>
            </a:solidFill>
            <a:prstDash val="solid"/>
          </a:ln>
        </p:spPr>
      </p:sp>
      <p:sp>
        <p:nvSpPr>
          <p:cNvPr id="22" name="Shape 17"/>
          <p:cNvSpPr/>
          <p:nvPr/>
        </p:nvSpPr>
        <p:spPr>
          <a:xfrm>
            <a:off x="7466076" y="2148840"/>
            <a:ext cx="457200" cy="457200"/>
          </a:xfrm>
          <a:prstGeom prst="ellipse">
            <a:avLst/>
          </a:prstGeom>
          <a:solidFill>
            <a:srgbClr val="0D5C55"/>
          </a:solidFill>
          <a:ln w="12700">
            <a:solidFill>
              <a:srgbClr val="0D5C55"/>
            </a:solidFill>
            <a:prstDash val="solid"/>
          </a:ln>
        </p:spPr>
      </p:sp>
      <p:pic>
        <p:nvPicPr>
          <p:cNvPr id="23" name="Image 3" descr="preencoded.png">    </p:cNvPr>
          <p:cNvPicPr>
            <a:picLocks noChangeAspect="1"/>
          </p:cNvPicPr>
          <p:nvPr/>
        </p:nvPicPr>
        <p:blipFill>
          <a:blip r:embed="rId4"/>
          <a:stretch>
            <a:fillRect/>
          </a:stretch>
        </p:blipFill>
        <p:spPr>
          <a:xfrm>
            <a:off x="7584948" y="2267712"/>
            <a:ext cx="219456" cy="219456"/>
          </a:xfrm>
          <a:prstGeom prst="rect">
            <a:avLst/>
          </a:prstGeom>
        </p:spPr>
      </p:pic>
      <p:sp>
        <p:nvSpPr>
          <p:cNvPr id="24" name="Text 18"/>
          <p:cNvSpPr txBox="1"/>
          <p:nvPr/>
        </p:nvSpPr>
        <p:spPr>
          <a:xfrm>
            <a:off x="8060436"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Slides</a:t>
            </a:r>
            <a:endParaRPr lang="en-US" sz="1400" dirty="0"/>
          </a:p>
        </p:txBody>
      </p:sp>
      <p:sp>
        <p:nvSpPr>
          <p:cNvPr id="25" name="Text 19"/>
          <p:cNvSpPr txBox="1"/>
          <p:nvPr/>
        </p:nvSpPr>
        <p:spPr>
          <a:xfrm>
            <a:off x="7466076"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edit on the slide, present</a:t>
            </a:r>
            <a:endParaRPr lang="en-US" sz="1150" dirty="0"/>
          </a:p>
        </p:txBody>
      </p:sp>
      <p:sp>
        <p:nvSpPr>
          <p:cNvPr id="26" name="Shape 20"/>
          <p:cNvSpPr/>
          <p:nvPr/>
        </p:nvSpPr>
        <p:spPr>
          <a:xfrm>
            <a:off x="9528048" y="1965960"/>
            <a:ext cx="2103120" cy="1161288"/>
          </a:xfrm>
          <a:prstGeom prst="roundRect">
            <a:avLst>
              <a:gd name="adj" fmla="val 7874"/>
            </a:avLst>
          </a:prstGeom>
          <a:solidFill>
            <a:srgbClr val="F3F5F8"/>
          </a:solidFill>
          <a:ln w="12700">
            <a:solidFill>
              <a:srgbClr val="F3F5F8"/>
            </a:solidFill>
            <a:prstDash val="solid"/>
          </a:ln>
        </p:spPr>
      </p:sp>
      <p:sp>
        <p:nvSpPr>
          <p:cNvPr id="27" name="Shape 21"/>
          <p:cNvSpPr/>
          <p:nvPr/>
        </p:nvSpPr>
        <p:spPr>
          <a:xfrm>
            <a:off x="9710928" y="2148840"/>
            <a:ext cx="457200" cy="457200"/>
          </a:xfrm>
          <a:prstGeom prst="ellipse">
            <a:avLst/>
          </a:prstGeom>
          <a:solidFill>
            <a:srgbClr val="9A5A0C"/>
          </a:solidFill>
          <a:ln w="12700">
            <a:solidFill>
              <a:srgbClr val="9A5A0C"/>
            </a:solidFill>
            <a:prstDash val="solid"/>
          </a:ln>
        </p:spPr>
      </p:sp>
      <p:pic>
        <p:nvPicPr>
          <p:cNvPr id="28" name="Image 4" descr="preencoded.png">    </p:cNvPr>
          <p:cNvPicPr>
            <a:picLocks noChangeAspect="1"/>
          </p:cNvPicPr>
          <p:nvPr/>
        </p:nvPicPr>
        <p:blipFill>
          <a:blip r:embed="rId5"/>
          <a:stretch>
            <a:fillRect/>
          </a:stretch>
        </p:blipFill>
        <p:spPr>
          <a:xfrm>
            <a:off x="9829800" y="2267712"/>
            <a:ext cx="219456" cy="219456"/>
          </a:xfrm>
          <a:prstGeom prst="rect">
            <a:avLst/>
          </a:prstGeom>
        </p:spPr>
      </p:pic>
      <p:sp>
        <p:nvSpPr>
          <p:cNvPr id="29" name="Text 22"/>
          <p:cNvSpPr txBox="1"/>
          <p:nvPr/>
        </p:nvSpPr>
        <p:spPr>
          <a:xfrm>
            <a:off x="10305288"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Notepad</a:t>
            </a:r>
            <a:endParaRPr lang="en-US" sz="1400" dirty="0"/>
          </a:p>
        </p:txBody>
      </p:sp>
      <p:sp>
        <p:nvSpPr>
          <p:cNvPr id="30" name="Text 23"/>
          <p:cNvSpPr txBox="1"/>
          <p:nvPr/>
        </p:nvSpPr>
        <p:spPr>
          <a:xfrm>
            <a:off x="9710928"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plain text, saved as you go</a:t>
            </a:r>
            <a:endParaRPr lang="en-US" sz="1150" dirty="0"/>
          </a:p>
        </p:txBody>
      </p:sp>
      <p:sp>
        <p:nvSpPr>
          <p:cNvPr id="31" name="Shape 24"/>
          <p:cNvSpPr/>
          <p:nvPr/>
        </p:nvSpPr>
        <p:spPr>
          <a:xfrm>
            <a:off x="548640" y="3264408"/>
            <a:ext cx="2103120" cy="1161288"/>
          </a:xfrm>
          <a:prstGeom prst="roundRect">
            <a:avLst>
              <a:gd name="adj" fmla="val 7874"/>
            </a:avLst>
          </a:prstGeom>
          <a:solidFill>
            <a:srgbClr val="F3F5F8"/>
          </a:solidFill>
          <a:ln w="12700">
            <a:solidFill>
              <a:srgbClr val="F3F5F8"/>
            </a:solidFill>
            <a:prstDash val="solid"/>
          </a:ln>
        </p:spPr>
      </p:sp>
      <p:sp>
        <p:nvSpPr>
          <p:cNvPr id="32" name="Shape 25"/>
          <p:cNvSpPr/>
          <p:nvPr/>
        </p:nvSpPr>
        <p:spPr>
          <a:xfrm>
            <a:off x="731520" y="3447288"/>
            <a:ext cx="457200" cy="457200"/>
          </a:xfrm>
          <a:prstGeom prst="ellipse">
            <a:avLst/>
          </a:prstGeom>
          <a:solidFill>
            <a:srgbClr val="E08A1E"/>
          </a:solidFill>
          <a:ln w="12700">
            <a:solidFill>
              <a:srgbClr val="E08A1E"/>
            </a:solidFill>
            <a:prstDash val="solid"/>
          </a:ln>
        </p:spPr>
      </p:sp>
      <p:pic>
        <p:nvPicPr>
          <p:cNvPr id="33" name="Image 5" descr="preencoded.png">    </p:cNvPr>
          <p:cNvPicPr>
            <a:picLocks noChangeAspect="1"/>
          </p:cNvPicPr>
          <p:nvPr/>
        </p:nvPicPr>
        <p:blipFill>
          <a:blip r:embed="rId6"/>
          <a:stretch>
            <a:fillRect/>
          </a:stretch>
        </p:blipFill>
        <p:spPr>
          <a:xfrm>
            <a:off x="850392" y="3566160"/>
            <a:ext cx="219456" cy="219456"/>
          </a:xfrm>
          <a:prstGeom prst="rect">
            <a:avLst/>
          </a:prstGeom>
        </p:spPr>
      </p:pic>
      <p:sp>
        <p:nvSpPr>
          <p:cNvPr id="34" name="Text 26"/>
          <p:cNvSpPr txBox="1"/>
          <p:nvPr/>
        </p:nvSpPr>
        <p:spPr>
          <a:xfrm>
            <a:off x="1325880"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Tasks</a:t>
            </a:r>
            <a:endParaRPr lang="en-US" sz="1400" dirty="0"/>
          </a:p>
        </p:txBody>
      </p:sp>
      <p:sp>
        <p:nvSpPr>
          <p:cNvPr id="35" name="Text 27"/>
          <p:cNvSpPr txBox="1"/>
          <p:nvPr/>
        </p:nvSpPr>
        <p:spPr>
          <a:xfrm>
            <a:off x="731520"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Markdown checklists</a:t>
            </a:r>
            <a:endParaRPr lang="en-US" sz="1150" dirty="0"/>
          </a:p>
        </p:txBody>
      </p:sp>
      <p:sp>
        <p:nvSpPr>
          <p:cNvPr id="36" name="Shape 28"/>
          <p:cNvSpPr/>
          <p:nvPr/>
        </p:nvSpPr>
        <p:spPr>
          <a:xfrm>
            <a:off x="2793492" y="3264408"/>
            <a:ext cx="2103120" cy="1161288"/>
          </a:xfrm>
          <a:prstGeom prst="roundRect">
            <a:avLst>
              <a:gd name="adj" fmla="val 7874"/>
            </a:avLst>
          </a:prstGeom>
          <a:solidFill>
            <a:srgbClr val="F3F5F8"/>
          </a:solidFill>
          <a:ln w="12700">
            <a:solidFill>
              <a:srgbClr val="F3F5F8"/>
            </a:solidFill>
            <a:prstDash val="solid"/>
          </a:ln>
        </p:spPr>
      </p:sp>
      <p:sp>
        <p:nvSpPr>
          <p:cNvPr id="37" name="Shape 29"/>
          <p:cNvSpPr/>
          <p:nvPr/>
        </p:nvSpPr>
        <p:spPr>
          <a:xfrm>
            <a:off x="2976372" y="3447288"/>
            <a:ext cx="457200" cy="457200"/>
          </a:xfrm>
          <a:prstGeom prst="ellipse">
            <a:avLst/>
          </a:prstGeom>
          <a:solidFill>
            <a:srgbClr val="15877D"/>
          </a:solidFill>
          <a:ln w="12700">
            <a:solidFill>
              <a:srgbClr val="15877D"/>
            </a:solidFill>
            <a:prstDash val="solid"/>
          </a:ln>
        </p:spPr>
      </p:sp>
      <p:pic>
        <p:nvPicPr>
          <p:cNvPr id="38" name="Image 6" descr="preencoded.png">    </p:cNvPr>
          <p:cNvPicPr>
            <a:picLocks noChangeAspect="1"/>
          </p:cNvPicPr>
          <p:nvPr/>
        </p:nvPicPr>
        <p:blipFill>
          <a:blip r:embed="rId7"/>
          <a:stretch>
            <a:fillRect/>
          </a:stretch>
        </p:blipFill>
        <p:spPr>
          <a:xfrm>
            <a:off x="3095244" y="3566160"/>
            <a:ext cx="219456" cy="219456"/>
          </a:xfrm>
          <a:prstGeom prst="rect">
            <a:avLst/>
          </a:prstGeom>
        </p:spPr>
      </p:pic>
      <p:sp>
        <p:nvSpPr>
          <p:cNvPr id="39" name="Text 30"/>
          <p:cNvSpPr txBox="1"/>
          <p:nvPr/>
        </p:nvSpPr>
        <p:spPr>
          <a:xfrm>
            <a:off x="3570732"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Code</a:t>
            </a:r>
            <a:endParaRPr lang="en-US" sz="1400" dirty="0"/>
          </a:p>
        </p:txBody>
      </p:sp>
      <p:sp>
        <p:nvSpPr>
          <p:cNvPr id="40" name="Text 31"/>
          <p:cNvSpPr txBox="1"/>
          <p:nvPr/>
        </p:nvSpPr>
        <p:spPr>
          <a:xfrm>
            <a:off x="2976372"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CodeMirror 6</a:t>
            </a:r>
            <a:endParaRPr lang="en-US" sz="1150" dirty="0"/>
          </a:p>
        </p:txBody>
      </p:sp>
      <p:sp>
        <p:nvSpPr>
          <p:cNvPr id="41" name="Shape 32"/>
          <p:cNvSpPr/>
          <p:nvPr/>
        </p:nvSpPr>
        <p:spPr>
          <a:xfrm>
            <a:off x="5038344" y="3264408"/>
            <a:ext cx="2103120" cy="1161288"/>
          </a:xfrm>
          <a:prstGeom prst="roundRect">
            <a:avLst>
              <a:gd name="adj" fmla="val 7874"/>
            </a:avLst>
          </a:prstGeom>
          <a:solidFill>
            <a:srgbClr val="F3F5F8"/>
          </a:solidFill>
          <a:ln w="12700">
            <a:solidFill>
              <a:srgbClr val="F3F5F8"/>
            </a:solidFill>
            <a:prstDash val="solid"/>
          </a:ln>
        </p:spPr>
      </p:sp>
      <p:sp>
        <p:nvSpPr>
          <p:cNvPr id="42" name="Shape 33"/>
          <p:cNvSpPr/>
          <p:nvPr/>
        </p:nvSpPr>
        <p:spPr>
          <a:xfrm>
            <a:off x="5221224" y="3447288"/>
            <a:ext cx="457200" cy="457200"/>
          </a:xfrm>
          <a:prstGeom prst="ellipse">
            <a:avLst/>
          </a:prstGeom>
          <a:solidFill>
            <a:srgbClr val="4E5A6B"/>
          </a:solidFill>
          <a:ln w="12700">
            <a:solidFill>
              <a:srgbClr val="4E5A6B"/>
            </a:solidFill>
            <a:prstDash val="solid"/>
          </a:ln>
        </p:spPr>
      </p:sp>
      <p:pic>
        <p:nvPicPr>
          <p:cNvPr id="43" name="Image 7" descr="preencoded.png">    </p:cNvPr>
          <p:cNvPicPr>
            <a:picLocks noChangeAspect="1"/>
          </p:cNvPicPr>
          <p:nvPr/>
        </p:nvPicPr>
        <p:blipFill>
          <a:blip r:embed="rId8"/>
          <a:stretch>
            <a:fillRect/>
          </a:stretch>
        </p:blipFill>
        <p:spPr>
          <a:xfrm>
            <a:off x="5340096" y="3566160"/>
            <a:ext cx="219456" cy="219456"/>
          </a:xfrm>
          <a:prstGeom prst="rect">
            <a:avLst/>
          </a:prstGeom>
        </p:spPr>
      </p:pic>
      <p:sp>
        <p:nvSpPr>
          <p:cNvPr id="44" name="Text 34"/>
          <p:cNvSpPr txBox="1"/>
          <p:nvPr/>
        </p:nvSpPr>
        <p:spPr>
          <a:xfrm>
            <a:off x="5815584"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Web</a:t>
            </a:r>
            <a:endParaRPr lang="en-US" sz="1400" dirty="0"/>
          </a:p>
        </p:txBody>
      </p:sp>
      <p:sp>
        <p:nvSpPr>
          <p:cNvPr id="45" name="Text 35"/>
          <p:cNvSpPr txBox="1"/>
          <p:nvPr/>
        </p:nvSpPr>
        <p:spPr>
          <a:xfrm>
            <a:off x="5221224"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HTML with a live render</a:t>
            </a:r>
            <a:endParaRPr lang="en-US" sz="1150" dirty="0"/>
          </a:p>
        </p:txBody>
      </p:sp>
      <p:sp>
        <p:nvSpPr>
          <p:cNvPr id="46" name="Shape 36"/>
          <p:cNvSpPr/>
          <p:nvPr/>
        </p:nvSpPr>
        <p:spPr>
          <a:xfrm>
            <a:off x="7283196" y="3264408"/>
            <a:ext cx="2103120" cy="1161288"/>
          </a:xfrm>
          <a:prstGeom prst="roundRect">
            <a:avLst>
              <a:gd name="adj" fmla="val 7874"/>
            </a:avLst>
          </a:prstGeom>
          <a:solidFill>
            <a:srgbClr val="F3F5F8"/>
          </a:solidFill>
          <a:ln w="12700">
            <a:solidFill>
              <a:srgbClr val="F3F5F8"/>
            </a:solidFill>
            <a:prstDash val="solid"/>
          </a:ln>
        </p:spPr>
      </p:sp>
      <p:sp>
        <p:nvSpPr>
          <p:cNvPr id="47" name="Shape 37"/>
          <p:cNvSpPr/>
          <p:nvPr/>
        </p:nvSpPr>
        <p:spPr>
          <a:xfrm>
            <a:off x="7466076" y="3447288"/>
            <a:ext cx="457200" cy="457200"/>
          </a:xfrm>
          <a:prstGeom prst="ellipse">
            <a:avLst/>
          </a:prstGeom>
          <a:solidFill>
            <a:srgbClr val="0D5C55"/>
          </a:solidFill>
          <a:ln w="12700">
            <a:solidFill>
              <a:srgbClr val="0D5C55"/>
            </a:solidFill>
            <a:prstDash val="solid"/>
          </a:ln>
        </p:spPr>
      </p:sp>
      <p:pic>
        <p:nvPicPr>
          <p:cNvPr id="48" name="Image 8" descr="preencoded.png">    </p:cNvPr>
          <p:cNvPicPr>
            <a:picLocks noChangeAspect="1"/>
          </p:cNvPicPr>
          <p:nvPr/>
        </p:nvPicPr>
        <p:blipFill>
          <a:blip r:embed="rId9"/>
          <a:stretch>
            <a:fillRect/>
          </a:stretch>
        </p:blipFill>
        <p:spPr>
          <a:xfrm>
            <a:off x="7584948" y="3566160"/>
            <a:ext cx="219456" cy="219456"/>
          </a:xfrm>
          <a:prstGeom prst="rect">
            <a:avLst/>
          </a:prstGeom>
        </p:spPr>
      </p:pic>
      <p:sp>
        <p:nvSpPr>
          <p:cNvPr id="49" name="Text 38"/>
          <p:cNvSpPr txBox="1"/>
          <p:nvPr/>
        </p:nvSpPr>
        <p:spPr>
          <a:xfrm>
            <a:off x="8060436"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PDF</a:t>
            </a:r>
            <a:endParaRPr lang="en-US" sz="1400" dirty="0"/>
          </a:p>
        </p:txBody>
      </p:sp>
      <p:sp>
        <p:nvSpPr>
          <p:cNvPr id="50" name="Text 39"/>
          <p:cNvSpPr txBox="1"/>
          <p:nvPr/>
        </p:nvSpPr>
        <p:spPr>
          <a:xfrm>
            <a:off x="7466076"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pdf.js reader, search, zoom</a:t>
            </a:r>
            <a:endParaRPr lang="en-US" sz="1150" dirty="0"/>
          </a:p>
        </p:txBody>
      </p:sp>
      <p:sp>
        <p:nvSpPr>
          <p:cNvPr id="51" name="Shape 40"/>
          <p:cNvSpPr/>
          <p:nvPr/>
        </p:nvSpPr>
        <p:spPr>
          <a:xfrm>
            <a:off x="9528048" y="3264408"/>
            <a:ext cx="2103120" cy="1161288"/>
          </a:xfrm>
          <a:prstGeom prst="roundRect">
            <a:avLst>
              <a:gd name="adj" fmla="val 7874"/>
            </a:avLst>
          </a:prstGeom>
          <a:solidFill>
            <a:srgbClr val="F3F5F8"/>
          </a:solidFill>
          <a:ln w="12700">
            <a:solidFill>
              <a:srgbClr val="F3F5F8"/>
            </a:solidFill>
            <a:prstDash val="solid"/>
          </a:ln>
        </p:spPr>
      </p:sp>
      <p:sp>
        <p:nvSpPr>
          <p:cNvPr id="52" name="Shape 41"/>
          <p:cNvSpPr/>
          <p:nvPr/>
        </p:nvSpPr>
        <p:spPr>
          <a:xfrm>
            <a:off x="9710928" y="3447288"/>
            <a:ext cx="457200" cy="457200"/>
          </a:xfrm>
          <a:prstGeom prst="ellipse">
            <a:avLst/>
          </a:prstGeom>
          <a:solidFill>
            <a:srgbClr val="9A5A0C"/>
          </a:solidFill>
          <a:ln w="12700">
            <a:solidFill>
              <a:srgbClr val="9A5A0C"/>
            </a:solidFill>
            <a:prstDash val="solid"/>
          </a:ln>
        </p:spPr>
      </p:sp>
      <p:pic>
        <p:nvPicPr>
          <p:cNvPr id="53" name="Image 9" descr="preencoded.png">    </p:cNvPr>
          <p:cNvPicPr>
            <a:picLocks noChangeAspect="1"/>
          </p:cNvPicPr>
          <p:nvPr/>
        </p:nvPicPr>
        <p:blipFill>
          <a:blip r:embed="rId10"/>
          <a:stretch>
            <a:fillRect/>
          </a:stretch>
        </p:blipFill>
        <p:spPr>
          <a:xfrm>
            <a:off x="9829800" y="3566160"/>
            <a:ext cx="219456" cy="219456"/>
          </a:xfrm>
          <a:prstGeom prst="rect">
            <a:avLst/>
          </a:prstGeom>
        </p:spPr>
      </p:pic>
      <p:sp>
        <p:nvSpPr>
          <p:cNvPr id="54" name="Text 42"/>
          <p:cNvSpPr txBox="1"/>
          <p:nvPr/>
        </p:nvSpPr>
        <p:spPr>
          <a:xfrm>
            <a:off x="10305288"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Photos</a:t>
            </a:r>
            <a:endParaRPr lang="en-US" sz="1400" dirty="0"/>
          </a:p>
        </p:txBody>
      </p:sp>
      <p:sp>
        <p:nvSpPr>
          <p:cNvPr id="55" name="Text 43"/>
          <p:cNvSpPr txBox="1"/>
          <p:nvPr/>
        </p:nvSpPr>
        <p:spPr>
          <a:xfrm>
            <a:off x="9710928"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zoom, rotate, TIFF / HEIC</a:t>
            </a:r>
            <a:endParaRPr lang="en-US" sz="1150" dirty="0"/>
          </a:p>
        </p:txBody>
      </p:sp>
      <p:sp>
        <p:nvSpPr>
          <p:cNvPr id="56" name="Shape 44"/>
          <p:cNvSpPr/>
          <p:nvPr/>
        </p:nvSpPr>
        <p:spPr>
          <a:xfrm>
            <a:off x="548640" y="4562856"/>
            <a:ext cx="2103120" cy="1161288"/>
          </a:xfrm>
          <a:prstGeom prst="roundRect">
            <a:avLst>
              <a:gd name="adj" fmla="val 7874"/>
            </a:avLst>
          </a:prstGeom>
          <a:solidFill>
            <a:srgbClr val="F3F5F8"/>
          </a:solidFill>
          <a:ln w="12700">
            <a:solidFill>
              <a:srgbClr val="F3F5F8"/>
            </a:solidFill>
            <a:prstDash val="solid"/>
          </a:ln>
        </p:spPr>
      </p:sp>
      <p:sp>
        <p:nvSpPr>
          <p:cNvPr id="57" name="Shape 45"/>
          <p:cNvSpPr/>
          <p:nvPr/>
        </p:nvSpPr>
        <p:spPr>
          <a:xfrm>
            <a:off x="731520" y="4745736"/>
            <a:ext cx="457200" cy="457200"/>
          </a:xfrm>
          <a:prstGeom prst="ellipse">
            <a:avLst/>
          </a:prstGeom>
          <a:solidFill>
            <a:srgbClr val="E08A1E"/>
          </a:solidFill>
          <a:ln w="12700">
            <a:solidFill>
              <a:srgbClr val="E08A1E"/>
            </a:solidFill>
            <a:prstDash val="solid"/>
          </a:ln>
        </p:spPr>
      </p:sp>
      <p:pic>
        <p:nvPicPr>
          <p:cNvPr id="58" name="Image 10" descr="preencoded.png">    </p:cNvPr>
          <p:cNvPicPr>
            <a:picLocks noChangeAspect="1"/>
          </p:cNvPicPr>
          <p:nvPr/>
        </p:nvPicPr>
        <p:blipFill>
          <a:blip r:embed="rId11"/>
          <a:stretch>
            <a:fillRect/>
          </a:stretch>
        </p:blipFill>
        <p:spPr>
          <a:xfrm>
            <a:off x="850392" y="4864608"/>
            <a:ext cx="219456" cy="219456"/>
          </a:xfrm>
          <a:prstGeom prst="rect">
            <a:avLst/>
          </a:prstGeom>
        </p:spPr>
      </p:pic>
      <p:sp>
        <p:nvSpPr>
          <p:cNvPr id="59" name="Text 46"/>
          <p:cNvSpPr txBox="1"/>
          <p:nvPr/>
        </p:nvSpPr>
        <p:spPr>
          <a:xfrm>
            <a:off x="1325880"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Whiteboard</a:t>
            </a:r>
            <a:endParaRPr lang="en-US" sz="1400" dirty="0"/>
          </a:p>
        </p:txBody>
      </p:sp>
      <p:sp>
        <p:nvSpPr>
          <p:cNvPr id="60" name="Text 47"/>
          <p:cNvSpPr txBox="1"/>
          <p:nvPr/>
        </p:nvSpPr>
        <p:spPr>
          <a:xfrm>
            <a:off x="731520"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sketch, save as PNG</a:t>
            </a:r>
            <a:endParaRPr lang="en-US" sz="1150" dirty="0"/>
          </a:p>
        </p:txBody>
      </p:sp>
      <p:sp>
        <p:nvSpPr>
          <p:cNvPr id="61" name="Shape 48"/>
          <p:cNvSpPr/>
          <p:nvPr/>
        </p:nvSpPr>
        <p:spPr>
          <a:xfrm>
            <a:off x="2793492" y="4562856"/>
            <a:ext cx="2103120" cy="1161288"/>
          </a:xfrm>
          <a:prstGeom prst="roundRect">
            <a:avLst>
              <a:gd name="adj" fmla="val 7874"/>
            </a:avLst>
          </a:prstGeom>
          <a:solidFill>
            <a:srgbClr val="F3F5F8"/>
          </a:solidFill>
          <a:ln w="12700">
            <a:solidFill>
              <a:srgbClr val="F3F5F8"/>
            </a:solidFill>
            <a:prstDash val="solid"/>
          </a:ln>
        </p:spPr>
      </p:sp>
      <p:sp>
        <p:nvSpPr>
          <p:cNvPr id="62" name="Shape 49"/>
          <p:cNvSpPr/>
          <p:nvPr/>
        </p:nvSpPr>
        <p:spPr>
          <a:xfrm>
            <a:off x="2976372" y="4745736"/>
            <a:ext cx="457200" cy="457200"/>
          </a:xfrm>
          <a:prstGeom prst="ellipse">
            <a:avLst/>
          </a:prstGeom>
          <a:solidFill>
            <a:srgbClr val="15877D"/>
          </a:solidFill>
          <a:ln w="12700">
            <a:solidFill>
              <a:srgbClr val="15877D"/>
            </a:solidFill>
            <a:prstDash val="solid"/>
          </a:ln>
        </p:spPr>
      </p:sp>
      <p:pic>
        <p:nvPicPr>
          <p:cNvPr id="63" name="Image 11" descr="preencoded.png">    </p:cNvPr>
          <p:cNvPicPr>
            <a:picLocks noChangeAspect="1"/>
          </p:cNvPicPr>
          <p:nvPr/>
        </p:nvPicPr>
        <p:blipFill>
          <a:blip r:embed="rId12"/>
          <a:stretch>
            <a:fillRect/>
          </a:stretch>
        </p:blipFill>
        <p:spPr>
          <a:xfrm>
            <a:off x="3095244" y="4864608"/>
            <a:ext cx="219456" cy="219456"/>
          </a:xfrm>
          <a:prstGeom prst="rect">
            <a:avLst/>
          </a:prstGeom>
        </p:spPr>
      </p:pic>
      <p:sp>
        <p:nvSpPr>
          <p:cNvPr id="64" name="Text 50"/>
          <p:cNvSpPr txBox="1"/>
          <p:nvPr/>
        </p:nvSpPr>
        <p:spPr>
          <a:xfrm>
            <a:off x="3570732"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Media</a:t>
            </a:r>
            <a:endParaRPr lang="en-US" sz="1400" dirty="0"/>
          </a:p>
        </p:txBody>
      </p:sp>
      <p:sp>
        <p:nvSpPr>
          <p:cNvPr id="65" name="Text 51"/>
          <p:cNvSpPr txBox="1"/>
          <p:nvPr/>
        </p:nvSpPr>
        <p:spPr>
          <a:xfrm>
            <a:off x="2976372"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video and audio</a:t>
            </a:r>
            <a:endParaRPr lang="en-US" sz="1150" dirty="0"/>
          </a:p>
        </p:txBody>
      </p:sp>
      <p:sp>
        <p:nvSpPr>
          <p:cNvPr id="66" name="Shape 52"/>
          <p:cNvSpPr/>
          <p:nvPr/>
        </p:nvSpPr>
        <p:spPr>
          <a:xfrm>
            <a:off x="5038344" y="4562856"/>
            <a:ext cx="2103120" cy="1161288"/>
          </a:xfrm>
          <a:prstGeom prst="roundRect">
            <a:avLst>
              <a:gd name="adj" fmla="val 7874"/>
            </a:avLst>
          </a:prstGeom>
          <a:solidFill>
            <a:srgbClr val="F3F5F8"/>
          </a:solidFill>
          <a:ln w="12700">
            <a:solidFill>
              <a:srgbClr val="F3F5F8"/>
            </a:solidFill>
            <a:prstDash val="solid"/>
          </a:ln>
        </p:spPr>
      </p:sp>
      <p:sp>
        <p:nvSpPr>
          <p:cNvPr id="67" name="Shape 53"/>
          <p:cNvSpPr/>
          <p:nvPr/>
        </p:nvSpPr>
        <p:spPr>
          <a:xfrm>
            <a:off x="5221224" y="4745736"/>
            <a:ext cx="457200" cy="457200"/>
          </a:xfrm>
          <a:prstGeom prst="ellipse">
            <a:avLst/>
          </a:prstGeom>
          <a:solidFill>
            <a:srgbClr val="4E5A6B"/>
          </a:solidFill>
          <a:ln w="12700">
            <a:solidFill>
              <a:srgbClr val="4E5A6B"/>
            </a:solidFill>
            <a:prstDash val="solid"/>
          </a:ln>
        </p:spPr>
      </p:sp>
      <p:pic>
        <p:nvPicPr>
          <p:cNvPr id="68" name="Image 12" descr="preencoded.png">    </p:cNvPr>
          <p:cNvPicPr>
            <a:picLocks noChangeAspect="1"/>
          </p:cNvPicPr>
          <p:nvPr/>
        </p:nvPicPr>
        <p:blipFill>
          <a:blip r:embed="rId13"/>
          <a:stretch>
            <a:fillRect/>
          </a:stretch>
        </p:blipFill>
        <p:spPr>
          <a:xfrm>
            <a:off x="5340096" y="4864608"/>
            <a:ext cx="219456" cy="219456"/>
          </a:xfrm>
          <a:prstGeom prst="rect">
            <a:avLst/>
          </a:prstGeom>
        </p:spPr>
      </p:pic>
      <p:sp>
        <p:nvSpPr>
          <p:cNvPr id="69" name="Text 54"/>
          <p:cNvSpPr txBox="1"/>
          <p:nvPr/>
        </p:nvSpPr>
        <p:spPr>
          <a:xfrm>
            <a:off x="5815584"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Dashboards</a:t>
            </a:r>
            <a:endParaRPr lang="en-US" sz="1400" dirty="0"/>
          </a:p>
        </p:txBody>
      </p:sp>
      <p:sp>
        <p:nvSpPr>
          <p:cNvPr id="70" name="Text 55"/>
          <p:cNvSpPr txBox="1"/>
          <p:nvPr/>
        </p:nvSpPr>
        <p:spPr>
          <a:xfrm>
            <a:off x="5221224"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live KPI and chart tiles</a:t>
            </a:r>
            <a:endParaRPr lang="en-US" sz="1150" dirty="0"/>
          </a:p>
        </p:txBody>
      </p:sp>
      <p:sp>
        <p:nvSpPr>
          <p:cNvPr id="71" name="Shape 56"/>
          <p:cNvSpPr/>
          <p:nvPr/>
        </p:nvSpPr>
        <p:spPr>
          <a:xfrm>
            <a:off x="7283196" y="4562856"/>
            <a:ext cx="2103120" cy="1161288"/>
          </a:xfrm>
          <a:prstGeom prst="roundRect">
            <a:avLst>
              <a:gd name="adj" fmla="val 7874"/>
            </a:avLst>
          </a:prstGeom>
          <a:solidFill>
            <a:srgbClr val="F3F5F8"/>
          </a:solidFill>
          <a:ln w="12700">
            <a:solidFill>
              <a:srgbClr val="F3F5F8"/>
            </a:solidFill>
            <a:prstDash val="solid"/>
          </a:ln>
        </p:spPr>
      </p:sp>
      <p:sp>
        <p:nvSpPr>
          <p:cNvPr id="72" name="Shape 57"/>
          <p:cNvSpPr/>
          <p:nvPr/>
        </p:nvSpPr>
        <p:spPr>
          <a:xfrm>
            <a:off x="7466076" y="4745736"/>
            <a:ext cx="457200" cy="457200"/>
          </a:xfrm>
          <a:prstGeom prst="ellipse">
            <a:avLst/>
          </a:prstGeom>
          <a:solidFill>
            <a:srgbClr val="0D5C55"/>
          </a:solidFill>
          <a:ln w="12700">
            <a:solidFill>
              <a:srgbClr val="0D5C55"/>
            </a:solidFill>
            <a:prstDash val="solid"/>
          </a:ln>
        </p:spPr>
      </p:sp>
      <p:pic>
        <p:nvPicPr>
          <p:cNvPr id="73" name="Image 13" descr="preencoded.png">    </p:cNvPr>
          <p:cNvPicPr>
            <a:picLocks noChangeAspect="1"/>
          </p:cNvPicPr>
          <p:nvPr/>
        </p:nvPicPr>
        <p:blipFill>
          <a:blip r:embed="rId14"/>
          <a:stretch>
            <a:fillRect/>
          </a:stretch>
        </p:blipFill>
        <p:spPr>
          <a:xfrm>
            <a:off x="7584948" y="4864608"/>
            <a:ext cx="219456" cy="219456"/>
          </a:xfrm>
          <a:prstGeom prst="rect">
            <a:avLst/>
          </a:prstGeom>
        </p:spPr>
      </p:pic>
      <p:sp>
        <p:nvSpPr>
          <p:cNvPr id="74" name="Text 58"/>
          <p:cNvSpPr txBox="1"/>
          <p:nvPr/>
        </p:nvSpPr>
        <p:spPr>
          <a:xfrm>
            <a:off x="8060436"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Pages</a:t>
            </a:r>
            <a:endParaRPr lang="en-US" sz="1400" dirty="0"/>
          </a:p>
        </p:txBody>
      </p:sp>
      <p:sp>
        <p:nvSpPr>
          <p:cNvPr id="75" name="Text 59"/>
          <p:cNvSpPr txBox="1"/>
          <p:nvPr/>
        </p:nvSpPr>
        <p:spPr>
          <a:xfrm>
            <a:off x="7466076"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published by link</a:t>
            </a:r>
            <a:endParaRPr lang="en-US" sz="1150" dirty="0"/>
          </a:p>
        </p:txBody>
      </p:sp>
      <p:sp>
        <p:nvSpPr>
          <p:cNvPr id="76" name="Shape 60"/>
          <p:cNvSpPr/>
          <p:nvPr/>
        </p:nvSpPr>
        <p:spPr>
          <a:xfrm>
            <a:off x="9528048" y="4562856"/>
            <a:ext cx="2103120" cy="1161288"/>
          </a:xfrm>
          <a:prstGeom prst="roundRect">
            <a:avLst>
              <a:gd name="adj" fmla="val 7874"/>
            </a:avLst>
          </a:prstGeom>
          <a:solidFill>
            <a:srgbClr val="F3F5F8"/>
          </a:solidFill>
          <a:ln w="12700">
            <a:solidFill>
              <a:srgbClr val="F3F5F8"/>
            </a:solidFill>
            <a:prstDash val="solid"/>
          </a:ln>
        </p:spPr>
      </p:sp>
      <p:sp>
        <p:nvSpPr>
          <p:cNvPr id="77" name="Shape 61"/>
          <p:cNvSpPr/>
          <p:nvPr/>
        </p:nvSpPr>
        <p:spPr>
          <a:xfrm>
            <a:off x="9710928" y="4745736"/>
            <a:ext cx="457200" cy="457200"/>
          </a:xfrm>
          <a:prstGeom prst="ellipse">
            <a:avLst/>
          </a:prstGeom>
          <a:solidFill>
            <a:srgbClr val="9A5A0C"/>
          </a:solidFill>
          <a:ln w="12700">
            <a:solidFill>
              <a:srgbClr val="9A5A0C"/>
            </a:solidFill>
            <a:prstDash val="solid"/>
          </a:ln>
        </p:spPr>
      </p:sp>
      <p:pic>
        <p:nvPicPr>
          <p:cNvPr id="78" name="Image 14" descr="preencoded.png">    </p:cNvPr>
          <p:cNvPicPr>
            <a:picLocks noChangeAspect="1"/>
          </p:cNvPicPr>
          <p:nvPr/>
        </p:nvPicPr>
        <p:blipFill>
          <a:blip r:embed="rId15"/>
          <a:stretch>
            <a:fillRect/>
          </a:stretch>
        </p:blipFill>
        <p:spPr>
          <a:xfrm>
            <a:off x="9829800" y="4864608"/>
            <a:ext cx="219456" cy="219456"/>
          </a:xfrm>
          <a:prstGeom prst="rect">
            <a:avLst/>
          </a:prstGeom>
        </p:spPr>
      </p:pic>
      <p:sp>
        <p:nvSpPr>
          <p:cNvPr id="79" name="Text 62"/>
          <p:cNvSpPr txBox="1"/>
          <p:nvPr/>
        </p:nvSpPr>
        <p:spPr>
          <a:xfrm>
            <a:off x="10305288"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Imagine</a:t>
            </a:r>
            <a:endParaRPr lang="en-US" sz="1400" dirty="0"/>
          </a:p>
        </p:txBody>
      </p:sp>
      <p:sp>
        <p:nvSpPr>
          <p:cNvPr id="80" name="Text 63"/>
          <p:cNvSpPr txBox="1"/>
          <p:nvPr/>
        </p:nvSpPr>
        <p:spPr>
          <a:xfrm>
            <a:off x="9710928"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image, video, audio generation</a:t>
            </a:r>
            <a:endParaRPr lang="en-US" sz="1150" dirty="0"/>
          </a:p>
        </p:txBody>
      </p:sp>
      <p:sp>
        <p:nvSpPr>
          <p:cNvPr id="81" name="Shape 64"/>
          <p:cNvSpPr/>
          <p:nvPr/>
        </p:nvSpPr>
        <p:spPr>
          <a:xfrm>
            <a:off x="548640" y="5897880"/>
            <a:ext cx="11091672" cy="411480"/>
          </a:xfrm>
          <a:prstGeom prst="roundRect">
            <a:avLst>
              <a:gd name="adj" fmla="val 22222"/>
            </a:avLst>
          </a:prstGeom>
          <a:solidFill>
            <a:srgbClr val="FDF0DE"/>
          </a:solidFill>
          <a:ln w="12700">
            <a:solidFill>
              <a:srgbClr val="FDF0DE"/>
            </a:solidFill>
            <a:prstDash val="solid"/>
          </a:ln>
        </p:spPr>
      </p:sp>
      <p:sp>
        <p:nvSpPr>
          <p:cNvPr id="82" name="Text 65"/>
          <p:cNvSpPr txBox="1"/>
          <p:nvPr/>
        </p:nvSpPr>
        <p:spPr>
          <a:xfrm>
            <a:off x="777240" y="5943600"/>
            <a:ext cx="10698480" cy="320040"/>
          </a:xfrm>
          <a:prstGeom prst="rect">
            <a:avLst/>
          </a:prstGeom>
          <a:noFill/>
          <a:ln/>
        </p:spPr>
        <p:txBody>
          <a:bodyPr wrap="square" lIns="0" tIns="0" rIns="0" bIns="0" rtlCol="0" anchor="ctr"/>
          <a:lstStyle/>
          <a:p>
            <a:pPr algn="l" indent="0" marL="0">
              <a:buNone/>
            </a:pPr>
            <a:r>
              <a:rPr lang="en-US" sz="1200" b="1" dirty="0">
                <a:solidFill>
                  <a:srgbClr val="1C212B"/>
                </a:solidFill>
                <a:latin typeface="Calibri" pitchFamily="34" charset="0"/>
                <a:ea typeface="Calibri" pitchFamily="34" charset="-122"/>
                <a:cs typeface="Calibri" pitchFamily="34" charset="-120"/>
              </a:rPr>
              <a:t>No external office server. </a:t>
            </a:r>
            <a:pPr algn="l" indent="0" marL="0">
              <a:buNone/>
            </a:pPr>
            <a:r>
              <a:rPr lang="en-US" sz="1200" dirty="0">
                <a:solidFill>
                  <a:srgbClr val="1C212B"/>
                </a:solidFill>
                <a:latin typeface="Calibri" pitchFamily="34" charset="0"/>
                <a:ea typeface="Calibri" pitchFamily="34" charset="-122"/>
                <a:cs typeface="Calibri" pitchFamily="34" charset="-120"/>
              </a:rPr>
              <a:t>It would need 2–4 GB of RAM on a 913 MB host, and the usual one is AGPL. MIT/Apache editors run inside our own pages instead.</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SAVING</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Autosave without a Save button — or lost work</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Office files are expensive to rebuild, so edits land as a draft first and the real file follows.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28</a:t>
            </a:r>
            <a:endParaRPr lang="en-US" sz="1000" dirty="0"/>
          </a:p>
        </p:txBody>
      </p:sp>
      <p:sp>
        <p:nvSpPr>
          <p:cNvPr id="6" name="Text 4"/>
          <p:cNvSpPr txBox="1"/>
          <p:nvPr/>
        </p:nvSpPr>
        <p:spPr>
          <a:xfrm>
            <a:off x="548640" y="2011680"/>
            <a:ext cx="2011680" cy="1417320"/>
          </a:xfrm>
          <a:prstGeom prst="roundRect">
            <a:avLst>
              <a:gd name="adj" fmla="val 5161"/>
            </a:avLst>
          </a:prstGeom>
          <a:solidFill>
            <a:srgbClr val="E9EDF2"/>
          </a:solidFill>
          <a:ln w="12700">
            <a:solidFill>
              <a:srgbClr val="4E5A6B"/>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You edit</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keystrokes, cells, slides</a:t>
            </a:r>
            <a:endParaRPr lang="en-US" sz="1400" dirty="0"/>
          </a:p>
        </p:txBody>
      </p:sp>
      <p:sp>
        <p:nvSpPr>
          <p:cNvPr id="7" name="Shape 5"/>
          <p:cNvSpPr/>
          <p:nvPr/>
        </p:nvSpPr>
        <p:spPr>
          <a:xfrm>
            <a:off x="2560320" y="2715768"/>
            <a:ext cx="251460" cy="0"/>
          </a:xfrm>
          <a:prstGeom prst="line">
            <a:avLst/>
          </a:prstGeom>
          <a:noFill/>
          <a:ln w="19050">
            <a:solidFill>
              <a:srgbClr val="4E5A6B"/>
            </a:solidFill>
            <a:prstDash val="solid"/>
            <a:tailEnd type="triangle"/>
          </a:ln>
        </p:spPr>
      </p:sp>
      <p:sp>
        <p:nvSpPr>
          <p:cNvPr id="8" name="Text 6"/>
          <p:cNvSpPr txBox="1"/>
          <p:nvPr/>
        </p:nvSpPr>
        <p:spPr>
          <a:xfrm>
            <a:off x="2811780" y="2011680"/>
            <a:ext cx="2011680" cy="1417320"/>
          </a:xfrm>
          <a:prstGeom prst="roundRect">
            <a:avLst>
              <a:gd name="adj" fmla="val 5161"/>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Draft saved</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instantly, next to the file</a:t>
            </a:r>
            <a:endParaRPr lang="en-US" sz="1400" dirty="0"/>
          </a:p>
        </p:txBody>
      </p:sp>
      <p:sp>
        <p:nvSpPr>
          <p:cNvPr id="9" name="Shape 7"/>
          <p:cNvSpPr/>
          <p:nvPr/>
        </p:nvSpPr>
        <p:spPr>
          <a:xfrm>
            <a:off x="4823460" y="2715768"/>
            <a:ext cx="251460" cy="0"/>
          </a:xfrm>
          <a:prstGeom prst="line">
            <a:avLst/>
          </a:prstGeom>
          <a:noFill/>
          <a:ln w="19050">
            <a:solidFill>
              <a:srgbClr val="4E5A6B"/>
            </a:solidFill>
            <a:prstDash val="solid"/>
            <a:tailEnd type="triangle"/>
          </a:ln>
        </p:spPr>
      </p:sp>
      <p:sp>
        <p:nvSpPr>
          <p:cNvPr id="10" name="Text 8"/>
          <p:cNvSpPr txBox="1"/>
          <p:nvPr/>
        </p:nvSpPr>
        <p:spPr>
          <a:xfrm>
            <a:off x="5074920" y="2011680"/>
            <a:ext cx="2011680" cy="1417320"/>
          </a:xfrm>
          <a:prstGeom prst="roundRect">
            <a:avLst>
              <a:gd name="adj" fmla="val 5161"/>
            </a:avLst>
          </a:prstGeom>
          <a:solidFill>
            <a:srgbClr val="FDF0D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30 s of quiet</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or anything needs the bytes: download, export, an agent's read</a:t>
            </a:r>
            <a:endParaRPr lang="en-US" sz="1400" dirty="0"/>
          </a:p>
        </p:txBody>
      </p:sp>
      <p:sp>
        <p:nvSpPr>
          <p:cNvPr id="11" name="Shape 9"/>
          <p:cNvSpPr/>
          <p:nvPr/>
        </p:nvSpPr>
        <p:spPr>
          <a:xfrm>
            <a:off x="7086600" y="2715768"/>
            <a:ext cx="251460" cy="0"/>
          </a:xfrm>
          <a:prstGeom prst="line">
            <a:avLst/>
          </a:prstGeom>
          <a:noFill/>
          <a:ln w="19050">
            <a:solidFill>
              <a:srgbClr val="4E5A6B"/>
            </a:solidFill>
            <a:prstDash val="solid"/>
            <a:tailEnd type="triangle"/>
          </a:ln>
        </p:spPr>
      </p:sp>
      <p:sp>
        <p:nvSpPr>
          <p:cNvPr id="12" name="Text 10"/>
          <p:cNvSpPr txBox="1"/>
          <p:nvPr/>
        </p:nvSpPr>
        <p:spPr>
          <a:xfrm>
            <a:off x="7338060" y="2011680"/>
            <a:ext cx="2011680" cy="1417320"/>
          </a:xfrm>
          <a:prstGeom prst="roundRect">
            <a:avLst>
              <a:gd name="adj" fmla="val 5161"/>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Real file rendered</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through the normal edit path</a:t>
            </a:r>
            <a:endParaRPr lang="en-US" sz="1400" dirty="0"/>
          </a:p>
        </p:txBody>
      </p:sp>
      <p:sp>
        <p:nvSpPr>
          <p:cNvPr id="13" name="Shape 11"/>
          <p:cNvSpPr/>
          <p:nvPr/>
        </p:nvSpPr>
        <p:spPr>
          <a:xfrm>
            <a:off x="9349740" y="2715768"/>
            <a:ext cx="251460" cy="0"/>
          </a:xfrm>
          <a:prstGeom prst="line">
            <a:avLst/>
          </a:prstGeom>
          <a:noFill/>
          <a:ln w="19050">
            <a:solidFill>
              <a:srgbClr val="4E5A6B"/>
            </a:solidFill>
            <a:prstDash val="solid"/>
            <a:tailEnd type="triangle"/>
          </a:ln>
        </p:spPr>
      </p:sp>
      <p:sp>
        <p:nvSpPr>
          <p:cNvPr id="14" name="Text 12"/>
          <p:cNvSpPr txBox="1"/>
          <p:nvPr/>
        </p:nvSpPr>
        <p:spPr>
          <a:xfrm>
            <a:off x="9601200" y="2011680"/>
            <a:ext cx="2011680" cy="1417320"/>
          </a:xfrm>
          <a:prstGeom prst="roundRect">
            <a:avLst>
              <a:gd name="adj" fmla="val 5161"/>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Version kept</a:t>
            </a:r>
            <a:endParaRPr lang="en-US" sz="1400" dirty="0"/>
          </a:p>
          <a:p>
            <a:pPr algn="ctr" indent="0" marL="0">
              <a:spcAft>
                <a:spcPts val="200"/>
              </a:spcAft>
              <a:buNone/>
            </a:pPr>
            <a:r>
              <a:rPr lang="en-US" sz="1150" dirty="0">
                <a:solidFill>
                  <a:srgbClr val="E0F2EF"/>
                </a:solidFill>
                <a:latin typeface="Calibri" pitchFamily="34" charset="0"/>
                <a:ea typeface="Calibri" pitchFamily="34" charset="-122"/>
                <a:cs typeface="Calibri" pitchFamily="34" charset="-120"/>
              </a:rPr>
              <a:t>one per burst, restorable</a:t>
            </a:r>
            <a:endParaRPr lang="en-US" sz="1400" dirty="0"/>
          </a:p>
        </p:txBody>
      </p:sp>
      <p:sp>
        <p:nvSpPr>
          <p:cNvPr id="15" name="Shape 13"/>
          <p:cNvSpPr/>
          <p:nvPr/>
        </p:nvSpPr>
        <p:spPr>
          <a:xfrm>
            <a:off x="548640" y="3749040"/>
            <a:ext cx="2651760" cy="2423160"/>
          </a:xfrm>
          <a:prstGeom prst="roundRect">
            <a:avLst>
              <a:gd name="adj" fmla="val 3774"/>
            </a:avLst>
          </a:prstGeom>
          <a:solidFill>
            <a:srgbClr val="F3F5F8"/>
          </a:solidFill>
          <a:ln w="12700">
            <a:solidFill>
              <a:srgbClr val="F3F5F8"/>
            </a:solidFill>
            <a:prstDash val="solid"/>
          </a:ln>
        </p:spPr>
      </p:sp>
      <p:sp>
        <p:nvSpPr>
          <p:cNvPr id="16" name="Shape 14"/>
          <p:cNvSpPr/>
          <p:nvPr/>
        </p:nvSpPr>
        <p:spPr>
          <a:xfrm>
            <a:off x="777240" y="3931920"/>
            <a:ext cx="457200" cy="457200"/>
          </a:xfrm>
          <a:prstGeom prst="ellipse">
            <a:avLst/>
          </a:prstGeom>
          <a:solidFill>
            <a:srgbClr val="C4433A"/>
          </a:solidFill>
          <a:ln w="12700">
            <a:solidFill>
              <a:srgbClr val="C4433A"/>
            </a:solidFill>
            <a:prstDash val="solid"/>
          </a:ln>
        </p:spPr>
      </p:sp>
      <p:pic>
        <p:nvPicPr>
          <p:cNvPr id="17" name="Image 0" descr="preencoded.png">    </p:cNvPr>
          <p:cNvPicPr>
            <a:picLocks noChangeAspect="1"/>
          </p:cNvPicPr>
          <p:nvPr/>
        </p:nvPicPr>
        <p:blipFill>
          <a:blip r:embed="rId1"/>
          <a:stretch>
            <a:fillRect/>
          </a:stretch>
        </p:blipFill>
        <p:spPr>
          <a:xfrm>
            <a:off x="896112" y="4050792"/>
            <a:ext cx="219456" cy="219456"/>
          </a:xfrm>
          <a:prstGeom prst="rect">
            <a:avLst/>
          </a:prstGeom>
        </p:spPr>
      </p:pic>
      <p:sp>
        <p:nvSpPr>
          <p:cNvPr id="18" name="Text 15"/>
          <p:cNvSpPr txBox="1"/>
          <p:nvPr/>
        </p:nvSpPr>
        <p:spPr>
          <a:xfrm>
            <a:off x="777240"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Conflicts are refused</a:t>
            </a:r>
            <a:endParaRPr lang="en-US" sz="1350" dirty="0"/>
          </a:p>
        </p:txBody>
      </p:sp>
      <p:sp>
        <p:nvSpPr>
          <p:cNvPr id="19" name="Text 16"/>
          <p:cNvSpPr txBox="1"/>
          <p:nvPr/>
        </p:nvSpPr>
        <p:spPr>
          <a:xfrm>
            <a:off x="777240"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Every editor's etag is the file's updated time. A stale save is refused; a rename does not count as a change.</a:t>
            </a:r>
            <a:endParaRPr lang="en-US" sz="1200" dirty="0"/>
          </a:p>
        </p:txBody>
      </p:sp>
      <p:sp>
        <p:nvSpPr>
          <p:cNvPr id="20" name="Shape 17"/>
          <p:cNvSpPr/>
          <p:nvPr/>
        </p:nvSpPr>
        <p:spPr>
          <a:xfrm>
            <a:off x="3355848" y="3749040"/>
            <a:ext cx="2651760" cy="2423160"/>
          </a:xfrm>
          <a:prstGeom prst="roundRect">
            <a:avLst>
              <a:gd name="adj" fmla="val 3774"/>
            </a:avLst>
          </a:prstGeom>
          <a:solidFill>
            <a:srgbClr val="F3F5F8"/>
          </a:solidFill>
          <a:ln w="12700">
            <a:solidFill>
              <a:srgbClr val="F3F5F8"/>
            </a:solidFill>
            <a:prstDash val="solid"/>
          </a:ln>
        </p:spPr>
      </p:sp>
      <p:sp>
        <p:nvSpPr>
          <p:cNvPr id="21" name="Shape 18"/>
          <p:cNvSpPr/>
          <p:nvPr/>
        </p:nvSpPr>
        <p:spPr>
          <a:xfrm>
            <a:off x="3584448" y="3931920"/>
            <a:ext cx="457200" cy="457200"/>
          </a:xfrm>
          <a:prstGeom prst="ellipse">
            <a:avLst/>
          </a:prstGeom>
          <a:solidFill>
            <a:srgbClr val="4E5A6B"/>
          </a:solidFill>
          <a:ln w="12700">
            <a:solidFill>
              <a:srgbClr val="4E5A6B"/>
            </a:solidFill>
            <a:prstDash val="solid"/>
          </a:ln>
        </p:spPr>
      </p:sp>
      <p:pic>
        <p:nvPicPr>
          <p:cNvPr id="22" name="Image 1" descr="preencoded.png">    </p:cNvPr>
          <p:cNvPicPr>
            <a:picLocks noChangeAspect="1"/>
          </p:cNvPicPr>
          <p:nvPr/>
        </p:nvPicPr>
        <p:blipFill>
          <a:blip r:embed="rId2"/>
          <a:stretch>
            <a:fillRect/>
          </a:stretch>
        </p:blipFill>
        <p:spPr>
          <a:xfrm>
            <a:off x="3703320" y="4050792"/>
            <a:ext cx="219456" cy="219456"/>
          </a:xfrm>
          <a:prstGeom prst="rect">
            <a:avLst/>
          </a:prstGeom>
        </p:spPr>
      </p:pic>
      <p:sp>
        <p:nvSpPr>
          <p:cNvPr id="23" name="Text 19"/>
          <p:cNvSpPr txBox="1"/>
          <p:nvPr/>
        </p:nvSpPr>
        <p:spPr>
          <a:xfrm>
            <a:off x="3584448"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Undo everywhere</a:t>
            </a:r>
            <a:endParaRPr lang="en-US" sz="1350" dirty="0"/>
          </a:p>
        </p:txBody>
      </p:sp>
      <p:sp>
        <p:nvSpPr>
          <p:cNvPr id="24" name="Text 20"/>
          <p:cNvSpPr txBox="1"/>
          <p:nvPr/>
        </p:nvSpPr>
        <p:spPr>
          <a:xfrm>
            <a:off x="3584448"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Ctrl+Z / Ctrl+Y in text, slide specs and the sheet grid; the rich editors bring their own.</a:t>
            </a:r>
            <a:endParaRPr lang="en-US" sz="1200" dirty="0"/>
          </a:p>
        </p:txBody>
      </p:sp>
      <p:sp>
        <p:nvSpPr>
          <p:cNvPr id="25" name="Shape 21"/>
          <p:cNvSpPr/>
          <p:nvPr/>
        </p:nvSpPr>
        <p:spPr>
          <a:xfrm>
            <a:off x="6163056" y="3749040"/>
            <a:ext cx="2651760" cy="2423160"/>
          </a:xfrm>
          <a:prstGeom prst="roundRect">
            <a:avLst>
              <a:gd name="adj" fmla="val 3774"/>
            </a:avLst>
          </a:prstGeom>
          <a:solidFill>
            <a:srgbClr val="F3F5F8"/>
          </a:solidFill>
          <a:ln w="12700">
            <a:solidFill>
              <a:srgbClr val="F3F5F8"/>
            </a:solidFill>
            <a:prstDash val="solid"/>
          </a:ln>
        </p:spPr>
      </p:sp>
      <p:sp>
        <p:nvSpPr>
          <p:cNvPr id="26" name="Shape 22"/>
          <p:cNvSpPr/>
          <p:nvPr/>
        </p:nvSpPr>
        <p:spPr>
          <a:xfrm>
            <a:off x="6391656" y="3931920"/>
            <a:ext cx="457200" cy="457200"/>
          </a:xfrm>
          <a:prstGeom prst="ellipse">
            <a:avLst/>
          </a:prstGeom>
          <a:solidFill>
            <a:srgbClr val="15877D"/>
          </a:solidFill>
          <a:ln w="12700">
            <a:solidFill>
              <a:srgbClr val="15877D"/>
            </a:solidFill>
            <a:prstDash val="solid"/>
          </a:ln>
        </p:spPr>
      </p:sp>
      <p:pic>
        <p:nvPicPr>
          <p:cNvPr id="27" name="Image 2" descr="preencoded.png">    </p:cNvPr>
          <p:cNvPicPr>
            <a:picLocks noChangeAspect="1"/>
          </p:cNvPicPr>
          <p:nvPr/>
        </p:nvPicPr>
        <p:blipFill>
          <a:blip r:embed="rId3"/>
          <a:stretch>
            <a:fillRect/>
          </a:stretch>
        </p:blipFill>
        <p:spPr>
          <a:xfrm>
            <a:off x="6510528" y="4050792"/>
            <a:ext cx="219456" cy="219456"/>
          </a:xfrm>
          <a:prstGeom prst="rect">
            <a:avLst/>
          </a:prstGeom>
        </p:spPr>
      </p:pic>
      <p:sp>
        <p:nvSpPr>
          <p:cNvPr id="28" name="Text 23"/>
          <p:cNvSpPr txBox="1"/>
          <p:nvPr/>
        </p:nvSpPr>
        <p:spPr>
          <a:xfrm>
            <a:off x="6391656"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Pick up where you left</a:t>
            </a:r>
            <a:endParaRPr lang="en-US" sz="1350" dirty="0"/>
          </a:p>
        </p:txBody>
      </p:sp>
      <p:sp>
        <p:nvSpPr>
          <p:cNvPr id="29" name="Text 24"/>
          <p:cNvSpPr txBox="1"/>
          <p:nvPr/>
        </p:nvSpPr>
        <p:spPr>
          <a:xfrm>
            <a:off x="6391656"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Recently opened is a record, not a sort. Tabs come back; a PDF reopens at the same page and zoom.</a:t>
            </a:r>
            <a:endParaRPr lang="en-US" sz="1200" dirty="0"/>
          </a:p>
        </p:txBody>
      </p:sp>
      <p:sp>
        <p:nvSpPr>
          <p:cNvPr id="30" name="Shape 25"/>
          <p:cNvSpPr/>
          <p:nvPr/>
        </p:nvSpPr>
        <p:spPr>
          <a:xfrm>
            <a:off x="8970264" y="3749040"/>
            <a:ext cx="2651760" cy="2423160"/>
          </a:xfrm>
          <a:prstGeom prst="roundRect">
            <a:avLst>
              <a:gd name="adj" fmla="val 3774"/>
            </a:avLst>
          </a:prstGeom>
          <a:solidFill>
            <a:srgbClr val="F3F5F8"/>
          </a:solidFill>
          <a:ln w="12700">
            <a:solidFill>
              <a:srgbClr val="F3F5F8"/>
            </a:solidFill>
            <a:prstDash val="solid"/>
          </a:ln>
        </p:spPr>
      </p:sp>
      <p:sp>
        <p:nvSpPr>
          <p:cNvPr id="31" name="Shape 26"/>
          <p:cNvSpPr/>
          <p:nvPr/>
        </p:nvSpPr>
        <p:spPr>
          <a:xfrm>
            <a:off x="9198864" y="3931920"/>
            <a:ext cx="457200" cy="457200"/>
          </a:xfrm>
          <a:prstGeom prst="ellipse">
            <a:avLst/>
          </a:prstGeom>
          <a:solidFill>
            <a:srgbClr val="E08A1E"/>
          </a:solidFill>
          <a:ln w="12700">
            <a:solidFill>
              <a:srgbClr val="E08A1E"/>
            </a:solidFill>
            <a:prstDash val="solid"/>
          </a:ln>
        </p:spPr>
      </p:sp>
      <p:pic>
        <p:nvPicPr>
          <p:cNvPr id="32" name="Image 3" descr="preencoded.png">    </p:cNvPr>
          <p:cNvPicPr>
            <a:picLocks noChangeAspect="1"/>
          </p:cNvPicPr>
          <p:nvPr/>
        </p:nvPicPr>
        <p:blipFill>
          <a:blip r:embed="rId4"/>
          <a:stretch>
            <a:fillRect/>
          </a:stretch>
        </p:blipFill>
        <p:spPr>
          <a:xfrm>
            <a:off x="9317736" y="4050792"/>
            <a:ext cx="219456" cy="219456"/>
          </a:xfrm>
          <a:prstGeom prst="rect">
            <a:avLst/>
          </a:prstGeom>
        </p:spPr>
      </p:pic>
      <p:sp>
        <p:nvSpPr>
          <p:cNvPr id="33" name="Text 27"/>
          <p:cNvSpPr txBox="1"/>
          <p:nvPr/>
        </p:nvSpPr>
        <p:spPr>
          <a:xfrm>
            <a:off x="9198864"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Export anything sensible</a:t>
            </a:r>
            <a:endParaRPr lang="en-US" sz="1350" dirty="0"/>
          </a:p>
        </p:txBody>
      </p:sp>
      <p:sp>
        <p:nvSpPr>
          <p:cNvPr id="34" name="Text 28"/>
          <p:cNvSpPr txBox="1"/>
          <p:nvPr/>
        </p:nvSpPr>
        <p:spPr>
          <a:xfrm>
            <a:off x="9198864"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docx → pdf / md / txt, md → pdf / docx, pptx → pdf, xlsx ↔ csv — the same table for menu, route and tool.</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THE COMPLETE EXPERIENCE</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One request, end to end</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Everything in the last three sections, as one person sees it.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48640" y="1965960"/>
            <a:ext cx="3575304" cy="1965960"/>
          </a:xfrm>
          <a:prstGeom prst="roundRect">
            <a:avLst>
              <a:gd name="adj" fmla="val 4651"/>
            </a:avLst>
          </a:prstGeom>
          <a:solidFill>
            <a:srgbClr val="FDF0DE"/>
          </a:solidFill>
          <a:ln w="12700">
            <a:solidFill>
              <a:srgbClr val="FDF0DE"/>
            </a:solidFill>
            <a:prstDash val="solid"/>
          </a:ln>
        </p:spPr>
      </p:sp>
      <p:sp>
        <p:nvSpPr>
          <p:cNvPr id="7" name="Text 5"/>
          <p:cNvSpPr txBox="1"/>
          <p:nvPr/>
        </p:nvSpPr>
        <p:spPr>
          <a:xfrm>
            <a:off x="777240" y="219456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8" name="Image 0" descr="preencoded.png">    </p:cNvPr>
          <p:cNvPicPr>
            <a:picLocks noChangeAspect="1"/>
          </p:cNvPicPr>
          <p:nvPr/>
        </p:nvPicPr>
        <p:blipFill>
          <a:blip r:embed="rId1"/>
          <a:stretch>
            <a:fillRect/>
          </a:stretch>
        </p:blipFill>
        <p:spPr>
          <a:xfrm>
            <a:off x="3566160" y="2240280"/>
            <a:ext cx="347472" cy="347472"/>
          </a:xfrm>
          <a:prstGeom prst="rect">
            <a:avLst/>
          </a:prstGeom>
        </p:spPr>
      </p:pic>
      <p:sp>
        <p:nvSpPr>
          <p:cNvPr id="9" name="Text 6"/>
          <p:cNvSpPr txBox="1"/>
          <p:nvPr/>
        </p:nvSpPr>
        <p:spPr>
          <a:xfrm>
            <a:off x="1417320" y="224028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Ask</a:t>
            </a:r>
            <a:endParaRPr lang="en-US" sz="1600" dirty="0"/>
          </a:p>
        </p:txBody>
      </p:sp>
      <p:sp>
        <p:nvSpPr>
          <p:cNvPr id="10" name="Text 7"/>
          <p:cNvSpPr txBox="1"/>
          <p:nvPr/>
        </p:nvSpPr>
        <p:spPr>
          <a:xfrm>
            <a:off x="777240" y="283464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“Make a Q3 revenue deck from the sales folder.” Typed in chat, as a sentence.</a:t>
            </a:r>
            <a:endParaRPr lang="en-US" sz="1400" dirty="0"/>
          </a:p>
        </p:txBody>
      </p:sp>
      <p:sp>
        <p:nvSpPr>
          <p:cNvPr id="11" name="Shape 8"/>
          <p:cNvSpPr/>
          <p:nvPr/>
        </p:nvSpPr>
        <p:spPr>
          <a:xfrm>
            <a:off x="4123944" y="2944368"/>
            <a:ext cx="182880" cy="0"/>
          </a:xfrm>
          <a:prstGeom prst="line">
            <a:avLst/>
          </a:prstGeom>
          <a:noFill/>
          <a:ln w="15875">
            <a:solidFill>
              <a:srgbClr val="8A93A1"/>
            </a:solidFill>
            <a:prstDash val="solid"/>
            <a:tailEnd type="triangle"/>
          </a:ln>
        </p:spPr>
      </p:sp>
      <p:sp>
        <p:nvSpPr>
          <p:cNvPr id="12" name="Shape 9"/>
          <p:cNvSpPr/>
          <p:nvPr/>
        </p:nvSpPr>
        <p:spPr>
          <a:xfrm>
            <a:off x="4306824" y="1965960"/>
            <a:ext cx="3575304" cy="1965960"/>
          </a:xfrm>
          <a:prstGeom prst="roundRect">
            <a:avLst>
              <a:gd name="adj" fmla="val 4651"/>
            </a:avLst>
          </a:prstGeom>
          <a:solidFill>
            <a:srgbClr val="F3F5F8"/>
          </a:solidFill>
          <a:ln w="12700">
            <a:solidFill>
              <a:srgbClr val="F3F5F8"/>
            </a:solidFill>
            <a:prstDash val="solid"/>
          </a:ln>
        </p:spPr>
      </p:sp>
      <p:sp>
        <p:nvSpPr>
          <p:cNvPr id="13" name="Text 10"/>
          <p:cNvSpPr txBox="1"/>
          <p:nvPr/>
        </p:nvSpPr>
        <p:spPr>
          <a:xfrm>
            <a:off x="4535424" y="219456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4" name="Image 1" descr="preencoded.png">    </p:cNvPr>
          <p:cNvPicPr>
            <a:picLocks noChangeAspect="1"/>
          </p:cNvPicPr>
          <p:nvPr/>
        </p:nvPicPr>
        <p:blipFill>
          <a:blip r:embed="rId2"/>
          <a:stretch>
            <a:fillRect/>
          </a:stretch>
        </p:blipFill>
        <p:spPr>
          <a:xfrm>
            <a:off x="7324344" y="2240280"/>
            <a:ext cx="347472" cy="347472"/>
          </a:xfrm>
          <a:prstGeom prst="rect">
            <a:avLst/>
          </a:prstGeom>
        </p:spPr>
      </p:pic>
      <p:sp>
        <p:nvSpPr>
          <p:cNvPr id="15" name="Text 11"/>
          <p:cNvSpPr txBox="1"/>
          <p:nvPr/>
        </p:nvSpPr>
        <p:spPr>
          <a:xfrm>
            <a:off x="5175504" y="224028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Plan</a:t>
            </a:r>
            <a:endParaRPr lang="en-US" sz="1600" dirty="0"/>
          </a:p>
        </p:txBody>
      </p:sp>
      <p:sp>
        <p:nvSpPr>
          <p:cNvPr id="16" name="Text 12"/>
          <p:cNvSpPr txBox="1"/>
          <p:nvPr/>
        </p:nvSpPr>
        <p:spPr>
          <a:xfrm>
            <a:off x="4535424" y="283464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Steps appear in the plan dock above the composer and update as the work moves.</a:t>
            </a:r>
            <a:endParaRPr lang="en-US" sz="1400" dirty="0"/>
          </a:p>
        </p:txBody>
      </p:sp>
      <p:sp>
        <p:nvSpPr>
          <p:cNvPr id="17" name="Shape 13"/>
          <p:cNvSpPr/>
          <p:nvPr/>
        </p:nvSpPr>
        <p:spPr>
          <a:xfrm>
            <a:off x="7882128" y="2944368"/>
            <a:ext cx="182880" cy="0"/>
          </a:xfrm>
          <a:prstGeom prst="line">
            <a:avLst/>
          </a:prstGeom>
          <a:noFill/>
          <a:ln w="15875">
            <a:solidFill>
              <a:srgbClr val="8A93A1"/>
            </a:solidFill>
            <a:prstDash val="solid"/>
            <a:tailEnd type="triangle"/>
          </a:ln>
        </p:spPr>
      </p:sp>
      <p:sp>
        <p:nvSpPr>
          <p:cNvPr id="18" name="Shape 14"/>
          <p:cNvSpPr/>
          <p:nvPr/>
        </p:nvSpPr>
        <p:spPr>
          <a:xfrm>
            <a:off x="8065008" y="1965960"/>
            <a:ext cx="3575304" cy="1965960"/>
          </a:xfrm>
          <a:prstGeom prst="roundRect">
            <a:avLst>
              <a:gd name="adj" fmla="val 4651"/>
            </a:avLst>
          </a:prstGeom>
          <a:solidFill>
            <a:srgbClr val="F3F5F8"/>
          </a:solidFill>
          <a:ln w="12700">
            <a:solidFill>
              <a:srgbClr val="F3F5F8"/>
            </a:solidFill>
            <a:prstDash val="solid"/>
          </a:ln>
        </p:spPr>
      </p:sp>
      <p:sp>
        <p:nvSpPr>
          <p:cNvPr id="19" name="Text 15"/>
          <p:cNvSpPr txBox="1"/>
          <p:nvPr/>
        </p:nvSpPr>
        <p:spPr>
          <a:xfrm>
            <a:off x="8293608" y="219456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0" name="Image 2" descr="preencoded.png">    </p:cNvPr>
          <p:cNvPicPr>
            <a:picLocks noChangeAspect="1"/>
          </p:cNvPicPr>
          <p:nvPr/>
        </p:nvPicPr>
        <p:blipFill>
          <a:blip r:embed="rId3"/>
          <a:stretch>
            <a:fillRect/>
          </a:stretch>
        </p:blipFill>
        <p:spPr>
          <a:xfrm>
            <a:off x="11082528" y="2240280"/>
            <a:ext cx="347472" cy="347472"/>
          </a:xfrm>
          <a:prstGeom prst="rect">
            <a:avLst/>
          </a:prstGeom>
        </p:spPr>
      </p:pic>
      <p:sp>
        <p:nvSpPr>
          <p:cNvPr id="21" name="Text 16"/>
          <p:cNvSpPr txBox="1"/>
          <p:nvPr/>
        </p:nvSpPr>
        <p:spPr>
          <a:xfrm>
            <a:off x="8933688" y="224028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Delegate</a:t>
            </a:r>
            <a:endParaRPr lang="en-US" sz="1600" dirty="0"/>
          </a:p>
        </p:txBody>
      </p:sp>
      <p:sp>
        <p:nvSpPr>
          <p:cNvPr id="22" name="Text 17"/>
          <p:cNvSpPr txBox="1"/>
          <p:nvPr/>
        </p:nvSpPr>
        <p:spPr>
          <a:xfrm>
            <a:off x="8293608" y="283464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Chat hands the numbers to the Analyst and the deck to the Slides agent; the panel shows each lane.</a:t>
            </a:r>
            <a:endParaRPr lang="en-US" sz="1400" dirty="0"/>
          </a:p>
        </p:txBody>
      </p:sp>
      <p:sp>
        <p:nvSpPr>
          <p:cNvPr id="23" name="Shape 18"/>
          <p:cNvSpPr/>
          <p:nvPr/>
        </p:nvSpPr>
        <p:spPr>
          <a:xfrm>
            <a:off x="548640" y="4114800"/>
            <a:ext cx="3575304" cy="1965960"/>
          </a:xfrm>
          <a:prstGeom prst="roundRect">
            <a:avLst>
              <a:gd name="adj" fmla="val 4651"/>
            </a:avLst>
          </a:prstGeom>
          <a:solidFill>
            <a:srgbClr val="F3F5F8"/>
          </a:solidFill>
          <a:ln w="12700">
            <a:solidFill>
              <a:srgbClr val="F3F5F8"/>
            </a:solidFill>
            <a:prstDash val="solid"/>
          </a:ln>
        </p:spPr>
      </p:sp>
      <p:sp>
        <p:nvSpPr>
          <p:cNvPr id="24" name="Text 19"/>
          <p:cNvSpPr txBox="1"/>
          <p:nvPr/>
        </p:nvSpPr>
        <p:spPr>
          <a:xfrm>
            <a:off x="777240" y="434340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5" name="Image 3" descr="preencoded.png">    </p:cNvPr>
          <p:cNvPicPr>
            <a:picLocks noChangeAspect="1"/>
          </p:cNvPicPr>
          <p:nvPr/>
        </p:nvPicPr>
        <p:blipFill>
          <a:blip r:embed="rId4"/>
          <a:stretch>
            <a:fillRect/>
          </a:stretch>
        </p:blipFill>
        <p:spPr>
          <a:xfrm>
            <a:off x="3566160" y="4389120"/>
            <a:ext cx="347472" cy="347472"/>
          </a:xfrm>
          <a:prstGeom prst="rect">
            <a:avLst/>
          </a:prstGeom>
        </p:spPr>
      </p:pic>
      <p:sp>
        <p:nvSpPr>
          <p:cNvPr id="26" name="Text 20"/>
          <p:cNvSpPr txBox="1"/>
          <p:nvPr/>
        </p:nvSpPr>
        <p:spPr>
          <a:xfrm>
            <a:off x="1417320" y="438912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Decide</a:t>
            </a:r>
            <a:endParaRPr lang="en-US" sz="1600" dirty="0"/>
          </a:p>
        </p:txBody>
      </p:sp>
      <p:sp>
        <p:nvSpPr>
          <p:cNvPr id="27" name="Text 21"/>
          <p:cNvSpPr txBox="1"/>
          <p:nvPr/>
        </p:nvSpPr>
        <p:spPr>
          <a:xfrm>
            <a:off x="777240" y="498348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A card asks before anything irreversible. A question arrives as choices, not a wall of text.</a:t>
            </a:r>
            <a:endParaRPr lang="en-US" sz="1400" dirty="0"/>
          </a:p>
        </p:txBody>
      </p:sp>
      <p:sp>
        <p:nvSpPr>
          <p:cNvPr id="28" name="Shape 22"/>
          <p:cNvSpPr/>
          <p:nvPr/>
        </p:nvSpPr>
        <p:spPr>
          <a:xfrm>
            <a:off x="4123944" y="5093208"/>
            <a:ext cx="182880" cy="0"/>
          </a:xfrm>
          <a:prstGeom prst="line">
            <a:avLst/>
          </a:prstGeom>
          <a:noFill/>
          <a:ln w="15875">
            <a:solidFill>
              <a:srgbClr val="8A93A1"/>
            </a:solidFill>
            <a:prstDash val="solid"/>
            <a:tailEnd type="triangle"/>
          </a:ln>
        </p:spPr>
      </p:sp>
      <p:sp>
        <p:nvSpPr>
          <p:cNvPr id="29" name="Shape 23"/>
          <p:cNvSpPr/>
          <p:nvPr/>
        </p:nvSpPr>
        <p:spPr>
          <a:xfrm>
            <a:off x="4306824" y="4114800"/>
            <a:ext cx="3575304" cy="1965960"/>
          </a:xfrm>
          <a:prstGeom prst="roundRect">
            <a:avLst>
              <a:gd name="adj" fmla="val 4651"/>
            </a:avLst>
          </a:prstGeom>
          <a:solidFill>
            <a:srgbClr val="F3F5F8"/>
          </a:solidFill>
          <a:ln w="12700">
            <a:solidFill>
              <a:srgbClr val="F3F5F8"/>
            </a:solidFill>
            <a:prstDash val="solid"/>
          </a:ln>
        </p:spPr>
      </p:sp>
      <p:sp>
        <p:nvSpPr>
          <p:cNvPr id="30" name="Text 24"/>
          <p:cNvSpPr txBox="1"/>
          <p:nvPr/>
        </p:nvSpPr>
        <p:spPr>
          <a:xfrm>
            <a:off x="4535424" y="434340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1" name="Image 4" descr="preencoded.png">    </p:cNvPr>
          <p:cNvPicPr>
            <a:picLocks noChangeAspect="1"/>
          </p:cNvPicPr>
          <p:nvPr/>
        </p:nvPicPr>
        <p:blipFill>
          <a:blip r:embed="rId5"/>
          <a:stretch>
            <a:fillRect/>
          </a:stretch>
        </p:blipFill>
        <p:spPr>
          <a:xfrm>
            <a:off x="7324344" y="4389120"/>
            <a:ext cx="347472" cy="347472"/>
          </a:xfrm>
          <a:prstGeom prst="rect">
            <a:avLst/>
          </a:prstGeom>
        </p:spPr>
      </p:pic>
      <p:sp>
        <p:nvSpPr>
          <p:cNvPr id="32" name="Text 25"/>
          <p:cNvSpPr txBox="1"/>
          <p:nvPr/>
        </p:nvSpPr>
        <p:spPr>
          <a:xfrm>
            <a:off x="5175504" y="438912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Open</a:t>
            </a:r>
            <a:endParaRPr lang="en-US" sz="1600" dirty="0"/>
          </a:p>
        </p:txBody>
      </p:sp>
      <p:sp>
        <p:nvSpPr>
          <p:cNvPr id="33" name="Text 26"/>
          <p:cNvSpPr txBox="1"/>
          <p:nvPr/>
        </p:nvSpPr>
        <p:spPr>
          <a:xfrm>
            <a:off x="4535424" y="498348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The deck arrives as a file card. It opens in Slides; edits autosave; versions are kept.</a:t>
            </a:r>
            <a:endParaRPr lang="en-US" sz="1400" dirty="0"/>
          </a:p>
        </p:txBody>
      </p:sp>
      <p:sp>
        <p:nvSpPr>
          <p:cNvPr id="34" name="Shape 27"/>
          <p:cNvSpPr/>
          <p:nvPr/>
        </p:nvSpPr>
        <p:spPr>
          <a:xfrm>
            <a:off x="7882128" y="5093208"/>
            <a:ext cx="182880" cy="0"/>
          </a:xfrm>
          <a:prstGeom prst="line">
            <a:avLst/>
          </a:prstGeom>
          <a:noFill/>
          <a:ln w="15875">
            <a:solidFill>
              <a:srgbClr val="8A93A1"/>
            </a:solidFill>
            <a:prstDash val="solid"/>
            <a:tailEnd type="triangle"/>
          </a:ln>
        </p:spPr>
      </p:sp>
      <p:sp>
        <p:nvSpPr>
          <p:cNvPr id="35" name="Shape 28"/>
          <p:cNvSpPr/>
          <p:nvPr/>
        </p:nvSpPr>
        <p:spPr>
          <a:xfrm>
            <a:off x="8065008" y="4114800"/>
            <a:ext cx="3575304" cy="1965960"/>
          </a:xfrm>
          <a:prstGeom prst="roundRect">
            <a:avLst>
              <a:gd name="adj" fmla="val 4651"/>
            </a:avLst>
          </a:prstGeom>
          <a:solidFill>
            <a:srgbClr val="F3F5F8"/>
          </a:solidFill>
          <a:ln w="12700">
            <a:solidFill>
              <a:srgbClr val="F3F5F8"/>
            </a:solidFill>
            <a:prstDash val="solid"/>
          </a:ln>
        </p:spPr>
      </p:sp>
      <p:sp>
        <p:nvSpPr>
          <p:cNvPr id="36" name="Text 29"/>
          <p:cNvSpPr txBox="1"/>
          <p:nvPr/>
        </p:nvSpPr>
        <p:spPr>
          <a:xfrm>
            <a:off x="8293608" y="434340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pic>
        <p:nvPicPr>
          <p:cNvPr id="37" name="Image 5" descr="preencoded.png">    </p:cNvPr>
          <p:cNvPicPr>
            <a:picLocks noChangeAspect="1"/>
          </p:cNvPicPr>
          <p:nvPr/>
        </p:nvPicPr>
        <p:blipFill>
          <a:blip r:embed="rId6"/>
          <a:stretch>
            <a:fillRect/>
          </a:stretch>
        </p:blipFill>
        <p:spPr>
          <a:xfrm>
            <a:off x="11082528" y="4389120"/>
            <a:ext cx="347472" cy="347472"/>
          </a:xfrm>
          <a:prstGeom prst="rect">
            <a:avLst/>
          </a:prstGeom>
        </p:spPr>
      </p:pic>
      <p:sp>
        <p:nvSpPr>
          <p:cNvPr id="38" name="Text 30"/>
          <p:cNvSpPr txBox="1"/>
          <p:nvPr/>
        </p:nvSpPr>
        <p:spPr>
          <a:xfrm>
            <a:off x="8933688" y="438912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Repeat</a:t>
            </a:r>
            <a:endParaRPr lang="en-US" sz="1600" dirty="0"/>
          </a:p>
        </p:txBody>
      </p:sp>
      <p:sp>
        <p:nvSpPr>
          <p:cNvPr id="39" name="Text 31"/>
          <p:cNvSpPr txBox="1"/>
          <p:nvPr/>
        </p:nvSpPr>
        <p:spPr>
          <a:xfrm>
            <a:off x="8293608" y="498348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Schedule it for Mondays at 9 in your timezone. Every run is on /runs, turn by turn.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RUNTIME · MEMORY BUDGET</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Why a 384 MB container got OOM-killed</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One chat turn asked eight connectors for their tools — each a cold Node process inside the web server's container.</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30</a:t>
            </a:r>
            <a:endParaRPr lang="en-US" sz="1000" dirty="0"/>
          </a:p>
        </p:txBody>
      </p:sp>
      <p:graphicFrame>
        <p:nvGraphicFramePr>
          <p:cNvPr id="6" name="Chart 0" descr=""/>
          <p:cNvGraphicFramePr/>
          <p:nvPr/>
        </p:nvGraphicFramePr>
        <p:xfrm>
          <a:off x="457200" y="2011680"/>
          <a:ext cx="6766560" cy="40690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6108192"/>
            <a:ext cx="6583680" cy="237744"/>
          </a:xfrm>
          <a:prstGeom prst="rect">
            <a:avLst/>
          </a:prstGeom>
          <a:noFill/>
          <a:ln/>
        </p:spPr>
        <p:txBody>
          <a:bodyPr wrap="square" lIns="0" tIns="0" rIns="0" bIns="0" rtlCol="0" anchor="t"/>
          <a:lstStyle/>
          <a:p>
            <a:pPr algn="l" indent="0" marL="0">
              <a:buNone/>
            </a:pPr>
            <a:r>
              <a:rPr lang="en-US" sz="1050" i="1" dirty="0">
                <a:solidFill>
                  <a:srgbClr val="8A93A1"/>
                </a:solidFill>
                <a:latin typeface="Calibri" pitchFamily="34" charset="0"/>
                <a:ea typeface="Calibri" pitchFamily="34" charset="-122"/>
                <a:cs typeface="Calibri" pitchFamily="34" charset="-120"/>
              </a:rPr>
              <a:t>Figures from the 2026-09-16 incident analysis</a:t>
            </a:r>
            <a:endParaRPr lang="en-US" sz="1050" dirty="0"/>
          </a:p>
        </p:txBody>
      </p:sp>
      <p:sp>
        <p:nvSpPr>
          <p:cNvPr id="8" name="Shape 5"/>
          <p:cNvSpPr/>
          <p:nvPr/>
        </p:nvSpPr>
        <p:spPr>
          <a:xfrm>
            <a:off x="7635240" y="2103120"/>
            <a:ext cx="548640" cy="548640"/>
          </a:xfrm>
          <a:prstGeom prst="ellipse">
            <a:avLst/>
          </a:prstGeom>
          <a:solidFill>
            <a:srgbClr val="15877D"/>
          </a:solidFill>
          <a:ln w="12700">
            <a:solidFill>
              <a:srgbClr val="15877D"/>
            </a:solidFill>
            <a:prstDash val="solid"/>
          </a:ln>
        </p:spPr>
      </p:sp>
      <p:pic>
        <p:nvPicPr>
          <p:cNvPr id="9" name="Image 0" descr="preencoded.png">    </p:cNvPr>
          <p:cNvPicPr>
            <a:picLocks noChangeAspect="1"/>
          </p:cNvPicPr>
          <p:nvPr/>
        </p:nvPicPr>
        <p:blipFill>
          <a:blip r:embed="rId2"/>
          <a:stretch>
            <a:fillRect/>
          </a:stretch>
        </p:blipFill>
        <p:spPr>
          <a:xfrm>
            <a:off x="7777886" y="2245766"/>
            <a:ext cx="263347" cy="263347"/>
          </a:xfrm>
          <a:prstGeom prst="rect">
            <a:avLst/>
          </a:prstGeom>
        </p:spPr>
      </p:pic>
      <p:sp>
        <p:nvSpPr>
          <p:cNvPr id="10" name="Text 6"/>
          <p:cNvSpPr txBox="1"/>
          <p:nvPr/>
        </p:nvSpPr>
        <p:spPr>
          <a:xfrm>
            <a:off x="8366760" y="2103120"/>
            <a:ext cx="3291840" cy="123444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Listing never starts anything</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Tool lists come from a stored catalogue; a connector starts only when a tool is called.</a:t>
            </a:r>
            <a:endParaRPr lang="en-US" sz="1400" dirty="0"/>
          </a:p>
        </p:txBody>
      </p:sp>
      <p:sp>
        <p:nvSpPr>
          <p:cNvPr id="11" name="Shape 7"/>
          <p:cNvSpPr/>
          <p:nvPr/>
        </p:nvSpPr>
        <p:spPr>
          <a:xfrm>
            <a:off x="7635240" y="3429000"/>
            <a:ext cx="548640" cy="548640"/>
          </a:xfrm>
          <a:prstGeom prst="ellipse">
            <a:avLst/>
          </a:prstGeom>
          <a:solidFill>
            <a:srgbClr val="15877D"/>
          </a:solidFill>
          <a:ln w="12700">
            <a:solidFill>
              <a:srgbClr val="15877D"/>
            </a:solidFill>
            <a:prstDash val="solid"/>
          </a:ln>
        </p:spPr>
      </p:sp>
      <p:pic>
        <p:nvPicPr>
          <p:cNvPr id="12" name="Image 1" descr="preencoded.png">    </p:cNvPr>
          <p:cNvPicPr>
            <a:picLocks noChangeAspect="1"/>
          </p:cNvPicPr>
          <p:nvPr/>
        </p:nvPicPr>
        <p:blipFill>
          <a:blip r:embed="rId3"/>
          <a:stretch>
            <a:fillRect/>
          </a:stretch>
        </p:blipFill>
        <p:spPr>
          <a:xfrm>
            <a:off x="7777886" y="3571646"/>
            <a:ext cx="263347" cy="263347"/>
          </a:xfrm>
          <a:prstGeom prst="rect">
            <a:avLst/>
          </a:prstGeom>
        </p:spPr>
      </p:pic>
      <p:sp>
        <p:nvSpPr>
          <p:cNvPr id="13" name="Text 8"/>
          <p:cNvSpPr txBox="1"/>
          <p:nvPr/>
        </p:nvSpPr>
        <p:spPr>
          <a:xfrm>
            <a:off x="8366760" y="3429000"/>
            <a:ext cx="3291840" cy="123444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Admit in megabytes, not counts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Reserve before spawning, evict idle sessions, refuse if nothing can be freed.</a:t>
            </a:r>
            <a:endParaRPr lang="en-US" sz="1400" dirty="0"/>
          </a:p>
        </p:txBody>
      </p:sp>
      <p:sp>
        <p:nvSpPr>
          <p:cNvPr id="14" name="Shape 9"/>
          <p:cNvSpPr/>
          <p:nvPr/>
        </p:nvSpPr>
        <p:spPr>
          <a:xfrm>
            <a:off x="7635240" y="4754880"/>
            <a:ext cx="548640" cy="548640"/>
          </a:xfrm>
          <a:prstGeom prst="ellipse">
            <a:avLst/>
          </a:prstGeom>
          <a:solidFill>
            <a:srgbClr val="15877D"/>
          </a:solidFill>
          <a:ln w="12700">
            <a:solidFill>
              <a:srgbClr val="15877D"/>
            </a:solidFill>
            <a:prstDash val="solid"/>
          </a:ln>
        </p:spPr>
      </p:sp>
      <p:pic>
        <p:nvPicPr>
          <p:cNvPr id="15" name="Image 2" descr="preencoded.png">    </p:cNvPr>
          <p:cNvPicPr>
            <a:picLocks noChangeAspect="1"/>
          </p:cNvPicPr>
          <p:nvPr/>
        </p:nvPicPr>
        <p:blipFill>
          <a:blip r:embed="rId4"/>
          <a:stretch>
            <a:fillRect/>
          </a:stretch>
        </p:blipFill>
        <p:spPr>
          <a:xfrm>
            <a:off x="7777886" y="4897526"/>
            <a:ext cx="263347" cy="263347"/>
          </a:xfrm>
          <a:prstGeom prst="rect">
            <a:avLst/>
          </a:prstGeom>
        </p:spPr>
      </p:pic>
      <p:sp>
        <p:nvSpPr>
          <p:cNvPr id="16" name="Text 10"/>
          <p:cNvSpPr txBox="1"/>
          <p:nvPr/>
        </p:nvSpPr>
        <p:spPr>
          <a:xfrm>
            <a:off x="8366760" y="4754880"/>
            <a:ext cx="3291840" cy="123444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Google became native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Gmail, Drive, Sheets, Calendar are REST tools in-process — no Node at all.</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RUNTIME · PARALLEL TOOLS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Independent calls overlap; results keep call order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model issues every call in a turn before it sees any result, so no call in a batch can depend on another.</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31</a:t>
            </a:r>
            <a:endParaRPr lang="en-US" sz="1000" dirty="0"/>
          </a:p>
        </p:txBody>
      </p:sp>
      <p:sp>
        <p:nvSpPr>
          <p:cNvPr id="6" name="Text 4"/>
          <p:cNvSpPr txBox="1"/>
          <p:nvPr/>
        </p:nvSpPr>
        <p:spPr>
          <a:xfrm>
            <a:off x="548640" y="2057400"/>
            <a:ext cx="5486400" cy="27432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One at a time</a:t>
            </a:r>
            <a:endParaRPr lang="en-US" sz="1400" dirty="0"/>
          </a:p>
        </p:txBody>
      </p:sp>
      <p:sp>
        <p:nvSpPr>
          <p:cNvPr id="7" name="Text 5"/>
          <p:cNvSpPr txBox="1"/>
          <p:nvPr/>
        </p:nvSpPr>
        <p:spPr>
          <a:xfrm>
            <a:off x="548640" y="246888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A</a:t>
            </a:r>
            <a:endParaRPr lang="en-US" sz="1150" dirty="0"/>
          </a:p>
        </p:txBody>
      </p:sp>
      <p:sp>
        <p:nvSpPr>
          <p:cNvPr id="8" name="Shape 6"/>
          <p:cNvSpPr/>
          <p:nvPr/>
        </p:nvSpPr>
        <p:spPr>
          <a:xfrm>
            <a:off x="2468880" y="2441448"/>
            <a:ext cx="1188720" cy="274320"/>
          </a:xfrm>
          <a:prstGeom prst="roundRect">
            <a:avLst>
              <a:gd name="adj" fmla="val 16667"/>
            </a:avLst>
          </a:prstGeom>
          <a:solidFill>
            <a:srgbClr val="15877D"/>
          </a:solidFill>
          <a:ln w="9525">
            <a:solidFill>
              <a:srgbClr val="FFFFFF"/>
            </a:solidFill>
            <a:prstDash val="solid"/>
          </a:ln>
        </p:spPr>
      </p:sp>
      <p:sp>
        <p:nvSpPr>
          <p:cNvPr id="9" name="Text 7"/>
          <p:cNvSpPr txBox="1"/>
          <p:nvPr/>
        </p:nvSpPr>
        <p:spPr>
          <a:xfrm>
            <a:off x="548640" y="283464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B</a:t>
            </a:r>
            <a:endParaRPr lang="en-US" sz="1150" dirty="0"/>
          </a:p>
        </p:txBody>
      </p:sp>
      <p:sp>
        <p:nvSpPr>
          <p:cNvPr id="10" name="Shape 8"/>
          <p:cNvSpPr/>
          <p:nvPr/>
        </p:nvSpPr>
        <p:spPr>
          <a:xfrm>
            <a:off x="3657600" y="2807208"/>
            <a:ext cx="950976" cy="274320"/>
          </a:xfrm>
          <a:prstGeom prst="roundRect">
            <a:avLst>
              <a:gd name="adj" fmla="val 16667"/>
            </a:avLst>
          </a:prstGeom>
          <a:solidFill>
            <a:srgbClr val="15877D"/>
          </a:solidFill>
          <a:ln w="9525">
            <a:solidFill>
              <a:srgbClr val="FFFFFF"/>
            </a:solidFill>
            <a:prstDash val="solid"/>
          </a:ln>
        </p:spPr>
      </p:sp>
      <p:sp>
        <p:nvSpPr>
          <p:cNvPr id="11" name="Text 9"/>
          <p:cNvSpPr txBox="1"/>
          <p:nvPr/>
        </p:nvSpPr>
        <p:spPr>
          <a:xfrm>
            <a:off x="548640" y="320040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read_url</a:t>
            </a:r>
            <a:endParaRPr lang="en-US" sz="1150" dirty="0"/>
          </a:p>
        </p:txBody>
      </p:sp>
      <p:sp>
        <p:nvSpPr>
          <p:cNvPr id="12" name="Shape 10"/>
          <p:cNvSpPr/>
          <p:nvPr/>
        </p:nvSpPr>
        <p:spPr>
          <a:xfrm>
            <a:off x="4608576" y="3172968"/>
            <a:ext cx="1307592" cy="274320"/>
          </a:xfrm>
          <a:prstGeom prst="roundRect">
            <a:avLst>
              <a:gd name="adj" fmla="val 16667"/>
            </a:avLst>
          </a:prstGeom>
          <a:solidFill>
            <a:srgbClr val="15877D"/>
          </a:solidFill>
          <a:ln w="9525">
            <a:solidFill>
              <a:srgbClr val="FFFFFF"/>
            </a:solidFill>
            <a:prstDash val="solid"/>
          </a:ln>
        </p:spPr>
      </p:sp>
      <p:sp>
        <p:nvSpPr>
          <p:cNvPr id="13" name="Text 11"/>
          <p:cNvSpPr txBox="1"/>
          <p:nvPr/>
        </p:nvSpPr>
        <p:spPr>
          <a:xfrm>
            <a:off x="548640" y="356616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execute_python</a:t>
            </a:r>
            <a:endParaRPr lang="en-US" sz="1150" dirty="0"/>
          </a:p>
        </p:txBody>
      </p:sp>
      <p:sp>
        <p:nvSpPr>
          <p:cNvPr id="14" name="Shape 12"/>
          <p:cNvSpPr/>
          <p:nvPr/>
        </p:nvSpPr>
        <p:spPr>
          <a:xfrm>
            <a:off x="5916168" y="3538728"/>
            <a:ext cx="1069848" cy="274320"/>
          </a:xfrm>
          <a:prstGeom prst="roundRect">
            <a:avLst>
              <a:gd name="adj" fmla="val 16667"/>
            </a:avLst>
          </a:prstGeom>
          <a:solidFill>
            <a:srgbClr val="4E5A6B"/>
          </a:solidFill>
          <a:ln w="9525">
            <a:solidFill>
              <a:srgbClr val="FFFFFF"/>
            </a:solidFill>
            <a:prstDash val="solid"/>
          </a:ln>
        </p:spPr>
      </p:sp>
      <p:sp>
        <p:nvSpPr>
          <p:cNvPr id="15" name="Shape 13"/>
          <p:cNvSpPr/>
          <p:nvPr/>
        </p:nvSpPr>
        <p:spPr>
          <a:xfrm>
            <a:off x="6986016" y="2377440"/>
            <a:ext cx="0" cy="1508760"/>
          </a:xfrm>
          <a:prstGeom prst="line">
            <a:avLst/>
          </a:prstGeom>
          <a:noFill/>
          <a:ln w="19050">
            <a:solidFill>
              <a:srgbClr val="E08A1E"/>
            </a:solidFill>
            <a:prstDash val="dash"/>
          </a:ln>
        </p:spPr>
      </p:sp>
      <p:sp>
        <p:nvSpPr>
          <p:cNvPr id="16" name="Text 14"/>
          <p:cNvSpPr txBox="1"/>
          <p:nvPr/>
        </p:nvSpPr>
        <p:spPr>
          <a:xfrm>
            <a:off x="7059168" y="2377440"/>
            <a:ext cx="731520" cy="228600"/>
          </a:xfrm>
          <a:prstGeom prst="rect">
            <a:avLst/>
          </a:prstGeom>
          <a:noFill/>
          <a:ln/>
        </p:spPr>
        <p:txBody>
          <a:bodyPr wrap="square" lIns="0" tIns="0" rIns="0" bIns="0" rtlCol="0" anchor="t"/>
          <a:lstStyle/>
          <a:p>
            <a:pPr algn="l" indent="0" marL="0">
              <a:buNone/>
            </a:pPr>
            <a:r>
              <a:rPr lang="en-US" sz="1100" b="1" dirty="0">
                <a:solidFill>
                  <a:srgbClr val="9A5A0C"/>
                </a:solidFill>
                <a:latin typeface="Calibri" pitchFamily="34" charset="0"/>
                <a:ea typeface="Calibri" pitchFamily="34" charset="-122"/>
                <a:cs typeface="Calibri" pitchFamily="34" charset="-120"/>
              </a:rPr>
              <a:t>done</a:t>
            </a:r>
            <a:endParaRPr lang="en-US" sz="1100" dirty="0"/>
          </a:p>
        </p:txBody>
      </p:sp>
      <p:sp>
        <p:nvSpPr>
          <p:cNvPr id="17" name="Text 15"/>
          <p:cNvSpPr txBox="1"/>
          <p:nvPr/>
        </p:nvSpPr>
        <p:spPr>
          <a:xfrm>
            <a:off x="548640" y="4069080"/>
            <a:ext cx="5486400" cy="27432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Batched with asyncio.gather</a:t>
            </a:r>
            <a:endParaRPr lang="en-US" sz="1400" dirty="0"/>
          </a:p>
        </p:txBody>
      </p:sp>
      <p:sp>
        <p:nvSpPr>
          <p:cNvPr id="18" name="Text 16"/>
          <p:cNvSpPr txBox="1"/>
          <p:nvPr/>
        </p:nvSpPr>
        <p:spPr>
          <a:xfrm>
            <a:off x="548640" y="448056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A</a:t>
            </a:r>
            <a:endParaRPr lang="en-US" sz="1150" dirty="0"/>
          </a:p>
        </p:txBody>
      </p:sp>
      <p:sp>
        <p:nvSpPr>
          <p:cNvPr id="19" name="Shape 17"/>
          <p:cNvSpPr/>
          <p:nvPr/>
        </p:nvSpPr>
        <p:spPr>
          <a:xfrm>
            <a:off x="2468880" y="4453128"/>
            <a:ext cx="1188720" cy="274320"/>
          </a:xfrm>
          <a:prstGeom prst="roundRect">
            <a:avLst>
              <a:gd name="adj" fmla="val 16667"/>
            </a:avLst>
          </a:prstGeom>
          <a:solidFill>
            <a:srgbClr val="15877D"/>
          </a:solidFill>
          <a:ln w="9525">
            <a:solidFill>
              <a:srgbClr val="FFFFFF"/>
            </a:solidFill>
            <a:prstDash val="solid"/>
          </a:ln>
        </p:spPr>
      </p:sp>
      <p:sp>
        <p:nvSpPr>
          <p:cNvPr id="20" name="Text 18"/>
          <p:cNvSpPr txBox="1"/>
          <p:nvPr/>
        </p:nvSpPr>
        <p:spPr>
          <a:xfrm>
            <a:off x="548640" y="484632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B</a:t>
            </a:r>
            <a:endParaRPr lang="en-US" sz="1150" dirty="0"/>
          </a:p>
        </p:txBody>
      </p:sp>
      <p:sp>
        <p:nvSpPr>
          <p:cNvPr id="21" name="Shape 19"/>
          <p:cNvSpPr/>
          <p:nvPr/>
        </p:nvSpPr>
        <p:spPr>
          <a:xfrm>
            <a:off x="2468880" y="4818888"/>
            <a:ext cx="950976" cy="274320"/>
          </a:xfrm>
          <a:prstGeom prst="roundRect">
            <a:avLst>
              <a:gd name="adj" fmla="val 16667"/>
            </a:avLst>
          </a:prstGeom>
          <a:solidFill>
            <a:srgbClr val="15877D"/>
          </a:solidFill>
          <a:ln w="9525">
            <a:solidFill>
              <a:srgbClr val="FFFFFF"/>
            </a:solidFill>
            <a:prstDash val="solid"/>
          </a:ln>
        </p:spPr>
      </p:sp>
      <p:sp>
        <p:nvSpPr>
          <p:cNvPr id="22" name="Text 20"/>
          <p:cNvSpPr txBox="1"/>
          <p:nvPr/>
        </p:nvSpPr>
        <p:spPr>
          <a:xfrm>
            <a:off x="548640" y="521208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read_url</a:t>
            </a:r>
            <a:endParaRPr lang="en-US" sz="1150" dirty="0"/>
          </a:p>
        </p:txBody>
      </p:sp>
      <p:sp>
        <p:nvSpPr>
          <p:cNvPr id="23" name="Shape 21"/>
          <p:cNvSpPr/>
          <p:nvPr/>
        </p:nvSpPr>
        <p:spPr>
          <a:xfrm>
            <a:off x="2468880" y="5184648"/>
            <a:ext cx="1307592" cy="274320"/>
          </a:xfrm>
          <a:prstGeom prst="roundRect">
            <a:avLst>
              <a:gd name="adj" fmla="val 16667"/>
            </a:avLst>
          </a:prstGeom>
          <a:solidFill>
            <a:srgbClr val="15877D"/>
          </a:solidFill>
          <a:ln w="9525">
            <a:solidFill>
              <a:srgbClr val="FFFFFF"/>
            </a:solidFill>
            <a:prstDash val="solid"/>
          </a:ln>
        </p:spPr>
      </p:sp>
      <p:sp>
        <p:nvSpPr>
          <p:cNvPr id="24" name="Text 22"/>
          <p:cNvSpPr txBox="1"/>
          <p:nvPr/>
        </p:nvSpPr>
        <p:spPr>
          <a:xfrm>
            <a:off x="548640" y="557784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execute_python</a:t>
            </a:r>
            <a:endParaRPr lang="en-US" sz="1150" dirty="0"/>
          </a:p>
        </p:txBody>
      </p:sp>
      <p:sp>
        <p:nvSpPr>
          <p:cNvPr id="25" name="Shape 23"/>
          <p:cNvSpPr/>
          <p:nvPr/>
        </p:nvSpPr>
        <p:spPr>
          <a:xfrm>
            <a:off x="3776472" y="5550408"/>
            <a:ext cx="1069848" cy="274320"/>
          </a:xfrm>
          <a:prstGeom prst="roundRect">
            <a:avLst>
              <a:gd name="adj" fmla="val 16667"/>
            </a:avLst>
          </a:prstGeom>
          <a:solidFill>
            <a:srgbClr val="4E5A6B"/>
          </a:solidFill>
          <a:ln w="9525">
            <a:solidFill>
              <a:srgbClr val="FFFFFF"/>
            </a:solidFill>
            <a:prstDash val="solid"/>
          </a:ln>
        </p:spPr>
      </p:sp>
      <p:sp>
        <p:nvSpPr>
          <p:cNvPr id="26" name="Shape 24"/>
          <p:cNvSpPr/>
          <p:nvPr/>
        </p:nvSpPr>
        <p:spPr>
          <a:xfrm>
            <a:off x="4846320" y="4389120"/>
            <a:ext cx="0" cy="1508760"/>
          </a:xfrm>
          <a:prstGeom prst="line">
            <a:avLst/>
          </a:prstGeom>
          <a:noFill/>
          <a:ln w="19050">
            <a:solidFill>
              <a:srgbClr val="E08A1E"/>
            </a:solidFill>
            <a:prstDash val="dash"/>
          </a:ln>
        </p:spPr>
      </p:sp>
      <p:sp>
        <p:nvSpPr>
          <p:cNvPr id="27" name="Text 25"/>
          <p:cNvSpPr txBox="1"/>
          <p:nvPr/>
        </p:nvSpPr>
        <p:spPr>
          <a:xfrm>
            <a:off x="4919472" y="4389120"/>
            <a:ext cx="731520" cy="228600"/>
          </a:xfrm>
          <a:prstGeom prst="rect">
            <a:avLst/>
          </a:prstGeom>
          <a:noFill/>
          <a:ln/>
        </p:spPr>
        <p:txBody>
          <a:bodyPr wrap="square" lIns="0" tIns="0" rIns="0" bIns="0" rtlCol="0" anchor="t"/>
          <a:lstStyle/>
          <a:p>
            <a:pPr algn="l" indent="0" marL="0">
              <a:buNone/>
            </a:pPr>
            <a:r>
              <a:rPr lang="en-US" sz="1100" b="1" dirty="0">
                <a:solidFill>
                  <a:srgbClr val="9A5A0C"/>
                </a:solidFill>
                <a:latin typeface="Calibri" pitchFamily="34" charset="0"/>
                <a:ea typeface="Calibri" pitchFamily="34" charset="-122"/>
                <a:cs typeface="Calibri" pitchFamily="34" charset="-120"/>
              </a:rPr>
              <a:t>done</a:t>
            </a:r>
            <a:endParaRPr lang="en-US" sz="1100" dirty="0"/>
          </a:p>
        </p:txBody>
      </p:sp>
      <p:sp>
        <p:nvSpPr>
          <p:cNvPr id="28" name="Text 26"/>
          <p:cNvSpPr txBox="1"/>
          <p:nvPr/>
        </p:nvSpPr>
        <p:spPr>
          <a:xfrm>
            <a:off x="6675120" y="5897880"/>
            <a:ext cx="822960" cy="237744"/>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time →</a:t>
            </a:r>
            <a:endParaRPr lang="en-US" sz="1100" dirty="0"/>
          </a:p>
        </p:txBody>
      </p:sp>
      <p:sp>
        <p:nvSpPr>
          <p:cNvPr id="29" name="Shape 27"/>
          <p:cNvSpPr/>
          <p:nvPr/>
        </p:nvSpPr>
        <p:spPr>
          <a:xfrm>
            <a:off x="7818120" y="2011680"/>
            <a:ext cx="3822192" cy="4160520"/>
          </a:xfrm>
          <a:prstGeom prst="roundRect">
            <a:avLst>
              <a:gd name="adj" fmla="val 2392"/>
            </a:avLst>
          </a:prstGeom>
          <a:solidFill>
            <a:srgbClr val="F3F5F8"/>
          </a:solidFill>
          <a:ln w="12700">
            <a:solidFill>
              <a:srgbClr val="F3F5F8"/>
            </a:solidFill>
            <a:prstDash val="solid"/>
          </a:ln>
        </p:spPr>
      </p:sp>
      <p:sp>
        <p:nvSpPr>
          <p:cNvPr id="30" name="Text 28"/>
          <p:cNvSpPr txBox="1"/>
          <p:nvPr/>
        </p:nvSpPr>
        <p:spPr>
          <a:xfrm>
            <a:off x="8046720" y="2194560"/>
            <a:ext cx="3429000" cy="31089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Allow-list, per tool</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@tool(parallel=True). Unknown means serial — every MCP tool, whose name is minted at runtime.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Some are never safe</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execute_python swaps the process-global sys.stdout; sensitive tools stay serial.</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Order is recorded, not raced</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Results are written in call order, so the transcript is the same whichever call finished first.</a:t>
            </a:r>
            <a:endParaRPr lang="en-US" sz="1400" dirty="0"/>
          </a:p>
        </p:txBody>
      </p:sp>
      <p:sp>
        <p:nvSpPr>
          <p:cNvPr id="31" name="Shape 29"/>
          <p:cNvSpPr/>
          <p:nvPr/>
        </p:nvSpPr>
        <p:spPr>
          <a:xfrm>
            <a:off x="8046720" y="5440680"/>
            <a:ext cx="411480" cy="201168"/>
          </a:xfrm>
          <a:prstGeom prst="roundRect">
            <a:avLst>
              <a:gd name="adj" fmla="val 18182"/>
            </a:avLst>
          </a:prstGeom>
          <a:solidFill>
            <a:srgbClr val="15877D"/>
          </a:solidFill>
          <a:ln w="12700">
            <a:solidFill>
              <a:srgbClr val="15877D"/>
            </a:solidFill>
            <a:prstDash val="solid"/>
          </a:ln>
        </p:spPr>
      </p:sp>
      <p:sp>
        <p:nvSpPr>
          <p:cNvPr id="32" name="Text 30"/>
          <p:cNvSpPr txBox="1"/>
          <p:nvPr/>
        </p:nvSpPr>
        <p:spPr>
          <a:xfrm>
            <a:off x="8595360" y="5413248"/>
            <a:ext cx="2743200" cy="256032"/>
          </a:xfrm>
          <a:prstGeom prst="rect">
            <a:avLst/>
          </a:prstGeom>
          <a:noFill/>
          <a:ln/>
        </p:spPr>
        <p:txBody>
          <a:bodyPr wrap="square" lIns="0" tIns="0" rIns="0" bIns="0" rtlCol="0" anchor="t"/>
          <a:lstStyle/>
          <a:p>
            <a:pPr algn="l" indent="0" marL="0">
              <a:buNone/>
            </a:pPr>
            <a:r>
              <a:rPr lang="en-US" sz="1200" dirty="0">
                <a:solidFill>
                  <a:srgbClr val="1C212B"/>
                </a:solidFill>
                <a:latin typeface="Calibri" pitchFamily="34" charset="0"/>
                <a:ea typeface="Calibri" pitchFamily="34" charset="-122"/>
                <a:cs typeface="Calibri" pitchFamily="34" charset="-120"/>
              </a:rPr>
              <a:t>parallel-safe</a:t>
            </a:r>
            <a:endParaRPr lang="en-US" sz="1200" dirty="0"/>
          </a:p>
        </p:txBody>
      </p:sp>
      <p:sp>
        <p:nvSpPr>
          <p:cNvPr id="33" name="Shape 31"/>
          <p:cNvSpPr/>
          <p:nvPr/>
        </p:nvSpPr>
        <p:spPr>
          <a:xfrm>
            <a:off x="8046720" y="5769864"/>
            <a:ext cx="411480" cy="201168"/>
          </a:xfrm>
          <a:prstGeom prst="roundRect">
            <a:avLst>
              <a:gd name="adj" fmla="val 18182"/>
            </a:avLst>
          </a:prstGeom>
          <a:solidFill>
            <a:srgbClr val="4E5A6B"/>
          </a:solidFill>
          <a:ln w="12700">
            <a:solidFill>
              <a:srgbClr val="4E5A6B"/>
            </a:solidFill>
            <a:prstDash val="solid"/>
          </a:ln>
        </p:spPr>
      </p:sp>
      <p:sp>
        <p:nvSpPr>
          <p:cNvPr id="34" name="Text 32"/>
          <p:cNvSpPr txBox="1"/>
          <p:nvPr/>
        </p:nvSpPr>
        <p:spPr>
          <a:xfrm>
            <a:off x="8595360" y="5742432"/>
            <a:ext cx="2743200" cy="256032"/>
          </a:xfrm>
          <a:prstGeom prst="rect">
            <a:avLst/>
          </a:prstGeom>
          <a:noFill/>
          <a:ln/>
        </p:spPr>
        <p:txBody>
          <a:bodyPr wrap="square" lIns="0" tIns="0" rIns="0" bIns="0" rtlCol="0" anchor="t"/>
          <a:lstStyle/>
          <a:p>
            <a:pPr algn="l" indent="0" marL="0">
              <a:buNone/>
            </a:pPr>
            <a:r>
              <a:rPr lang="en-US" sz="1200" dirty="0">
                <a:solidFill>
                  <a:srgbClr val="1C212B"/>
                </a:solidFill>
                <a:latin typeface="Calibri" pitchFamily="34" charset="0"/>
                <a:ea typeface="Calibri" pitchFamily="34" charset="-122"/>
                <a:cs typeface="Calibri" pitchFamily="34" charset="-120"/>
              </a:rPr>
              <a:t>runs alone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RUNTIME · CODE EXECUTION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Model-written Python runs in a throwaway container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Even a full interpreter breakout lands in a container that holds no secrets and has no route out.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32</a:t>
            </a:r>
            <a:endParaRPr lang="en-US" sz="1000" dirty="0"/>
          </a:p>
        </p:txBody>
      </p:sp>
      <p:sp>
        <p:nvSpPr>
          <p:cNvPr id="6" name="Shape 4"/>
          <p:cNvSpPr/>
          <p:nvPr/>
        </p:nvSpPr>
        <p:spPr>
          <a:xfrm>
            <a:off x="548640" y="2011680"/>
            <a:ext cx="6583680" cy="4160520"/>
          </a:xfrm>
          <a:prstGeom prst="roundRect">
            <a:avLst>
              <a:gd name="adj" fmla="val 2637"/>
            </a:avLst>
          </a:prstGeom>
          <a:solidFill>
            <a:srgbClr val="E9EDF2"/>
          </a:solidFill>
          <a:ln w="15875">
            <a:solidFill>
              <a:srgbClr val="4E5A6B"/>
            </a:solidFill>
            <a:prstDash val="solid"/>
          </a:ln>
        </p:spPr>
      </p:sp>
      <p:sp>
        <p:nvSpPr>
          <p:cNvPr id="7" name="Text 5"/>
          <p:cNvSpPr txBox="1"/>
          <p:nvPr/>
        </p:nvSpPr>
        <p:spPr>
          <a:xfrm>
            <a:off x="777240" y="2084832"/>
            <a:ext cx="6217920" cy="274320"/>
          </a:xfrm>
          <a:prstGeom prst="rect">
            <a:avLst/>
          </a:prstGeom>
          <a:noFill/>
          <a:ln/>
        </p:spPr>
        <p:txBody>
          <a:bodyPr wrap="square" lIns="0" tIns="0" rIns="0" bIns="0" rtlCol="0" anchor="t"/>
          <a:lstStyle/>
          <a:p>
            <a:pPr algn="l" indent="0" marL="0">
              <a:buNone/>
            </a:pPr>
            <a:r>
              <a:rPr lang="en-US" sz="1200" b="1" dirty="0">
                <a:solidFill>
                  <a:srgbClr val="4E5A6B"/>
                </a:solidFill>
                <a:latin typeface="Calibri" pitchFamily="34" charset="0"/>
                <a:ea typeface="Calibri" pitchFamily="34" charset="-122"/>
                <a:cs typeface="Calibri" pitchFamily="34" charset="-120"/>
              </a:rPr>
              <a:t>Internal-only Docker network — no egress</a:t>
            </a:r>
            <a:endParaRPr lang="en-US" sz="1200" dirty="0"/>
          </a:p>
        </p:txBody>
      </p:sp>
      <p:sp>
        <p:nvSpPr>
          <p:cNvPr id="8" name="Shape 6"/>
          <p:cNvSpPr/>
          <p:nvPr/>
        </p:nvSpPr>
        <p:spPr>
          <a:xfrm>
            <a:off x="932688" y="2395728"/>
            <a:ext cx="5815584" cy="3392424"/>
          </a:xfrm>
          <a:prstGeom prst="roundRect">
            <a:avLst>
              <a:gd name="adj" fmla="val 3235"/>
            </a:avLst>
          </a:prstGeom>
          <a:solidFill>
            <a:srgbClr val="FFFFFF"/>
          </a:solidFill>
          <a:ln w="15875">
            <a:solidFill>
              <a:srgbClr val="4E5A6B"/>
            </a:solidFill>
            <a:prstDash val="solid"/>
          </a:ln>
        </p:spPr>
      </p:sp>
      <p:sp>
        <p:nvSpPr>
          <p:cNvPr id="9" name="Text 7"/>
          <p:cNvSpPr txBox="1"/>
          <p:nvPr/>
        </p:nvSpPr>
        <p:spPr>
          <a:xfrm>
            <a:off x="1161288" y="2468880"/>
            <a:ext cx="5449824" cy="274320"/>
          </a:xfrm>
          <a:prstGeom prst="rect">
            <a:avLst/>
          </a:prstGeom>
          <a:noFill/>
          <a:ln/>
        </p:spPr>
        <p:txBody>
          <a:bodyPr wrap="square" lIns="0" tIns="0" rIns="0" bIns="0" rtlCol="0" anchor="t"/>
          <a:lstStyle/>
          <a:p>
            <a:pPr algn="l" indent="0" marL="0">
              <a:buNone/>
            </a:pPr>
            <a:r>
              <a:rPr lang="en-US" sz="1200" b="1" dirty="0">
                <a:solidFill>
                  <a:srgbClr val="4E5A6B"/>
                </a:solidFill>
                <a:latin typeface="Calibri" pitchFamily="34" charset="0"/>
                <a:ea typeface="Calibri" pitchFamily="34" charset="-122"/>
                <a:cs typeface="Calibri" pitchFamily="34" charset="-120"/>
              </a:rPr>
              <a:t>Container: cap_drop ALL · read-only root · non-root user</a:t>
            </a:r>
            <a:endParaRPr lang="en-US" sz="1200" dirty="0"/>
          </a:p>
        </p:txBody>
      </p:sp>
      <p:sp>
        <p:nvSpPr>
          <p:cNvPr id="10" name="Shape 8"/>
          <p:cNvSpPr/>
          <p:nvPr/>
        </p:nvSpPr>
        <p:spPr>
          <a:xfrm>
            <a:off x="1316736" y="2779776"/>
            <a:ext cx="5047488" cy="2624328"/>
          </a:xfrm>
          <a:prstGeom prst="roundRect">
            <a:avLst>
              <a:gd name="adj" fmla="val 4181"/>
            </a:avLst>
          </a:prstGeom>
          <a:solidFill>
            <a:srgbClr val="E1F2F0"/>
          </a:solidFill>
          <a:ln w="15875">
            <a:solidFill>
              <a:srgbClr val="15877D"/>
            </a:solidFill>
            <a:prstDash val="solid"/>
          </a:ln>
        </p:spPr>
      </p:sp>
      <p:sp>
        <p:nvSpPr>
          <p:cNvPr id="11" name="Text 9"/>
          <p:cNvSpPr txBox="1"/>
          <p:nvPr/>
        </p:nvSpPr>
        <p:spPr>
          <a:xfrm>
            <a:off x="1545336" y="2852928"/>
            <a:ext cx="4681728" cy="274320"/>
          </a:xfrm>
          <a:prstGeom prst="rect">
            <a:avLst/>
          </a:prstGeom>
          <a:noFill/>
          <a:ln/>
        </p:spPr>
        <p:txBody>
          <a:bodyPr wrap="square" lIns="0" tIns="0" rIns="0" bIns="0" rtlCol="0" anchor="t"/>
          <a:lstStyle/>
          <a:p>
            <a:pPr algn="l" indent="0" marL="0">
              <a:buNone/>
            </a:pPr>
            <a:r>
              <a:rPr lang="en-US" sz="1200" b="1" dirty="0">
                <a:solidFill>
                  <a:srgbClr val="0D5C55"/>
                </a:solidFill>
                <a:latin typeface="Calibri" pitchFamily="34" charset="0"/>
                <a:ea typeface="Calibri" pitchFamily="34" charset="-122"/>
                <a:cs typeface="Calibri" pitchFamily="34" charset="-120"/>
              </a:rPr>
              <a:t>Kernel caps: memory · process count</a:t>
            </a:r>
            <a:endParaRPr lang="en-US" sz="1200" dirty="0"/>
          </a:p>
        </p:txBody>
      </p:sp>
      <p:sp>
        <p:nvSpPr>
          <p:cNvPr id="12" name="Shape 10"/>
          <p:cNvSpPr/>
          <p:nvPr/>
        </p:nvSpPr>
        <p:spPr>
          <a:xfrm>
            <a:off x="1700784" y="3163824"/>
            <a:ext cx="4279392" cy="1856232"/>
          </a:xfrm>
          <a:prstGeom prst="roundRect">
            <a:avLst>
              <a:gd name="adj" fmla="val 5911"/>
            </a:avLst>
          </a:prstGeom>
          <a:solidFill>
            <a:srgbClr val="FFFFFF"/>
          </a:solidFill>
          <a:ln w="15875">
            <a:solidFill>
              <a:srgbClr val="15877D"/>
            </a:solidFill>
            <a:prstDash val="solid"/>
          </a:ln>
        </p:spPr>
      </p:sp>
      <p:sp>
        <p:nvSpPr>
          <p:cNvPr id="13" name="Text 11"/>
          <p:cNvSpPr txBox="1"/>
          <p:nvPr/>
        </p:nvSpPr>
        <p:spPr>
          <a:xfrm>
            <a:off x="1929384" y="3236976"/>
            <a:ext cx="3913632" cy="274320"/>
          </a:xfrm>
          <a:prstGeom prst="rect">
            <a:avLst/>
          </a:prstGeom>
          <a:noFill/>
          <a:ln/>
        </p:spPr>
        <p:txBody>
          <a:bodyPr wrap="square" lIns="0" tIns="0" rIns="0" bIns="0" rtlCol="0" anchor="t"/>
          <a:lstStyle/>
          <a:p>
            <a:pPr algn="l" indent="0" marL="0">
              <a:buNone/>
            </a:pPr>
            <a:r>
              <a:rPr lang="en-US" sz="1200" b="1" dirty="0">
                <a:solidFill>
                  <a:srgbClr val="0D5C55"/>
                </a:solidFill>
                <a:latin typeface="Calibri" pitchFamily="34" charset="0"/>
                <a:ea typeface="Calibri" pitchFamily="34" charset="-122"/>
                <a:cs typeface="Calibri" pitchFamily="34" charset="-120"/>
              </a:rPr>
              <a:t>Per run: setrlimit · killpg on timeout · seccomp</a:t>
            </a:r>
            <a:endParaRPr lang="en-US" sz="1200" dirty="0"/>
          </a:p>
        </p:txBody>
      </p:sp>
      <p:sp>
        <p:nvSpPr>
          <p:cNvPr id="14" name="Text 12"/>
          <p:cNvSpPr txBox="1"/>
          <p:nvPr/>
        </p:nvSpPr>
        <p:spPr>
          <a:xfrm>
            <a:off x="2377440" y="3703320"/>
            <a:ext cx="2926080" cy="822960"/>
          </a:xfrm>
          <a:prstGeom prst="roundRect">
            <a:avLst>
              <a:gd name="adj" fmla="val 8889"/>
            </a:avLst>
          </a:prstGeom>
          <a:solidFill>
            <a:srgbClr val="C4433A"/>
          </a:solidFill>
          <a:ln w="12700">
            <a:solidFill>
              <a:srgbClr val="C4433A"/>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execute_python</a:t>
            </a:r>
            <a:endParaRPr lang="en-US" sz="1500" dirty="0"/>
          </a:p>
          <a:p>
            <a:pPr algn="ctr" indent="0" marL="0">
              <a:spcAft>
                <a:spcPts val="200"/>
              </a:spcAft>
              <a:buNone/>
            </a:pPr>
            <a:r>
              <a:rPr lang="en-US" sz="1150" dirty="0">
                <a:solidFill>
                  <a:srgbClr val="FBE0DD"/>
                </a:solidFill>
                <a:latin typeface="Calibri" pitchFamily="34" charset="0"/>
                <a:ea typeface="Calibri" pitchFamily="34" charset="-122"/>
                <a:cs typeface="Calibri" pitchFamily="34" charset="-120"/>
              </a:rPr>
              <a:t>the model's snippet</a:t>
            </a:r>
            <a:endParaRPr lang="en-US" sz="1500" dirty="0"/>
          </a:p>
        </p:txBody>
      </p:sp>
      <p:sp>
        <p:nvSpPr>
          <p:cNvPr id="15" name="Text 13"/>
          <p:cNvSpPr txBox="1"/>
          <p:nvPr/>
        </p:nvSpPr>
        <p:spPr>
          <a:xfrm>
            <a:off x="7589520" y="2103120"/>
            <a:ext cx="406908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One door</a:t>
            </a:r>
            <a:endParaRPr lang="en-US" sz="1400" dirty="0"/>
          </a:p>
          <a:p>
            <a:pPr indent="0" marL="0">
              <a:spcAft>
                <a:spcPts val="1000"/>
              </a:spcAft>
              <a:buNone/>
            </a:pPr>
            <a:r>
              <a:rPr lang="en-US" sz="1250" dirty="0">
                <a:solidFill>
                  <a:srgbClr val="5B6472"/>
                </a:solidFill>
                <a:latin typeface="Calibri" pitchFamily="34" charset="0"/>
                <a:ea typeface="Calibri" pitchFamily="34" charset="-122"/>
                <a:cs typeface="Calibri" pitchFamily="34" charset="-120"/>
              </a:rPr>
              <a:t>sandbox/engine.py::arun_code selects the engine by setting.</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No silent fallback</a:t>
            </a:r>
            <a:endParaRPr lang="en-US" sz="1400" dirty="0"/>
          </a:p>
          <a:p>
            <a:pPr indent="0" marL="0">
              <a:spcAft>
                <a:spcPts val="1000"/>
              </a:spcAft>
              <a:buNone/>
            </a:pPr>
            <a:r>
              <a:rPr lang="en-US" sz="1250" dirty="0">
                <a:solidFill>
                  <a:srgbClr val="5B6472"/>
                </a:solidFill>
                <a:latin typeface="Calibri" pitchFamily="34" charset="0"/>
                <a:ea typeface="Calibri" pitchFamily="34" charset="-122"/>
                <a:cs typeface="Calibri" pitchFamily="34" charset="-120"/>
              </a:rPr>
              <a:t>Production uses the sidecar; the in-process engine is a dev fallback only.</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Timeouts kill</a:t>
            </a:r>
            <a:endParaRPr lang="en-US" sz="1400" dirty="0"/>
          </a:p>
          <a:p>
            <a:pPr indent="0" marL="0">
              <a:spcAft>
                <a:spcPts val="1000"/>
              </a:spcAft>
              <a:buNone/>
            </a:pPr>
            <a:r>
              <a:rPr lang="en-US" sz="1250" dirty="0">
                <a:solidFill>
                  <a:srgbClr val="5B6472"/>
                </a:solidFill>
                <a:latin typeface="Calibri" pitchFamily="34" charset="0"/>
                <a:ea typeface="Calibri" pitchFamily="34" charset="-122"/>
                <a:cs typeface="Calibri" pitchFamily="34" charset="-120"/>
              </a:rPr>
              <a:t>The process group is killed, not merely abandoned while it keeps burning a core.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Files by scope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run_python_on_files passes files in and saves outputs through the caller's file scope.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PROMPT INJECTION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Untrusted text is contained, not trusted</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Detection fails open. AIAAS limits what injected text can make an agent do.</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33</a:t>
            </a:r>
            <a:endParaRPr lang="en-US" sz="1000" dirty="0"/>
          </a:p>
        </p:txBody>
      </p:sp>
      <p:sp>
        <p:nvSpPr>
          <p:cNvPr id="6" name="Shape 4"/>
          <p:cNvSpPr/>
          <p:nvPr/>
        </p:nvSpPr>
        <p:spPr>
          <a:xfrm>
            <a:off x="548640" y="2011680"/>
            <a:ext cx="3575304" cy="1901952"/>
          </a:xfrm>
          <a:prstGeom prst="roundRect">
            <a:avLst>
              <a:gd name="adj" fmla="val 4808"/>
            </a:avLst>
          </a:prstGeom>
          <a:solidFill>
            <a:srgbClr val="F3F5F8"/>
          </a:solidFill>
          <a:ln w="12700">
            <a:solidFill>
              <a:srgbClr val="F3F5F8"/>
            </a:solidFill>
            <a:prstDash val="solid"/>
          </a:ln>
        </p:spPr>
      </p:sp>
      <p:sp>
        <p:nvSpPr>
          <p:cNvPr id="7" name="Shape 5"/>
          <p:cNvSpPr/>
          <p:nvPr/>
        </p:nvSpPr>
        <p:spPr>
          <a:xfrm>
            <a:off x="804672" y="2267712"/>
            <a:ext cx="566928" cy="566928"/>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52073" y="2415113"/>
            <a:ext cx="272125" cy="272125"/>
          </a:xfrm>
          <a:prstGeom prst="rect">
            <a:avLst/>
          </a:prstGeom>
        </p:spPr>
      </p:pic>
      <p:sp>
        <p:nvSpPr>
          <p:cNvPr id="9" name="Text 6"/>
          <p:cNvSpPr txBox="1"/>
          <p:nvPr/>
        </p:nvSpPr>
        <p:spPr>
          <a:xfrm>
            <a:off x="1554480" y="2377440"/>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Provenance taint</a:t>
            </a:r>
            <a:endParaRPr lang="en-US" sz="1500" dirty="0"/>
          </a:p>
        </p:txBody>
      </p:sp>
      <p:sp>
        <p:nvSpPr>
          <p:cNvPr id="10" name="Text 7"/>
          <p:cNvSpPr txBox="1"/>
          <p:nvPr/>
        </p:nvSpPr>
        <p:spPr>
          <a:xfrm>
            <a:off x="804672" y="2971800"/>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Instruction-shaped tool results make auto mode ask before anything irreversible.</a:t>
            </a:r>
            <a:endParaRPr lang="en-US" sz="1400" dirty="0"/>
          </a:p>
        </p:txBody>
      </p:sp>
      <p:sp>
        <p:nvSpPr>
          <p:cNvPr id="11" name="Shape 8"/>
          <p:cNvSpPr/>
          <p:nvPr/>
        </p:nvSpPr>
        <p:spPr>
          <a:xfrm>
            <a:off x="4306824" y="2011680"/>
            <a:ext cx="3575304" cy="1901952"/>
          </a:xfrm>
          <a:prstGeom prst="roundRect">
            <a:avLst>
              <a:gd name="adj" fmla="val 4808"/>
            </a:avLst>
          </a:prstGeom>
          <a:solidFill>
            <a:srgbClr val="F3F5F8"/>
          </a:solidFill>
          <a:ln w="12700">
            <a:solidFill>
              <a:srgbClr val="F3F5F8"/>
            </a:solidFill>
            <a:prstDash val="solid"/>
          </a:ln>
        </p:spPr>
      </p:sp>
      <p:sp>
        <p:nvSpPr>
          <p:cNvPr id="12" name="Shape 9"/>
          <p:cNvSpPr/>
          <p:nvPr/>
        </p:nvSpPr>
        <p:spPr>
          <a:xfrm>
            <a:off x="4562856" y="2267712"/>
            <a:ext cx="566928" cy="566928"/>
          </a:xfrm>
          <a:prstGeom prst="ellipse">
            <a:avLst/>
          </a:prstGeom>
          <a:solidFill>
            <a:srgbClr val="15877D"/>
          </a:solidFill>
          <a:ln w="12700">
            <a:solidFill>
              <a:srgbClr val="15877D"/>
            </a:solidFill>
            <a:prstDash val="solid"/>
          </a:ln>
        </p:spPr>
      </p:sp>
      <p:pic>
        <p:nvPicPr>
          <p:cNvPr id="13" name="Image 1" descr="preencoded.png">    </p:cNvPr>
          <p:cNvPicPr>
            <a:picLocks noChangeAspect="1"/>
          </p:cNvPicPr>
          <p:nvPr/>
        </p:nvPicPr>
        <p:blipFill>
          <a:blip r:embed="rId2"/>
          <a:stretch>
            <a:fillRect/>
          </a:stretch>
        </p:blipFill>
        <p:spPr>
          <a:xfrm>
            <a:off x="4710257" y="2415113"/>
            <a:ext cx="272125" cy="272125"/>
          </a:xfrm>
          <a:prstGeom prst="rect">
            <a:avLst/>
          </a:prstGeom>
        </p:spPr>
      </p:pic>
      <p:sp>
        <p:nvSpPr>
          <p:cNvPr id="14" name="Text 10"/>
          <p:cNvSpPr txBox="1"/>
          <p:nvPr/>
        </p:nvSpPr>
        <p:spPr>
          <a:xfrm>
            <a:off x="5312664" y="2377440"/>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Composed URLs</a:t>
            </a:r>
            <a:endParaRPr lang="en-US" sz="1500" dirty="0"/>
          </a:p>
        </p:txBody>
      </p:sp>
      <p:sp>
        <p:nvSpPr>
          <p:cNvPr id="15" name="Text 11"/>
          <p:cNvSpPr txBox="1"/>
          <p:nvPr/>
        </p:nvSpPr>
        <p:spPr>
          <a:xfrm>
            <a:off x="4562856" y="2971800"/>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Read tools fetch URLs seen verbatim, or composed ones carrying no data.</a:t>
            </a:r>
            <a:endParaRPr lang="en-US" sz="1400" dirty="0"/>
          </a:p>
        </p:txBody>
      </p:sp>
      <p:sp>
        <p:nvSpPr>
          <p:cNvPr id="16" name="Shape 12"/>
          <p:cNvSpPr/>
          <p:nvPr/>
        </p:nvSpPr>
        <p:spPr>
          <a:xfrm>
            <a:off x="8065008" y="2011680"/>
            <a:ext cx="3575304" cy="1901952"/>
          </a:xfrm>
          <a:prstGeom prst="roundRect">
            <a:avLst>
              <a:gd name="adj" fmla="val 4808"/>
            </a:avLst>
          </a:prstGeom>
          <a:solidFill>
            <a:srgbClr val="F3F5F8"/>
          </a:solidFill>
          <a:ln w="12700">
            <a:solidFill>
              <a:srgbClr val="F3F5F8"/>
            </a:solidFill>
            <a:prstDash val="solid"/>
          </a:ln>
        </p:spPr>
      </p:sp>
      <p:sp>
        <p:nvSpPr>
          <p:cNvPr id="17" name="Shape 13"/>
          <p:cNvSpPr/>
          <p:nvPr/>
        </p:nvSpPr>
        <p:spPr>
          <a:xfrm>
            <a:off x="8321040" y="2267712"/>
            <a:ext cx="566928" cy="566928"/>
          </a:xfrm>
          <a:prstGeom prst="ellipse">
            <a:avLst/>
          </a:prstGeom>
          <a:solidFill>
            <a:srgbClr val="4E5A6B"/>
          </a:solidFill>
          <a:ln w="12700">
            <a:solidFill>
              <a:srgbClr val="4E5A6B"/>
            </a:solidFill>
            <a:prstDash val="solid"/>
          </a:ln>
        </p:spPr>
      </p:sp>
      <p:pic>
        <p:nvPicPr>
          <p:cNvPr id="18" name="Image 2" descr="preencoded.png">    </p:cNvPr>
          <p:cNvPicPr>
            <a:picLocks noChangeAspect="1"/>
          </p:cNvPicPr>
          <p:nvPr/>
        </p:nvPicPr>
        <p:blipFill>
          <a:blip r:embed="rId3"/>
          <a:stretch>
            <a:fillRect/>
          </a:stretch>
        </p:blipFill>
        <p:spPr>
          <a:xfrm>
            <a:off x="8468441" y="2415113"/>
            <a:ext cx="272125" cy="272125"/>
          </a:xfrm>
          <a:prstGeom prst="rect">
            <a:avLst/>
          </a:prstGeom>
        </p:spPr>
      </p:pic>
      <p:sp>
        <p:nvSpPr>
          <p:cNvPr id="19" name="Text 14"/>
          <p:cNvSpPr txBox="1"/>
          <p:nvPr/>
        </p:nvSpPr>
        <p:spPr>
          <a:xfrm>
            <a:off x="9070848" y="2377440"/>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MCP tool pinning</a:t>
            </a:r>
            <a:endParaRPr lang="en-US" sz="1500" dirty="0"/>
          </a:p>
        </p:txBody>
      </p:sp>
      <p:sp>
        <p:nvSpPr>
          <p:cNvPr id="20" name="Text 15"/>
          <p:cNvSpPr txBox="1"/>
          <p:nvPr/>
        </p:nvSpPr>
        <p:spPr>
          <a:xfrm>
            <a:off x="8321040" y="2971800"/>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Tool text pinned on first use; a changed tool is held until approved.</a:t>
            </a:r>
            <a:endParaRPr lang="en-US" sz="1400" dirty="0"/>
          </a:p>
        </p:txBody>
      </p:sp>
      <p:sp>
        <p:nvSpPr>
          <p:cNvPr id="21" name="Shape 16"/>
          <p:cNvSpPr/>
          <p:nvPr/>
        </p:nvSpPr>
        <p:spPr>
          <a:xfrm>
            <a:off x="548640" y="4096512"/>
            <a:ext cx="3575304" cy="1901952"/>
          </a:xfrm>
          <a:prstGeom prst="roundRect">
            <a:avLst>
              <a:gd name="adj" fmla="val 4808"/>
            </a:avLst>
          </a:prstGeom>
          <a:solidFill>
            <a:srgbClr val="F3F5F8"/>
          </a:solidFill>
          <a:ln w="12700">
            <a:solidFill>
              <a:srgbClr val="F3F5F8"/>
            </a:solidFill>
            <a:prstDash val="solid"/>
          </a:ln>
        </p:spPr>
      </p:sp>
      <p:sp>
        <p:nvSpPr>
          <p:cNvPr id="22" name="Shape 17"/>
          <p:cNvSpPr/>
          <p:nvPr/>
        </p:nvSpPr>
        <p:spPr>
          <a:xfrm>
            <a:off x="804672" y="4352544"/>
            <a:ext cx="566928" cy="566928"/>
          </a:xfrm>
          <a:prstGeom prst="ellipse">
            <a:avLst/>
          </a:prstGeom>
          <a:solidFill>
            <a:srgbClr val="0D5C55"/>
          </a:solidFill>
          <a:ln w="12700">
            <a:solidFill>
              <a:srgbClr val="0D5C55"/>
            </a:solidFill>
            <a:prstDash val="solid"/>
          </a:ln>
        </p:spPr>
      </p:sp>
      <p:pic>
        <p:nvPicPr>
          <p:cNvPr id="23" name="Image 3" descr="preencoded.png">    </p:cNvPr>
          <p:cNvPicPr>
            <a:picLocks noChangeAspect="1"/>
          </p:cNvPicPr>
          <p:nvPr/>
        </p:nvPicPr>
        <p:blipFill>
          <a:blip r:embed="rId4"/>
          <a:stretch>
            <a:fillRect/>
          </a:stretch>
        </p:blipFill>
        <p:spPr>
          <a:xfrm>
            <a:off x="952073" y="4499945"/>
            <a:ext cx="272125" cy="272125"/>
          </a:xfrm>
          <a:prstGeom prst="rect">
            <a:avLst/>
          </a:prstGeom>
        </p:spPr>
      </p:pic>
      <p:sp>
        <p:nvSpPr>
          <p:cNvPr id="24" name="Text 18"/>
          <p:cNvSpPr txBox="1"/>
          <p:nvPr/>
        </p:nvSpPr>
        <p:spPr>
          <a:xfrm>
            <a:off x="1554480" y="4462272"/>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Input sanitizer</a:t>
            </a:r>
            <a:endParaRPr lang="en-US" sz="1500" dirty="0"/>
          </a:p>
        </p:txBody>
      </p:sp>
      <p:sp>
        <p:nvSpPr>
          <p:cNvPr id="25" name="Text 19"/>
          <p:cNvSpPr txBox="1"/>
          <p:nvPr/>
        </p:nvSpPr>
        <p:spPr>
          <a:xfrm>
            <a:off x="804672" y="5056632"/>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Refuses or passes, never rewrites. Sees through look-alikes and base64.</a:t>
            </a:r>
            <a:endParaRPr lang="en-US" sz="1400" dirty="0"/>
          </a:p>
        </p:txBody>
      </p:sp>
      <p:sp>
        <p:nvSpPr>
          <p:cNvPr id="26" name="Shape 20"/>
          <p:cNvSpPr/>
          <p:nvPr/>
        </p:nvSpPr>
        <p:spPr>
          <a:xfrm>
            <a:off x="4306824" y="4096512"/>
            <a:ext cx="3575304" cy="1901952"/>
          </a:xfrm>
          <a:prstGeom prst="roundRect">
            <a:avLst>
              <a:gd name="adj" fmla="val 4808"/>
            </a:avLst>
          </a:prstGeom>
          <a:solidFill>
            <a:srgbClr val="F3F5F8"/>
          </a:solidFill>
          <a:ln w="12700">
            <a:solidFill>
              <a:srgbClr val="F3F5F8"/>
            </a:solidFill>
            <a:prstDash val="solid"/>
          </a:ln>
        </p:spPr>
      </p:sp>
      <p:sp>
        <p:nvSpPr>
          <p:cNvPr id="27" name="Shape 21"/>
          <p:cNvSpPr/>
          <p:nvPr/>
        </p:nvSpPr>
        <p:spPr>
          <a:xfrm>
            <a:off x="4562856" y="4352544"/>
            <a:ext cx="566928" cy="566928"/>
          </a:xfrm>
          <a:prstGeom prst="ellipse">
            <a:avLst/>
          </a:prstGeom>
          <a:solidFill>
            <a:srgbClr val="C4433A"/>
          </a:solidFill>
          <a:ln w="12700">
            <a:solidFill>
              <a:srgbClr val="C4433A"/>
            </a:solidFill>
            <a:prstDash val="solid"/>
          </a:ln>
        </p:spPr>
      </p:sp>
      <p:pic>
        <p:nvPicPr>
          <p:cNvPr id="28" name="Image 4" descr="preencoded.png">    </p:cNvPr>
          <p:cNvPicPr>
            <a:picLocks noChangeAspect="1"/>
          </p:cNvPicPr>
          <p:nvPr/>
        </p:nvPicPr>
        <p:blipFill>
          <a:blip r:embed="rId5"/>
          <a:stretch>
            <a:fillRect/>
          </a:stretch>
        </p:blipFill>
        <p:spPr>
          <a:xfrm>
            <a:off x="4710257" y="4499945"/>
            <a:ext cx="272125" cy="272125"/>
          </a:xfrm>
          <a:prstGeom prst="rect">
            <a:avLst/>
          </a:prstGeom>
        </p:spPr>
      </p:pic>
      <p:sp>
        <p:nvSpPr>
          <p:cNvPr id="29" name="Text 22"/>
          <p:cNvSpPr txBox="1"/>
          <p:nvPr/>
        </p:nvSpPr>
        <p:spPr>
          <a:xfrm>
            <a:off x="5312664" y="4462272"/>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Content floor</a:t>
            </a:r>
            <a:endParaRPr lang="en-US" sz="1500" dirty="0"/>
          </a:p>
        </p:txBody>
      </p:sp>
      <p:sp>
        <p:nvSpPr>
          <p:cNvPr id="30" name="Text 23"/>
          <p:cNvSpPr txBox="1"/>
          <p:nvPr/>
        </p:nvSpPr>
        <p:spPr>
          <a:xfrm>
            <a:off x="4562856" y="5056632"/>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Minors, sexual deepfakes, CBRN weapons: refused before any provider call.</a:t>
            </a:r>
            <a:endParaRPr lang="en-US" sz="1400" dirty="0"/>
          </a:p>
        </p:txBody>
      </p:sp>
      <p:sp>
        <p:nvSpPr>
          <p:cNvPr id="31" name="Shape 24"/>
          <p:cNvSpPr/>
          <p:nvPr/>
        </p:nvSpPr>
        <p:spPr>
          <a:xfrm>
            <a:off x="8065008" y="4096512"/>
            <a:ext cx="3575304" cy="1901952"/>
          </a:xfrm>
          <a:prstGeom prst="roundRect">
            <a:avLst>
              <a:gd name="adj" fmla="val 4808"/>
            </a:avLst>
          </a:prstGeom>
          <a:solidFill>
            <a:srgbClr val="F3F5F8"/>
          </a:solidFill>
          <a:ln w="12700">
            <a:solidFill>
              <a:srgbClr val="F3F5F8"/>
            </a:solidFill>
            <a:prstDash val="solid"/>
          </a:ln>
        </p:spPr>
      </p:sp>
      <p:sp>
        <p:nvSpPr>
          <p:cNvPr id="32" name="Shape 25"/>
          <p:cNvSpPr/>
          <p:nvPr/>
        </p:nvSpPr>
        <p:spPr>
          <a:xfrm>
            <a:off x="8321040" y="4352544"/>
            <a:ext cx="566928" cy="566928"/>
          </a:xfrm>
          <a:prstGeom prst="ellipse">
            <a:avLst/>
          </a:prstGeom>
          <a:solidFill>
            <a:srgbClr val="9A5A0C"/>
          </a:solidFill>
          <a:ln w="12700">
            <a:solidFill>
              <a:srgbClr val="9A5A0C"/>
            </a:solidFill>
            <a:prstDash val="solid"/>
          </a:ln>
        </p:spPr>
      </p:sp>
      <p:pic>
        <p:nvPicPr>
          <p:cNvPr id="33" name="Image 5" descr="preencoded.png">    </p:cNvPr>
          <p:cNvPicPr>
            <a:picLocks noChangeAspect="1"/>
          </p:cNvPicPr>
          <p:nvPr/>
        </p:nvPicPr>
        <p:blipFill>
          <a:blip r:embed="rId6"/>
          <a:stretch>
            <a:fillRect/>
          </a:stretch>
        </p:blipFill>
        <p:spPr>
          <a:xfrm>
            <a:off x="8468441" y="4499945"/>
            <a:ext cx="272125" cy="272125"/>
          </a:xfrm>
          <a:prstGeom prst="rect">
            <a:avLst/>
          </a:prstGeom>
        </p:spPr>
      </p:pic>
      <p:sp>
        <p:nvSpPr>
          <p:cNvPr id="34" name="Text 26"/>
          <p:cNvSpPr txBox="1"/>
          <p:nvPr/>
        </p:nvSpPr>
        <p:spPr>
          <a:xfrm>
            <a:off x="9070848" y="4462272"/>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Outbound floor</a:t>
            </a:r>
            <a:endParaRPr lang="en-US" sz="1500" dirty="0"/>
          </a:p>
        </p:txBody>
      </p:sp>
      <p:sp>
        <p:nvSpPr>
          <p:cNvPr id="35" name="Text 27"/>
          <p:cNvSpPr txBox="1"/>
          <p:nvPr/>
        </p:nvSpPr>
        <p:spPr>
          <a:xfrm>
            <a:off x="8321040" y="5056632"/>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A daily send cap across channels, and an AI disclosure on unattended mail.</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CREDENTIALS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secret is encrypted at rest and never shown to the model</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model names a credential. Our code fetches it, uses it, and scrubs it from what comes back.</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34</a:t>
            </a:r>
            <a:endParaRPr lang="en-US" sz="1000" dirty="0"/>
          </a:p>
        </p:txBody>
      </p:sp>
      <p:sp>
        <p:nvSpPr>
          <p:cNvPr id="6" name="Text 4"/>
          <p:cNvSpPr txBox="1"/>
          <p:nvPr/>
        </p:nvSpPr>
        <p:spPr>
          <a:xfrm>
            <a:off x="548640" y="2011680"/>
            <a:ext cx="6035040" cy="694944"/>
          </a:xfrm>
          <a:prstGeom prst="roundRect">
            <a:avLst>
              <a:gd name="adj" fmla="val 10526"/>
            </a:avLst>
          </a:prstGeom>
          <a:solidFill>
            <a:srgbClr val="4E5A6B"/>
          </a:solidFill>
          <a:ln w="12700">
            <a:solidFill>
              <a:srgbClr val="4E5A6B"/>
            </a:solidFill>
            <a:prstDash val="solid"/>
          </a:ln>
        </p:spPr>
        <p:txBody>
          <a:bodyPr wrap="square" lIns="38100" tIns="177800" rIns="177800" bIns="38100" rtlCol="0" anchor="ctr"/>
          <a:lstStyle/>
          <a:p>
            <a:pPr algn="l" indent="0" marL="0">
              <a:spcAft>
                <a:spcPts val="200"/>
              </a:spcAft>
              <a:buNone/>
            </a:pPr>
            <a:r>
              <a:rPr lang="en-US" sz="1350" b="1" dirty="0">
                <a:solidFill>
                  <a:srgbClr val="FFFFFF"/>
                </a:solidFill>
                <a:latin typeface="Arial" pitchFamily="34" charset="0"/>
                <a:ea typeface="Arial" pitchFamily="34" charset="-122"/>
                <a:cs typeface="Arial" pitchFamily="34" charset="-120"/>
              </a:rPr>
              <a:t>Stored</a:t>
            </a:r>
            <a:endParaRPr lang="en-US" sz="1350" dirty="0"/>
          </a:p>
          <a:p>
            <a:pPr algn="l" indent="0" marL="0">
              <a:spcAft>
                <a:spcPts val="200"/>
              </a:spcAft>
              <a:buNone/>
            </a:pPr>
            <a:r>
              <a:rPr lang="en-US" sz="1150" dirty="0">
                <a:solidFill>
                  <a:srgbClr val="DDE2E8"/>
                </a:solidFill>
                <a:latin typeface="Calibri" pitchFamily="34" charset="0"/>
                <a:ea typeface="Calibri" pitchFamily="34" charset="-122"/>
                <a:cs typeface="Calibri" pitchFamily="34" charset="-120"/>
              </a:rPr>
              <a:t>Fernet: AES-128 + HMAC-SHA256, key from CREDENTIAL_ENCRYPTION_KEY</a:t>
            </a:r>
            <a:endParaRPr lang="en-US" sz="1350" dirty="0"/>
          </a:p>
        </p:txBody>
      </p:sp>
      <p:sp>
        <p:nvSpPr>
          <p:cNvPr id="7" name="Shape 5"/>
          <p:cNvSpPr/>
          <p:nvPr/>
        </p:nvSpPr>
        <p:spPr>
          <a:xfrm>
            <a:off x="3566160" y="2706624"/>
            <a:ext cx="0" cy="146304"/>
          </a:xfrm>
          <a:prstGeom prst="line">
            <a:avLst/>
          </a:prstGeom>
          <a:noFill/>
          <a:ln w="15875">
            <a:solidFill>
              <a:srgbClr val="4E5A6B"/>
            </a:solidFill>
            <a:prstDash val="solid"/>
            <a:tailEnd type="triangle"/>
          </a:ln>
        </p:spPr>
      </p:sp>
      <p:sp>
        <p:nvSpPr>
          <p:cNvPr id="8" name="Text 6"/>
          <p:cNvSpPr txBox="1"/>
          <p:nvPr/>
        </p:nvSpPr>
        <p:spPr>
          <a:xfrm>
            <a:off x="548640" y="2852928"/>
            <a:ext cx="6035040" cy="694944"/>
          </a:xfrm>
          <a:prstGeom prst="roundRect">
            <a:avLst>
              <a:gd name="adj" fmla="val 10526"/>
            </a:avLst>
          </a:prstGeom>
          <a:solidFill>
            <a:srgbClr val="E9EDF2"/>
          </a:solidFill>
          <a:ln w="12700">
            <a:solidFill>
              <a:srgbClr val="E9EDF2"/>
            </a:solidFill>
            <a:prstDash val="solid"/>
          </a:ln>
        </p:spPr>
        <p:txBody>
          <a:bodyPr wrap="square" lIns="38100" tIns="177800" rIns="1778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Named</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the tool argument is {"secret_ref": "slug.field"}, never the value</a:t>
            </a:r>
            <a:endParaRPr lang="en-US" sz="1350" dirty="0"/>
          </a:p>
        </p:txBody>
      </p:sp>
      <p:sp>
        <p:nvSpPr>
          <p:cNvPr id="9" name="Shape 7"/>
          <p:cNvSpPr/>
          <p:nvPr/>
        </p:nvSpPr>
        <p:spPr>
          <a:xfrm>
            <a:off x="3566160" y="3547872"/>
            <a:ext cx="0" cy="146304"/>
          </a:xfrm>
          <a:prstGeom prst="line">
            <a:avLst/>
          </a:prstGeom>
          <a:noFill/>
          <a:ln w="15875">
            <a:solidFill>
              <a:srgbClr val="4E5A6B"/>
            </a:solidFill>
            <a:prstDash val="solid"/>
            <a:tailEnd type="triangle"/>
          </a:ln>
        </p:spPr>
      </p:sp>
      <p:sp>
        <p:nvSpPr>
          <p:cNvPr id="10" name="Text 8"/>
          <p:cNvSpPr txBox="1"/>
          <p:nvPr/>
        </p:nvSpPr>
        <p:spPr>
          <a:xfrm>
            <a:off x="548640" y="3694176"/>
            <a:ext cx="6035040" cy="694944"/>
          </a:xfrm>
          <a:prstGeom prst="roundRect">
            <a:avLst>
              <a:gd name="adj" fmla="val 10526"/>
            </a:avLst>
          </a:prstGeom>
          <a:solidFill>
            <a:srgbClr val="FDF0DE"/>
          </a:solidFill>
          <a:ln w="12700">
            <a:solidFill>
              <a:srgbClr val="FDF0DE"/>
            </a:solidFill>
            <a:prstDash val="solid"/>
          </a:ln>
        </p:spPr>
        <p:txBody>
          <a:bodyPr wrap="square" lIns="38100" tIns="177800" rIns="1778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Approved</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the approval card shows the reference, not the secret</a:t>
            </a:r>
            <a:endParaRPr lang="en-US" sz="1350" dirty="0"/>
          </a:p>
        </p:txBody>
      </p:sp>
      <p:sp>
        <p:nvSpPr>
          <p:cNvPr id="11" name="Shape 9"/>
          <p:cNvSpPr/>
          <p:nvPr/>
        </p:nvSpPr>
        <p:spPr>
          <a:xfrm>
            <a:off x="3566160" y="4389120"/>
            <a:ext cx="0" cy="146304"/>
          </a:xfrm>
          <a:prstGeom prst="line">
            <a:avLst/>
          </a:prstGeom>
          <a:noFill/>
          <a:ln w="15875">
            <a:solidFill>
              <a:srgbClr val="4E5A6B"/>
            </a:solidFill>
            <a:prstDash val="solid"/>
            <a:tailEnd type="triangle"/>
          </a:ln>
        </p:spPr>
      </p:sp>
      <p:sp>
        <p:nvSpPr>
          <p:cNvPr id="12" name="Text 10"/>
          <p:cNvSpPr txBox="1"/>
          <p:nvPr/>
        </p:nvSpPr>
        <p:spPr>
          <a:xfrm>
            <a:off x="548640" y="4535424"/>
            <a:ext cx="6035040" cy="694944"/>
          </a:xfrm>
          <a:prstGeom prst="roundRect">
            <a:avLst>
              <a:gd name="adj" fmla="val 10526"/>
            </a:avLst>
          </a:prstGeom>
          <a:solidFill>
            <a:srgbClr val="E1F2F0"/>
          </a:solidFill>
          <a:ln w="12700">
            <a:solidFill>
              <a:srgbClr val="E1F2F0"/>
            </a:solidFill>
            <a:prstDash val="solid"/>
          </a:ln>
        </p:spPr>
        <p:txBody>
          <a:bodyPr wrap="square" lIns="38100" tIns="177800" rIns="1778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Resolved</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one resolver, after approval, from an allow-list of slugs</a:t>
            </a:r>
            <a:endParaRPr lang="en-US" sz="1350" dirty="0"/>
          </a:p>
        </p:txBody>
      </p:sp>
      <p:sp>
        <p:nvSpPr>
          <p:cNvPr id="13" name="Shape 11"/>
          <p:cNvSpPr/>
          <p:nvPr/>
        </p:nvSpPr>
        <p:spPr>
          <a:xfrm>
            <a:off x="3566160" y="5230368"/>
            <a:ext cx="0" cy="146304"/>
          </a:xfrm>
          <a:prstGeom prst="line">
            <a:avLst/>
          </a:prstGeom>
          <a:noFill/>
          <a:ln w="15875">
            <a:solidFill>
              <a:srgbClr val="4E5A6B"/>
            </a:solidFill>
            <a:prstDash val="solid"/>
            <a:tailEnd type="triangle"/>
          </a:ln>
        </p:spPr>
      </p:sp>
      <p:sp>
        <p:nvSpPr>
          <p:cNvPr id="14" name="Text 12"/>
          <p:cNvSpPr txBox="1"/>
          <p:nvPr/>
        </p:nvSpPr>
        <p:spPr>
          <a:xfrm>
            <a:off x="548640" y="5376672"/>
            <a:ext cx="6035040" cy="694944"/>
          </a:xfrm>
          <a:prstGeom prst="roundRect">
            <a:avLst>
              <a:gd name="adj" fmla="val 10526"/>
            </a:avLst>
          </a:prstGeom>
          <a:solidFill>
            <a:srgbClr val="15877D"/>
          </a:solidFill>
          <a:ln w="12700">
            <a:solidFill>
              <a:srgbClr val="15877D"/>
            </a:solidFill>
            <a:prstDash val="solid"/>
          </a:ln>
        </p:spPr>
        <p:txBody>
          <a:bodyPr wrap="square" lIns="38100" tIns="177800" rIns="177800" bIns="38100" rtlCol="0" anchor="ctr"/>
          <a:lstStyle/>
          <a:p>
            <a:pPr algn="l" indent="0" marL="0">
              <a:spcAft>
                <a:spcPts val="200"/>
              </a:spcAft>
              <a:buNone/>
            </a:pPr>
            <a:r>
              <a:rPr lang="en-US" sz="1350" b="1" dirty="0">
                <a:solidFill>
                  <a:srgbClr val="FFFFFF"/>
                </a:solidFill>
                <a:latin typeface="Arial" pitchFamily="34" charset="0"/>
                <a:ea typeface="Arial" pitchFamily="34" charset="-122"/>
                <a:cs typeface="Arial" pitchFamily="34" charset="-120"/>
              </a:rPr>
              <a:t>Scrubbed</a:t>
            </a:r>
            <a:endParaRPr lang="en-US" sz="1350" dirty="0"/>
          </a:p>
          <a:p>
            <a:pPr algn="l" indent="0" marL="0">
              <a:spcAft>
                <a:spcPts val="200"/>
              </a:spcAft>
              <a:buNone/>
            </a:pPr>
            <a:r>
              <a:rPr lang="en-US" sz="1150" dirty="0">
                <a:solidFill>
                  <a:srgbClr val="E0F2EF"/>
                </a:solidFill>
                <a:latin typeface="Calibri" pitchFamily="34" charset="0"/>
                <a:ea typeface="Calibri" pitchFamily="34" charset="-122"/>
                <a:cs typeface="Calibri" pitchFamily="34" charset="-120"/>
              </a:rPr>
              <a:t>the value is redacted from the result before the model reads it</a:t>
            </a:r>
            <a:endParaRPr lang="en-US" sz="1350" dirty="0"/>
          </a:p>
        </p:txBody>
      </p:sp>
      <p:sp>
        <p:nvSpPr>
          <p:cNvPr id="15" name="Text 13"/>
          <p:cNvSpPr txBox="1"/>
          <p:nvPr/>
        </p:nvSpPr>
        <p:spPr>
          <a:xfrm>
            <a:off x="7040880" y="2103120"/>
            <a:ext cx="461772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OAuth tokens too</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Access and refresh tokens are encrypted columns; re-consent never overwrites a stored refresh token with an empty one.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Every read is audited</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Decrypting on a user's behalf writes an audit row: who, which run, from where.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Connectors get an allow-listed env</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A connector process once inherited the whole .env — including the master key. Now it gets PATH plus the fields it maps.</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Files that hold secrets</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Written 0600 into a private temp folder and deleted by the same task that made it.</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Our own keys are hashed</a:t>
            </a:r>
            <a:endParaRPr lang="en-US" sz="1350" dirty="0"/>
          </a:p>
          <a:p>
            <a:pPr indent="0" marL="0">
              <a:buNone/>
            </a:pPr>
            <a:r>
              <a:rPr lang="en-US" sz="1150" dirty="0">
                <a:solidFill>
                  <a:srgbClr val="5B6472"/>
                </a:solidFill>
                <a:latin typeface="Calibri" pitchFamily="34" charset="0"/>
                <a:ea typeface="Calibri" pitchFamily="34" charset="-122"/>
                <a:cs typeface="Calibri" pitchFamily="34" charset="-120"/>
              </a:rPr>
              <a:t>Platform API keys are stored as SHA-256, and a password change revokes every issued token.</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SOLUTION MEMORY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What one person solved, the next person finds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Solved problems are captured as structured records and found again — with each claim's shelf life attached.</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35</a:t>
            </a:r>
            <a:endParaRPr lang="en-US" sz="1000" dirty="0"/>
          </a:p>
        </p:txBody>
      </p:sp>
      <p:sp>
        <p:nvSpPr>
          <p:cNvPr id="6" name="Shape 4"/>
          <p:cNvSpPr/>
          <p:nvPr/>
        </p:nvSpPr>
        <p:spPr>
          <a:xfrm>
            <a:off x="548640" y="2011680"/>
            <a:ext cx="2514600" cy="2057400"/>
          </a:xfrm>
          <a:prstGeom prst="roundRect">
            <a:avLst>
              <a:gd name="adj" fmla="val 4444"/>
            </a:avLst>
          </a:prstGeom>
          <a:solidFill>
            <a:srgbClr val="F3F5F8"/>
          </a:solidFill>
          <a:ln w="12700">
            <a:solidFill>
              <a:srgbClr val="F3F5F8"/>
            </a:solidFill>
            <a:prstDash val="solid"/>
          </a:ln>
        </p:spPr>
      </p:sp>
      <p:sp>
        <p:nvSpPr>
          <p:cNvPr id="7" name="Shape 5"/>
          <p:cNvSpPr/>
          <p:nvPr/>
        </p:nvSpPr>
        <p:spPr>
          <a:xfrm>
            <a:off x="777240" y="2194560"/>
            <a:ext cx="502920" cy="502920"/>
          </a:xfrm>
          <a:prstGeom prst="ellipse">
            <a:avLst/>
          </a:prstGeom>
          <a:solidFill>
            <a:srgbClr val="15877D"/>
          </a:solidFill>
          <a:ln w="12700">
            <a:solidFill>
              <a:srgbClr val="15877D"/>
            </a:solidFill>
            <a:prstDash val="solid"/>
          </a:ln>
        </p:spPr>
      </p:sp>
      <p:pic>
        <p:nvPicPr>
          <p:cNvPr id="8" name="Image 0" descr="preencoded.png">    </p:cNvPr>
          <p:cNvPicPr>
            <a:picLocks noChangeAspect="1"/>
          </p:cNvPicPr>
          <p:nvPr/>
        </p:nvPicPr>
        <p:blipFill>
          <a:blip r:embed="rId1"/>
          <a:stretch>
            <a:fillRect/>
          </a:stretch>
        </p:blipFill>
        <p:spPr>
          <a:xfrm>
            <a:off x="907999" y="2325319"/>
            <a:ext cx="241402" cy="241402"/>
          </a:xfrm>
          <a:prstGeom prst="rect">
            <a:avLst/>
          </a:prstGeom>
        </p:spPr>
      </p:pic>
      <p:sp>
        <p:nvSpPr>
          <p:cNvPr id="9" name="Text 6"/>
          <p:cNvSpPr txBox="1"/>
          <p:nvPr/>
        </p:nvSpPr>
        <p:spPr>
          <a:xfrm>
            <a:off x="141732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Signal</a:t>
            </a:r>
            <a:endParaRPr lang="en-US" sz="1600" dirty="0"/>
          </a:p>
        </p:txBody>
      </p:sp>
      <p:sp>
        <p:nvSpPr>
          <p:cNvPr id="10" name="Text 7"/>
          <p:cNvSpPr txBox="1"/>
          <p:nvPr/>
        </p:nvSpPr>
        <p:spPr>
          <a:xfrm>
            <a:off x="77724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A thumbs-up, or the person saying “that worked”. A regex, no model cost.</a:t>
            </a:r>
            <a:endParaRPr lang="en-US" sz="1300" dirty="0"/>
          </a:p>
        </p:txBody>
      </p:sp>
      <p:sp>
        <p:nvSpPr>
          <p:cNvPr id="11" name="Shape 8"/>
          <p:cNvSpPr/>
          <p:nvPr/>
        </p:nvSpPr>
        <p:spPr>
          <a:xfrm>
            <a:off x="3090672" y="3017520"/>
            <a:ext cx="265176" cy="0"/>
          </a:xfrm>
          <a:prstGeom prst="line">
            <a:avLst/>
          </a:prstGeom>
          <a:noFill/>
          <a:ln w="19050">
            <a:solidFill>
              <a:srgbClr val="4E5A6B"/>
            </a:solidFill>
            <a:prstDash val="solid"/>
            <a:tailEnd type="triangle"/>
          </a:ln>
        </p:spPr>
      </p:sp>
      <p:sp>
        <p:nvSpPr>
          <p:cNvPr id="12" name="Shape 9"/>
          <p:cNvSpPr/>
          <p:nvPr/>
        </p:nvSpPr>
        <p:spPr>
          <a:xfrm>
            <a:off x="3383280" y="2011680"/>
            <a:ext cx="2514600" cy="2057400"/>
          </a:xfrm>
          <a:prstGeom prst="roundRect">
            <a:avLst>
              <a:gd name="adj" fmla="val 4444"/>
            </a:avLst>
          </a:prstGeom>
          <a:solidFill>
            <a:srgbClr val="F3F5F8"/>
          </a:solidFill>
          <a:ln w="12700">
            <a:solidFill>
              <a:srgbClr val="F3F5F8"/>
            </a:solidFill>
            <a:prstDash val="solid"/>
          </a:ln>
        </p:spPr>
      </p:sp>
      <p:sp>
        <p:nvSpPr>
          <p:cNvPr id="13" name="Shape 10"/>
          <p:cNvSpPr/>
          <p:nvPr/>
        </p:nvSpPr>
        <p:spPr>
          <a:xfrm>
            <a:off x="3611880" y="2194560"/>
            <a:ext cx="502920" cy="502920"/>
          </a:xfrm>
          <a:prstGeom prst="ellipse">
            <a:avLst/>
          </a:prstGeom>
          <a:solidFill>
            <a:srgbClr val="15877D"/>
          </a:solidFill>
          <a:ln w="12700">
            <a:solidFill>
              <a:srgbClr val="15877D"/>
            </a:solidFill>
            <a:prstDash val="solid"/>
          </a:ln>
        </p:spPr>
      </p:sp>
      <p:pic>
        <p:nvPicPr>
          <p:cNvPr id="14" name="Image 1" descr="preencoded.png">    </p:cNvPr>
          <p:cNvPicPr>
            <a:picLocks noChangeAspect="1"/>
          </p:cNvPicPr>
          <p:nvPr/>
        </p:nvPicPr>
        <p:blipFill>
          <a:blip r:embed="rId2"/>
          <a:stretch>
            <a:fillRect/>
          </a:stretch>
        </p:blipFill>
        <p:spPr>
          <a:xfrm>
            <a:off x="3742639" y="2325319"/>
            <a:ext cx="241402" cy="241402"/>
          </a:xfrm>
          <a:prstGeom prst="rect">
            <a:avLst/>
          </a:prstGeom>
        </p:spPr>
      </p:pic>
      <p:sp>
        <p:nvSpPr>
          <p:cNvPr id="15" name="Text 11"/>
          <p:cNvSpPr txBox="1"/>
          <p:nvPr/>
        </p:nvSpPr>
        <p:spPr>
          <a:xfrm>
            <a:off x="425196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Decide</a:t>
            </a:r>
            <a:endParaRPr lang="en-US" sz="1600" dirty="0"/>
          </a:p>
        </p:txBody>
      </p:sp>
      <p:sp>
        <p:nvSpPr>
          <p:cNvPr id="16" name="Text 12"/>
          <p:cNvSpPr txBox="1"/>
          <p:nvPr/>
        </p:nvSpPr>
        <p:spPr>
          <a:xfrm>
            <a:off x="361188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One cheap-model call: skip, new, same as an existing record, or replaces one.</a:t>
            </a:r>
            <a:endParaRPr lang="en-US" sz="1300" dirty="0"/>
          </a:p>
        </p:txBody>
      </p:sp>
      <p:sp>
        <p:nvSpPr>
          <p:cNvPr id="17" name="Shape 13"/>
          <p:cNvSpPr/>
          <p:nvPr/>
        </p:nvSpPr>
        <p:spPr>
          <a:xfrm>
            <a:off x="5925312" y="3017520"/>
            <a:ext cx="265176" cy="0"/>
          </a:xfrm>
          <a:prstGeom prst="line">
            <a:avLst/>
          </a:prstGeom>
          <a:noFill/>
          <a:ln w="19050">
            <a:solidFill>
              <a:srgbClr val="4E5A6B"/>
            </a:solidFill>
            <a:prstDash val="solid"/>
            <a:tailEnd type="triangle"/>
          </a:ln>
        </p:spPr>
      </p:sp>
      <p:sp>
        <p:nvSpPr>
          <p:cNvPr id="18" name="Shape 14"/>
          <p:cNvSpPr/>
          <p:nvPr/>
        </p:nvSpPr>
        <p:spPr>
          <a:xfrm>
            <a:off x="6217920" y="2011680"/>
            <a:ext cx="2514600" cy="2057400"/>
          </a:xfrm>
          <a:prstGeom prst="roundRect">
            <a:avLst>
              <a:gd name="adj" fmla="val 4444"/>
            </a:avLst>
          </a:prstGeom>
          <a:solidFill>
            <a:srgbClr val="F3F5F8"/>
          </a:solidFill>
          <a:ln w="12700">
            <a:solidFill>
              <a:srgbClr val="F3F5F8"/>
            </a:solidFill>
            <a:prstDash val="solid"/>
          </a:ln>
        </p:spPr>
      </p:sp>
      <p:sp>
        <p:nvSpPr>
          <p:cNvPr id="19" name="Shape 15"/>
          <p:cNvSpPr/>
          <p:nvPr/>
        </p:nvSpPr>
        <p:spPr>
          <a:xfrm>
            <a:off x="6446520" y="2194560"/>
            <a:ext cx="502920" cy="502920"/>
          </a:xfrm>
          <a:prstGeom prst="ellipse">
            <a:avLst/>
          </a:prstGeom>
          <a:solidFill>
            <a:srgbClr val="15877D"/>
          </a:solidFill>
          <a:ln w="12700">
            <a:solidFill>
              <a:srgbClr val="15877D"/>
            </a:solidFill>
            <a:prstDash val="solid"/>
          </a:ln>
        </p:spPr>
      </p:sp>
      <p:pic>
        <p:nvPicPr>
          <p:cNvPr id="20" name="Image 2" descr="preencoded.png">    </p:cNvPr>
          <p:cNvPicPr>
            <a:picLocks noChangeAspect="1"/>
          </p:cNvPicPr>
          <p:nvPr/>
        </p:nvPicPr>
        <p:blipFill>
          <a:blip r:embed="rId3"/>
          <a:stretch>
            <a:fillRect/>
          </a:stretch>
        </p:blipFill>
        <p:spPr>
          <a:xfrm>
            <a:off x="6577279" y="2325319"/>
            <a:ext cx="241402" cy="241402"/>
          </a:xfrm>
          <a:prstGeom prst="rect">
            <a:avLst/>
          </a:prstGeom>
        </p:spPr>
      </p:pic>
      <p:sp>
        <p:nvSpPr>
          <p:cNvPr id="21" name="Text 16"/>
          <p:cNvSpPr txBox="1"/>
          <p:nvPr/>
        </p:nvSpPr>
        <p:spPr>
          <a:xfrm>
            <a:off x="708660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Record</a:t>
            </a:r>
            <a:endParaRPr lang="en-US" sz="1600" dirty="0"/>
          </a:p>
        </p:txBody>
      </p:sp>
      <p:sp>
        <p:nvSpPr>
          <p:cNvPr id="22" name="Text 17"/>
          <p:cNvSpPr txBox="1"/>
          <p:nvPr/>
        </p:nvSpPr>
        <p:spPr>
          <a:xfrm>
            <a:off x="644652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Problem, symptoms, cause, fix — and claims, each with a kind.</a:t>
            </a:r>
            <a:endParaRPr lang="en-US" sz="1300" dirty="0"/>
          </a:p>
        </p:txBody>
      </p:sp>
      <p:sp>
        <p:nvSpPr>
          <p:cNvPr id="23" name="Shape 18"/>
          <p:cNvSpPr/>
          <p:nvPr/>
        </p:nvSpPr>
        <p:spPr>
          <a:xfrm>
            <a:off x="8759952" y="3017520"/>
            <a:ext cx="265176" cy="0"/>
          </a:xfrm>
          <a:prstGeom prst="line">
            <a:avLst/>
          </a:prstGeom>
          <a:noFill/>
          <a:ln w="19050">
            <a:solidFill>
              <a:srgbClr val="4E5A6B"/>
            </a:solidFill>
            <a:prstDash val="solid"/>
            <a:tailEnd type="triangle"/>
          </a:ln>
        </p:spPr>
      </p:sp>
      <p:sp>
        <p:nvSpPr>
          <p:cNvPr id="24" name="Shape 19"/>
          <p:cNvSpPr/>
          <p:nvPr/>
        </p:nvSpPr>
        <p:spPr>
          <a:xfrm>
            <a:off x="9052560" y="2011680"/>
            <a:ext cx="2514600" cy="2057400"/>
          </a:xfrm>
          <a:prstGeom prst="roundRect">
            <a:avLst>
              <a:gd name="adj" fmla="val 4444"/>
            </a:avLst>
          </a:prstGeom>
          <a:solidFill>
            <a:srgbClr val="F3F5F8"/>
          </a:solidFill>
          <a:ln w="12700">
            <a:solidFill>
              <a:srgbClr val="F3F5F8"/>
            </a:solidFill>
            <a:prstDash val="solid"/>
          </a:ln>
        </p:spPr>
      </p:sp>
      <p:sp>
        <p:nvSpPr>
          <p:cNvPr id="25" name="Shape 20"/>
          <p:cNvSpPr/>
          <p:nvPr/>
        </p:nvSpPr>
        <p:spPr>
          <a:xfrm>
            <a:off x="9281160" y="2194560"/>
            <a:ext cx="502920" cy="502920"/>
          </a:xfrm>
          <a:prstGeom prst="ellipse">
            <a:avLst/>
          </a:prstGeom>
          <a:solidFill>
            <a:srgbClr val="E08A1E"/>
          </a:solidFill>
          <a:ln w="12700">
            <a:solidFill>
              <a:srgbClr val="E08A1E"/>
            </a:solidFill>
            <a:prstDash val="solid"/>
          </a:ln>
        </p:spPr>
      </p:sp>
      <p:pic>
        <p:nvPicPr>
          <p:cNvPr id="26" name="Image 3" descr="preencoded.png">    </p:cNvPr>
          <p:cNvPicPr>
            <a:picLocks noChangeAspect="1"/>
          </p:cNvPicPr>
          <p:nvPr/>
        </p:nvPicPr>
        <p:blipFill>
          <a:blip r:embed="rId4"/>
          <a:stretch>
            <a:fillRect/>
          </a:stretch>
        </p:blipFill>
        <p:spPr>
          <a:xfrm>
            <a:off x="9411919" y="2325319"/>
            <a:ext cx="241402" cy="241402"/>
          </a:xfrm>
          <a:prstGeom prst="rect">
            <a:avLst/>
          </a:prstGeom>
        </p:spPr>
      </p:pic>
      <p:sp>
        <p:nvSpPr>
          <p:cNvPr id="27" name="Text 21"/>
          <p:cNvSpPr txBox="1"/>
          <p:nvPr/>
        </p:nvSpPr>
        <p:spPr>
          <a:xfrm>
            <a:off x="992124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Find</a:t>
            </a:r>
            <a:endParaRPr lang="en-US" sz="1600" dirty="0"/>
          </a:p>
        </p:txBody>
      </p:sp>
      <p:sp>
        <p:nvSpPr>
          <p:cNvPr id="28" name="Text 22"/>
          <p:cNvSpPr txBox="1"/>
          <p:nvPr/>
        </p:nvSpPr>
        <p:spPr>
          <a:xfrm>
            <a:off x="928116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Signature + keyword + meaning, merged by RRF, re-scored by track record. Abstains when unsure.</a:t>
            </a:r>
            <a:endParaRPr lang="en-US" sz="1300" dirty="0"/>
          </a:p>
        </p:txBody>
      </p:sp>
      <p:sp>
        <p:nvSpPr>
          <p:cNvPr id="29" name="Text 23"/>
          <p:cNvSpPr txBox="1"/>
          <p:nvPr/>
        </p:nvSpPr>
        <p:spPr>
          <a:xfrm>
            <a:off x="548640" y="4315968"/>
            <a:ext cx="7315200" cy="27432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How long a claim may be stated without re-checking</a:t>
            </a:r>
            <a:endParaRPr lang="en-US" sz="1350" dirty="0"/>
          </a:p>
        </p:txBody>
      </p:sp>
      <p:sp>
        <p:nvSpPr>
          <p:cNvPr id="30" name="Text 24"/>
          <p:cNvSpPr txBox="1"/>
          <p:nvPr/>
        </p:nvSpPr>
        <p:spPr>
          <a:xfrm>
            <a:off x="548640" y="4663440"/>
            <a:ext cx="1737360" cy="777240"/>
          </a:xfrm>
          <a:prstGeom prst="roundRect">
            <a:avLst>
              <a:gd name="adj" fmla="val 9412"/>
            </a:avLst>
          </a:prstGeom>
          <a:solidFill>
            <a:srgbClr val="0D5C55"/>
          </a:solidFill>
          <a:ln w="12700">
            <a:solidFill>
              <a:srgbClr val="0D5C55"/>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principle</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never expires</a:t>
            </a:r>
            <a:endParaRPr lang="en-US" sz="1250" dirty="0"/>
          </a:p>
        </p:txBody>
      </p:sp>
      <p:sp>
        <p:nvSpPr>
          <p:cNvPr id="31" name="Text 25"/>
          <p:cNvSpPr txBox="1"/>
          <p:nvPr/>
        </p:nvSpPr>
        <p:spPr>
          <a:xfrm>
            <a:off x="2404872" y="4663440"/>
            <a:ext cx="1737360" cy="777240"/>
          </a:xfrm>
          <a:prstGeom prst="roundRect">
            <a:avLst>
              <a:gd name="adj" fmla="val 9412"/>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procedure</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365 days</a:t>
            </a:r>
            <a:endParaRPr lang="en-US" sz="1250" dirty="0"/>
          </a:p>
        </p:txBody>
      </p:sp>
      <p:sp>
        <p:nvSpPr>
          <p:cNvPr id="32" name="Text 26"/>
          <p:cNvSpPr txBox="1"/>
          <p:nvPr/>
        </p:nvSpPr>
        <p:spPr>
          <a:xfrm>
            <a:off x="4261104" y="4663440"/>
            <a:ext cx="1737360" cy="777240"/>
          </a:xfrm>
          <a:prstGeom prst="roundRect">
            <a:avLst>
              <a:gd name="adj" fmla="val 9412"/>
            </a:avLst>
          </a:prstGeom>
          <a:solidFill>
            <a:srgbClr val="4E5A6B"/>
          </a:solidFill>
          <a:ln w="12700">
            <a:solidFill>
              <a:srgbClr val="4E5A6B"/>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versioned</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180 days</a:t>
            </a:r>
            <a:endParaRPr lang="en-US" sz="1250" dirty="0"/>
          </a:p>
        </p:txBody>
      </p:sp>
      <p:sp>
        <p:nvSpPr>
          <p:cNvPr id="33" name="Text 27"/>
          <p:cNvSpPr txBox="1"/>
          <p:nvPr/>
        </p:nvSpPr>
        <p:spPr>
          <a:xfrm>
            <a:off x="6117336" y="4663440"/>
            <a:ext cx="1737360" cy="777240"/>
          </a:xfrm>
          <a:prstGeom prst="roundRect">
            <a:avLst>
              <a:gd name="adj" fmla="val 9412"/>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config</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90 days</a:t>
            </a:r>
            <a:endParaRPr lang="en-US" sz="1250" dirty="0"/>
          </a:p>
        </p:txBody>
      </p:sp>
      <p:sp>
        <p:nvSpPr>
          <p:cNvPr id="34" name="Text 28"/>
          <p:cNvSpPr txBox="1"/>
          <p:nvPr/>
        </p:nvSpPr>
        <p:spPr>
          <a:xfrm>
            <a:off x="7973568" y="4663440"/>
            <a:ext cx="1737360" cy="777240"/>
          </a:xfrm>
          <a:prstGeom prst="roundRect">
            <a:avLst>
              <a:gd name="adj" fmla="val 9412"/>
            </a:avLst>
          </a:prstGeom>
          <a:solidFill>
            <a:srgbClr val="C4433A"/>
          </a:solidFill>
          <a:ln w="12700">
            <a:solidFill>
              <a:srgbClr val="C4433A"/>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time_sensitive</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30 days</a:t>
            </a:r>
            <a:endParaRPr lang="en-US" sz="1250" dirty="0"/>
          </a:p>
        </p:txBody>
      </p:sp>
      <p:sp>
        <p:nvSpPr>
          <p:cNvPr id="35" name="Text 29"/>
          <p:cNvSpPr txBox="1"/>
          <p:nvPr/>
        </p:nvSpPr>
        <p:spPr>
          <a:xfrm>
            <a:off x="9829800" y="4663440"/>
            <a:ext cx="1737360" cy="777240"/>
          </a:xfrm>
          <a:prstGeom prst="roundRect">
            <a:avLst>
              <a:gd name="adj" fmla="val 9412"/>
            </a:avLst>
          </a:prstGeom>
          <a:solidFill>
            <a:srgbClr val="3A4352"/>
          </a:solidFill>
          <a:ln w="12700">
            <a:solidFill>
              <a:srgbClr val="3A4352"/>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ephemeral</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never saved</a:t>
            </a:r>
            <a:endParaRPr lang="en-US" sz="1250" dirty="0"/>
          </a:p>
        </p:txBody>
      </p:sp>
      <p:sp>
        <p:nvSpPr>
          <p:cNvPr id="36" name="Text 30"/>
          <p:cNvSpPr txBox="1"/>
          <p:nvPr/>
        </p:nvSpPr>
        <p:spPr>
          <a:xfrm>
            <a:off x="548640" y="5623560"/>
            <a:ext cx="10789920" cy="548640"/>
          </a:xfrm>
          <a:prstGeom prst="rect">
            <a:avLst/>
          </a:prstGeom>
          <a:noFill/>
          <a:ln/>
        </p:spPr>
        <p:txBody>
          <a:bodyPr wrap="square" lIns="0" tIns="0" rIns="0" bIns="0" rtlCol="0" anchor="t"/>
          <a:lstStyle/>
          <a:p>
            <a:pPr algn="l" indent="0" marL="0">
              <a:buNone/>
            </a:pPr>
            <a:r>
              <a:rPr lang="en-US" sz="1200" i="1" dirty="0">
                <a:solidFill>
                  <a:srgbClr val="5B6472"/>
                </a:solidFill>
                <a:latin typeface="Calibri" pitchFamily="34" charset="0"/>
                <a:ea typeface="Calibri" pitchFamily="34" charset="-122"/>
                <a:cs typeface="Calibri" pitchFamily="34" charset="-120"/>
              </a:rPr>
              <a:t>Stale claims are labelled “check”, never hidden; the model must verify them or say they may have changed. Nothing is captured from a turn that read instruction-shaped text.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ISOLATION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Nothing leaves the organisation it was captured in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One read path, checked on every call, and one answer for everything you may not see.</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36</a:t>
            </a:r>
            <a:endParaRPr lang="en-US" sz="1000" dirty="0"/>
          </a:p>
        </p:txBody>
      </p:sp>
      <p:sp>
        <p:nvSpPr>
          <p:cNvPr id="6" name="Text 4"/>
          <p:cNvSpPr txBox="1"/>
          <p:nvPr/>
        </p:nvSpPr>
        <p:spPr>
          <a:xfrm>
            <a:off x="548640" y="3429000"/>
            <a:ext cx="1828800" cy="1005840"/>
          </a:xfrm>
          <a:prstGeom prst="roundRect">
            <a:avLst>
              <a:gd name="adj" fmla="val 7273"/>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Chat</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pinned to Org A at creation</a:t>
            </a:r>
            <a:endParaRPr lang="en-US" sz="1400" dirty="0"/>
          </a:p>
        </p:txBody>
      </p:sp>
      <p:sp>
        <p:nvSpPr>
          <p:cNvPr id="7" name="Shape 5"/>
          <p:cNvSpPr/>
          <p:nvPr/>
        </p:nvSpPr>
        <p:spPr>
          <a:xfrm>
            <a:off x="2377440" y="3931920"/>
            <a:ext cx="548640" cy="0"/>
          </a:xfrm>
          <a:prstGeom prst="line">
            <a:avLst/>
          </a:prstGeom>
          <a:noFill/>
          <a:ln w="22225">
            <a:solidFill>
              <a:srgbClr val="4E5A6B"/>
            </a:solidFill>
            <a:prstDash val="solid"/>
            <a:tailEnd type="triangle"/>
          </a:ln>
        </p:spPr>
      </p:sp>
      <p:sp>
        <p:nvSpPr>
          <p:cNvPr id="8" name="Text 6"/>
          <p:cNvSpPr txBox="1"/>
          <p:nvPr/>
        </p:nvSpPr>
        <p:spPr>
          <a:xfrm>
            <a:off x="2926080" y="3200400"/>
            <a:ext cx="1920240" cy="1463040"/>
          </a:xfrm>
          <a:prstGeom prst="roundRect">
            <a:avLst>
              <a:gd name="adj" fmla="val 5000"/>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visible()</a:t>
            </a:r>
            <a:endParaRPr lang="en-US" sz="15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solutions/access.py</a:t>
            </a:r>
            <a:endParaRPr lang="en-US" sz="15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the only read door</a:t>
            </a:r>
            <a:endParaRPr lang="en-US" sz="15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membership checked live</a:t>
            </a:r>
            <a:endParaRPr lang="en-US" sz="1500" dirty="0"/>
          </a:p>
        </p:txBody>
      </p:sp>
      <p:sp>
        <p:nvSpPr>
          <p:cNvPr id="9" name="Text 7"/>
          <p:cNvSpPr txBox="1"/>
          <p:nvPr/>
        </p:nvSpPr>
        <p:spPr>
          <a:xfrm>
            <a:off x="5440680" y="2057400"/>
            <a:ext cx="1783080" cy="1417320"/>
          </a:xfrm>
          <a:prstGeom prst="roundRect">
            <a:avLst>
              <a:gd name="adj" fmla="val 5161"/>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Org A</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shared records</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 your private ones captured here</a:t>
            </a:r>
            <a:endParaRPr lang="en-US" sz="1400" dirty="0"/>
          </a:p>
        </p:txBody>
      </p:sp>
      <p:sp>
        <p:nvSpPr>
          <p:cNvPr id="10" name="Text 8"/>
          <p:cNvSpPr txBox="1"/>
          <p:nvPr/>
        </p:nvSpPr>
        <p:spPr>
          <a:xfrm>
            <a:off x="5440680" y="4434840"/>
            <a:ext cx="1783080" cy="1417320"/>
          </a:xfrm>
          <a:prstGeom prst="roundRect">
            <a:avLst>
              <a:gd name="adj" fmla="val 5161"/>
            </a:avLst>
          </a:prstGeom>
          <a:solidFill>
            <a:srgbClr val="F3F5F8"/>
          </a:solidFill>
          <a:ln w="12700">
            <a:solidFill>
              <a:srgbClr val="D3D9E1"/>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Org B</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another organisation's records</a:t>
            </a:r>
            <a:endParaRPr lang="en-US" sz="1400" dirty="0"/>
          </a:p>
        </p:txBody>
      </p:sp>
      <p:sp>
        <p:nvSpPr>
          <p:cNvPr id="11" name="Shape 9"/>
          <p:cNvSpPr/>
          <p:nvPr/>
        </p:nvSpPr>
        <p:spPr>
          <a:xfrm flipV="1">
            <a:off x="4846320" y="2834640"/>
            <a:ext cx="594360" cy="731520"/>
          </a:xfrm>
          <a:prstGeom prst="line">
            <a:avLst/>
          </a:prstGeom>
          <a:noFill/>
          <a:ln w="22225">
            <a:solidFill>
              <a:srgbClr val="15877D"/>
            </a:solidFill>
            <a:prstDash val="solid"/>
            <a:tailEnd type="triangle"/>
          </a:ln>
        </p:spPr>
      </p:sp>
      <p:sp>
        <p:nvSpPr>
          <p:cNvPr id="12" name="Shape 10"/>
          <p:cNvSpPr/>
          <p:nvPr/>
        </p:nvSpPr>
        <p:spPr>
          <a:xfrm>
            <a:off x="4846320" y="4297680"/>
            <a:ext cx="594360" cy="822960"/>
          </a:xfrm>
          <a:prstGeom prst="line">
            <a:avLst/>
          </a:prstGeom>
          <a:noFill/>
          <a:ln w="22225">
            <a:solidFill>
              <a:srgbClr val="C4433A"/>
            </a:solidFill>
            <a:prstDash val="dash"/>
            <a:tailEnd type="triangle"/>
          </a:ln>
        </p:spPr>
      </p:sp>
      <p:sp>
        <p:nvSpPr>
          <p:cNvPr id="13" name="Text 11"/>
          <p:cNvSpPr txBox="1"/>
          <p:nvPr/>
        </p:nvSpPr>
        <p:spPr>
          <a:xfrm>
            <a:off x="4709160" y="4937760"/>
            <a:ext cx="548640" cy="274320"/>
          </a:xfrm>
          <a:prstGeom prst="rect">
            <a:avLst/>
          </a:prstGeom>
          <a:noFill/>
          <a:ln/>
        </p:spPr>
        <p:txBody>
          <a:bodyPr wrap="square" lIns="0" tIns="0" rIns="0" bIns="0" rtlCol="0" anchor="t"/>
          <a:lstStyle/>
          <a:p>
            <a:pPr algn="l" indent="0" marL="0">
              <a:buNone/>
            </a:pPr>
            <a:r>
              <a:rPr lang="en-US" sz="1300" b="1" dirty="0">
                <a:solidFill>
                  <a:srgbClr val="C4433A"/>
                </a:solidFill>
                <a:latin typeface="Arial" pitchFamily="34" charset="0"/>
                <a:ea typeface="Arial" pitchFamily="34" charset="-122"/>
                <a:cs typeface="Arial" pitchFamily="34" charset="-120"/>
              </a:rPr>
              <a:t>404</a:t>
            </a:r>
            <a:endParaRPr lang="en-US" sz="1300" dirty="0"/>
          </a:p>
        </p:txBody>
      </p:sp>
      <p:sp>
        <p:nvSpPr>
          <p:cNvPr id="14" name="Text 12"/>
          <p:cNvSpPr txBox="1"/>
          <p:nvPr/>
        </p:nvSpPr>
        <p:spPr>
          <a:xfrm>
            <a:off x="7726680" y="2103120"/>
            <a:ext cx="393192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 chat keeps its org for ever</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Someone in two orgs cannot carry one org's fix into the other.</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Personal chats stay personal</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They see only your org-less private records.</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Every refusal is the same 404</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Foreign and unknown ids look alike, so there is no ownership oracle.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A test guards the door</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Any Solution.objects read outside access.py fails the suite.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PROOF · RUN RECORDS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run is recorded as turns, not inferred steps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model reasons once per turn and issues its calls together — so the turn is the row.</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37</a:t>
            </a:r>
            <a:endParaRPr lang="en-US" sz="1000" dirty="0"/>
          </a:p>
        </p:txBody>
      </p:sp>
      <p:sp>
        <p:nvSpPr>
          <p:cNvPr id="6" name="Text 4"/>
          <p:cNvSpPr txBox="1"/>
          <p:nvPr/>
        </p:nvSpPr>
        <p:spPr>
          <a:xfrm>
            <a:off x="548640" y="2057400"/>
            <a:ext cx="3017520" cy="731520"/>
          </a:xfrm>
          <a:prstGeom prst="roundRect">
            <a:avLst>
              <a:gd name="adj" fmla="val 10000"/>
            </a:avLst>
          </a:prstGeom>
          <a:solidFill>
            <a:srgbClr val="E08A1E"/>
          </a:solidFill>
          <a:ln w="12700">
            <a:solidFill>
              <a:srgbClr val="E08A1E"/>
            </a:solidFill>
            <a:prstDash val="solid"/>
          </a:ln>
        </p:spPr>
        <p:txBody>
          <a:bodyPr wrap="square" lIns="38100" tIns="152400" rIns="152400" bIns="38100" rtlCol="0" anchor="ctr"/>
          <a:lstStyle/>
          <a:p>
            <a:pPr algn="l" indent="0" marL="0">
              <a:spcAft>
                <a:spcPts val="200"/>
              </a:spcAft>
              <a:buNone/>
            </a:pPr>
            <a:r>
              <a:rPr lang="en-US" sz="1400" b="1" dirty="0">
                <a:solidFill>
                  <a:srgbClr val="FFFFFF"/>
                </a:solidFill>
                <a:latin typeface="Arial" pitchFamily="34" charset="0"/>
                <a:ea typeface="Arial" pitchFamily="34" charset="-122"/>
                <a:cs typeface="Arial" pitchFamily="34" charset="-120"/>
              </a:rPr>
              <a:t>ExecutionLog</a:t>
            </a:r>
            <a:endParaRPr lang="en-US" sz="1400" dirty="0"/>
          </a:p>
          <a:p>
            <a:pPr algn="l" indent="0" marL="0">
              <a:spcAft>
                <a:spcPts val="200"/>
              </a:spcAft>
              <a:buNone/>
            </a:pPr>
            <a:r>
              <a:rPr lang="en-US" sz="1100" dirty="0">
                <a:solidFill>
                  <a:srgbClr val="FFF3E3"/>
                </a:solidFill>
                <a:latin typeface="Calibri" pitchFamily="34" charset="0"/>
                <a:ea typeface="Calibri" pitchFamily="34" charset="-122"/>
                <a:cs typeface="Calibri" pitchFamily="34" charset="-120"/>
              </a:rPr>
              <a:t>one run</a:t>
            </a:r>
            <a:endParaRPr lang="en-US" sz="1400" dirty="0"/>
          </a:p>
        </p:txBody>
      </p:sp>
      <p:sp>
        <p:nvSpPr>
          <p:cNvPr id="7" name="Text 5"/>
          <p:cNvSpPr txBox="1"/>
          <p:nvPr/>
        </p:nvSpPr>
        <p:spPr>
          <a:xfrm>
            <a:off x="4206240" y="2057400"/>
            <a:ext cx="2651760" cy="731520"/>
          </a:xfrm>
          <a:prstGeom prst="roundRect">
            <a:avLst>
              <a:gd name="adj" fmla="val 10000"/>
            </a:avLst>
          </a:prstGeom>
          <a:solidFill>
            <a:srgbClr val="E9EDF2"/>
          </a:solidFill>
          <a:ln w="12700">
            <a:solidFill>
              <a:srgbClr val="E9EDF2"/>
            </a:solidFill>
            <a:prstDash val="solid"/>
          </a:ln>
        </p:spPr>
        <p:txBody>
          <a:bodyPr wrap="square" lIns="38100" tIns="152400" rIns="1524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SubAgentRevision</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config it ran under</a:t>
            </a:r>
            <a:endParaRPr lang="en-US" sz="1300" dirty="0"/>
          </a:p>
        </p:txBody>
      </p:sp>
      <p:sp>
        <p:nvSpPr>
          <p:cNvPr id="8" name="Shape 6"/>
          <p:cNvSpPr/>
          <p:nvPr/>
        </p:nvSpPr>
        <p:spPr>
          <a:xfrm>
            <a:off x="3566160" y="2423160"/>
            <a:ext cx="640080" cy="0"/>
          </a:xfrm>
          <a:prstGeom prst="line">
            <a:avLst/>
          </a:prstGeom>
          <a:noFill/>
          <a:ln w="22225">
            <a:solidFill>
              <a:srgbClr val="8A93A1"/>
            </a:solidFill>
            <a:prstDash val="dash"/>
            <a:tailEnd type="triangle"/>
          </a:ln>
        </p:spPr>
      </p:sp>
      <p:sp>
        <p:nvSpPr>
          <p:cNvPr id="9" name="Shape 7"/>
          <p:cNvSpPr/>
          <p:nvPr/>
        </p:nvSpPr>
        <p:spPr>
          <a:xfrm>
            <a:off x="868680" y="2788920"/>
            <a:ext cx="0" cy="2651760"/>
          </a:xfrm>
          <a:prstGeom prst="line">
            <a:avLst/>
          </a:prstGeom>
          <a:noFill/>
          <a:ln w="19050">
            <a:solidFill>
              <a:srgbClr val="D3D9E1"/>
            </a:solidFill>
            <a:prstDash val="solid"/>
          </a:ln>
        </p:spPr>
      </p:sp>
      <p:sp>
        <p:nvSpPr>
          <p:cNvPr id="10" name="Shape 8"/>
          <p:cNvSpPr/>
          <p:nvPr/>
        </p:nvSpPr>
        <p:spPr>
          <a:xfrm>
            <a:off x="868680" y="3310128"/>
            <a:ext cx="274320" cy="0"/>
          </a:xfrm>
          <a:prstGeom prst="line">
            <a:avLst/>
          </a:prstGeom>
          <a:noFill/>
          <a:ln w="19050">
            <a:solidFill>
              <a:srgbClr val="D3D9E1"/>
            </a:solidFill>
            <a:prstDash val="solid"/>
          </a:ln>
        </p:spPr>
      </p:sp>
      <p:sp>
        <p:nvSpPr>
          <p:cNvPr id="11" name="Text 9"/>
          <p:cNvSpPr txBox="1"/>
          <p:nvPr/>
        </p:nvSpPr>
        <p:spPr>
          <a:xfrm>
            <a:off x="1143000" y="3017520"/>
            <a:ext cx="2743200" cy="585216"/>
          </a:xfrm>
          <a:prstGeom prst="roundRect">
            <a:avLst>
              <a:gd name="adj" fmla="val 12500"/>
            </a:avLst>
          </a:prstGeom>
          <a:solidFill>
            <a:srgbClr val="E1F2F0"/>
          </a:solidFill>
          <a:ln w="12700">
            <a:solidFill>
              <a:srgbClr val="15877D"/>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AgentTurn 1</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model call + its full reasoning</a:t>
            </a:r>
            <a:endParaRPr lang="en-US" sz="1250" dirty="0"/>
          </a:p>
        </p:txBody>
      </p:sp>
      <p:sp>
        <p:nvSpPr>
          <p:cNvPr id="12" name="Shape 10"/>
          <p:cNvSpPr/>
          <p:nvPr/>
        </p:nvSpPr>
        <p:spPr>
          <a:xfrm>
            <a:off x="868680" y="4133088"/>
            <a:ext cx="868680" cy="0"/>
          </a:xfrm>
          <a:prstGeom prst="line">
            <a:avLst/>
          </a:prstGeom>
          <a:noFill/>
          <a:ln w="19050">
            <a:solidFill>
              <a:srgbClr val="D3D9E1"/>
            </a:solidFill>
            <a:prstDash val="solid"/>
          </a:ln>
        </p:spPr>
      </p:sp>
      <p:sp>
        <p:nvSpPr>
          <p:cNvPr id="13" name="Text 11"/>
          <p:cNvSpPr txBox="1"/>
          <p:nvPr/>
        </p:nvSpPr>
        <p:spPr>
          <a:xfrm>
            <a:off x="1737360" y="3840480"/>
            <a:ext cx="2560320" cy="585216"/>
          </a:xfrm>
          <a:prstGeom prst="roundRect">
            <a:avLst>
              <a:gd name="adj" fmla="val 12500"/>
            </a:avLst>
          </a:prstGeom>
          <a:solidFill>
            <a:srgbClr val="F3F5F8"/>
          </a:solidFill>
          <a:ln w="12700">
            <a:solidFill>
              <a:srgbClr val="D3D9E1"/>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AgentStep</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web_search</a:t>
            </a:r>
            <a:endParaRPr lang="en-US" sz="1250" dirty="0"/>
          </a:p>
        </p:txBody>
      </p:sp>
      <p:sp>
        <p:nvSpPr>
          <p:cNvPr id="14" name="Shape 12"/>
          <p:cNvSpPr/>
          <p:nvPr/>
        </p:nvSpPr>
        <p:spPr>
          <a:xfrm>
            <a:off x="868680" y="4773168"/>
            <a:ext cx="868680" cy="0"/>
          </a:xfrm>
          <a:prstGeom prst="line">
            <a:avLst/>
          </a:prstGeom>
          <a:noFill/>
          <a:ln w="19050">
            <a:solidFill>
              <a:srgbClr val="D3D9E1"/>
            </a:solidFill>
            <a:prstDash val="solid"/>
          </a:ln>
        </p:spPr>
      </p:sp>
      <p:sp>
        <p:nvSpPr>
          <p:cNvPr id="15" name="Text 13"/>
          <p:cNvSpPr txBox="1"/>
          <p:nvPr/>
        </p:nvSpPr>
        <p:spPr>
          <a:xfrm>
            <a:off x="1737360" y="4480560"/>
            <a:ext cx="2560320" cy="585216"/>
          </a:xfrm>
          <a:prstGeom prst="roundRect">
            <a:avLst>
              <a:gd name="adj" fmla="val 12500"/>
            </a:avLst>
          </a:prstGeom>
          <a:solidFill>
            <a:srgbClr val="F3F5F8"/>
          </a:solidFill>
          <a:ln w="12700">
            <a:solidFill>
              <a:srgbClr val="D3D9E1"/>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AgentStep</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invoke_subagent</a:t>
            </a:r>
            <a:endParaRPr lang="en-US" sz="1250" dirty="0"/>
          </a:p>
        </p:txBody>
      </p:sp>
      <p:sp>
        <p:nvSpPr>
          <p:cNvPr id="16" name="Shape 14"/>
          <p:cNvSpPr/>
          <p:nvPr/>
        </p:nvSpPr>
        <p:spPr>
          <a:xfrm>
            <a:off x="868680" y="5413248"/>
            <a:ext cx="274320" cy="0"/>
          </a:xfrm>
          <a:prstGeom prst="line">
            <a:avLst/>
          </a:prstGeom>
          <a:noFill/>
          <a:ln w="19050">
            <a:solidFill>
              <a:srgbClr val="D3D9E1"/>
            </a:solidFill>
            <a:prstDash val="solid"/>
          </a:ln>
        </p:spPr>
      </p:sp>
      <p:sp>
        <p:nvSpPr>
          <p:cNvPr id="17" name="Text 15"/>
          <p:cNvSpPr txBox="1"/>
          <p:nvPr/>
        </p:nvSpPr>
        <p:spPr>
          <a:xfrm>
            <a:off x="1143000" y="5120640"/>
            <a:ext cx="2743200" cy="585216"/>
          </a:xfrm>
          <a:prstGeom prst="roundRect">
            <a:avLst>
              <a:gd name="adj" fmla="val 12500"/>
            </a:avLst>
          </a:prstGeom>
          <a:solidFill>
            <a:srgbClr val="E1F2F0"/>
          </a:solidFill>
          <a:ln w="12700">
            <a:solidFill>
              <a:srgbClr val="15877D"/>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AgentTurn 2</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a:t>
            </a:r>
            <a:endParaRPr lang="en-US" sz="1250" dirty="0"/>
          </a:p>
        </p:txBody>
      </p:sp>
      <p:sp>
        <p:nvSpPr>
          <p:cNvPr id="18" name="Text 16"/>
          <p:cNvSpPr txBox="1"/>
          <p:nvPr/>
        </p:nvSpPr>
        <p:spPr>
          <a:xfrm>
            <a:off x="5074920" y="4160520"/>
            <a:ext cx="1783080" cy="914400"/>
          </a:xfrm>
          <a:prstGeom prst="roundRect">
            <a:avLst>
              <a:gd name="adj" fmla="val 8000"/>
            </a:avLst>
          </a:prstGeom>
          <a:solidFill>
            <a:srgbClr val="FDF0D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Worker run</a:t>
            </a:r>
            <a:endParaRPr lang="en-US" sz="1300" dirty="0"/>
          </a:p>
          <a:p>
            <a:pPr algn="ctr" indent="0" marL="0">
              <a:spcAft>
                <a:spcPts val="200"/>
              </a:spcAft>
              <a:buNone/>
            </a:pPr>
            <a:r>
              <a:rPr lang="en-US" sz="1050" dirty="0">
                <a:solidFill>
                  <a:srgbClr val="5B6472"/>
                </a:solidFill>
                <a:latin typeface="Calibri" pitchFamily="34" charset="0"/>
                <a:ea typeface="Calibri" pitchFamily="34" charset="-122"/>
                <a:cs typeface="Calibri" pitchFamily="34" charset="-120"/>
              </a:rPr>
              <a:t>its own ExecutionLog</a:t>
            </a:r>
            <a:endParaRPr lang="en-US" sz="1300" dirty="0"/>
          </a:p>
        </p:txBody>
      </p:sp>
      <p:sp>
        <p:nvSpPr>
          <p:cNvPr id="19" name="Shape 17"/>
          <p:cNvSpPr/>
          <p:nvPr/>
        </p:nvSpPr>
        <p:spPr>
          <a:xfrm flipH="1">
            <a:off x="4297680" y="4663440"/>
            <a:ext cx="777240" cy="109728"/>
          </a:xfrm>
          <a:prstGeom prst="line">
            <a:avLst/>
          </a:prstGeom>
          <a:noFill/>
          <a:ln w="22225">
            <a:solidFill>
              <a:srgbClr val="E08A1E"/>
            </a:solidFill>
            <a:prstDash val="solid"/>
            <a:tailEnd type="triangle"/>
          </a:ln>
        </p:spPr>
      </p:sp>
      <p:sp>
        <p:nvSpPr>
          <p:cNvPr id="20" name="Text 18"/>
          <p:cNvSpPr txBox="1"/>
          <p:nvPr/>
        </p:nvSpPr>
        <p:spPr>
          <a:xfrm>
            <a:off x="4160520" y="5120640"/>
            <a:ext cx="1188720" cy="237744"/>
          </a:xfrm>
          <a:prstGeom prst="rect">
            <a:avLst/>
          </a:prstGeom>
          <a:noFill/>
          <a:ln/>
        </p:spPr>
        <p:txBody>
          <a:bodyPr wrap="square" lIns="0" tIns="0" rIns="0" bIns="0" rtlCol="0" anchor="ctr"/>
          <a:lstStyle/>
          <a:p>
            <a:pPr algn="ctr" indent="0" marL="0">
              <a:buNone/>
            </a:pPr>
            <a:r>
              <a:rPr lang="en-US" sz="1050" i="1" dirty="0">
                <a:solidFill>
                  <a:srgbClr val="9A5A0C"/>
                </a:solidFill>
                <a:latin typeface="Calibri" pitchFamily="34" charset="0"/>
                <a:ea typeface="Calibri" pitchFamily="34" charset="-122"/>
                <a:cs typeface="Calibri" pitchFamily="34" charset="-120"/>
              </a:rPr>
              <a:t>parent_step</a:t>
            </a:r>
            <a:endParaRPr lang="en-US" sz="1050" dirty="0"/>
          </a:p>
        </p:txBody>
      </p:sp>
      <p:sp>
        <p:nvSpPr>
          <p:cNvPr id="21" name="Text 19"/>
          <p:cNvSpPr txBox="1"/>
          <p:nvPr/>
        </p:nvSpPr>
        <p:spPr>
          <a:xfrm>
            <a:off x="7589520" y="2103120"/>
            <a:ext cx="406908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Reasoning per turn</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Full text, not 150 characters copied onto every call — turn 7's thoughts stay out of turn 1.</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Delegation points at a step</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One link answers who asked, and what it was thinking when it did.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Pinned at run open</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Editing the agent mid-run does not rewrite what past runs claim they used.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PROOF · EVALUATION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Agents are tested in worlds the judge built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fake situation per suite — files, mailbox, calendar, a frozen web — so an eval never touches real data.</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38</a:t>
            </a:r>
            <a:endParaRPr lang="en-US" sz="1000" dirty="0"/>
          </a:p>
        </p:txBody>
      </p:sp>
      <p:sp>
        <p:nvSpPr>
          <p:cNvPr id="6" name="Text 4"/>
          <p:cNvSpPr txBox="1"/>
          <p:nvPr/>
        </p:nvSpPr>
        <p:spPr>
          <a:xfrm>
            <a:off x="548640"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Build the world</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facts → fixtures → cases, by the judge model</a:t>
            </a:r>
            <a:endParaRPr lang="en-US" sz="1500" dirty="0"/>
          </a:p>
        </p:txBody>
      </p:sp>
      <p:sp>
        <p:nvSpPr>
          <p:cNvPr id="7" name="Shape 5"/>
          <p:cNvSpPr/>
          <p:nvPr/>
        </p:nvSpPr>
        <p:spPr>
          <a:xfrm>
            <a:off x="2560320" y="2852928"/>
            <a:ext cx="246888" cy="0"/>
          </a:xfrm>
          <a:prstGeom prst="line">
            <a:avLst/>
          </a:prstGeom>
          <a:noFill/>
          <a:ln w="19050">
            <a:solidFill>
              <a:srgbClr val="4E5A6B"/>
            </a:solidFill>
            <a:prstDash val="solid"/>
            <a:tailEnd type="triangle"/>
          </a:ln>
        </p:spPr>
      </p:sp>
      <p:sp>
        <p:nvSpPr>
          <p:cNvPr id="8" name="Text 6"/>
          <p:cNvSpPr txBox="1"/>
          <p:nvPr/>
        </p:nvSpPr>
        <p:spPr>
          <a:xfrm>
            <a:off x="2807208"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Prove it</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blind re-solve; checks must pass the ideal outcome and fail the untouched world</a:t>
            </a:r>
            <a:endParaRPr lang="en-US" sz="1500" dirty="0"/>
          </a:p>
        </p:txBody>
      </p:sp>
      <p:sp>
        <p:nvSpPr>
          <p:cNvPr id="9" name="Shape 7"/>
          <p:cNvSpPr/>
          <p:nvPr/>
        </p:nvSpPr>
        <p:spPr>
          <a:xfrm>
            <a:off x="4818888" y="2852928"/>
            <a:ext cx="246888" cy="0"/>
          </a:xfrm>
          <a:prstGeom prst="line">
            <a:avLst/>
          </a:prstGeom>
          <a:noFill/>
          <a:ln w="19050">
            <a:solidFill>
              <a:srgbClr val="4E5A6B"/>
            </a:solidFill>
            <a:prstDash val="solid"/>
            <a:tailEnd type="triangle"/>
          </a:ln>
        </p:spPr>
      </p:sp>
      <p:sp>
        <p:nvSpPr>
          <p:cNvPr id="10" name="Text 8"/>
          <p:cNvSpPr txBox="1"/>
          <p:nvPr/>
        </p:nvSpPr>
        <p:spPr>
          <a:xfrm>
            <a:off x="5065776"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Sweep</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the real run_agent door, caller = eval, simulated tools</a:t>
            </a:r>
            <a:endParaRPr lang="en-US" sz="1500" dirty="0"/>
          </a:p>
        </p:txBody>
      </p:sp>
      <p:sp>
        <p:nvSpPr>
          <p:cNvPr id="11" name="Shape 9"/>
          <p:cNvSpPr/>
          <p:nvPr/>
        </p:nvSpPr>
        <p:spPr>
          <a:xfrm>
            <a:off x="7077456" y="2852928"/>
            <a:ext cx="246888" cy="0"/>
          </a:xfrm>
          <a:prstGeom prst="line">
            <a:avLst/>
          </a:prstGeom>
          <a:noFill/>
          <a:ln w="19050">
            <a:solidFill>
              <a:srgbClr val="4E5A6B"/>
            </a:solidFill>
            <a:prstDash val="solid"/>
            <a:tailEnd type="triangle"/>
          </a:ln>
        </p:spPr>
      </p:sp>
      <p:sp>
        <p:nvSpPr>
          <p:cNvPr id="12" name="Text 10"/>
          <p:cNvSpPr txBox="1"/>
          <p:nvPr/>
        </p:nvSpPr>
        <p:spPr>
          <a:xfrm>
            <a:off x="7324344"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Grade</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graders + human review; agreement is the metric</a:t>
            </a:r>
            <a:endParaRPr lang="en-US" sz="1500" dirty="0"/>
          </a:p>
        </p:txBody>
      </p:sp>
      <p:sp>
        <p:nvSpPr>
          <p:cNvPr id="13" name="Shape 11"/>
          <p:cNvSpPr/>
          <p:nvPr/>
        </p:nvSpPr>
        <p:spPr>
          <a:xfrm>
            <a:off x="9336024" y="2852928"/>
            <a:ext cx="246888" cy="0"/>
          </a:xfrm>
          <a:prstGeom prst="line">
            <a:avLst/>
          </a:prstGeom>
          <a:noFill/>
          <a:ln w="19050">
            <a:solidFill>
              <a:srgbClr val="4E5A6B"/>
            </a:solidFill>
            <a:prstDash val="solid"/>
            <a:tailEnd type="triangle"/>
          </a:ln>
        </p:spPr>
      </p:sp>
      <p:sp>
        <p:nvSpPr>
          <p:cNvPr id="14" name="Text 12"/>
          <p:cNvSpPr txBox="1"/>
          <p:nvPr/>
        </p:nvSpPr>
        <p:spPr>
          <a:xfrm>
            <a:off x="9582912" y="2057400"/>
            <a:ext cx="2011680" cy="1600200"/>
          </a:xfrm>
          <a:prstGeom prst="roundRect">
            <a:avLst>
              <a:gd name="adj" fmla="val 4571"/>
            </a:avLst>
          </a:prstGeom>
          <a:solidFill>
            <a:srgbClr val="E08A1E"/>
          </a:solidFill>
          <a:ln w="12700">
            <a:solidFill>
              <a:srgbClr val="E08A1E"/>
            </a:solidFill>
            <a:prstDash val="solid"/>
          </a:ln>
        </p:spPr>
        <p:txBody>
          <a:bodyPr wrap="square" lIns="127000" tIns="127000" rIns="127000" bIns="76200" rtlCol="0" anchor="t"/>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Gate</a:t>
            </a:r>
            <a:endParaRPr lang="en-US" sz="1500" dirty="0"/>
          </a:p>
          <a:p>
            <a:pPr algn="ctr" indent="0" marL="0">
              <a:spcAft>
                <a:spcPts val="200"/>
              </a:spcAft>
              <a:buNone/>
            </a:pPr>
            <a:r>
              <a:rPr lang="en-US" sz="1250" dirty="0">
                <a:solidFill>
                  <a:srgbClr val="FFF3E3"/>
                </a:solidFill>
                <a:latin typeface="Calibri" pitchFamily="34" charset="0"/>
                <a:ea typeface="Calibri" pitchFamily="34" charset="-122"/>
                <a:cs typeface="Calibri" pitchFamily="34" charset="-120"/>
              </a:rPr>
              <a:t>smoke tier must pass before a deploy</a:t>
            </a:r>
            <a:endParaRPr lang="en-US" sz="1500" dirty="0"/>
          </a:p>
        </p:txBody>
      </p:sp>
      <p:sp>
        <p:nvSpPr>
          <p:cNvPr id="15" name="Shape 13"/>
          <p:cNvSpPr/>
          <p:nvPr/>
        </p:nvSpPr>
        <p:spPr>
          <a:xfrm>
            <a:off x="548640" y="4114800"/>
            <a:ext cx="3575304" cy="2011680"/>
          </a:xfrm>
          <a:prstGeom prst="roundRect">
            <a:avLst>
              <a:gd name="adj" fmla="val 4545"/>
            </a:avLst>
          </a:prstGeom>
          <a:solidFill>
            <a:srgbClr val="F3F5F8"/>
          </a:solidFill>
          <a:ln w="12700">
            <a:solidFill>
              <a:srgbClr val="F3F5F8"/>
            </a:solidFill>
            <a:prstDash val="solid"/>
          </a:ln>
        </p:spPr>
      </p:sp>
      <p:sp>
        <p:nvSpPr>
          <p:cNvPr id="16" name="Shape 14"/>
          <p:cNvSpPr/>
          <p:nvPr/>
        </p:nvSpPr>
        <p:spPr>
          <a:xfrm>
            <a:off x="804672" y="4315968"/>
            <a:ext cx="512064" cy="512064"/>
          </a:xfrm>
          <a:prstGeom prst="ellipse">
            <a:avLst/>
          </a:prstGeom>
          <a:solidFill>
            <a:srgbClr val="C4433A"/>
          </a:solidFill>
          <a:ln w="12700">
            <a:solidFill>
              <a:srgbClr val="C4433A"/>
            </a:solidFill>
            <a:prstDash val="solid"/>
          </a:ln>
        </p:spPr>
      </p:sp>
      <p:pic>
        <p:nvPicPr>
          <p:cNvPr id="17" name="Image 0" descr="preencoded.png">    </p:cNvPr>
          <p:cNvPicPr>
            <a:picLocks noChangeAspect="1"/>
          </p:cNvPicPr>
          <p:nvPr/>
        </p:nvPicPr>
        <p:blipFill>
          <a:blip r:embed="rId1"/>
          <a:stretch>
            <a:fillRect/>
          </a:stretch>
        </p:blipFill>
        <p:spPr>
          <a:xfrm>
            <a:off x="937809" y="4449105"/>
            <a:ext cx="245791" cy="245791"/>
          </a:xfrm>
          <a:prstGeom prst="rect">
            <a:avLst/>
          </a:prstGeom>
        </p:spPr>
      </p:pic>
      <p:sp>
        <p:nvSpPr>
          <p:cNvPr id="18" name="Text 15"/>
          <p:cNvSpPr txBox="1"/>
          <p:nvPr/>
        </p:nvSpPr>
        <p:spPr>
          <a:xfrm>
            <a:off x="1463040" y="4389120"/>
            <a:ext cx="2560320" cy="320040"/>
          </a:xfrm>
          <a:prstGeom prst="rect">
            <a:avLst/>
          </a:prstGeom>
          <a:noFill/>
          <a:ln/>
        </p:spPr>
        <p:txBody>
          <a:bodyPr wrap="square" lIns="0" tIns="0" rIns="0" bIns="0" rtlCol="0" anchor="t"/>
          <a:lstStyle/>
          <a:p>
            <a:pPr algn="l" indent="0" marL="0">
              <a:buNone/>
            </a:pPr>
            <a:r>
              <a:rPr lang="en-US" sz="1450" b="1" dirty="0">
                <a:solidFill>
                  <a:srgbClr val="1C212B"/>
                </a:solidFill>
                <a:latin typeface="Arial" pitchFamily="34" charset="0"/>
                <a:ea typeface="Arial" pitchFamily="34" charset="-122"/>
                <a:cs typeface="Arial" pitchFamily="34" charset="-120"/>
              </a:rPr>
              <a:t>Fail closed</a:t>
            </a:r>
            <a:endParaRPr lang="en-US" sz="1450" dirty="0"/>
          </a:p>
        </p:txBody>
      </p:sp>
      <p:sp>
        <p:nvSpPr>
          <p:cNvPr id="19" name="Text 16"/>
          <p:cNvSpPr txBox="1"/>
          <p:nvPr/>
        </p:nvSpPr>
        <p:spPr>
          <a:xfrm>
            <a:off x="804672" y="4983480"/>
            <a:ext cx="310896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A tool with no simulator is withheld and refused, so a test cannot send real mail.</a:t>
            </a:r>
            <a:endParaRPr lang="en-US" sz="1400" dirty="0"/>
          </a:p>
        </p:txBody>
      </p:sp>
      <p:sp>
        <p:nvSpPr>
          <p:cNvPr id="20" name="Shape 17"/>
          <p:cNvSpPr/>
          <p:nvPr/>
        </p:nvSpPr>
        <p:spPr>
          <a:xfrm>
            <a:off x="4306824" y="4114800"/>
            <a:ext cx="3575304" cy="2011680"/>
          </a:xfrm>
          <a:prstGeom prst="roundRect">
            <a:avLst>
              <a:gd name="adj" fmla="val 4545"/>
            </a:avLst>
          </a:prstGeom>
          <a:solidFill>
            <a:srgbClr val="F3F5F8"/>
          </a:solidFill>
          <a:ln w="12700">
            <a:solidFill>
              <a:srgbClr val="F3F5F8"/>
            </a:solidFill>
            <a:prstDash val="solid"/>
          </a:ln>
        </p:spPr>
      </p:sp>
      <p:sp>
        <p:nvSpPr>
          <p:cNvPr id="21" name="Shape 18"/>
          <p:cNvSpPr/>
          <p:nvPr/>
        </p:nvSpPr>
        <p:spPr>
          <a:xfrm>
            <a:off x="4562856" y="4315968"/>
            <a:ext cx="512064" cy="512064"/>
          </a:xfrm>
          <a:prstGeom prst="ellipse">
            <a:avLst/>
          </a:prstGeom>
          <a:solidFill>
            <a:srgbClr val="4E5A6B"/>
          </a:solidFill>
          <a:ln w="12700">
            <a:solidFill>
              <a:srgbClr val="4E5A6B"/>
            </a:solidFill>
            <a:prstDash val="solid"/>
          </a:ln>
        </p:spPr>
      </p:sp>
      <p:pic>
        <p:nvPicPr>
          <p:cNvPr id="22" name="Image 1" descr="preencoded.png">    </p:cNvPr>
          <p:cNvPicPr>
            <a:picLocks noChangeAspect="1"/>
          </p:cNvPicPr>
          <p:nvPr/>
        </p:nvPicPr>
        <p:blipFill>
          <a:blip r:embed="rId2"/>
          <a:stretch>
            <a:fillRect/>
          </a:stretch>
        </p:blipFill>
        <p:spPr>
          <a:xfrm>
            <a:off x="4695993" y="4449105"/>
            <a:ext cx="245791" cy="245791"/>
          </a:xfrm>
          <a:prstGeom prst="rect">
            <a:avLst/>
          </a:prstGeom>
        </p:spPr>
      </p:pic>
      <p:sp>
        <p:nvSpPr>
          <p:cNvPr id="23" name="Text 19"/>
          <p:cNvSpPr txBox="1"/>
          <p:nvPr/>
        </p:nvSpPr>
        <p:spPr>
          <a:xfrm>
            <a:off x="5221224" y="4389120"/>
            <a:ext cx="2560320" cy="320040"/>
          </a:xfrm>
          <a:prstGeom prst="rect">
            <a:avLst/>
          </a:prstGeom>
          <a:noFill/>
          <a:ln/>
        </p:spPr>
        <p:txBody>
          <a:bodyPr wrap="square" lIns="0" tIns="0" rIns="0" bIns="0" rtlCol="0" anchor="t"/>
          <a:lstStyle/>
          <a:p>
            <a:pPr algn="l" indent="0" marL="0">
              <a:buNone/>
            </a:pPr>
            <a:r>
              <a:rPr lang="en-US" sz="1450" b="1" dirty="0">
                <a:solidFill>
                  <a:srgbClr val="1C212B"/>
                </a:solidFill>
                <a:latin typeface="Arial" pitchFamily="34" charset="0"/>
                <a:ea typeface="Arial" pitchFamily="34" charset="-122"/>
                <a:cs typeface="Arial" pitchFamily="34" charset="-120"/>
              </a:rPr>
              <a:t>Override, never overwrite</a:t>
            </a:r>
            <a:endParaRPr lang="en-US" sz="1450" dirty="0"/>
          </a:p>
        </p:txBody>
      </p:sp>
      <p:sp>
        <p:nvSpPr>
          <p:cNvPr id="24" name="Text 20"/>
          <p:cNvSpPr txBox="1"/>
          <p:nvPr/>
        </p:nvSpPr>
        <p:spPr>
          <a:xfrm>
            <a:off x="4562856" y="4983480"/>
            <a:ext cx="310896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The graders' verdict is kept for ever; a human verdict sits beside it.</a:t>
            </a:r>
            <a:endParaRPr lang="en-US" sz="1400" dirty="0"/>
          </a:p>
        </p:txBody>
      </p:sp>
      <p:sp>
        <p:nvSpPr>
          <p:cNvPr id="25" name="Shape 21"/>
          <p:cNvSpPr/>
          <p:nvPr/>
        </p:nvSpPr>
        <p:spPr>
          <a:xfrm>
            <a:off x="8065008" y="4114800"/>
            <a:ext cx="3575304" cy="2011680"/>
          </a:xfrm>
          <a:prstGeom prst="roundRect">
            <a:avLst>
              <a:gd name="adj" fmla="val 4545"/>
            </a:avLst>
          </a:prstGeom>
          <a:solidFill>
            <a:srgbClr val="F3F5F8"/>
          </a:solidFill>
          <a:ln w="12700">
            <a:solidFill>
              <a:srgbClr val="F3F5F8"/>
            </a:solidFill>
            <a:prstDash val="solid"/>
          </a:ln>
        </p:spPr>
      </p:sp>
      <p:sp>
        <p:nvSpPr>
          <p:cNvPr id="26" name="Shape 22"/>
          <p:cNvSpPr/>
          <p:nvPr/>
        </p:nvSpPr>
        <p:spPr>
          <a:xfrm>
            <a:off x="8321040" y="4315968"/>
            <a:ext cx="512064" cy="512064"/>
          </a:xfrm>
          <a:prstGeom prst="ellipse">
            <a:avLst/>
          </a:prstGeom>
          <a:solidFill>
            <a:srgbClr val="15877D"/>
          </a:solidFill>
          <a:ln w="12700">
            <a:solidFill>
              <a:srgbClr val="15877D"/>
            </a:solidFill>
            <a:prstDash val="solid"/>
          </a:ln>
        </p:spPr>
      </p:sp>
      <p:pic>
        <p:nvPicPr>
          <p:cNvPr id="27" name="Image 2" descr="preencoded.png">    </p:cNvPr>
          <p:cNvPicPr>
            <a:picLocks noChangeAspect="1"/>
          </p:cNvPicPr>
          <p:nvPr/>
        </p:nvPicPr>
        <p:blipFill>
          <a:blip r:embed="rId3"/>
          <a:stretch>
            <a:fillRect/>
          </a:stretch>
        </p:blipFill>
        <p:spPr>
          <a:xfrm>
            <a:off x="8454177" y="4449105"/>
            <a:ext cx="245791" cy="245791"/>
          </a:xfrm>
          <a:prstGeom prst="rect">
            <a:avLst/>
          </a:prstGeom>
        </p:spPr>
      </p:pic>
      <p:sp>
        <p:nvSpPr>
          <p:cNvPr id="28" name="Text 23"/>
          <p:cNvSpPr txBox="1"/>
          <p:nvPr/>
        </p:nvSpPr>
        <p:spPr>
          <a:xfrm>
            <a:off x="8979408" y="4389120"/>
            <a:ext cx="2560320" cy="320040"/>
          </a:xfrm>
          <a:prstGeom prst="rect">
            <a:avLst/>
          </a:prstGeom>
          <a:noFill/>
          <a:ln/>
        </p:spPr>
        <p:txBody>
          <a:bodyPr wrap="square" lIns="0" tIns="0" rIns="0" bIns="0" rtlCol="0" anchor="t"/>
          <a:lstStyle/>
          <a:p>
            <a:pPr algn="l" indent="0" marL="0">
              <a:buNone/>
            </a:pPr>
            <a:r>
              <a:rPr lang="en-US" sz="1450" b="1" dirty="0">
                <a:solidFill>
                  <a:srgbClr val="1C212B"/>
                </a:solidFill>
                <a:latin typeface="Arial" pitchFamily="34" charset="0"/>
                <a:ea typeface="Arial" pitchFamily="34" charset="-122"/>
                <a:cs typeface="Arial" pitchFamily="34" charset="-120"/>
              </a:rPr>
              <a:t>pass@1 and pass^k</a:t>
            </a:r>
            <a:endParaRPr lang="en-US" sz="1450" dirty="0"/>
          </a:p>
        </p:txBody>
      </p:sp>
      <p:sp>
        <p:nvSpPr>
          <p:cNvPr id="29" name="Text 24"/>
          <p:cNvSpPr txBox="1"/>
          <p:nvPr/>
        </p:nvSpPr>
        <p:spPr>
          <a:xfrm>
            <a:off x="8321040" y="4983480"/>
            <a:ext cx="310896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Each work case runs three times. Two passes in three is not a feature.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PROOF · OPERATIONS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restart went from about 44 s to 11 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image used to migrate, seed and collect static files on every start — crash restarts included.</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39</a:t>
            </a:r>
            <a:endParaRPr lang="en-US" sz="1000" dirty="0"/>
          </a:p>
        </p:txBody>
      </p:sp>
      <p:graphicFrame>
        <p:nvGraphicFramePr>
          <p:cNvPr id="6" name="Chart 0" descr=""/>
          <p:cNvGraphicFramePr/>
          <p:nvPr/>
        </p:nvGraphicFramePr>
        <p:xfrm>
          <a:off x="457200" y="201168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680960" y="2103120"/>
            <a:ext cx="397764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Static files at build time</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collectstatic moved into the image build.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One boot command</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manage.py boot migrates and seeds once per container, not per crash restart.</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exec daphne</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docker stop now exits cleanly in 1.3 s instead of waiting out the kill timer.</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No Celery in production</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Periodic jobs run in-process under a database lease, each detached.</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PROOF · HONESTY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Known gaps, and what comes next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Written down in the repo, so nobody discovers them in production.</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40</a:t>
            </a:r>
            <a:endParaRPr lang="en-US" sz="1000" dirty="0"/>
          </a:p>
        </p:txBody>
      </p:sp>
      <p:sp>
        <p:nvSpPr>
          <p:cNvPr id="6" name="Shape 4"/>
          <p:cNvSpPr/>
          <p:nvPr/>
        </p:nvSpPr>
        <p:spPr>
          <a:xfrm>
            <a:off x="548640" y="2011680"/>
            <a:ext cx="6492240" cy="4160520"/>
          </a:xfrm>
          <a:prstGeom prst="roundRect">
            <a:avLst>
              <a:gd name="adj" fmla="val 2198"/>
            </a:avLst>
          </a:prstGeom>
          <a:solidFill>
            <a:srgbClr val="FBE8E6"/>
          </a:solidFill>
          <a:ln w="12700">
            <a:solidFill>
              <a:srgbClr val="FBE8E6"/>
            </a:solidFill>
            <a:prstDash val="solid"/>
          </a:ln>
        </p:spPr>
      </p:sp>
      <p:sp>
        <p:nvSpPr>
          <p:cNvPr id="7" name="Text 5"/>
          <p:cNvSpPr txBox="1"/>
          <p:nvPr/>
        </p:nvSpPr>
        <p:spPr>
          <a:xfrm>
            <a:off x="822960" y="2176272"/>
            <a:ext cx="3657600" cy="320040"/>
          </a:xfrm>
          <a:prstGeom prst="rect">
            <a:avLst/>
          </a:prstGeom>
          <a:noFill/>
          <a:ln/>
        </p:spPr>
        <p:txBody>
          <a:bodyPr wrap="square" lIns="0" tIns="0" rIns="0" bIns="0" rtlCol="0" anchor="t"/>
          <a:lstStyle/>
          <a:p>
            <a:pPr algn="l" indent="0" marL="0">
              <a:buNone/>
            </a:pPr>
            <a:r>
              <a:rPr lang="en-US" sz="1500" b="1" dirty="0">
                <a:solidFill>
                  <a:srgbClr val="8E2B24"/>
                </a:solidFill>
                <a:latin typeface="Arial" pitchFamily="34" charset="0"/>
                <a:ea typeface="Arial" pitchFamily="34" charset="-122"/>
                <a:cs typeface="Arial" pitchFamily="34" charset="-120"/>
              </a:rPr>
              <a:t>Still open</a:t>
            </a:r>
            <a:endParaRPr lang="en-US" sz="1500" dirty="0"/>
          </a:p>
        </p:txBody>
      </p:sp>
      <p:sp>
        <p:nvSpPr>
          <p:cNvPr id="8" name="Text 6"/>
          <p:cNvSpPr txBox="1"/>
          <p:nvPr/>
        </p:nvSpPr>
        <p:spPr>
          <a:xfrm>
            <a:off x="822960" y="2651760"/>
            <a:ext cx="6035040" cy="3429000"/>
          </a:xfrm>
          <a:prstGeom prst="rect">
            <a:avLst/>
          </a:prstGeom>
          <a:noFill/>
          <a:ln/>
        </p:spPr>
        <p:txBody>
          <a:bodyPr wrap="square" lIns="0" tIns="0" rIns="0" bIns="0" rtlCol="0" anchor="t"/>
          <a:lstStyle/>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The turn loop and tool library still live inside the chat app — about 110 deferred imports each way with agents.</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A waiting mission wakes on its timeout, not yet on the event it is waiting for.</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Chat messages get the pattern content check only; the model check covers image prompts and published pages.</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Paid eval proof runs — baseline, judge calibration, deploy gate — await the go-ahead.</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Gmail and Drive scopes are restricted: past 100 users the OAuth app needs a security assessment.</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Closed 28 Sep: missions advance, eval workers stay in the eval, images and pages get a model check.</a:t>
            </a:r>
            <a:endParaRPr lang="en-US" sz="1400" dirty="0"/>
          </a:p>
        </p:txBody>
      </p:sp>
      <p:sp>
        <p:nvSpPr>
          <p:cNvPr id="9" name="Shape 7"/>
          <p:cNvSpPr/>
          <p:nvPr/>
        </p:nvSpPr>
        <p:spPr>
          <a:xfrm>
            <a:off x="7269480" y="2011680"/>
            <a:ext cx="4370832" cy="4160520"/>
          </a:xfrm>
          <a:prstGeom prst="roundRect">
            <a:avLst>
              <a:gd name="adj" fmla="val 2198"/>
            </a:avLst>
          </a:prstGeom>
          <a:solidFill>
            <a:srgbClr val="E1F2F0"/>
          </a:solidFill>
          <a:ln w="12700">
            <a:solidFill>
              <a:srgbClr val="E1F2F0"/>
            </a:solidFill>
            <a:prstDash val="solid"/>
          </a:ln>
        </p:spPr>
      </p:sp>
      <p:sp>
        <p:nvSpPr>
          <p:cNvPr id="10" name="Text 8"/>
          <p:cNvSpPr txBox="1"/>
          <p:nvPr/>
        </p:nvSpPr>
        <p:spPr>
          <a:xfrm>
            <a:off x="7543800" y="2176272"/>
            <a:ext cx="3657600" cy="320040"/>
          </a:xfrm>
          <a:prstGeom prst="rect">
            <a:avLst/>
          </a:prstGeom>
          <a:noFill/>
          <a:ln/>
        </p:spPr>
        <p:txBody>
          <a:bodyPr wrap="square" lIns="0" tIns="0" rIns="0" bIns="0" rtlCol="0" anchor="t"/>
          <a:lstStyle/>
          <a:p>
            <a:pPr algn="l" indent="0" marL="0">
              <a:buNone/>
            </a:pPr>
            <a:r>
              <a:rPr lang="en-US" sz="1500" b="1" dirty="0">
                <a:solidFill>
                  <a:srgbClr val="0D5C55"/>
                </a:solidFill>
                <a:latin typeface="Arial" pitchFamily="34" charset="0"/>
                <a:ea typeface="Arial" pitchFamily="34" charset="-122"/>
                <a:cs typeface="Arial" pitchFamily="34" charset="-120"/>
              </a:rPr>
              <a:t>Next</a:t>
            </a:r>
            <a:endParaRPr lang="en-US" sz="1500" dirty="0"/>
          </a:p>
        </p:txBody>
      </p:sp>
      <p:sp>
        <p:nvSpPr>
          <p:cNvPr id="11" name="Text 9"/>
          <p:cNvSpPr txBox="1"/>
          <p:nvPr/>
        </p:nvSpPr>
        <p:spPr>
          <a:xfrm>
            <a:off x="7543800" y="2651760"/>
            <a:ext cx="3886200" cy="3429000"/>
          </a:xfrm>
          <a:prstGeom prst="rect">
            <a:avLst/>
          </a:prstGeom>
          <a:noFill/>
          <a:ln/>
        </p:spPr>
        <p:txBody>
          <a:bodyPr wrap="square" lIns="0" tIns="0" rIns="0" bIns="0" rtlCol="0" anchor="t"/>
          <a:lstStyle/>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Lift chat/turn and chat/tools into their own packages; the import contracts keep it honest.</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Wake waiting missions on their events, not only on a timeout.</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The solution-memory benchmark.</a:t>
            </a:r>
            <a:endParaRPr lang="en-US" sz="1400" dirty="0"/>
          </a:p>
          <a:p>
            <a:pPr algn="l" marL="342900" indent="-342900">
              <a:spcAft>
                <a:spcPts val="1000"/>
              </a:spcAft>
              <a:buSzPct val="100000"/>
              <a:buChar char="•"/>
            </a:pPr>
            <a:r>
              <a:rPr lang="en-US" sz="1400" dirty="0">
                <a:solidFill>
                  <a:srgbClr val="1C212B"/>
                </a:solidFill>
                <a:latin typeface="Calibri" pitchFamily="34" charset="0"/>
                <a:ea typeface="Calibri" pitchFamily="34" charset="-122"/>
                <a:cs typeface="Calibri" pitchFamily="34" charset="-120"/>
              </a:rPr>
              <a:t>Resize the instance so the concurrency fix takes effect.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51922"/>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t"/>
          <a:lstStyle/>
          <a:p>
            <a:pPr algn="l" indent="0" marL="0">
              <a:buNone/>
            </a:pPr>
            <a:r>
              <a:rPr lang="en-US" sz="1200" b="1" spc="300" kern="0" dirty="0">
                <a:solidFill>
                  <a:srgbClr val="E08A1E"/>
                </a:solidFill>
                <a:latin typeface="Arial" pitchFamily="34" charset="0"/>
                <a:ea typeface="Arial" pitchFamily="34" charset="-122"/>
                <a:cs typeface="Arial" pitchFamily="34" charset="-120"/>
              </a:rPr>
              <a:t>WHAT THE CODEBASE KEEPS TO</a:t>
            </a:r>
            <a:endParaRPr lang="en-US" sz="1200" dirty="0"/>
          </a:p>
        </p:txBody>
      </p:sp>
      <p:sp>
        <p:nvSpPr>
          <p:cNvPr id="3" name="Text 1"/>
          <p:cNvSpPr txBox="1"/>
          <p:nvPr/>
        </p:nvSpPr>
        <p:spPr>
          <a:xfrm>
            <a:off x="640080" y="868680"/>
            <a:ext cx="7315200" cy="7315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Five rules</a:t>
            </a:r>
            <a:endParaRPr lang="en-US" sz="3600" dirty="0"/>
          </a:p>
        </p:txBody>
      </p:sp>
      <p:sp>
        <p:nvSpPr>
          <p:cNvPr id="4" name="Text 2"/>
          <p:cNvSpPr txBox="1"/>
          <p:nvPr/>
        </p:nvSpPr>
        <p:spPr>
          <a:xfrm>
            <a:off x="640080" y="182880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371600" y="178308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One door per concern</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One way to start a run, one read path for solutions, one resolver for credentials.</a:t>
            </a:r>
            <a:endParaRPr lang="en-US" sz="1600" dirty="0"/>
          </a:p>
        </p:txBody>
      </p:sp>
      <p:sp>
        <p:nvSpPr>
          <p:cNvPr id="6" name="Text 4"/>
          <p:cNvSpPr txBox="1"/>
          <p:nvPr/>
        </p:nvSpPr>
        <p:spPr>
          <a:xfrm>
            <a:off x="640080" y="265176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7" name="Text 5"/>
          <p:cNvSpPr txBox="1"/>
          <p:nvPr/>
        </p:nvSpPr>
        <p:spPr>
          <a:xfrm>
            <a:off x="1371600" y="260604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Bound everything</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Output, fan-out, memory, spend. Refuse rather than silently truncate.</a:t>
            </a:r>
            <a:endParaRPr lang="en-US" sz="1600" dirty="0"/>
          </a:p>
        </p:txBody>
      </p:sp>
      <p:sp>
        <p:nvSpPr>
          <p:cNvPr id="8" name="Text 6"/>
          <p:cNvSpPr txBox="1"/>
          <p:nvPr/>
        </p:nvSpPr>
        <p:spPr>
          <a:xfrm>
            <a:off x="640080" y="347472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9" name="Text 7"/>
          <p:cNvSpPr txBox="1"/>
          <p:nvPr/>
        </p:nvSpPr>
        <p:spPr>
          <a:xfrm>
            <a:off x="1371600" y="342900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Fail before you look busy</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A missing key is an error at once, never a spinner and an apology.</a:t>
            </a:r>
            <a:endParaRPr lang="en-US" sz="1600" dirty="0"/>
          </a:p>
        </p:txBody>
      </p:sp>
      <p:sp>
        <p:nvSpPr>
          <p:cNvPr id="10" name="Text 8"/>
          <p:cNvSpPr txBox="1"/>
          <p:nvPr/>
        </p:nvSpPr>
        <p:spPr>
          <a:xfrm>
            <a:off x="640080" y="429768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1" name="Text 9"/>
          <p:cNvSpPr txBox="1"/>
          <p:nvPr/>
        </p:nvSpPr>
        <p:spPr>
          <a:xfrm>
            <a:off x="1371600" y="425196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 switch must be read</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A test fails when a setting exists that nothing at runtime reads.</a:t>
            </a:r>
            <a:endParaRPr lang="en-US" sz="1600" dirty="0"/>
          </a:p>
        </p:txBody>
      </p:sp>
      <p:sp>
        <p:nvSpPr>
          <p:cNvPr id="12" name="Text 10"/>
          <p:cNvSpPr txBox="1"/>
          <p:nvPr/>
        </p:nvSpPr>
        <p:spPr>
          <a:xfrm>
            <a:off x="640080" y="512064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371600" y="507492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Record, don't infer</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Turns, revisions and parent steps are rows, not reconstructions.</a:t>
            </a:r>
            <a:endParaRPr lang="en-US" sz="1600" dirty="0"/>
          </a:p>
        </p:txBody>
      </p:sp>
      <p:sp>
        <p:nvSpPr>
          <p:cNvPr id="14" name="Shape 12"/>
          <p:cNvSpPr/>
          <p:nvPr/>
        </p:nvSpPr>
        <p:spPr>
          <a:xfrm>
            <a:off x="8001000" y="1828800"/>
            <a:ext cx="3566160" cy="3840480"/>
          </a:xfrm>
          <a:prstGeom prst="roundRect">
            <a:avLst>
              <a:gd name="adj" fmla="val 3077"/>
            </a:avLst>
          </a:prstGeom>
          <a:solidFill>
            <a:srgbClr val="232A36"/>
          </a:solidFill>
          <a:ln w="12700">
            <a:solidFill>
              <a:srgbClr val="3A4352"/>
            </a:solidFill>
            <a:prstDash val="solid"/>
          </a:ln>
        </p:spPr>
      </p:sp>
      <p:sp>
        <p:nvSpPr>
          <p:cNvPr id="15" name="Text 13"/>
          <p:cNvSpPr txBox="1"/>
          <p:nvPr/>
        </p:nvSpPr>
        <p:spPr>
          <a:xfrm>
            <a:off x="8321040" y="2194560"/>
            <a:ext cx="3017520" cy="64008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Questions</a:t>
            </a:r>
            <a:endParaRPr lang="en-US" sz="3000" dirty="0"/>
          </a:p>
        </p:txBody>
      </p:sp>
      <p:sp>
        <p:nvSpPr>
          <p:cNvPr id="16" name="Text 14"/>
          <p:cNvSpPr txBox="1"/>
          <p:nvPr/>
        </p:nvSpPr>
        <p:spPr>
          <a:xfrm>
            <a:off x="8321040" y="2926080"/>
            <a:ext cx="3017520" cy="822960"/>
          </a:xfrm>
          <a:prstGeom prst="rect">
            <a:avLst/>
          </a:prstGeom>
          <a:noFill/>
          <a:ln/>
        </p:spPr>
        <p:txBody>
          <a:bodyPr wrap="square" lIns="0" tIns="0" rIns="0" bIns="0" rtlCol="0" anchor="t"/>
          <a:lstStyle/>
          <a:p>
            <a:pPr algn="l" indent="0" marL="0">
              <a:buNone/>
            </a:pPr>
            <a:r>
              <a:rPr lang="en-US" sz="1500" dirty="0">
                <a:solidFill>
                  <a:srgbClr val="C9D0DB"/>
                </a:solidFill>
                <a:latin typeface="Calibri" pitchFamily="34" charset="0"/>
                <a:ea typeface="Calibri" pitchFamily="34" charset="-122"/>
                <a:cs typeface="Calibri" pitchFamily="34" charset="-120"/>
              </a:rPr>
              <a:t>Architecture discussion, code walkthrough and a live demo.</a:t>
            </a:r>
            <a:endParaRPr lang="en-US" sz="1500" dirty="0"/>
          </a:p>
        </p:txBody>
      </p:sp>
      <p:sp>
        <p:nvSpPr>
          <p:cNvPr id="17" name="Text 15"/>
          <p:cNvSpPr txBox="1"/>
          <p:nvPr/>
        </p:nvSpPr>
        <p:spPr>
          <a:xfrm>
            <a:off x="8321040" y="4663440"/>
            <a:ext cx="3017520" cy="731520"/>
          </a:xfrm>
          <a:prstGeom prst="rect">
            <a:avLst/>
          </a:prstGeom>
          <a:noFill/>
          <a:ln/>
        </p:spPr>
        <p:txBody>
          <a:bodyPr wrap="square" lIns="0" tIns="0" rIns="0" bIns="0" rtlCol="0" anchor="t"/>
          <a:lstStyle/>
          <a:p>
            <a:pPr algn="l" indent="0" marL="0">
              <a:buNone/>
            </a:pPr>
            <a:r>
              <a:rPr lang="en-US" sz="1250" i="1" dirty="0">
                <a:solidFill>
                  <a:srgbClr val="8A94A3"/>
                </a:solidFill>
                <a:latin typeface="Calibri" pitchFamily="34" charset="0"/>
                <a:ea typeface="Calibri" pitchFamily="34" charset="-122"/>
                <a:cs typeface="Calibri" pitchFamily="34" charset="-120"/>
              </a:rPr>
              <a:t>Start in the repo at START_HERE.md, then Backend/docs/.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AIAAS — Architecture &amp; Technical Overview</dc:title>
  <dc:subject>PptxGenJS Presentation</dc:subject>
  <dc:creator>PptxGenJS</dc:creator>
  <cp:lastModifiedBy>PptxGenJS</cp:lastModifiedBy>
  <cp:revision>1</cp:revision>
  <dcterms:created xsi:type="dcterms:W3CDTF">2026-09-28T11:00:54Z</dcterms:created>
  <dcterms:modified xsi:type="dcterms:W3CDTF">2026-09-28T11:00:54Z</dcterms:modified>
</cp:coreProperties>
</file>