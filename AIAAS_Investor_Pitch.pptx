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No curation</c:v>
                </c:pt>
              </c:strCache>
            </c:strRef>
          </c:tx>
          <c:spPr>
            <a:solidFill>
              <a:srgbClr val="C4433A"/>
            </a:solidFill>
            <a:ln w="28575" cap="flat">
              <a:solidFill>
                <a:srgbClr val="C443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33A"/>
              </a:solidFill>
              <a:ln w="9525" cap="flat">
                <a:solidFill>
                  <a:srgbClr val="C4433A"/>
                </a:solidFill>
                <a:prstDash val="solid"/>
                <a:round/>
              </a:ln>
              <a:effectLst/>
            </c:spPr>
          </c:marker>
          <c:cat>
            <c:multiLvlStrRef>
              <c:f>Sheet1!$A$2:$A$41</c:f>
              <c:multiLvlStrCache>
                <c:ptCount val="4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lvl>
              </c:multiLvlStrCache>
            </c:multiLvlStrRef>
          </c:cat>
          <c:val>
            <c:numRef>
              <c:f>Sheet1!$B$2:$B$41</c:f>
              <c:numCache>
                <c:formatCode>General</c:formatCode>
                <c:ptCount val="40"/>
                <c:pt idx="0">
                  <c:v>6</c:v>
                </c:pt>
                <c:pt idx="1">
                  <c:v>10</c:v>
                </c:pt>
                <c:pt idx="2">
                  <c:v>14</c:v>
                </c:pt>
                <c:pt idx="3">
                  <c:v>18</c:v>
                </c:pt>
                <c:pt idx="4">
                  <c:v>22</c:v>
                </c:pt>
                <c:pt idx="5">
                  <c:v>26</c:v>
                </c:pt>
                <c:pt idx="6">
                  <c:v>30</c:v>
                </c:pt>
                <c:pt idx="7">
                  <c:v>34</c:v>
                </c:pt>
                <c:pt idx="8">
                  <c:v>38</c:v>
                </c:pt>
                <c:pt idx="9">
                  <c:v>42</c:v>
                </c:pt>
                <c:pt idx="10">
                  <c:v>46</c:v>
                </c:pt>
                <c:pt idx="11">
                  <c:v>50</c:v>
                </c:pt>
                <c:pt idx="12">
                  <c:v>54</c:v>
                </c:pt>
                <c:pt idx="13">
                  <c:v>58</c:v>
                </c:pt>
                <c:pt idx="14">
                  <c:v>62</c:v>
                </c:pt>
                <c:pt idx="15">
                  <c:v>66</c:v>
                </c:pt>
                <c:pt idx="16">
                  <c:v>70</c:v>
                </c:pt>
                <c:pt idx="17">
                  <c:v>74</c:v>
                </c:pt>
                <c:pt idx="18">
                  <c:v>78</c:v>
                </c:pt>
                <c:pt idx="19">
                  <c:v>82</c:v>
                </c:pt>
                <c:pt idx="20">
                  <c:v>86</c:v>
                </c:pt>
                <c:pt idx="21">
                  <c:v>90</c:v>
                </c:pt>
                <c:pt idx="22">
                  <c:v>94</c:v>
                </c:pt>
                <c:pt idx="23">
                  <c:v>98</c:v>
                </c:pt>
                <c:pt idx="24">
                  <c:v>102</c:v>
                </c:pt>
                <c:pt idx="25">
                  <c:v>106</c:v>
                </c:pt>
                <c:pt idx="26">
                  <c:v>110</c:v>
                </c:pt>
                <c:pt idx="27">
                  <c:v>114</c:v>
                </c:pt>
                <c:pt idx="28">
                  <c:v>118</c:v>
                </c:pt>
                <c:pt idx="29">
                  <c:v>122</c:v>
                </c:pt>
                <c:pt idx="30">
                  <c:v>126</c:v>
                </c:pt>
                <c:pt idx="31">
                  <c:v>130</c:v>
                </c:pt>
                <c:pt idx="32">
                  <c:v>134</c:v>
                </c:pt>
                <c:pt idx="33">
                  <c:v>138</c:v>
                </c:pt>
                <c:pt idx="34">
                  <c:v>142</c:v>
                </c:pt>
                <c:pt idx="35">
                  <c:v>146</c:v>
                </c:pt>
                <c:pt idx="36">
                  <c:v>150</c:v>
                </c:pt>
                <c:pt idx="37">
                  <c:v>154</c:v>
                </c:pt>
                <c:pt idx="38">
                  <c:v>158</c:v>
                </c:pt>
                <c:pt idx="39">
                  <c:v>160</c:v>
                </c:pt>
              </c:numCache>
            </c:numRef>
          </c:val>
          <c:smooth val="0"/>
        </c:ser>
        <c:ser>
          <c:idx val="1"/>
          <c:order val="1"/>
          <c:tx>
            <c:strRef>
              <c:f>Sheet1!$C$1</c:f>
              <c:strCache>
                <c:ptCount val="1"/>
                <c:pt idx="0">
                  <c:v>Watermark curation</c:v>
                </c:pt>
              </c:strCache>
            </c:strRef>
          </c:tx>
          <c:spPr>
            <a:solidFill>
              <a:srgbClr val="15877D"/>
            </a:solidFill>
            <a:ln w="28575" cap="flat">
              <a:solidFill>
                <a:srgbClr val="15877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5877D"/>
              </a:solidFill>
              <a:ln w="9525" cap="flat">
                <a:solidFill>
                  <a:srgbClr val="15877D"/>
                </a:solidFill>
                <a:prstDash val="solid"/>
                <a:round/>
              </a:ln>
              <a:effectLst/>
            </c:spPr>
          </c:marker>
          <c:cat>
            <c:multiLvlStrRef>
              <c:f>Sheet1!$A$2:$A$41</c:f>
              <c:multiLvlStrCache>
                <c:ptCount val="4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lvl>
              </c:multiLvlStrCache>
            </c:multiLvlStrRef>
          </c:cat>
          <c:val>
            <c:numRef>
              <c:f>Sheet1!$C$2:$C$41</c:f>
              <c:numCache>
                <c:formatCode>General</c:formatCode>
                <c:ptCount val="40"/>
                <c:pt idx="0">
                  <c:v>6</c:v>
                </c:pt>
                <c:pt idx="1">
                  <c:v>10</c:v>
                </c:pt>
                <c:pt idx="2">
                  <c:v>14</c:v>
                </c:pt>
                <c:pt idx="3">
                  <c:v>18</c:v>
                </c:pt>
                <c:pt idx="4">
                  <c:v>22</c:v>
                </c:pt>
                <c:pt idx="5">
                  <c:v>26</c:v>
                </c:pt>
                <c:pt idx="6">
                  <c:v>30</c:v>
                </c:pt>
                <c:pt idx="7">
                  <c:v>34</c:v>
                </c:pt>
                <c:pt idx="8">
                  <c:v>38</c:v>
                </c:pt>
                <c:pt idx="9">
                  <c:v>42</c:v>
                </c:pt>
                <c:pt idx="10">
                  <c:v>46</c:v>
                </c:pt>
                <c:pt idx="11">
                  <c:v>50</c:v>
                </c:pt>
                <c:pt idx="12">
                  <c:v>54</c:v>
                </c:pt>
                <c:pt idx="13">
                  <c:v>58</c:v>
                </c:pt>
                <c:pt idx="14">
                  <c:v>62</c:v>
                </c:pt>
                <c:pt idx="15">
                  <c:v>66</c:v>
                </c:pt>
                <c:pt idx="16">
                  <c:v>45</c:v>
                </c:pt>
                <c:pt idx="17">
                  <c:v>49</c:v>
                </c:pt>
                <c:pt idx="18">
                  <c:v>53</c:v>
                </c:pt>
                <c:pt idx="19">
                  <c:v>57</c:v>
                </c:pt>
                <c:pt idx="20">
                  <c:v>61</c:v>
                </c:pt>
                <c:pt idx="21">
                  <c:v>65</c:v>
                </c:pt>
                <c:pt idx="22">
                  <c:v>69</c:v>
                </c:pt>
                <c:pt idx="23">
                  <c:v>45</c:v>
                </c:pt>
                <c:pt idx="24">
                  <c:v>49</c:v>
                </c:pt>
                <c:pt idx="25">
                  <c:v>53</c:v>
                </c:pt>
                <c:pt idx="26">
                  <c:v>57</c:v>
                </c:pt>
                <c:pt idx="27">
                  <c:v>61</c:v>
                </c:pt>
                <c:pt idx="28">
                  <c:v>65</c:v>
                </c:pt>
                <c:pt idx="29">
                  <c:v>69</c:v>
                </c:pt>
                <c:pt idx="30">
                  <c:v>45</c:v>
                </c:pt>
                <c:pt idx="31">
                  <c:v>49</c:v>
                </c:pt>
                <c:pt idx="32">
                  <c:v>53</c:v>
                </c:pt>
                <c:pt idx="33">
                  <c:v>57</c:v>
                </c:pt>
                <c:pt idx="34">
                  <c:v>61</c:v>
                </c:pt>
                <c:pt idx="35">
                  <c:v>65</c:v>
                </c:pt>
                <c:pt idx="36">
                  <c:v>69</c:v>
                </c:pt>
                <c:pt idx="37">
                  <c:v>45</c:v>
                </c:pt>
                <c:pt idx="38">
                  <c:v>49</c:v>
                </c:pt>
                <c:pt idx="39">
                  <c:v>53</c:v>
                </c:pt>
              </c:numCache>
            </c:numRef>
          </c:val>
          <c:smooth val="0"/>
        </c:ser>
        <c:ser>
          <c:idx val="2"/>
          <c:order val="2"/>
          <c:tx>
            <c:strRef>
              <c:f>Sheet1!$D$1</c:f>
              <c:strCache>
                <c:ptCount val="1"/>
                <c:pt idx="0">
                  <c:v>Context window</c:v>
                </c:pt>
              </c:strCache>
            </c:strRef>
          </c:tx>
          <c:spPr>
            <a:solidFill>
              <a:srgbClr val="8A93A1"/>
            </a:solidFill>
            <a:ln w="28575" cap="flat">
              <a:solidFill>
                <a:srgbClr val="8A93A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3A1"/>
              </a:solidFill>
              <a:ln w="9525" cap="flat">
                <a:solidFill>
                  <a:srgbClr val="8A93A1"/>
                </a:solidFill>
                <a:prstDash val="solid"/>
                <a:round/>
              </a:ln>
              <a:effectLst/>
            </c:spPr>
          </c:marker>
          <c:cat>
            <c:multiLvlStrRef>
              <c:f>Sheet1!$A$2:$A$41</c:f>
              <c:multiLvlStrCache>
                <c:ptCount val="4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lvl>
              </c:multiLvlStrCache>
            </c:multiLvlStrRef>
          </c:cat>
          <c:val>
            <c:numRef>
              <c:f>Sheet1!$D$2:$D$41</c:f>
              <c:numCache>
                <c:formatCode>General</c:formatCode>
                <c:ptCount val="40"/>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pt idx="37">
                  <c:v>100</c:v>
                </c:pt>
                <c:pt idx="38">
                  <c:v>100</c:v>
                </c:pt>
                <c:pt idx="39">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472"/>
                    </a:solidFill>
                    <a:latin typeface="Arial"/>
                  </a:defRPr>
                </a:pPr>
                <a:r>
                  <a:rPr sz="1100" b="0" i="0" u="none" strike="noStrike">
                    <a:solidFill>
                      <a:srgbClr val="5B6472"/>
                    </a:solidFill>
                    <a:latin typeface="Arial"/>
                  </a:rPr>
                  <a:t>iteration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2"/>
        <c:crosses val="autoZero"/>
        <c:auto val="1"/>
        <c:lblAlgn val="ctr"/>
        <c:noMultiLvlLbl val="1"/>
        <c:tickLblSkip val="5"/>
      </c:catAx>
      <c:valAx>
        <c:axId val="2094734552"/>
        <c:scaling>
          <c:orientation val="minMax"/>
          <c:max val="160"/>
          <c:min val="0"/>
        </c:scaling>
        <c:delete val="0"/>
        <c:axPos val="l"/>
        <c:majorGridlines>
          <c:spPr>
            <a:ln w="6350" cap="flat">
              <a:solidFill>
                <a:srgbClr val="E6E9EE"/>
              </a:solidFill>
              <a:prstDash val="solid"/>
              <a:round/>
            </a:ln>
          </c:spPr>
        </c:majorGridlines>
        <c:title>
          <c:tx>
            <c:rich>
              <a:bodyPr/>
              <a:lstStyle/>
              <a:p>
                <a:pPr>
                  <a:defRPr sz="1100" b="0" i="0" u="none" strike="noStrike">
                    <a:solidFill>
                      <a:srgbClr val="5B6472"/>
                    </a:solidFill>
                    <a:latin typeface="Arial"/>
                  </a:defRPr>
                </a:pPr>
                <a:r>
                  <a:rPr sz="1100" b="0" i="0" u="none" strike="noStrike">
                    <a:solidFill>
                      <a:srgbClr val="5B6472"/>
                    </a:solidFill>
                    <a:latin typeface="Arial"/>
                  </a:rPr>
                  <a:t>% of context budget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majorUnit val="40"/>
      </c:valAx>
      <c:spPr>
        <a:noFill/>
        <a:ln>
          <a:noFill/>
        </a:ln>
        <a:effectLst/>
      </c:spPr>
    </c:plotArea>
    <c:legend>
      <c:legendPos val="b"/>
      <c:overlay val="0"/>
      <c:txPr>
        <a:bodyPr/>
        <a:lstStyle/>
        <a:p>
          <a:pPr>
            <a:defRPr sz="1100">
              <a:solidFill>
                <a:srgbClr val="5B6472"/>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AIAAS is a no-code platform that lets any team hand its repetitive work to AI agents — without giving up control. This presentation covers why it exists, what it does today, and the engineering that makes it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project exists. Companies are full of repetitive work that AI could take over, but nobody hands an AI the company mailbox without brakes. AIAAS is built on both halves: automate the redundant work, and keep people in control. The goal is to make information and intelligence abundant across an organisation, and controlled. Everything in the rest of the talk serves one of those two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people with the most repetitive work are rarely programmers — operations, finance, HR, sales. So everything on the left is done without code: describe an agent, sign in with Google, pick a time, tap an approval, open the file in a familiar app. Code exists for the advanced or very personalised cases on the right, and the everyday path never requires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templates in the product today. Each one installs through the same validated path as an agent built by hand, and asks the installer to pick their own mailbox, folder or knowledge base — templates never carry someone else's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AIAAS separates the conversation from the work. The chat can read, plan and delegate; anything that writes, sends, publishes or spends is done by a subagent the user configured. The four numbers on the right come up again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AIAAS sits in the gap between the three approaches people use today. It is as easy to use as an assistant, it acts like a workflow tool, it handles open-ended work like a framework — and it adds what none of them give by default: fine-grained control over what each agent may do, organisation-wide memory that never leaves the organisation, and real files people can open and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The three in amber get the most time: how the manager and workers cooperate, how a long run stays inside its context window, and how agents and people share files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turns stream back over server-sent events because the request is a POST; long-running agent runs, approval requests and notifications use a WebSocket. Everything runs on one host. The Python sandbox is a separate container on an internal-only network, so model-written code has no route to the internet or to the application's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Whether a run is started from chat, by another agent, by a schedule, by the API or by a test, it goes through one entry point. Guardrails live at that door, so no caller can skip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turns and agent runs share this loop. Each step has a job: tools settle approvals before acting, curation keeps long runs inside the context window, and steering lets a person redirect a run without stopping it. The step budget is derived from the graph itself, so a run always gets the iterations it was configured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subagent's reach is configured by the user; chat's cannot be. So chat is limited to reading, planning and delegating. When a worker needs an answer or an approval, the request comes up to the manager, which can answer questions itself but must route real approvals through the normal gates — in ask mode, to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is a configuration, not a diagram. Composition is a permission, not a second kind of object. Every way of creating an agent — the builder, describing it in chat, installing a template — passes the same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Depth stops chains of agents calling agents. Budget is divided up front because the spend check reads, then runs — eight workers launched together would all pass it. Instructions going down are refused when too long, because a trimmed instruction is a worker confidently doing the wrong job; answers coming up are trimmed but archived, so nothing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Returning a path instead of the full text keeps the parent's context window small. The scope rules are careful: being delegated to is not consent to start writing, and passing through an empty prefix would silently upgrade a worker to write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coding team: a lead plus up to three workers. Starting and waiting are separate tools, so the lead gets a turn every time something happens and can re-steer a worker whose target just changed shape. The same verbs are buttons in the plan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manager sees what a worker is waiting on and answers questions itself. Approvals still reach you in ask mode, and the card never offers 'always allow', because that would approve every future request from every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permission were checked inline, the safe half of a batch would run, the run would pause on the sensitive call, and on resume the safe half would run again. Splitting approval from dispatch makes the node safe to replay. Rejecting a call is the mirror of approving it, so a declined call never leaves a run parked for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level resolves to a pair: the tool names that gate on sight, and a policy for calls no list can name — every MCP tool, whose names are minted at runtime. Tools declare their effect as read, reversible or irreversible, defaulting to irreversible, so an unknown tool can never make a level looser by accident. A mode switch mid-run does not answer a question already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on/off grant would hand an agent every connection the account owns. So each grant has a scope, a tool list and per-tool permissions. Enforcement happens both when tools are offered and again at dispatch, because a model will name a tool it saw earlier in the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Anything that changes — like the clock — in the system prompt would make every request different and defeat prompt caching. So the system prompt holds only what is stable for the session, and everything that moves rides in a trailing context message. What does not fit in the window is not lost: it is one tool call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naive trim drops one message at a time and can strand a tool result without its call, which providers reject. Curation cuts whole segments, fires at a watermark to keep prompt caching, and archives what it removes. The chart shows the shape of the behaviour, not measured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iteration 30 an agent without a plan is working from a compressed trace of its own footsteps. The plan fixes that without anyone maintaining a list of things curation must not touch. Revision history exists because replacing the whole list made a step dropped unfinished look exactly like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here is a deliberate decision. Note the split: things arriving from outside, like tool results, are trimmed and archived, because they can't be sent back; instructions written by our own model are refused, because the model can be told to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file tools look like a POSIX filesystem to the model, but underneath they are rows in the user's own folder and document tables. Readable and writable are two separate subtrees, which is what makes read-everything, write-only-here possible. A delete goes to the user's recycle 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fix — a unique constraint on folder and name — would break uploads, which create same-named files deliberately. So the write path takes a lock on that one name, and a caller can say which version it read. edit_file is also exact-match-or-refuse: text that is missing or appears twice is an error, never a silent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Leases make collisions rare; the hash check makes them harmless. Correctness never depends on a notice being delivered — a missed notice still ends in a refused write, not a lost edit. Only the integrator role may commit, push or open a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Asking a model to write python-pptx code gives you a different-looking deck every time, with text off the edge. Instead the model fills in a small spec and our renderer owns every visual decision — the same rule as charts, one level up. Overwriting a file replaces it in place and keeps the old one as a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app opens full-screen under one bar: home, app switcher, rename, a File menu with export, and save status. Tabs per app are restored from the server, and every file previews through the same component in chat, the runs page and the file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render moves the file's updated time under the open editor, which would make the editor's next save look stale. So a render records itself, and an etag from before it still lands as long as nothing else wrote. A render also only writes if its draft is still the stored one, so a draft saved mid-render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time for a live demo, this is its script. Each step uses something from the talk: the plan dock, delegation with files passed back, the approval and question cards, the file card opening in an app, autosave and versions, and a schedule read in the owner's timezone.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Efficiency is a product feature: a small team or a single customer can run the whole thing on one modest server. Memory is budgeted in megabytes rather than by counting connections, Google Workspace needs no extra processes, and a restart is back serving in about eleven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web searches cost one round trip, not three. The prompts also tell the model to batch, because the engine can only help within one batch. The timeline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sidecar is a separate image with numpy and pandas, on a network with no egress, with all capabilities dropped and a read-only root. Each snippet runs in its own process group with resource limits. The in-process fallback exists only for local development and never takes over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a web page needs no approval, so a link the agent builds itself may not carry data — otherwise injected text could leak the inbox through a URL. Tool results that look like instructions taint the turn. Connector tools are pinned so a server cannot quietly rewrite a tool's description. The guardrails are mapped to the OWASP Agentic Top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Encryption at rest is the baseline. The more interesting part is keeping the value away from the model: tools take a reference, the approval card shows the reference, and the value is resolved only after approval and scrubbed from the result. Third-party connector processes receive an allow-listed environment, so they never see the platform's own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junior asking what a senior already fixed should get the fix, not a fresh investigation. Capture is automatic and cheap. Freshness is computed at read time from the claim kind, so a port number from last quarter is flagged for checking while a general principle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Organisations were added for one purpose: sharing solved problems. The organisation is taken from the chat, never from a tool argument, so a model cannot ask for another org's data. Search vectors are loaded per scope rather than held in one shared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Turns are rows, steps hang off them and are opened before the tool runs, and a delegated worker's run points at the exact step that started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judge model that grades is deliberately different from the model under test. Generated cases arrive as drafts and are accepted by a person on the Evals page. Simulators mirror the real tools' result shapes field for field, and a coverage test fails if a native tool gains no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builds on what already exists. Missions reuse the one entry point and the plan; channels reuse the connection and approval model; measured quality is the evaluation system shown earlier, wired into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principles explain the decisions in this deck, and they are what let a small team ship a platform this broad, safely.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image" Target="../media/image-28-14.png"/><Relationship Id="rId15" Type="http://schemas.openxmlformats.org/officeDocument/2006/relationships/image" Target="../media/image-28-15.png"/><Relationship Id="rId16" Type="http://schemas.openxmlformats.org/officeDocument/2006/relationships/slideLayout" Target="../slideLayouts/slideLayout1.xml"/><Relationship Id="rId1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1.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922"/>
        </a:solidFill>
      </p:bgPr>
    </p:bg>
    <p:spTree>
      <p:nvGrpSpPr>
        <p:cNvPr id="1" name=""/>
        <p:cNvGrpSpPr/>
        <p:nvPr/>
      </p:nvGrpSpPr>
      <p:grpSpPr>
        <a:xfrm>
          <a:off x="0" y="0"/>
          <a:ext cx="0" cy="0"/>
          <a:chOff x="0" y="0"/>
          <a:chExt cx="0" cy="0"/>
        </a:xfrm>
      </p:grpSpPr>
      <p:sp>
        <p:nvSpPr>
          <p:cNvPr id="2" name="Text 0"/>
          <p:cNvSpPr txBox="1"/>
          <p:nvPr/>
        </p:nvSpPr>
        <p:spPr>
          <a:xfrm>
            <a:off x="640080" y="1005840"/>
            <a:ext cx="6400800" cy="274320"/>
          </a:xfrm>
          <a:prstGeom prst="rect">
            <a:avLst/>
          </a:prstGeom>
          <a:noFill/>
          <a:ln/>
        </p:spPr>
        <p:txBody>
          <a:bodyPr wrap="square" lIns="0" tIns="0" rIns="0" bIns="0" rtlCol="0" anchor="t"/>
          <a:lstStyle/>
          <a:p>
            <a:pPr algn="l" indent="0" marL="0">
              <a:buNone/>
            </a:pPr>
            <a:r>
              <a:rPr lang="en-US" sz="1200" b="1" spc="300" kern="0" dirty="0">
                <a:solidFill>
                  <a:srgbClr val="E08A1E"/>
                </a:solidFill>
                <a:latin typeface="Arial" pitchFamily="34" charset="0"/>
                <a:ea typeface="Arial" pitchFamily="34" charset="-122"/>
                <a:cs typeface="Arial" pitchFamily="34" charset="-120"/>
              </a:rPr>
              <a:t>PRODUCT &amp; TECHNOLOGY  ·  SEPTEMBER 2026</a:t>
            </a:r>
            <a:endParaRPr lang="en-US" sz="1200" dirty="0"/>
          </a:p>
        </p:txBody>
      </p:sp>
      <p:sp>
        <p:nvSpPr>
          <p:cNvPr id="3" name="Text 1"/>
          <p:cNvSpPr txBox="1"/>
          <p:nvPr/>
        </p:nvSpPr>
        <p:spPr>
          <a:xfrm>
            <a:off x="640080" y="1463040"/>
            <a:ext cx="6400800" cy="1097280"/>
          </a:xfrm>
          <a:prstGeom prst="rect">
            <a:avLst/>
          </a:prstGeom>
          <a:noFill/>
          <a:ln/>
        </p:spPr>
        <p:txBody>
          <a:bodyPr wrap="square" lIns="0" tIns="0" rIns="0" bIns="0" rtlCol="0" anchor="t"/>
          <a:lstStyle/>
          <a:p>
            <a:pPr algn="l" indent="0" marL="0">
              <a:buNone/>
            </a:pPr>
            <a:r>
              <a:rPr lang="en-US" sz="6600" b="1" dirty="0">
                <a:solidFill>
                  <a:srgbClr val="FFFFFF"/>
                </a:solidFill>
                <a:latin typeface="Arial" pitchFamily="34" charset="0"/>
                <a:ea typeface="Arial" pitchFamily="34" charset="-122"/>
                <a:cs typeface="Arial" pitchFamily="34" charset="-120"/>
              </a:rPr>
              <a:t>AIAAS</a:t>
            </a:r>
            <a:endParaRPr lang="en-US" sz="6600" dirty="0"/>
          </a:p>
        </p:txBody>
      </p:sp>
      <p:sp>
        <p:nvSpPr>
          <p:cNvPr id="4" name="Text 2"/>
          <p:cNvSpPr txBox="1"/>
          <p:nvPr/>
        </p:nvSpPr>
        <p:spPr>
          <a:xfrm>
            <a:off x="640080" y="2606040"/>
            <a:ext cx="6400800" cy="548640"/>
          </a:xfrm>
          <a:prstGeom prst="rect">
            <a:avLst/>
          </a:prstGeom>
          <a:noFill/>
          <a:ln/>
        </p:spPr>
        <p:txBody>
          <a:bodyPr wrap="square" lIns="0" tIns="0" rIns="0" bIns="0" rtlCol="0" anchor="t"/>
          <a:lstStyle/>
          <a:p>
            <a:pPr algn="l" indent="0" marL="0">
              <a:buNone/>
            </a:pPr>
            <a:r>
              <a:rPr lang="en-US" sz="2600" dirty="0">
                <a:solidFill>
                  <a:srgbClr val="C9D0DB"/>
                </a:solidFill>
                <a:latin typeface="Arial" pitchFamily="34" charset="0"/>
                <a:ea typeface="Arial" pitchFamily="34" charset="-122"/>
                <a:cs typeface="Arial" pitchFamily="34" charset="-120"/>
              </a:rPr>
              <a:t>Agentic AI Automation System</a:t>
            </a:r>
            <a:endParaRPr lang="en-US" sz="2600" dirty="0"/>
          </a:p>
        </p:txBody>
      </p:sp>
      <p:sp>
        <p:nvSpPr>
          <p:cNvPr id="5" name="Text 3"/>
          <p:cNvSpPr txBox="1"/>
          <p:nvPr/>
        </p:nvSpPr>
        <p:spPr>
          <a:xfrm>
            <a:off x="640080" y="3383280"/>
            <a:ext cx="6035040" cy="914400"/>
          </a:xfrm>
          <a:prstGeom prst="rect">
            <a:avLst/>
          </a:prstGeom>
          <a:noFill/>
          <a:ln/>
        </p:spPr>
        <p:txBody>
          <a:bodyPr wrap="square" lIns="0" tIns="0" rIns="0" bIns="0" rtlCol="0" anchor="t"/>
          <a:lstStyle/>
          <a:p>
            <a:pPr algn="l" indent="0" marL="0">
              <a:buNone/>
            </a:pPr>
            <a:r>
              <a:rPr lang="en-US" sz="1800" dirty="0">
                <a:solidFill>
                  <a:srgbClr val="C9D0DB"/>
                </a:solidFill>
                <a:latin typeface="Calibri" pitchFamily="34" charset="0"/>
                <a:ea typeface="Calibri" pitchFamily="34" charset="-122"/>
                <a:cs typeface="Calibri" pitchFamily="34" charset="-120"/>
              </a:rPr>
              <a:t>A no-code platform that automates an organisation's repetitive work — without losing control of the AI</a:t>
            </a:r>
            <a:endParaRPr lang="en-US" sz="1800" dirty="0"/>
          </a:p>
        </p:txBody>
      </p:sp>
      <p:sp>
        <p:nvSpPr>
          <p:cNvPr id="6" name="Text 4"/>
          <p:cNvSpPr txBox="1"/>
          <p:nvPr/>
        </p:nvSpPr>
        <p:spPr>
          <a:xfrm>
            <a:off x="640080" y="4343400"/>
            <a:ext cx="5852160" cy="365760"/>
          </a:xfrm>
          <a:prstGeom prst="rect">
            <a:avLst/>
          </a:prstGeom>
          <a:noFill/>
          <a:ln/>
        </p:spPr>
        <p:txBody>
          <a:bodyPr wrap="square" lIns="0" tIns="0" rIns="0" bIns="0" rtlCol="0" anchor="t"/>
          <a:lstStyle/>
          <a:p>
            <a:pPr algn="l" indent="0" marL="0">
              <a:buNone/>
            </a:pPr>
            <a:r>
              <a:rPr lang="en-US" sz="1400" dirty="0">
                <a:solidFill>
                  <a:srgbClr val="7D8796"/>
                </a:solidFill>
                <a:latin typeface="Calibri" pitchFamily="34" charset="0"/>
                <a:ea typeface="Calibri" pitchFamily="34" charset="-122"/>
                <a:cs typeface="Calibri" pitchFamily="34" charset="-120"/>
              </a:rPr>
              <a:t>Product, architecture and the engineering behind it</a:t>
            </a:r>
            <a:endParaRPr lang="en-US" sz="1400" dirty="0"/>
          </a:p>
        </p:txBody>
      </p:sp>
      <p:sp>
        <p:nvSpPr>
          <p:cNvPr id="7" name="Text 5"/>
          <p:cNvSpPr txBox="1"/>
          <p:nvPr/>
        </p:nvSpPr>
        <p:spPr>
          <a:xfrm>
            <a:off x="640080" y="5989320"/>
            <a:ext cx="6400800" cy="274320"/>
          </a:xfrm>
          <a:prstGeom prst="rect">
            <a:avLst/>
          </a:prstGeom>
          <a:noFill/>
          <a:ln/>
        </p:spPr>
        <p:txBody>
          <a:bodyPr wrap="square" lIns="0" tIns="0" rIns="0" bIns="0" rtlCol="0" anchor="t"/>
          <a:lstStyle/>
          <a:p>
            <a:pPr algn="l" indent="0" marL="0">
              <a:buNone/>
            </a:pPr>
            <a:r>
              <a:rPr lang="en-US" sz="1200" dirty="0">
                <a:solidFill>
                  <a:srgbClr val="7D8796"/>
                </a:solidFill>
                <a:latin typeface="Calibri" pitchFamily="34" charset="0"/>
                <a:ea typeface="Calibri" pitchFamily="34" charset="-122"/>
                <a:cs typeface="Calibri" pitchFamily="34" charset="-120"/>
              </a:rPr>
              <a:t>Django ASGI  ·  LangGraph  ·  React + Vite  ·  PostgreSQL</a:t>
            </a:r>
            <a:endParaRPr lang="en-US" sz="1200" dirty="0"/>
          </a:p>
        </p:txBody>
      </p:sp>
      <p:sp>
        <p:nvSpPr>
          <p:cNvPr id="8" name="Text 6"/>
          <p:cNvSpPr txBox="1"/>
          <p:nvPr/>
        </p:nvSpPr>
        <p:spPr>
          <a:xfrm>
            <a:off x="8366760" y="1051560"/>
            <a:ext cx="2011680" cy="640080"/>
          </a:xfrm>
          <a:prstGeom prst="roundRect">
            <a:avLst>
              <a:gd name="adj" fmla="val 11429"/>
            </a:avLst>
          </a:prstGeom>
          <a:solidFill>
            <a:srgbClr val="232A36"/>
          </a:solidFill>
          <a:ln w="12700">
            <a:solidFill>
              <a:srgbClr val="3A4352"/>
            </a:solidFill>
            <a:prstDash val="solid"/>
          </a:ln>
        </p:spPr>
        <p:txBody>
          <a:bodyPr wrap="square" lIns="50800" tIns="101600" rIns="101600" bIns="50800" rtlCol="0" anchor="ctr"/>
          <a:lstStyle/>
          <a:p>
            <a:pPr algn="ctr" indent="0" marL="0">
              <a:spcAft>
                <a:spcPts val="200"/>
              </a:spcAft>
              <a:buNone/>
            </a:pPr>
            <a:r>
              <a:rPr lang="en-US" sz="1400" b="1" dirty="0">
                <a:solidFill>
                  <a:srgbClr val="FFFFFF"/>
                </a:solidFill>
                <a:latin typeface="Arial" pitchFamily="34" charset="0"/>
                <a:ea typeface="Arial" pitchFamily="34" charset="-122"/>
                <a:cs typeface="Arial" pitchFamily="34" charset="-120"/>
              </a:rPr>
              <a:t>You</a:t>
            </a:r>
            <a:endParaRPr lang="en-US" sz="1400" dirty="0"/>
          </a:p>
          <a:p>
            <a:pPr algn="ctr" indent="0" marL="0">
              <a:spcAft>
                <a:spcPts val="200"/>
              </a:spcAft>
              <a:buNone/>
            </a:pPr>
            <a:r>
              <a:rPr lang="en-US" sz="1100" dirty="0">
                <a:solidFill>
                  <a:srgbClr val="AEB6C2"/>
                </a:solidFill>
                <a:latin typeface="Calibri" pitchFamily="34" charset="0"/>
                <a:ea typeface="Calibri" pitchFamily="34" charset="-122"/>
                <a:cs typeface="Calibri" pitchFamily="34" charset="-120"/>
              </a:rPr>
              <a:t>the boss</a:t>
            </a:r>
            <a:endParaRPr lang="en-US" sz="1400" dirty="0"/>
          </a:p>
        </p:txBody>
      </p:sp>
      <p:sp>
        <p:nvSpPr>
          <p:cNvPr id="9" name="Shape 7"/>
          <p:cNvSpPr/>
          <p:nvPr/>
        </p:nvSpPr>
        <p:spPr>
          <a:xfrm>
            <a:off x="9372600" y="1691640"/>
            <a:ext cx="0" cy="640080"/>
          </a:xfrm>
          <a:prstGeom prst="line">
            <a:avLst/>
          </a:prstGeom>
          <a:noFill/>
          <a:ln w="22225">
            <a:solidFill>
              <a:srgbClr val="6B7686"/>
            </a:solidFill>
            <a:prstDash val="solid"/>
            <a:tailEnd type="triangle"/>
          </a:ln>
        </p:spPr>
      </p:sp>
      <p:sp>
        <p:nvSpPr>
          <p:cNvPr id="10" name="Text 8"/>
          <p:cNvSpPr txBox="1"/>
          <p:nvPr/>
        </p:nvSpPr>
        <p:spPr>
          <a:xfrm>
            <a:off x="7909560" y="2331720"/>
            <a:ext cx="2926080" cy="868680"/>
          </a:xfrm>
          <a:prstGeom prst="roundRect">
            <a:avLst>
              <a:gd name="adj" fmla="val 8421"/>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500" b="1" dirty="0">
                <a:solidFill>
                  <a:srgbClr val="FFFFFF"/>
                </a:solidFill>
                <a:latin typeface="Arial" pitchFamily="34" charset="0"/>
                <a:ea typeface="Arial" pitchFamily="34" charset="-122"/>
                <a:cs typeface="Arial" pitchFamily="34" charset="-120"/>
              </a:rPr>
              <a:t>Chat orchestrator</a:t>
            </a:r>
            <a:endParaRPr lang="en-US" sz="1500" dirty="0"/>
          </a:p>
          <a:p>
            <a:pPr algn="ctr" indent="0" marL="0">
              <a:spcAft>
                <a:spcPts val="200"/>
              </a:spcAft>
              <a:buNone/>
            </a:pPr>
            <a:r>
              <a:rPr lang="en-US" sz="1200" dirty="0">
                <a:solidFill>
                  <a:srgbClr val="FFF3E3"/>
                </a:solidFill>
                <a:latin typeface="Calibri" pitchFamily="34" charset="0"/>
                <a:ea typeface="Calibri" pitchFamily="34" charset="-122"/>
                <a:cs typeface="Calibri" pitchFamily="34" charset="-120"/>
              </a:rPr>
              <a:t>reads · plans · delegates</a:t>
            </a:r>
            <a:endParaRPr lang="en-US" sz="1500" dirty="0"/>
          </a:p>
        </p:txBody>
      </p:sp>
      <p:sp>
        <p:nvSpPr>
          <p:cNvPr id="11" name="Shape 9"/>
          <p:cNvSpPr/>
          <p:nvPr/>
        </p:nvSpPr>
        <p:spPr>
          <a:xfrm flipH="1">
            <a:off x="7955280" y="3200400"/>
            <a:ext cx="1417320" cy="777240"/>
          </a:xfrm>
          <a:prstGeom prst="line">
            <a:avLst/>
          </a:prstGeom>
          <a:noFill/>
          <a:ln w="22225">
            <a:solidFill>
              <a:srgbClr val="6B7686"/>
            </a:solidFill>
            <a:prstDash val="solid"/>
            <a:tailEnd type="triangle"/>
          </a:ln>
        </p:spPr>
      </p:sp>
      <p:sp>
        <p:nvSpPr>
          <p:cNvPr id="12" name="Text 10"/>
          <p:cNvSpPr txBox="1"/>
          <p:nvPr/>
        </p:nvSpPr>
        <p:spPr>
          <a:xfrm>
            <a:off x="7360920" y="3977640"/>
            <a:ext cx="1188720" cy="822960"/>
          </a:xfrm>
          <a:prstGeom prst="roundRect">
            <a:avLst>
              <a:gd name="adj" fmla="val 8889"/>
            </a:avLst>
          </a:prstGeom>
          <a:solidFill>
            <a:srgbClr val="15877D"/>
          </a:solidFill>
          <a:ln w="12700">
            <a:solidFill>
              <a:srgbClr val="15877D"/>
            </a:solidFill>
            <a:prstDash val="solid"/>
          </a:ln>
        </p:spPr>
        <p:txBody>
          <a:bodyPr wrap="square" lIns="25400" tIns="38100" rIns="38100" bIns="254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Analyst</a:t>
            </a:r>
            <a:endParaRPr lang="en-US" sz="1250" dirty="0"/>
          </a:p>
          <a:p>
            <a:pPr algn="ctr" indent="0" marL="0">
              <a:spcAft>
                <a:spcPts val="200"/>
              </a:spcAft>
              <a:buNone/>
            </a:pPr>
            <a:r>
              <a:rPr lang="en-US" sz="1050" dirty="0">
                <a:solidFill>
                  <a:srgbClr val="D5EFEC"/>
                </a:solidFill>
                <a:latin typeface="Calibri" pitchFamily="34" charset="0"/>
                <a:ea typeface="Calibri" pitchFamily="34" charset="-122"/>
                <a:cs typeface="Calibri" pitchFamily="34" charset="-120"/>
              </a:rPr>
              <a:t>subagent</a:t>
            </a:r>
            <a:endParaRPr lang="en-US" sz="1250" dirty="0"/>
          </a:p>
        </p:txBody>
      </p:sp>
      <p:sp>
        <p:nvSpPr>
          <p:cNvPr id="13" name="Shape 11"/>
          <p:cNvSpPr/>
          <p:nvPr/>
        </p:nvSpPr>
        <p:spPr>
          <a:xfrm flipH="1">
            <a:off x="9326880" y="3200400"/>
            <a:ext cx="45720" cy="777240"/>
          </a:xfrm>
          <a:prstGeom prst="line">
            <a:avLst/>
          </a:prstGeom>
          <a:noFill/>
          <a:ln w="22225">
            <a:solidFill>
              <a:srgbClr val="6B7686"/>
            </a:solidFill>
            <a:prstDash val="solid"/>
            <a:tailEnd type="triangle"/>
          </a:ln>
        </p:spPr>
      </p:sp>
      <p:sp>
        <p:nvSpPr>
          <p:cNvPr id="14" name="Text 12"/>
          <p:cNvSpPr txBox="1"/>
          <p:nvPr/>
        </p:nvSpPr>
        <p:spPr>
          <a:xfrm>
            <a:off x="8732520" y="3977640"/>
            <a:ext cx="1188720" cy="822960"/>
          </a:xfrm>
          <a:prstGeom prst="roundRect">
            <a:avLst>
              <a:gd name="adj" fmla="val 8889"/>
            </a:avLst>
          </a:prstGeom>
          <a:solidFill>
            <a:srgbClr val="15877D"/>
          </a:solidFill>
          <a:ln w="12700">
            <a:solidFill>
              <a:srgbClr val="15877D"/>
            </a:solidFill>
            <a:prstDash val="solid"/>
          </a:ln>
        </p:spPr>
        <p:txBody>
          <a:bodyPr wrap="square" lIns="25400" tIns="38100" rIns="38100" bIns="254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Writer</a:t>
            </a:r>
            <a:endParaRPr lang="en-US" sz="1250" dirty="0"/>
          </a:p>
          <a:p>
            <a:pPr algn="ctr" indent="0" marL="0">
              <a:spcAft>
                <a:spcPts val="200"/>
              </a:spcAft>
              <a:buNone/>
            </a:pPr>
            <a:r>
              <a:rPr lang="en-US" sz="1050" dirty="0">
                <a:solidFill>
                  <a:srgbClr val="D5EFEC"/>
                </a:solidFill>
                <a:latin typeface="Calibri" pitchFamily="34" charset="0"/>
                <a:ea typeface="Calibri" pitchFamily="34" charset="-122"/>
                <a:cs typeface="Calibri" pitchFamily="34" charset="-120"/>
              </a:rPr>
              <a:t>subagent</a:t>
            </a:r>
            <a:endParaRPr lang="en-US" sz="1250" dirty="0"/>
          </a:p>
        </p:txBody>
      </p:sp>
      <p:sp>
        <p:nvSpPr>
          <p:cNvPr id="15" name="Shape 13"/>
          <p:cNvSpPr/>
          <p:nvPr/>
        </p:nvSpPr>
        <p:spPr>
          <a:xfrm>
            <a:off x="9372600" y="3200400"/>
            <a:ext cx="1325880" cy="777240"/>
          </a:xfrm>
          <a:prstGeom prst="line">
            <a:avLst/>
          </a:prstGeom>
          <a:noFill/>
          <a:ln w="22225">
            <a:solidFill>
              <a:srgbClr val="6B7686"/>
            </a:solidFill>
            <a:prstDash val="solid"/>
            <a:tailEnd type="triangle"/>
          </a:ln>
        </p:spPr>
      </p:sp>
      <p:sp>
        <p:nvSpPr>
          <p:cNvPr id="16" name="Text 14"/>
          <p:cNvSpPr txBox="1"/>
          <p:nvPr/>
        </p:nvSpPr>
        <p:spPr>
          <a:xfrm>
            <a:off x="10104120" y="3977640"/>
            <a:ext cx="1188720" cy="822960"/>
          </a:xfrm>
          <a:prstGeom prst="roundRect">
            <a:avLst>
              <a:gd name="adj" fmla="val 8889"/>
            </a:avLst>
          </a:prstGeom>
          <a:solidFill>
            <a:srgbClr val="15877D"/>
          </a:solidFill>
          <a:ln w="12700">
            <a:solidFill>
              <a:srgbClr val="15877D"/>
            </a:solidFill>
            <a:prstDash val="solid"/>
          </a:ln>
        </p:spPr>
        <p:txBody>
          <a:bodyPr wrap="square" lIns="25400" tIns="38100" rIns="38100" bIns="254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Mailbox</a:t>
            </a:r>
            <a:endParaRPr lang="en-US" sz="1250" dirty="0"/>
          </a:p>
          <a:p>
            <a:pPr algn="ctr" indent="0" marL="0">
              <a:spcAft>
                <a:spcPts val="200"/>
              </a:spcAft>
              <a:buNone/>
            </a:pPr>
            <a:r>
              <a:rPr lang="en-US" sz="1050" dirty="0">
                <a:solidFill>
                  <a:srgbClr val="D5EFEC"/>
                </a:solidFill>
                <a:latin typeface="Calibri" pitchFamily="34" charset="0"/>
                <a:ea typeface="Calibri" pitchFamily="34" charset="-122"/>
                <a:cs typeface="Calibri" pitchFamily="34" charset="-120"/>
              </a:rPr>
              <a:t>subagent</a:t>
            </a:r>
            <a:endParaRPr lang="en-US" sz="1250" dirty="0"/>
          </a:p>
        </p:txBody>
      </p:sp>
      <p:sp>
        <p:nvSpPr>
          <p:cNvPr id="17" name="Text 15"/>
          <p:cNvSpPr txBox="1"/>
          <p:nvPr/>
        </p:nvSpPr>
        <p:spPr>
          <a:xfrm>
            <a:off x="7360920" y="4983480"/>
            <a:ext cx="3931920" cy="274320"/>
          </a:xfrm>
          <a:prstGeom prst="rect">
            <a:avLst/>
          </a:prstGeom>
          <a:noFill/>
          <a:ln/>
        </p:spPr>
        <p:txBody>
          <a:bodyPr wrap="square" lIns="0" tIns="0" rIns="0" bIns="0" rtlCol="0" anchor="t"/>
          <a:lstStyle/>
          <a:p>
            <a:pPr algn="ctr" indent="0" marL="0">
              <a:buNone/>
            </a:pPr>
            <a:r>
              <a:rPr lang="en-US" sz="1150" i="1" dirty="0">
                <a:solidFill>
                  <a:srgbClr val="8A94A3"/>
                </a:solidFill>
                <a:latin typeface="Calibri" pitchFamily="34" charset="0"/>
                <a:ea typeface="Calibri" pitchFamily="34" charset="-122"/>
                <a:cs typeface="Calibri" pitchFamily="34" charset="-120"/>
              </a:rPr>
              <a:t>each worker holds only the grants it was given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WHY AIAAS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Automate the repetitive work — without losing control</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Repetitive tasks fill a company's week, mostly done by people who don't code. AI can take them over — if people stay in charge.</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a:t>
            </a:r>
            <a:endParaRPr lang="en-US" sz="1000" dirty="0"/>
          </a:p>
        </p:txBody>
      </p:sp>
      <p:sp>
        <p:nvSpPr>
          <p:cNvPr id="6" name="Text 4"/>
          <p:cNvSpPr txBox="1"/>
          <p:nvPr/>
        </p:nvSpPr>
        <p:spPr>
          <a:xfrm>
            <a:off x="548640" y="1965960"/>
            <a:ext cx="4572000" cy="320040"/>
          </a:xfrm>
          <a:prstGeom prst="rect">
            <a:avLst/>
          </a:prstGeom>
          <a:noFill/>
          <a:ln/>
        </p:spPr>
        <p:txBody>
          <a:bodyPr wrap="square" lIns="0" tIns="0" rIns="0" bIns="0" rtlCol="0" anchor="t"/>
          <a:lstStyle/>
          <a:p>
            <a:pPr algn="l" indent="0" marL="0">
              <a:buNone/>
            </a:pPr>
            <a:r>
              <a:rPr lang="en-US" sz="1500" b="1" dirty="0">
                <a:solidFill>
                  <a:srgbClr val="8E2B24"/>
                </a:solidFill>
                <a:latin typeface="Arial" pitchFamily="34" charset="0"/>
                <a:ea typeface="Arial" pitchFamily="34" charset="-122"/>
                <a:cs typeface="Arial" pitchFamily="34" charset="-120"/>
              </a:rPr>
              <a:t>The problem</a:t>
            </a:r>
            <a:endParaRPr lang="en-US" sz="1500" dirty="0"/>
          </a:p>
        </p:txBody>
      </p:sp>
      <p:sp>
        <p:nvSpPr>
          <p:cNvPr id="7" name="Text 5"/>
          <p:cNvSpPr txBox="1"/>
          <p:nvPr/>
        </p:nvSpPr>
        <p:spPr>
          <a:xfrm>
            <a:off x="6537960" y="1965960"/>
            <a:ext cx="4572000" cy="320040"/>
          </a:xfrm>
          <a:prstGeom prst="rect">
            <a:avLst/>
          </a:prstGeom>
          <a:noFill/>
          <a:ln/>
        </p:spPr>
        <p:txBody>
          <a:bodyPr wrap="square" lIns="0" tIns="0" rIns="0" bIns="0" rtlCol="0" anchor="t"/>
          <a:lstStyle/>
          <a:p>
            <a:pPr algn="l" indent="0" marL="0">
              <a:buNone/>
            </a:pPr>
            <a:r>
              <a:rPr lang="en-US" sz="1500" b="1" dirty="0">
                <a:solidFill>
                  <a:srgbClr val="0D5C55"/>
                </a:solidFill>
                <a:latin typeface="Arial" pitchFamily="34" charset="0"/>
                <a:ea typeface="Arial" pitchFamily="34" charset="-122"/>
                <a:cs typeface="Arial" pitchFamily="34" charset="-120"/>
              </a:rPr>
              <a:t>What AIAAS does</a:t>
            </a:r>
            <a:endParaRPr lang="en-US" sz="1500" dirty="0"/>
          </a:p>
        </p:txBody>
      </p:sp>
      <p:sp>
        <p:nvSpPr>
          <p:cNvPr id="8" name="Shape 6"/>
          <p:cNvSpPr/>
          <p:nvPr/>
        </p:nvSpPr>
        <p:spPr>
          <a:xfrm>
            <a:off x="548640" y="2331720"/>
            <a:ext cx="5440680" cy="1024128"/>
          </a:xfrm>
          <a:prstGeom prst="roundRect">
            <a:avLst>
              <a:gd name="adj" fmla="val 8929"/>
            </a:avLst>
          </a:prstGeom>
          <a:solidFill>
            <a:srgbClr val="FBE8E6"/>
          </a:solidFill>
          <a:ln w="12700">
            <a:solidFill>
              <a:srgbClr val="FBE8E6"/>
            </a:solidFill>
            <a:prstDash val="solid"/>
          </a:ln>
        </p:spPr>
      </p:sp>
      <p:sp>
        <p:nvSpPr>
          <p:cNvPr id="9" name="Shape 7"/>
          <p:cNvSpPr/>
          <p:nvPr/>
        </p:nvSpPr>
        <p:spPr>
          <a:xfrm>
            <a:off x="731520" y="2569464"/>
            <a:ext cx="548640" cy="548640"/>
          </a:xfrm>
          <a:prstGeom prst="ellipse">
            <a:avLst/>
          </a:prstGeom>
          <a:solidFill>
            <a:srgbClr val="C4433A"/>
          </a:solidFill>
          <a:ln w="12700">
            <a:solidFill>
              <a:srgbClr val="C4433A"/>
            </a:solidFill>
            <a:prstDash val="solid"/>
          </a:ln>
        </p:spPr>
      </p:sp>
      <p:pic>
        <p:nvPicPr>
          <p:cNvPr id="10" name="Image 0" descr="preencoded.png">    </p:cNvPr>
          <p:cNvPicPr>
            <a:picLocks noChangeAspect="1"/>
          </p:cNvPicPr>
          <p:nvPr/>
        </p:nvPicPr>
        <p:blipFill>
          <a:blip r:embed="rId1"/>
          <a:stretch>
            <a:fillRect/>
          </a:stretch>
        </p:blipFill>
        <p:spPr>
          <a:xfrm>
            <a:off x="874166" y="2712110"/>
            <a:ext cx="263347" cy="263347"/>
          </a:xfrm>
          <a:prstGeom prst="rect">
            <a:avLst/>
          </a:prstGeom>
        </p:spPr>
      </p:pic>
      <p:sp>
        <p:nvSpPr>
          <p:cNvPr id="11" name="Text 8"/>
          <p:cNvSpPr txBox="1"/>
          <p:nvPr/>
        </p:nvSpPr>
        <p:spPr>
          <a:xfrm>
            <a:off x="1463040" y="2423160"/>
            <a:ext cx="4389120" cy="91440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Repetitive work eats the week</a:t>
            </a:r>
            <a:endParaRPr lang="en-US" sz="1400" dirty="0"/>
          </a:p>
          <a:p>
            <a:pPr indent="0" marL="0">
              <a:buNone/>
            </a:pPr>
            <a:r>
              <a:rPr lang="en-US" sz="1200" dirty="0">
                <a:solidFill>
                  <a:srgbClr val="5B6472"/>
                </a:solidFill>
                <a:latin typeface="Calibri" pitchFamily="34" charset="0"/>
                <a:ea typeface="Calibri" pitchFamily="34" charset="-122"/>
                <a:cs typeface="Calibri" pitchFamily="34" charset="-120"/>
              </a:rPr>
              <a:t>Reports, inbox triage, reconciliations, follow-ups — the same steps, every week, by hand.</a:t>
            </a:r>
            <a:endParaRPr lang="en-US" sz="1400" dirty="0"/>
          </a:p>
        </p:txBody>
      </p:sp>
      <p:sp>
        <p:nvSpPr>
          <p:cNvPr id="12" name="Shape 9"/>
          <p:cNvSpPr/>
          <p:nvPr/>
        </p:nvSpPr>
        <p:spPr>
          <a:xfrm>
            <a:off x="6035040" y="2843784"/>
            <a:ext cx="457200" cy="0"/>
          </a:xfrm>
          <a:prstGeom prst="line">
            <a:avLst/>
          </a:prstGeom>
          <a:noFill/>
          <a:ln w="22225">
            <a:solidFill>
              <a:srgbClr val="8A93A1"/>
            </a:solidFill>
            <a:prstDash val="solid"/>
            <a:tailEnd type="triangle"/>
          </a:ln>
        </p:spPr>
      </p:sp>
      <p:sp>
        <p:nvSpPr>
          <p:cNvPr id="13" name="Shape 10"/>
          <p:cNvSpPr/>
          <p:nvPr/>
        </p:nvSpPr>
        <p:spPr>
          <a:xfrm>
            <a:off x="6537960" y="2331720"/>
            <a:ext cx="5102352" cy="1024128"/>
          </a:xfrm>
          <a:prstGeom prst="roundRect">
            <a:avLst>
              <a:gd name="adj" fmla="val 8929"/>
            </a:avLst>
          </a:prstGeom>
          <a:solidFill>
            <a:srgbClr val="E1F2F0"/>
          </a:solidFill>
          <a:ln w="12700">
            <a:solidFill>
              <a:srgbClr val="E1F2F0"/>
            </a:solidFill>
            <a:prstDash val="solid"/>
          </a:ln>
        </p:spPr>
      </p:sp>
      <p:sp>
        <p:nvSpPr>
          <p:cNvPr id="14" name="Shape 11"/>
          <p:cNvSpPr/>
          <p:nvPr/>
        </p:nvSpPr>
        <p:spPr>
          <a:xfrm>
            <a:off x="6720840" y="2569464"/>
            <a:ext cx="548640" cy="548640"/>
          </a:xfrm>
          <a:prstGeom prst="ellipse">
            <a:avLst/>
          </a:prstGeom>
          <a:solidFill>
            <a:srgbClr val="15877D"/>
          </a:solidFill>
          <a:ln w="12700">
            <a:solidFill>
              <a:srgbClr val="15877D"/>
            </a:solidFill>
            <a:prstDash val="solid"/>
          </a:ln>
        </p:spPr>
      </p:sp>
      <p:pic>
        <p:nvPicPr>
          <p:cNvPr id="15" name="Image 1" descr="preencoded.png">    </p:cNvPr>
          <p:cNvPicPr>
            <a:picLocks noChangeAspect="1"/>
          </p:cNvPicPr>
          <p:nvPr/>
        </p:nvPicPr>
        <p:blipFill>
          <a:blip r:embed="rId2"/>
          <a:stretch>
            <a:fillRect/>
          </a:stretch>
        </p:blipFill>
        <p:spPr>
          <a:xfrm>
            <a:off x="6863486" y="2712110"/>
            <a:ext cx="263347" cy="263347"/>
          </a:xfrm>
          <a:prstGeom prst="rect">
            <a:avLst/>
          </a:prstGeom>
        </p:spPr>
      </p:pic>
      <p:sp>
        <p:nvSpPr>
          <p:cNvPr id="16" name="Text 12"/>
          <p:cNvSpPr txBox="1"/>
          <p:nvPr/>
        </p:nvSpPr>
        <p:spPr>
          <a:xfrm>
            <a:off x="7452360" y="2423160"/>
            <a:ext cx="4069080" cy="91440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Automates it</a:t>
            </a:r>
            <a:endParaRPr lang="en-US" sz="1400" dirty="0"/>
          </a:p>
          <a:p>
            <a:pPr indent="0" marL="0">
              <a:buNone/>
            </a:pPr>
            <a:r>
              <a:rPr lang="en-US" sz="1200" dirty="0">
                <a:solidFill>
                  <a:srgbClr val="5B6472"/>
                </a:solidFill>
                <a:latin typeface="Calibri" pitchFamily="34" charset="0"/>
                <a:ea typeface="Calibri" pitchFamily="34" charset="-122"/>
                <a:cs typeface="Calibri" pitchFamily="34" charset="-120"/>
              </a:rPr>
              <a:t>Configured agents do the work — on demand, on a schedule or on an event — and hand back real files.</a:t>
            </a:r>
            <a:endParaRPr lang="en-US" sz="1400" dirty="0"/>
          </a:p>
        </p:txBody>
      </p:sp>
      <p:sp>
        <p:nvSpPr>
          <p:cNvPr id="17" name="Shape 13"/>
          <p:cNvSpPr/>
          <p:nvPr/>
        </p:nvSpPr>
        <p:spPr>
          <a:xfrm>
            <a:off x="548640" y="3474720"/>
            <a:ext cx="5440680" cy="1024128"/>
          </a:xfrm>
          <a:prstGeom prst="roundRect">
            <a:avLst>
              <a:gd name="adj" fmla="val 8929"/>
            </a:avLst>
          </a:prstGeom>
          <a:solidFill>
            <a:srgbClr val="FBE8E6"/>
          </a:solidFill>
          <a:ln w="12700">
            <a:solidFill>
              <a:srgbClr val="FBE8E6"/>
            </a:solidFill>
            <a:prstDash val="solid"/>
          </a:ln>
        </p:spPr>
      </p:sp>
      <p:sp>
        <p:nvSpPr>
          <p:cNvPr id="18" name="Shape 14"/>
          <p:cNvSpPr/>
          <p:nvPr/>
        </p:nvSpPr>
        <p:spPr>
          <a:xfrm>
            <a:off x="731520" y="3712464"/>
            <a:ext cx="548640" cy="548640"/>
          </a:xfrm>
          <a:prstGeom prst="ellipse">
            <a:avLst/>
          </a:prstGeom>
          <a:solidFill>
            <a:srgbClr val="C4433A"/>
          </a:solidFill>
          <a:ln w="12700">
            <a:solidFill>
              <a:srgbClr val="C4433A"/>
            </a:solidFill>
            <a:prstDash val="solid"/>
          </a:ln>
        </p:spPr>
      </p:sp>
      <p:pic>
        <p:nvPicPr>
          <p:cNvPr id="19" name="Image 2" descr="preencoded.png">    </p:cNvPr>
          <p:cNvPicPr>
            <a:picLocks noChangeAspect="1"/>
          </p:cNvPicPr>
          <p:nvPr/>
        </p:nvPicPr>
        <p:blipFill>
          <a:blip r:embed="rId3"/>
          <a:stretch>
            <a:fillRect/>
          </a:stretch>
        </p:blipFill>
        <p:spPr>
          <a:xfrm>
            <a:off x="874166" y="3855110"/>
            <a:ext cx="263347" cy="263347"/>
          </a:xfrm>
          <a:prstGeom prst="rect">
            <a:avLst/>
          </a:prstGeom>
        </p:spPr>
      </p:pic>
      <p:sp>
        <p:nvSpPr>
          <p:cNvPr id="20" name="Text 15"/>
          <p:cNvSpPr txBox="1"/>
          <p:nvPr/>
        </p:nvSpPr>
        <p:spPr>
          <a:xfrm>
            <a:off x="1463040" y="3566160"/>
            <a:ext cx="4389120" cy="91440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Uncontrolled AI is a liability</a:t>
            </a:r>
            <a:endParaRPr lang="en-US" sz="1400" dirty="0"/>
          </a:p>
          <a:p>
            <a:pPr indent="0" marL="0">
              <a:buNone/>
            </a:pPr>
            <a:r>
              <a:rPr lang="en-US" sz="1200" dirty="0">
                <a:solidFill>
                  <a:srgbClr val="5B6472"/>
                </a:solidFill>
                <a:latin typeface="Calibri" pitchFamily="34" charset="0"/>
                <a:ea typeface="Calibri" pitchFamily="34" charset="-122"/>
                <a:cs typeface="Calibri" pitchFamily="34" charset="-120"/>
              </a:rPr>
              <a:t>An agent with the whole mailbox and no brakes is a risk nobody will sign off on.</a:t>
            </a:r>
            <a:endParaRPr lang="en-US" sz="1400" dirty="0"/>
          </a:p>
        </p:txBody>
      </p:sp>
      <p:sp>
        <p:nvSpPr>
          <p:cNvPr id="21" name="Shape 16"/>
          <p:cNvSpPr/>
          <p:nvPr/>
        </p:nvSpPr>
        <p:spPr>
          <a:xfrm>
            <a:off x="6035040" y="3986784"/>
            <a:ext cx="457200" cy="0"/>
          </a:xfrm>
          <a:prstGeom prst="line">
            <a:avLst/>
          </a:prstGeom>
          <a:noFill/>
          <a:ln w="22225">
            <a:solidFill>
              <a:srgbClr val="8A93A1"/>
            </a:solidFill>
            <a:prstDash val="solid"/>
            <a:tailEnd type="triangle"/>
          </a:ln>
        </p:spPr>
      </p:sp>
      <p:sp>
        <p:nvSpPr>
          <p:cNvPr id="22" name="Shape 17"/>
          <p:cNvSpPr/>
          <p:nvPr/>
        </p:nvSpPr>
        <p:spPr>
          <a:xfrm>
            <a:off x="6537960" y="3474720"/>
            <a:ext cx="5102352" cy="1024128"/>
          </a:xfrm>
          <a:prstGeom prst="roundRect">
            <a:avLst>
              <a:gd name="adj" fmla="val 8929"/>
            </a:avLst>
          </a:prstGeom>
          <a:solidFill>
            <a:srgbClr val="E1F2F0"/>
          </a:solidFill>
          <a:ln w="12700">
            <a:solidFill>
              <a:srgbClr val="E1F2F0"/>
            </a:solidFill>
            <a:prstDash val="solid"/>
          </a:ln>
        </p:spPr>
      </p:sp>
      <p:sp>
        <p:nvSpPr>
          <p:cNvPr id="23" name="Shape 18"/>
          <p:cNvSpPr/>
          <p:nvPr/>
        </p:nvSpPr>
        <p:spPr>
          <a:xfrm>
            <a:off x="6720840" y="3712464"/>
            <a:ext cx="548640" cy="548640"/>
          </a:xfrm>
          <a:prstGeom prst="ellipse">
            <a:avLst/>
          </a:prstGeom>
          <a:solidFill>
            <a:srgbClr val="15877D"/>
          </a:solidFill>
          <a:ln w="12700">
            <a:solidFill>
              <a:srgbClr val="15877D"/>
            </a:solidFill>
            <a:prstDash val="solid"/>
          </a:ln>
        </p:spPr>
      </p:sp>
      <p:pic>
        <p:nvPicPr>
          <p:cNvPr id="24" name="Image 3" descr="preencoded.png">    </p:cNvPr>
          <p:cNvPicPr>
            <a:picLocks noChangeAspect="1"/>
          </p:cNvPicPr>
          <p:nvPr/>
        </p:nvPicPr>
        <p:blipFill>
          <a:blip r:embed="rId4"/>
          <a:stretch>
            <a:fillRect/>
          </a:stretch>
        </p:blipFill>
        <p:spPr>
          <a:xfrm>
            <a:off x="6863486" y="3855110"/>
            <a:ext cx="263347" cy="263347"/>
          </a:xfrm>
          <a:prstGeom prst="rect">
            <a:avLst/>
          </a:prstGeom>
        </p:spPr>
      </p:pic>
      <p:sp>
        <p:nvSpPr>
          <p:cNvPr id="25" name="Text 19"/>
          <p:cNvSpPr txBox="1"/>
          <p:nvPr/>
        </p:nvSpPr>
        <p:spPr>
          <a:xfrm>
            <a:off x="7452360" y="3566160"/>
            <a:ext cx="4069080" cy="91440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Keeps people in control</a:t>
            </a:r>
            <a:endParaRPr lang="en-US" sz="1400" dirty="0"/>
          </a:p>
          <a:p>
            <a:pPr indent="0" marL="0">
              <a:buNone/>
            </a:pPr>
            <a:r>
              <a:rPr lang="en-US" sz="1200" dirty="0">
                <a:solidFill>
                  <a:srgbClr val="5B6472"/>
                </a:solidFill>
                <a:latin typeface="Calibri" pitchFamily="34" charset="0"/>
                <a:ea typeface="Calibri" pitchFamily="34" charset="-122"/>
                <a:cs typeface="Calibri" pitchFamily="34" charset="-120"/>
              </a:rPr>
              <a:t>Each agent gets only the access it was given; risky actions ask first; spend is capped; everything is recorded.</a:t>
            </a:r>
            <a:endParaRPr lang="en-US" sz="1400" dirty="0"/>
          </a:p>
        </p:txBody>
      </p:sp>
      <p:sp>
        <p:nvSpPr>
          <p:cNvPr id="26" name="Shape 20"/>
          <p:cNvSpPr/>
          <p:nvPr/>
        </p:nvSpPr>
        <p:spPr>
          <a:xfrm>
            <a:off x="548640" y="4617720"/>
            <a:ext cx="5440680" cy="1024128"/>
          </a:xfrm>
          <a:prstGeom prst="roundRect">
            <a:avLst>
              <a:gd name="adj" fmla="val 8929"/>
            </a:avLst>
          </a:prstGeom>
          <a:solidFill>
            <a:srgbClr val="FBE8E6"/>
          </a:solidFill>
          <a:ln w="12700">
            <a:solidFill>
              <a:srgbClr val="FBE8E6"/>
            </a:solidFill>
            <a:prstDash val="solid"/>
          </a:ln>
        </p:spPr>
      </p:sp>
      <p:sp>
        <p:nvSpPr>
          <p:cNvPr id="27" name="Shape 21"/>
          <p:cNvSpPr/>
          <p:nvPr/>
        </p:nvSpPr>
        <p:spPr>
          <a:xfrm>
            <a:off x="731520" y="4855464"/>
            <a:ext cx="548640" cy="548640"/>
          </a:xfrm>
          <a:prstGeom prst="ellipse">
            <a:avLst/>
          </a:prstGeom>
          <a:solidFill>
            <a:srgbClr val="C4433A"/>
          </a:solidFill>
          <a:ln w="12700">
            <a:solidFill>
              <a:srgbClr val="C4433A"/>
            </a:solidFill>
            <a:prstDash val="solid"/>
          </a:ln>
        </p:spPr>
      </p:sp>
      <p:pic>
        <p:nvPicPr>
          <p:cNvPr id="28" name="Image 4" descr="preencoded.png">    </p:cNvPr>
          <p:cNvPicPr>
            <a:picLocks noChangeAspect="1"/>
          </p:cNvPicPr>
          <p:nvPr/>
        </p:nvPicPr>
        <p:blipFill>
          <a:blip r:embed="rId5"/>
          <a:stretch>
            <a:fillRect/>
          </a:stretch>
        </p:blipFill>
        <p:spPr>
          <a:xfrm>
            <a:off x="874166" y="4998110"/>
            <a:ext cx="263347" cy="263347"/>
          </a:xfrm>
          <a:prstGeom prst="rect">
            <a:avLst/>
          </a:prstGeom>
        </p:spPr>
      </p:pic>
      <p:sp>
        <p:nvSpPr>
          <p:cNvPr id="29" name="Text 22"/>
          <p:cNvSpPr txBox="1"/>
          <p:nvPr/>
        </p:nvSpPr>
        <p:spPr>
          <a:xfrm>
            <a:off x="1463040" y="4709160"/>
            <a:ext cx="4389120" cy="91440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Knowledge is scattered</a:t>
            </a:r>
            <a:endParaRPr lang="en-US" sz="1400" dirty="0"/>
          </a:p>
          <a:p>
            <a:pPr indent="0" marL="0">
              <a:buNone/>
            </a:pPr>
            <a:r>
              <a:rPr lang="en-US" sz="1200" dirty="0">
                <a:solidFill>
                  <a:srgbClr val="5B6472"/>
                </a:solidFill>
                <a:latin typeface="Calibri" pitchFamily="34" charset="0"/>
                <a:ea typeface="Calibri" pitchFamily="34" charset="-122"/>
                <a:cs typeface="Calibri" pitchFamily="34" charset="-120"/>
              </a:rPr>
              <a:t>Answers live in people's heads and inboxes. Solved problems get solved again.</a:t>
            </a:r>
            <a:endParaRPr lang="en-US" sz="1400" dirty="0"/>
          </a:p>
        </p:txBody>
      </p:sp>
      <p:sp>
        <p:nvSpPr>
          <p:cNvPr id="30" name="Shape 23"/>
          <p:cNvSpPr/>
          <p:nvPr/>
        </p:nvSpPr>
        <p:spPr>
          <a:xfrm>
            <a:off x="6035040" y="5129784"/>
            <a:ext cx="457200" cy="0"/>
          </a:xfrm>
          <a:prstGeom prst="line">
            <a:avLst/>
          </a:prstGeom>
          <a:noFill/>
          <a:ln w="22225">
            <a:solidFill>
              <a:srgbClr val="8A93A1"/>
            </a:solidFill>
            <a:prstDash val="solid"/>
            <a:tailEnd type="triangle"/>
          </a:ln>
        </p:spPr>
      </p:sp>
      <p:sp>
        <p:nvSpPr>
          <p:cNvPr id="31" name="Shape 24"/>
          <p:cNvSpPr/>
          <p:nvPr/>
        </p:nvSpPr>
        <p:spPr>
          <a:xfrm>
            <a:off x="6537960" y="4617720"/>
            <a:ext cx="5102352" cy="1024128"/>
          </a:xfrm>
          <a:prstGeom prst="roundRect">
            <a:avLst>
              <a:gd name="adj" fmla="val 8929"/>
            </a:avLst>
          </a:prstGeom>
          <a:solidFill>
            <a:srgbClr val="E1F2F0"/>
          </a:solidFill>
          <a:ln w="12700">
            <a:solidFill>
              <a:srgbClr val="E1F2F0"/>
            </a:solidFill>
            <a:prstDash val="solid"/>
          </a:ln>
        </p:spPr>
      </p:sp>
      <p:sp>
        <p:nvSpPr>
          <p:cNvPr id="32" name="Shape 25"/>
          <p:cNvSpPr/>
          <p:nvPr/>
        </p:nvSpPr>
        <p:spPr>
          <a:xfrm>
            <a:off x="6720840" y="4855464"/>
            <a:ext cx="548640" cy="548640"/>
          </a:xfrm>
          <a:prstGeom prst="ellipse">
            <a:avLst/>
          </a:prstGeom>
          <a:solidFill>
            <a:srgbClr val="15877D"/>
          </a:solidFill>
          <a:ln w="12700">
            <a:solidFill>
              <a:srgbClr val="15877D"/>
            </a:solidFill>
            <a:prstDash val="solid"/>
          </a:ln>
        </p:spPr>
      </p:sp>
      <p:pic>
        <p:nvPicPr>
          <p:cNvPr id="33" name="Image 5" descr="preencoded.png">    </p:cNvPr>
          <p:cNvPicPr>
            <a:picLocks noChangeAspect="1"/>
          </p:cNvPicPr>
          <p:nvPr/>
        </p:nvPicPr>
        <p:blipFill>
          <a:blip r:embed="rId6"/>
          <a:stretch>
            <a:fillRect/>
          </a:stretch>
        </p:blipFill>
        <p:spPr>
          <a:xfrm>
            <a:off x="6863486" y="4998110"/>
            <a:ext cx="263347" cy="263347"/>
          </a:xfrm>
          <a:prstGeom prst="rect">
            <a:avLst/>
          </a:prstGeom>
        </p:spPr>
      </p:pic>
      <p:sp>
        <p:nvSpPr>
          <p:cNvPr id="34" name="Text 26"/>
          <p:cNvSpPr txBox="1"/>
          <p:nvPr/>
        </p:nvSpPr>
        <p:spPr>
          <a:xfrm>
            <a:off x="7452360" y="4709160"/>
            <a:ext cx="4069080" cy="91440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Makes intelligence abundant</a:t>
            </a:r>
            <a:endParaRPr lang="en-US" sz="1400" dirty="0"/>
          </a:p>
          <a:p>
            <a:pPr indent="0" marL="0">
              <a:buNone/>
            </a:pPr>
            <a:r>
              <a:rPr lang="en-US" sz="1200" dirty="0">
                <a:solidFill>
                  <a:srgbClr val="5B6472"/>
                </a:solidFill>
                <a:latin typeface="Calibri" pitchFamily="34" charset="0"/>
                <a:ea typeface="Calibri" pitchFamily="34" charset="-122"/>
                <a:cs typeface="Calibri" pitchFamily="34" charset="-120"/>
              </a:rPr>
              <a:t>Files, knowledge bases and solved problems are shared across the organisation — and never outside it.</a:t>
            </a:r>
            <a:endParaRPr lang="en-US" sz="1400" dirty="0"/>
          </a:p>
        </p:txBody>
      </p:sp>
      <p:sp>
        <p:nvSpPr>
          <p:cNvPr id="35" name="Shape 27"/>
          <p:cNvSpPr/>
          <p:nvPr/>
        </p:nvSpPr>
        <p:spPr>
          <a:xfrm>
            <a:off x="548640" y="5760720"/>
            <a:ext cx="11091672" cy="548640"/>
          </a:xfrm>
          <a:prstGeom prst="roundRect">
            <a:avLst>
              <a:gd name="adj" fmla="val 16667"/>
            </a:avLst>
          </a:prstGeom>
          <a:solidFill>
            <a:srgbClr val="151922"/>
          </a:solidFill>
          <a:ln w="12700">
            <a:solidFill>
              <a:srgbClr val="151922"/>
            </a:solidFill>
            <a:prstDash val="solid"/>
          </a:ln>
        </p:spPr>
      </p:sp>
      <p:sp>
        <p:nvSpPr>
          <p:cNvPr id="36" name="Text 28"/>
          <p:cNvSpPr txBox="1"/>
          <p:nvPr/>
        </p:nvSpPr>
        <p:spPr>
          <a:xfrm>
            <a:off x="822960" y="5806440"/>
            <a:ext cx="10607040" cy="457200"/>
          </a:xfrm>
          <a:prstGeom prst="rect">
            <a:avLst/>
          </a:prstGeom>
          <a:noFill/>
          <a:ln/>
        </p:spPr>
        <p:txBody>
          <a:bodyPr wrap="square" lIns="0" tIns="0" rIns="0" bIns="0" rtlCol="0" anchor="ctr"/>
          <a:lstStyle/>
          <a:p>
            <a:pPr algn="l" indent="0" marL="0">
              <a:buNone/>
            </a:pPr>
            <a:r>
              <a:rPr lang="en-US" sz="1500" b="1" dirty="0">
                <a:solidFill>
                  <a:srgbClr val="E08A1E"/>
                </a:solidFill>
                <a:latin typeface="Calibri" pitchFamily="34" charset="0"/>
                <a:ea typeface="Calibri" pitchFamily="34" charset="-122"/>
                <a:cs typeface="Calibri" pitchFamily="34" charset="-120"/>
              </a:rPr>
              <a:t>The goal: </a:t>
            </a:r>
            <a:pPr algn="l" indent="0" marL="0">
              <a:buNone/>
            </a:pPr>
            <a:r>
              <a:rPr lang="en-US" sz="1500" dirty="0">
                <a:solidFill>
                  <a:srgbClr val="FFFFFF"/>
                </a:solidFill>
                <a:latin typeface="Calibri" pitchFamily="34" charset="0"/>
                <a:ea typeface="Calibri" pitchFamily="34" charset="-122"/>
                <a:cs typeface="Calibri" pitchFamily="34" charset="-120"/>
              </a:rPr>
              <a:t>make information and intelligence abundant across an organisation — and controlled.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WHO IT'S FOR</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Built for people who don't write code</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 no-code platform: describe, click, approve. Code is optional — only for advanced or personalised needs.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48640" y="2057400"/>
            <a:ext cx="566928" cy="566928"/>
          </a:xfrm>
          <a:prstGeom prst="ellipse">
            <a:avLst/>
          </a:prstGeom>
          <a:solidFill>
            <a:srgbClr val="E08A1E"/>
          </a:solidFill>
          <a:ln w="12700">
            <a:solidFill>
              <a:srgbClr val="E08A1E"/>
            </a:solidFill>
            <a:prstDash val="solid"/>
          </a:ln>
        </p:spPr>
      </p:sp>
      <p:pic>
        <p:nvPicPr>
          <p:cNvPr id="7" name="Image 0" descr="preencoded.png">    </p:cNvPr>
          <p:cNvPicPr>
            <a:picLocks noChangeAspect="1"/>
          </p:cNvPicPr>
          <p:nvPr/>
        </p:nvPicPr>
        <p:blipFill>
          <a:blip r:embed="rId1"/>
          <a:stretch>
            <a:fillRect/>
          </a:stretch>
        </p:blipFill>
        <p:spPr>
          <a:xfrm>
            <a:off x="696041" y="2204801"/>
            <a:ext cx="272125" cy="272125"/>
          </a:xfrm>
          <a:prstGeom prst="rect">
            <a:avLst/>
          </a:prstGeom>
        </p:spPr>
      </p:pic>
      <p:sp>
        <p:nvSpPr>
          <p:cNvPr id="8" name="Text 5"/>
          <p:cNvSpPr txBox="1"/>
          <p:nvPr/>
        </p:nvSpPr>
        <p:spPr>
          <a:xfrm>
            <a:off x="1325880" y="2066544"/>
            <a:ext cx="5440680" cy="777240"/>
          </a:xfrm>
          <a:prstGeom prst="rect">
            <a:avLst/>
          </a:prstGeom>
          <a:noFill/>
          <a:ln/>
        </p:spPr>
        <p:txBody>
          <a:bodyPr wrap="square" lIns="0" tIns="0" rIns="0" bIns="0" rtlCol="0" anchor="t"/>
          <a:lstStyle/>
          <a:p>
            <a:pPr indent="0" marL="0">
              <a:buNone/>
            </a:pPr>
            <a:r>
              <a:rPr lang="en-US" sz="1450" b="1" dirty="0">
                <a:solidFill>
                  <a:srgbClr val="1C212B"/>
                </a:solidFill>
                <a:latin typeface="Arial" pitchFamily="34" charset="0"/>
                <a:ea typeface="Arial" pitchFamily="34" charset="-122"/>
                <a:cs typeface="Arial" pitchFamily="34" charset="-120"/>
              </a:rPr>
              <a:t>Build an agent</a:t>
            </a:r>
            <a:endParaRPr lang="en-US" sz="1450" dirty="0"/>
          </a:p>
          <a:p>
            <a:pPr indent="0" marL="0">
              <a:buNone/>
            </a:pPr>
            <a:r>
              <a:rPr lang="en-US" sz="1250" dirty="0">
                <a:solidFill>
                  <a:srgbClr val="5B6472"/>
                </a:solidFill>
                <a:latin typeface="Calibri" pitchFamily="34" charset="0"/>
                <a:ea typeface="Calibri" pitchFamily="34" charset="-122"/>
                <a:cs typeface="Calibri" pitchFamily="34" charset="-120"/>
              </a:rPr>
              <a:t>Describe it in chat, follow the step-by-step wizard, or install a ready-made template.</a:t>
            </a:r>
            <a:endParaRPr lang="en-US" sz="1450" dirty="0"/>
          </a:p>
        </p:txBody>
      </p:sp>
      <p:sp>
        <p:nvSpPr>
          <p:cNvPr id="9" name="Shape 6"/>
          <p:cNvSpPr/>
          <p:nvPr/>
        </p:nvSpPr>
        <p:spPr>
          <a:xfrm>
            <a:off x="548640" y="2880360"/>
            <a:ext cx="566928" cy="566928"/>
          </a:xfrm>
          <a:prstGeom prst="ellipse">
            <a:avLst/>
          </a:prstGeom>
          <a:solidFill>
            <a:srgbClr val="15877D"/>
          </a:solidFill>
          <a:ln w="12700">
            <a:solidFill>
              <a:srgbClr val="15877D"/>
            </a:solidFill>
            <a:prstDash val="solid"/>
          </a:ln>
        </p:spPr>
      </p:sp>
      <p:pic>
        <p:nvPicPr>
          <p:cNvPr id="10" name="Image 1" descr="preencoded.png">    </p:cNvPr>
          <p:cNvPicPr>
            <a:picLocks noChangeAspect="1"/>
          </p:cNvPicPr>
          <p:nvPr/>
        </p:nvPicPr>
        <p:blipFill>
          <a:blip r:embed="rId2"/>
          <a:stretch>
            <a:fillRect/>
          </a:stretch>
        </p:blipFill>
        <p:spPr>
          <a:xfrm>
            <a:off x="696041" y="3027761"/>
            <a:ext cx="272125" cy="272125"/>
          </a:xfrm>
          <a:prstGeom prst="rect">
            <a:avLst/>
          </a:prstGeom>
        </p:spPr>
      </p:pic>
      <p:sp>
        <p:nvSpPr>
          <p:cNvPr id="11" name="Text 7"/>
          <p:cNvSpPr txBox="1"/>
          <p:nvPr/>
        </p:nvSpPr>
        <p:spPr>
          <a:xfrm>
            <a:off x="1325880" y="2889504"/>
            <a:ext cx="5440680" cy="777240"/>
          </a:xfrm>
          <a:prstGeom prst="rect">
            <a:avLst/>
          </a:prstGeom>
          <a:noFill/>
          <a:ln/>
        </p:spPr>
        <p:txBody>
          <a:bodyPr wrap="square" lIns="0" tIns="0" rIns="0" bIns="0" rtlCol="0" anchor="t"/>
          <a:lstStyle/>
          <a:p>
            <a:pPr indent="0" marL="0">
              <a:buNone/>
            </a:pPr>
            <a:r>
              <a:rPr lang="en-US" sz="1450" b="1" dirty="0">
                <a:solidFill>
                  <a:srgbClr val="1C212B"/>
                </a:solidFill>
                <a:latin typeface="Arial" pitchFamily="34" charset="0"/>
                <a:ea typeface="Arial" pitchFamily="34" charset="-122"/>
                <a:cs typeface="Arial" pitchFamily="34" charset="-120"/>
              </a:rPr>
              <a:t>Connect Gmail, Drive, Calendar</a:t>
            </a:r>
            <a:endParaRPr lang="en-US" sz="1450" dirty="0"/>
          </a:p>
          <a:p>
            <a:pPr indent="0" marL="0">
              <a:buNone/>
            </a:pPr>
            <a:r>
              <a:rPr lang="en-US" sz="1250" dirty="0">
                <a:solidFill>
                  <a:srgbClr val="5B6472"/>
                </a:solidFill>
                <a:latin typeface="Calibri" pitchFamily="34" charset="0"/>
                <a:ea typeface="Calibri" pitchFamily="34" charset="-122"/>
                <a:cs typeface="Calibri" pitchFamily="34" charset="-120"/>
              </a:rPr>
              <a:t>Sign in with Google on the Connections page. No API keys, no config files.</a:t>
            </a:r>
            <a:endParaRPr lang="en-US" sz="1450" dirty="0"/>
          </a:p>
        </p:txBody>
      </p:sp>
      <p:sp>
        <p:nvSpPr>
          <p:cNvPr id="12" name="Shape 8"/>
          <p:cNvSpPr/>
          <p:nvPr/>
        </p:nvSpPr>
        <p:spPr>
          <a:xfrm>
            <a:off x="548640" y="3703320"/>
            <a:ext cx="566928" cy="566928"/>
          </a:xfrm>
          <a:prstGeom prst="ellipse">
            <a:avLst/>
          </a:prstGeom>
          <a:solidFill>
            <a:srgbClr val="4E5A6B"/>
          </a:solidFill>
          <a:ln w="12700">
            <a:solidFill>
              <a:srgbClr val="4E5A6B"/>
            </a:solidFill>
            <a:prstDash val="solid"/>
          </a:ln>
        </p:spPr>
      </p:sp>
      <p:pic>
        <p:nvPicPr>
          <p:cNvPr id="13" name="Image 2" descr="preencoded.png">    </p:cNvPr>
          <p:cNvPicPr>
            <a:picLocks noChangeAspect="1"/>
          </p:cNvPicPr>
          <p:nvPr/>
        </p:nvPicPr>
        <p:blipFill>
          <a:blip r:embed="rId3"/>
          <a:stretch>
            <a:fillRect/>
          </a:stretch>
        </p:blipFill>
        <p:spPr>
          <a:xfrm>
            <a:off x="696041" y="3850721"/>
            <a:ext cx="272125" cy="272125"/>
          </a:xfrm>
          <a:prstGeom prst="rect">
            <a:avLst/>
          </a:prstGeom>
        </p:spPr>
      </p:pic>
      <p:sp>
        <p:nvSpPr>
          <p:cNvPr id="14" name="Text 9"/>
          <p:cNvSpPr txBox="1"/>
          <p:nvPr/>
        </p:nvSpPr>
        <p:spPr>
          <a:xfrm>
            <a:off x="1325880" y="3712464"/>
            <a:ext cx="5440680" cy="777240"/>
          </a:xfrm>
          <a:prstGeom prst="rect">
            <a:avLst/>
          </a:prstGeom>
          <a:noFill/>
          <a:ln/>
        </p:spPr>
        <p:txBody>
          <a:bodyPr wrap="square" lIns="0" tIns="0" rIns="0" bIns="0" rtlCol="0" anchor="t"/>
          <a:lstStyle/>
          <a:p>
            <a:pPr indent="0" marL="0">
              <a:buNone/>
            </a:pPr>
            <a:r>
              <a:rPr lang="en-US" sz="1450" b="1" dirty="0">
                <a:solidFill>
                  <a:srgbClr val="1C212B"/>
                </a:solidFill>
                <a:latin typeface="Arial" pitchFamily="34" charset="0"/>
                <a:ea typeface="Arial" pitchFamily="34" charset="-122"/>
                <a:cs typeface="Arial" pitchFamily="34" charset="-120"/>
              </a:rPr>
              <a:t>Schedule it</a:t>
            </a:r>
            <a:endParaRPr lang="en-US" sz="1450" dirty="0"/>
          </a:p>
          <a:p>
            <a:pPr indent="0" marL="0">
              <a:buNone/>
            </a:pPr>
            <a:r>
              <a:rPr lang="en-US" sz="1250" dirty="0">
                <a:solidFill>
                  <a:srgbClr val="5B6472"/>
                </a:solidFill>
                <a:latin typeface="Calibri" pitchFamily="34" charset="0"/>
                <a:ea typeface="Calibri" pitchFamily="34" charset="-122"/>
                <a:cs typeface="Calibri" pitchFamily="34" charset="-120"/>
              </a:rPr>
              <a:t>Pick “every Monday at 9”. The app reads it back in words, in your own timezone.</a:t>
            </a:r>
            <a:endParaRPr lang="en-US" sz="1450" dirty="0"/>
          </a:p>
        </p:txBody>
      </p:sp>
      <p:sp>
        <p:nvSpPr>
          <p:cNvPr id="15" name="Shape 10"/>
          <p:cNvSpPr/>
          <p:nvPr/>
        </p:nvSpPr>
        <p:spPr>
          <a:xfrm>
            <a:off x="548640" y="4526280"/>
            <a:ext cx="566928" cy="566928"/>
          </a:xfrm>
          <a:prstGeom prst="ellipse">
            <a:avLst/>
          </a:prstGeom>
          <a:solidFill>
            <a:srgbClr val="0D5C55"/>
          </a:solidFill>
          <a:ln w="12700">
            <a:solidFill>
              <a:srgbClr val="0D5C55"/>
            </a:solidFill>
            <a:prstDash val="solid"/>
          </a:ln>
        </p:spPr>
      </p:sp>
      <p:pic>
        <p:nvPicPr>
          <p:cNvPr id="16" name="Image 3" descr="preencoded.png">    </p:cNvPr>
          <p:cNvPicPr>
            <a:picLocks noChangeAspect="1"/>
          </p:cNvPicPr>
          <p:nvPr/>
        </p:nvPicPr>
        <p:blipFill>
          <a:blip r:embed="rId4"/>
          <a:stretch>
            <a:fillRect/>
          </a:stretch>
        </p:blipFill>
        <p:spPr>
          <a:xfrm>
            <a:off x="696041" y="4673681"/>
            <a:ext cx="272125" cy="272125"/>
          </a:xfrm>
          <a:prstGeom prst="rect">
            <a:avLst/>
          </a:prstGeom>
        </p:spPr>
      </p:pic>
      <p:sp>
        <p:nvSpPr>
          <p:cNvPr id="17" name="Text 11"/>
          <p:cNvSpPr txBox="1"/>
          <p:nvPr/>
        </p:nvSpPr>
        <p:spPr>
          <a:xfrm>
            <a:off x="1325880" y="4535424"/>
            <a:ext cx="5440680" cy="777240"/>
          </a:xfrm>
          <a:prstGeom prst="rect">
            <a:avLst/>
          </a:prstGeom>
          <a:noFill/>
          <a:ln/>
        </p:spPr>
        <p:txBody>
          <a:bodyPr wrap="square" lIns="0" tIns="0" rIns="0" bIns="0" rtlCol="0" anchor="t"/>
          <a:lstStyle/>
          <a:p>
            <a:pPr indent="0" marL="0">
              <a:buNone/>
            </a:pPr>
            <a:r>
              <a:rPr lang="en-US" sz="1450" b="1" dirty="0">
                <a:solidFill>
                  <a:srgbClr val="1C212B"/>
                </a:solidFill>
                <a:latin typeface="Arial" pitchFamily="34" charset="0"/>
                <a:ea typeface="Arial" pitchFamily="34" charset="-122"/>
                <a:cs typeface="Arial" pitchFamily="34" charset="-120"/>
              </a:rPr>
              <a:t>Approve or answer</a:t>
            </a:r>
            <a:endParaRPr lang="en-US" sz="1450" dirty="0"/>
          </a:p>
          <a:p>
            <a:pPr indent="0" marL="0">
              <a:buNone/>
            </a:pPr>
            <a:r>
              <a:rPr lang="en-US" sz="1250" dirty="0">
                <a:solidFill>
                  <a:srgbClr val="5B6472"/>
                </a:solidFill>
                <a:latin typeface="Calibri" pitchFamily="34" charset="0"/>
                <a:ea typeface="Calibri" pitchFamily="34" charset="-122"/>
                <a:cs typeface="Calibri" pitchFamily="34" charset="-120"/>
              </a:rPr>
              <a:t>A card written as a plain sentence, with choices to tap — raw details stay tucked away.</a:t>
            </a:r>
            <a:endParaRPr lang="en-US" sz="1450" dirty="0"/>
          </a:p>
        </p:txBody>
      </p:sp>
      <p:sp>
        <p:nvSpPr>
          <p:cNvPr id="18" name="Shape 12"/>
          <p:cNvSpPr/>
          <p:nvPr/>
        </p:nvSpPr>
        <p:spPr>
          <a:xfrm>
            <a:off x="548640" y="5349240"/>
            <a:ext cx="566928" cy="566928"/>
          </a:xfrm>
          <a:prstGeom prst="ellipse">
            <a:avLst/>
          </a:prstGeom>
          <a:solidFill>
            <a:srgbClr val="9A5A0C"/>
          </a:solidFill>
          <a:ln w="12700">
            <a:solidFill>
              <a:srgbClr val="9A5A0C"/>
            </a:solidFill>
            <a:prstDash val="solid"/>
          </a:ln>
        </p:spPr>
      </p:sp>
      <p:pic>
        <p:nvPicPr>
          <p:cNvPr id="19" name="Image 4" descr="preencoded.png">    </p:cNvPr>
          <p:cNvPicPr>
            <a:picLocks noChangeAspect="1"/>
          </p:cNvPicPr>
          <p:nvPr/>
        </p:nvPicPr>
        <p:blipFill>
          <a:blip r:embed="rId5"/>
          <a:stretch>
            <a:fillRect/>
          </a:stretch>
        </p:blipFill>
        <p:spPr>
          <a:xfrm>
            <a:off x="696041" y="5496641"/>
            <a:ext cx="272125" cy="272125"/>
          </a:xfrm>
          <a:prstGeom prst="rect">
            <a:avLst/>
          </a:prstGeom>
        </p:spPr>
      </p:pic>
      <p:sp>
        <p:nvSpPr>
          <p:cNvPr id="20" name="Text 13"/>
          <p:cNvSpPr txBox="1"/>
          <p:nvPr/>
        </p:nvSpPr>
        <p:spPr>
          <a:xfrm>
            <a:off x="1325880" y="5358384"/>
            <a:ext cx="5440680" cy="777240"/>
          </a:xfrm>
          <a:prstGeom prst="rect">
            <a:avLst/>
          </a:prstGeom>
          <a:noFill/>
          <a:ln/>
        </p:spPr>
        <p:txBody>
          <a:bodyPr wrap="square" lIns="0" tIns="0" rIns="0" bIns="0" rtlCol="0" anchor="t"/>
          <a:lstStyle/>
          <a:p>
            <a:pPr indent="0" marL="0">
              <a:buNone/>
            </a:pPr>
            <a:r>
              <a:rPr lang="en-US" sz="1450" b="1" dirty="0">
                <a:solidFill>
                  <a:srgbClr val="1C212B"/>
                </a:solidFill>
                <a:latin typeface="Arial" pitchFamily="34" charset="0"/>
                <a:ea typeface="Arial" pitchFamily="34" charset="-122"/>
                <a:cs typeface="Arial" pitchFamily="34" charset="-120"/>
              </a:rPr>
              <a:t>Use the results</a:t>
            </a:r>
            <a:endParaRPr lang="en-US" sz="1450" dirty="0"/>
          </a:p>
          <a:p>
            <a:pPr indent="0" marL="0">
              <a:buNone/>
            </a:pPr>
            <a:r>
              <a:rPr lang="en-US" sz="1250" dirty="0">
                <a:solidFill>
                  <a:srgbClr val="5B6472"/>
                </a:solidFill>
                <a:latin typeface="Calibri" pitchFamily="34" charset="0"/>
                <a:ea typeface="Calibri" pitchFamily="34" charset="-122"/>
                <a:cs typeface="Calibri" pitchFamily="34" charset="-120"/>
              </a:rPr>
              <a:t>Open them in Docs, Sheets and Slides — apps that work like the ones you already know.</a:t>
            </a:r>
            <a:endParaRPr lang="en-US" sz="1450" dirty="0"/>
          </a:p>
        </p:txBody>
      </p:sp>
      <p:sp>
        <p:nvSpPr>
          <p:cNvPr id="21" name="Shape 14"/>
          <p:cNvSpPr/>
          <p:nvPr/>
        </p:nvSpPr>
        <p:spPr>
          <a:xfrm>
            <a:off x="7223760" y="2011680"/>
            <a:ext cx="4416552" cy="4160520"/>
          </a:xfrm>
          <a:prstGeom prst="roundRect">
            <a:avLst>
              <a:gd name="adj" fmla="val 2637"/>
            </a:avLst>
          </a:prstGeom>
          <a:solidFill>
            <a:srgbClr val="151922"/>
          </a:solidFill>
          <a:ln w="12700">
            <a:solidFill>
              <a:srgbClr val="151922"/>
            </a:solidFill>
            <a:prstDash val="solid"/>
          </a:ln>
        </p:spPr>
      </p:sp>
      <p:sp>
        <p:nvSpPr>
          <p:cNvPr id="22" name="Text 15"/>
          <p:cNvSpPr txBox="1"/>
          <p:nvPr/>
        </p:nvSpPr>
        <p:spPr>
          <a:xfrm>
            <a:off x="7498080" y="2212848"/>
            <a:ext cx="3931920" cy="365760"/>
          </a:xfrm>
          <a:prstGeom prst="rect">
            <a:avLst/>
          </a:prstGeom>
          <a:noFill/>
          <a:ln/>
        </p:spPr>
        <p:txBody>
          <a:bodyPr wrap="square" lIns="0" tIns="0" rIns="0" bIns="0" rtlCol="0" anchor="t"/>
          <a:lstStyle/>
          <a:p>
            <a:pPr algn="l" indent="0" marL="0">
              <a:buNone/>
            </a:pPr>
            <a:r>
              <a:rPr lang="en-US" sz="1600" b="1" dirty="0">
                <a:solidFill>
                  <a:srgbClr val="E08A1E"/>
                </a:solidFill>
                <a:latin typeface="Arial" pitchFamily="34" charset="0"/>
                <a:ea typeface="Arial" pitchFamily="34" charset="-122"/>
                <a:cs typeface="Arial" pitchFamily="34" charset="-120"/>
              </a:rPr>
              <a:t>Code only when you want more</a:t>
            </a:r>
            <a:endParaRPr lang="en-US" sz="1600" dirty="0"/>
          </a:p>
        </p:txBody>
      </p:sp>
      <p:sp>
        <p:nvSpPr>
          <p:cNvPr id="23" name="Text 16"/>
          <p:cNvSpPr txBox="1"/>
          <p:nvPr/>
        </p:nvSpPr>
        <p:spPr>
          <a:xfrm>
            <a:off x="7498080" y="2788920"/>
            <a:ext cx="3931920" cy="2834640"/>
          </a:xfrm>
          <a:prstGeom prst="rect">
            <a:avLst/>
          </a:prstGeom>
          <a:noFill/>
          <a:ln/>
        </p:spPr>
        <p:txBody>
          <a:bodyPr wrap="square" lIns="0" tIns="0" rIns="0" bIns="0" rtlCol="0" anchor="t"/>
          <a:lstStyle/>
          <a:p>
            <a:pPr indent="0" marL="0">
              <a:buNone/>
            </a:pPr>
            <a:r>
              <a:rPr lang="en-US" sz="1450" b="1" dirty="0">
                <a:solidFill>
                  <a:srgbClr val="FFFFFF"/>
                </a:solidFill>
                <a:latin typeface="Arial" pitchFamily="34" charset="0"/>
                <a:ea typeface="Arial" pitchFamily="34" charset="-122"/>
                <a:cs typeface="Arial" pitchFamily="34" charset="-120"/>
              </a:rPr>
              <a:t>Your own connector</a:t>
            </a:r>
            <a:endParaRPr lang="en-US" sz="1450" dirty="0"/>
          </a:p>
          <a:p>
            <a:pPr indent="0" marL="0">
              <a:spcAft>
                <a:spcPts val="1600"/>
              </a:spcAft>
              <a:buNone/>
            </a:pPr>
            <a:r>
              <a:rPr lang="en-US" sz="1250" dirty="0">
                <a:solidFill>
                  <a:srgbClr val="AEB6C2"/>
                </a:solidFill>
                <a:latin typeface="Calibri" pitchFamily="34" charset="0"/>
                <a:ea typeface="Calibri" pitchFamily="34" charset="-122"/>
                <a:cs typeface="Calibri" pitchFamily="34" charset="-120"/>
              </a:rPr>
              <a:t>a custom MCP server, under Advanced on Connections</a:t>
            </a:r>
            <a:endParaRPr lang="en-US" sz="1450" dirty="0"/>
          </a:p>
          <a:p>
            <a:pPr indent="0" marL="0">
              <a:buNone/>
            </a:pPr>
            <a:r>
              <a:rPr lang="en-US" sz="1450" b="1" dirty="0">
                <a:solidFill>
                  <a:srgbClr val="FFFFFF"/>
                </a:solidFill>
                <a:latin typeface="Arial" pitchFamily="34" charset="0"/>
                <a:ea typeface="Arial" pitchFamily="34" charset="-122"/>
                <a:cs typeface="Arial" pitchFamily="34" charset="-120"/>
              </a:rPr>
              <a:t>Python in the sandbox</a:t>
            </a:r>
            <a:endParaRPr lang="en-US" sz="1450" dirty="0"/>
          </a:p>
          <a:p>
            <a:pPr indent="0" marL="0">
              <a:spcAft>
                <a:spcPts val="1600"/>
              </a:spcAft>
              <a:buNone/>
            </a:pPr>
            <a:r>
              <a:rPr lang="en-US" sz="1250" dirty="0">
                <a:solidFill>
                  <a:srgbClr val="AEB6C2"/>
                </a:solidFill>
                <a:latin typeface="Calibri" pitchFamily="34" charset="0"/>
                <a:ea typeface="Calibri" pitchFamily="34" charset="-122"/>
                <a:cs typeface="Calibri" pitchFamily="34" charset="-120"/>
              </a:rPr>
              <a:t>for custom analysis beyond the built-in tools</a:t>
            </a:r>
            <a:endParaRPr lang="en-US" sz="1450" dirty="0"/>
          </a:p>
          <a:p>
            <a:pPr indent="0" marL="0">
              <a:buNone/>
            </a:pPr>
            <a:r>
              <a:rPr lang="en-US" sz="1450" b="1" dirty="0">
                <a:solidFill>
                  <a:srgbClr val="FFFFFF"/>
                </a:solidFill>
                <a:latin typeface="Arial" pitchFamily="34" charset="0"/>
                <a:ea typeface="Arial" pitchFamily="34" charset="-122"/>
                <a:cs typeface="Arial" pitchFamily="34" charset="-120"/>
              </a:rPr>
              <a:t>The coding team</a:t>
            </a:r>
            <a:endParaRPr lang="en-US" sz="1450" dirty="0"/>
          </a:p>
          <a:p>
            <a:pPr indent="0" marL="0">
              <a:spcAft>
                <a:spcPts val="1600"/>
              </a:spcAft>
              <a:buNone/>
            </a:pPr>
            <a:r>
              <a:rPr lang="en-US" sz="1250" dirty="0">
                <a:solidFill>
                  <a:srgbClr val="AEB6C2"/>
                </a:solidFill>
                <a:latin typeface="Calibri" pitchFamily="34" charset="0"/>
                <a:ea typeface="Calibri" pitchFamily="34" charset="-122"/>
                <a:cs typeface="Calibri" pitchFamily="34" charset="-120"/>
              </a:rPr>
              <a:t>agents that edit a real code repository</a:t>
            </a:r>
            <a:endParaRPr lang="en-US" sz="1450" dirty="0"/>
          </a:p>
          <a:p>
            <a:pPr indent="0" marL="0">
              <a:buNone/>
            </a:pPr>
            <a:r>
              <a:rPr lang="en-US" sz="1450" b="1" dirty="0">
                <a:solidFill>
                  <a:srgbClr val="FFFFFF"/>
                </a:solidFill>
                <a:latin typeface="Arial" pitchFamily="34" charset="0"/>
                <a:ea typeface="Arial" pitchFamily="34" charset="-122"/>
                <a:cs typeface="Arial" pitchFamily="34" charset="-120"/>
              </a:rPr>
              <a:t>The REST API</a:t>
            </a:r>
            <a:endParaRPr lang="en-US" sz="1450" dirty="0"/>
          </a:p>
          <a:p>
            <a:pPr indent="0" marL="0">
              <a:buNone/>
            </a:pPr>
            <a:r>
              <a:rPr lang="en-US" sz="1250" dirty="0">
                <a:solidFill>
                  <a:srgbClr val="AEB6C2"/>
                </a:solidFill>
                <a:latin typeface="Calibri" pitchFamily="34" charset="0"/>
                <a:ea typeface="Calibri" pitchFamily="34" charset="-122"/>
                <a:cs typeface="Calibri" pitchFamily="34" charset="-120"/>
              </a:rPr>
              <a:t>start runs from your other systems</a:t>
            </a:r>
            <a:endParaRPr lang="en-US" sz="1450" dirty="0"/>
          </a:p>
        </p:txBody>
      </p:sp>
      <p:sp>
        <p:nvSpPr>
          <p:cNvPr id="24" name="Text 17"/>
          <p:cNvSpPr txBox="1"/>
          <p:nvPr/>
        </p:nvSpPr>
        <p:spPr>
          <a:xfrm>
            <a:off x="7498080" y="5669280"/>
            <a:ext cx="3931920" cy="320040"/>
          </a:xfrm>
          <a:prstGeom prst="rect">
            <a:avLst/>
          </a:prstGeom>
          <a:noFill/>
          <a:ln/>
        </p:spPr>
        <p:txBody>
          <a:bodyPr wrap="square" lIns="0" tIns="0" rIns="0" bIns="0" rtlCol="0" anchor="t"/>
          <a:lstStyle/>
          <a:p>
            <a:pPr algn="l" indent="0" marL="0">
              <a:buNone/>
            </a:pPr>
            <a:r>
              <a:rPr lang="en-US" sz="1250" i="1" dirty="0">
                <a:solidFill>
                  <a:srgbClr val="C9D0DB"/>
                </a:solidFill>
                <a:latin typeface="Calibri" pitchFamily="34" charset="0"/>
                <a:ea typeface="Calibri" pitchFamily="34" charset="-122"/>
                <a:cs typeface="Calibri" pitchFamily="34" charset="-120"/>
              </a:rPr>
              <a:t>The everyday path never asks for any of it.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USE CASES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Ready for the work every team repeats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Nearly 50 ready-made agents, grouped into packs. Install one, point it at your data, and it runs.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2011680"/>
            <a:ext cx="3575304" cy="1920240"/>
          </a:xfrm>
          <a:prstGeom prst="roundRect">
            <a:avLst>
              <a:gd name="adj" fmla="val 4762"/>
            </a:avLst>
          </a:prstGeom>
          <a:solidFill>
            <a:srgbClr val="F3F5F8"/>
          </a:solidFill>
          <a:ln w="12700">
            <a:solidFill>
              <a:srgbClr val="F3F5F8"/>
            </a:solidFill>
            <a:prstDash val="solid"/>
          </a:ln>
        </p:spPr>
      </p:sp>
      <p:sp>
        <p:nvSpPr>
          <p:cNvPr id="7" name="Shape 5"/>
          <p:cNvSpPr/>
          <p:nvPr/>
        </p:nvSpPr>
        <p:spPr>
          <a:xfrm>
            <a:off x="804672" y="2267712"/>
            <a:ext cx="566928" cy="566928"/>
          </a:xfrm>
          <a:prstGeom prst="ellipse">
            <a:avLst/>
          </a:prstGeom>
          <a:solidFill>
            <a:srgbClr val="E08A1E"/>
          </a:solidFill>
          <a:ln w="12700">
            <a:solidFill>
              <a:srgbClr val="E08A1E"/>
            </a:solidFill>
            <a:prstDash val="solid"/>
          </a:ln>
        </p:spPr>
      </p:sp>
      <p:pic>
        <p:nvPicPr>
          <p:cNvPr id="8" name="Image 0" descr="preencoded.png">    </p:cNvPr>
          <p:cNvPicPr>
            <a:picLocks noChangeAspect="1"/>
          </p:cNvPicPr>
          <p:nvPr/>
        </p:nvPicPr>
        <p:blipFill>
          <a:blip r:embed="rId1"/>
          <a:stretch>
            <a:fillRect/>
          </a:stretch>
        </p:blipFill>
        <p:spPr>
          <a:xfrm>
            <a:off x="952073" y="2415113"/>
            <a:ext cx="272125" cy="272125"/>
          </a:xfrm>
          <a:prstGeom prst="rect">
            <a:avLst/>
          </a:prstGeom>
        </p:spPr>
      </p:pic>
      <p:sp>
        <p:nvSpPr>
          <p:cNvPr id="9" name="Text 6"/>
          <p:cNvSpPr txBox="1"/>
          <p:nvPr/>
        </p:nvSpPr>
        <p:spPr>
          <a:xfrm>
            <a:off x="1554480" y="2377440"/>
            <a:ext cx="246888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Finance</a:t>
            </a:r>
            <a:endParaRPr lang="en-US" sz="1600" dirty="0"/>
          </a:p>
        </p:txBody>
      </p:sp>
      <p:sp>
        <p:nvSpPr>
          <p:cNvPr id="10" name="Text 7"/>
          <p:cNvSpPr txBox="1"/>
          <p:nvPr/>
        </p:nvSpPr>
        <p:spPr>
          <a:xfrm>
            <a:off x="804672" y="2971800"/>
            <a:ext cx="3108960" cy="86868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Reconcile month-end exports, chase unpaid invoices, pull fields out of PDFs and forms.</a:t>
            </a:r>
            <a:endParaRPr lang="en-US" sz="1350" dirty="0"/>
          </a:p>
        </p:txBody>
      </p:sp>
      <p:sp>
        <p:nvSpPr>
          <p:cNvPr id="11" name="Shape 8"/>
          <p:cNvSpPr/>
          <p:nvPr/>
        </p:nvSpPr>
        <p:spPr>
          <a:xfrm>
            <a:off x="4306824" y="2011680"/>
            <a:ext cx="3575304" cy="1920240"/>
          </a:xfrm>
          <a:prstGeom prst="roundRect">
            <a:avLst>
              <a:gd name="adj" fmla="val 4762"/>
            </a:avLst>
          </a:prstGeom>
          <a:solidFill>
            <a:srgbClr val="F3F5F8"/>
          </a:solidFill>
          <a:ln w="12700">
            <a:solidFill>
              <a:srgbClr val="F3F5F8"/>
            </a:solidFill>
            <a:prstDash val="solid"/>
          </a:ln>
        </p:spPr>
      </p:sp>
      <p:sp>
        <p:nvSpPr>
          <p:cNvPr id="12" name="Shape 9"/>
          <p:cNvSpPr/>
          <p:nvPr/>
        </p:nvSpPr>
        <p:spPr>
          <a:xfrm>
            <a:off x="4562856" y="2267712"/>
            <a:ext cx="566928" cy="566928"/>
          </a:xfrm>
          <a:prstGeom prst="ellipse">
            <a:avLst/>
          </a:prstGeom>
          <a:solidFill>
            <a:srgbClr val="15877D"/>
          </a:solidFill>
          <a:ln w="12700">
            <a:solidFill>
              <a:srgbClr val="15877D"/>
            </a:solidFill>
            <a:prstDash val="solid"/>
          </a:ln>
        </p:spPr>
      </p:sp>
      <p:pic>
        <p:nvPicPr>
          <p:cNvPr id="13" name="Image 1" descr="preencoded.png">    </p:cNvPr>
          <p:cNvPicPr>
            <a:picLocks noChangeAspect="1"/>
          </p:cNvPicPr>
          <p:nvPr/>
        </p:nvPicPr>
        <p:blipFill>
          <a:blip r:embed="rId2"/>
          <a:stretch>
            <a:fillRect/>
          </a:stretch>
        </p:blipFill>
        <p:spPr>
          <a:xfrm>
            <a:off x="4710257" y="2415113"/>
            <a:ext cx="272125" cy="272125"/>
          </a:xfrm>
          <a:prstGeom prst="rect">
            <a:avLst/>
          </a:prstGeom>
        </p:spPr>
      </p:pic>
      <p:sp>
        <p:nvSpPr>
          <p:cNvPr id="14" name="Text 10"/>
          <p:cNvSpPr txBox="1"/>
          <p:nvPr/>
        </p:nvSpPr>
        <p:spPr>
          <a:xfrm>
            <a:off x="5312664" y="2377440"/>
            <a:ext cx="246888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Operations</a:t>
            </a:r>
            <a:endParaRPr lang="en-US" sz="1600" dirty="0"/>
          </a:p>
        </p:txBody>
      </p:sp>
      <p:sp>
        <p:nvSpPr>
          <p:cNvPr id="15" name="Text 11"/>
          <p:cNvSpPr txBox="1"/>
          <p:nvPr/>
        </p:nvSpPr>
        <p:spPr>
          <a:xfrm>
            <a:off x="4562856" y="2971800"/>
            <a:ext cx="3108960" cy="86868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Weekly report decks from a folder, standup digests, meeting minutes and prep.</a:t>
            </a:r>
            <a:endParaRPr lang="en-US" sz="1350" dirty="0"/>
          </a:p>
        </p:txBody>
      </p:sp>
      <p:sp>
        <p:nvSpPr>
          <p:cNvPr id="16" name="Shape 12"/>
          <p:cNvSpPr/>
          <p:nvPr/>
        </p:nvSpPr>
        <p:spPr>
          <a:xfrm>
            <a:off x="8065008" y="2011680"/>
            <a:ext cx="3575304" cy="1920240"/>
          </a:xfrm>
          <a:prstGeom prst="roundRect">
            <a:avLst>
              <a:gd name="adj" fmla="val 4762"/>
            </a:avLst>
          </a:prstGeom>
          <a:solidFill>
            <a:srgbClr val="F3F5F8"/>
          </a:solidFill>
          <a:ln w="12700">
            <a:solidFill>
              <a:srgbClr val="F3F5F8"/>
            </a:solidFill>
            <a:prstDash val="solid"/>
          </a:ln>
        </p:spPr>
      </p:sp>
      <p:sp>
        <p:nvSpPr>
          <p:cNvPr id="17" name="Shape 13"/>
          <p:cNvSpPr/>
          <p:nvPr/>
        </p:nvSpPr>
        <p:spPr>
          <a:xfrm>
            <a:off x="8321040" y="2267712"/>
            <a:ext cx="566928" cy="566928"/>
          </a:xfrm>
          <a:prstGeom prst="ellipse">
            <a:avLst/>
          </a:prstGeom>
          <a:solidFill>
            <a:srgbClr val="4E5A6B"/>
          </a:solidFill>
          <a:ln w="12700">
            <a:solidFill>
              <a:srgbClr val="4E5A6B"/>
            </a:solidFill>
            <a:prstDash val="solid"/>
          </a:ln>
        </p:spPr>
      </p:sp>
      <p:pic>
        <p:nvPicPr>
          <p:cNvPr id="18" name="Image 2" descr="preencoded.png">    </p:cNvPr>
          <p:cNvPicPr>
            <a:picLocks noChangeAspect="1"/>
          </p:cNvPicPr>
          <p:nvPr/>
        </p:nvPicPr>
        <p:blipFill>
          <a:blip r:embed="rId3"/>
          <a:stretch>
            <a:fillRect/>
          </a:stretch>
        </p:blipFill>
        <p:spPr>
          <a:xfrm>
            <a:off x="8468441" y="2415113"/>
            <a:ext cx="272125" cy="272125"/>
          </a:xfrm>
          <a:prstGeom prst="rect">
            <a:avLst/>
          </a:prstGeom>
        </p:spPr>
      </p:pic>
      <p:sp>
        <p:nvSpPr>
          <p:cNvPr id="19" name="Text 14"/>
          <p:cNvSpPr txBox="1"/>
          <p:nvPr/>
        </p:nvSpPr>
        <p:spPr>
          <a:xfrm>
            <a:off x="9070848" y="2377440"/>
            <a:ext cx="246888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Sales &amp; marketing</a:t>
            </a:r>
            <a:endParaRPr lang="en-US" sz="1600" dirty="0"/>
          </a:p>
        </p:txBody>
      </p:sp>
      <p:sp>
        <p:nvSpPr>
          <p:cNvPr id="20" name="Text 15"/>
          <p:cNvSpPr txBox="1"/>
          <p:nvPr/>
        </p:nvSpPr>
        <p:spPr>
          <a:xfrm>
            <a:off x="8321040" y="2971800"/>
            <a:ext cx="3108960" cy="86868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Lead research, outreach drafts, competitor analysis, SEO briefs, ad copy.</a:t>
            </a:r>
            <a:endParaRPr lang="en-US" sz="1350" dirty="0"/>
          </a:p>
        </p:txBody>
      </p:sp>
      <p:sp>
        <p:nvSpPr>
          <p:cNvPr id="21" name="Shape 16"/>
          <p:cNvSpPr/>
          <p:nvPr/>
        </p:nvSpPr>
        <p:spPr>
          <a:xfrm>
            <a:off x="548640" y="4114800"/>
            <a:ext cx="3575304" cy="1920240"/>
          </a:xfrm>
          <a:prstGeom prst="roundRect">
            <a:avLst>
              <a:gd name="adj" fmla="val 4762"/>
            </a:avLst>
          </a:prstGeom>
          <a:solidFill>
            <a:srgbClr val="F3F5F8"/>
          </a:solidFill>
          <a:ln w="12700">
            <a:solidFill>
              <a:srgbClr val="F3F5F8"/>
            </a:solidFill>
            <a:prstDash val="solid"/>
          </a:ln>
        </p:spPr>
      </p:sp>
      <p:sp>
        <p:nvSpPr>
          <p:cNvPr id="22" name="Shape 17"/>
          <p:cNvSpPr/>
          <p:nvPr/>
        </p:nvSpPr>
        <p:spPr>
          <a:xfrm>
            <a:off x="804672" y="4370832"/>
            <a:ext cx="566928" cy="566928"/>
          </a:xfrm>
          <a:prstGeom prst="ellipse">
            <a:avLst/>
          </a:prstGeom>
          <a:solidFill>
            <a:srgbClr val="0D5C55"/>
          </a:solidFill>
          <a:ln w="12700">
            <a:solidFill>
              <a:srgbClr val="0D5C55"/>
            </a:solidFill>
            <a:prstDash val="solid"/>
          </a:ln>
        </p:spPr>
      </p:sp>
      <p:pic>
        <p:nvPicPr>
          <p:cNvPr id="23" name="Image 3" descr="preencoded.png">    </p:cNvPr>
          <p:cNvPicPr>
            <a:picLocks noChangeAspect="1"/>
          </p:cNvPicPr>
          <p:nvPr/>
        </p:nvPicPr>
        <p:blipFill>
          <a:blip r:embed="rId4"/>
          <a:stretch>
            <a:fillRect/>
          </a:stretch>
        </p:blipFill>
        <p:spPr>
          <a:xfrm>
            <a:off x="952073" y="4518233"/>
            <a:ext cx="272125" cy="272125"/>
          </a:xfrm>
          <a:prstGeom prst="rect">
            <a:avLst/>
          </a:prstGeom>
        </p:spPr>
      </p:pic>
      <p:sp>
        <p:nvSpPr>
          <p:cNvPr id="24" name="Text 18"/>
          <p:cNvSpPr txBox="1"/>
          <p:nvPr/>
        </p:nvSpPr>
        <p:spPr>
          <a:xfrm>
            <a:off x="1554480" y="4480560"/>
            <a:ext cx="246888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Support</a:t>
            </a:r>
            <a:endParaRPr lang="en-US" sz="1600" dirty="0"/>
          </a:p>
        </p:txBody>
      </p:sp>
      <p:sp>
        <p:nvSpPr>
          <p:cNvPr id="25" name="Text 19"/>
          <p:cNvSpPr txBox="1"/>
          <p:nvPr/>
        </p:nvSpPr>
        <p:spPr>
          <a:xfrm>
            <a:off x="804672" y="5074920"/>
            <a:ext cx="3108960" cy="86868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Inbox and ticket triage, drafted replies, answers from your own documents.</a:t>
            </a:r>
            <a:endParaRPr lang="en-US" sz="1350" dirty="0"/>
          </a:p>
        </p:txBody>
      </p:sp>
      <p:sp>
        <p:nvSpPr>
          <p:cNvPr id="26" name="Shape 20"/>
          <p:cNvSpPr/>
          <p:nvPr/>
        </p:nvSpPr>
        <p:spPr>
          <a:xfrm>
            <a:off x="4306824" y="4114800"/>
            <a:ext cx="3575304" cy="1920240"/>
          </a:xfrm>
          <a:prstGeom prst="roundRect">
            <a:avLst>
              <a:gd name="adj" fmla="val 4762"/>
            </a:avLst>
          </a:prstGeom>
          <a:solidFill>
            <a:srgbClr val="F3F5F8"/>
          </a:solidFill>
          <a:ln w="12700">
            <a:solidFill>
              <a:srgbClr val="F3F5F8"/>
            </a:solidFill>
            <a:prstDash val="solid"/>
          </a:ln>
        </p:spPr>
      </p:sp>
      <p:sp>
        <p:nvSpPr>
          <p:cNvPr id="27" name="Shape 21"/>
          <p:cNvSpPr/>
          <p:nvPr/>
        </p:nvSpPr>
        <p:spPr>
          <a:xfrm>
            <a:off x="4562856" y="4370832"/>
            <a:ext cx="566928" cy="566928"/>
          </a:xfrm>
          <a:prstGeom prst="ellipse">
            <a:avLst/>
          </a:prstGeom>
          <a:solidFill>
            <a:srgbClr val="9A5A0C"/>
          </a:solidFill>
          <a:ln w="12700">
            <a:solidFill>
              <a:srgbClr val="9A5A0C"/>
            </a:solidFill>
            <a:prstDash val="solid"/>
          </a:ln>
        </p:spPr>
      </p:sp>
      <p:pic>
        <p:nvPicPr>
          <p:cNvPr id="28" name="Image 4" descr="preencoded.png">    </p:cNvPr>
          <p:cNvPicPr>
            <a:picLocks noChangeAspect="1"/>
          </p:cNvPicPr>
          <p:nvPr/>
        </p:nvPicPr>
        <p:blipFill>
          <a:blip r:embed="rId5"/>
          <a:stretch>
            <a:fillRect/>
          </a:stretch>
        </p:blipFill>
        <p:spPr>
          <a:xfrm>
            <a:off x="4710257" y="4518233"/>
            <a:ext cx="272125" cy="272125"/>
          </a:xfrm>
          <a:prstGeom prst="rect">
            <a:avLst/>
          </a:prstGeom>
        </p:spPr>
      </p:pic>
      <p:sp>
        <p:nvSpPr>
          <p:cNvPr id="29" name="Text 22"/>
          <p:cNvSpPr txBox="1"/>
          <p:nvPr/>
        </p:nvSpPr>
        <p:spPr>
          <a:xfrm>
            <a:off x="5312664" y="4480560"/>
            <a:ext cx="246888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People &amp; hiring</a:t>
            </a:r>
            <a:endParaRPr lang="en-US" sz="1600" dirty="0"/>
          </a:p>
        </p:txBody>
      </p:sp>
      <p:sp>
        <p:nvSpPr>
          <p:cNvPr id="30" name="Text 23"/>
          <p:cNvSpPr txBox="1"/>
          <p:nvPr/>
        </p:nvSpPr>
        <p:spPr>
          <a:xfrm>
            <a:off x="4562856" y="5074920"/>
            <a:ext cx="3108960" cy="86868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Resume screening, job descriptions, interview kits.</a:t>
            </a:r>
            <a:endParaRPr lang="en-US" sz="1350" dirty="0"/>
          </a:p>
        </p:txBody>
      </p:sp>
      <p:sp>
        <p:nvSpPr>
          <p:cNvPr id="31" name="Shape 24"/>
          <p:cNvSpPr/>
          <p:nvPr/>
        </p:nvSpPr>
        <p:spPr>
          <a:xfrm>
            <a:off x="8065008" y="4114800"/>
            <a:ext cx="3575304" cy="1920240"/>
          </a:xfrm>
          <a:prstGeom prst="roundRect">
            <a:avLst>
              <a:gd name="adj" fmla="val 4762"/>
            </a:avLst>
          </a:prstGeom>
          <a:solidFill>
            <a:srgbClr val="F3F5F8"/>
          </a:solidFill>
          <a:ln w="12700">
            <a:solidFill>
              <a:srgbClr val="F3F5F8"/>
            </a:solidFill>
            <a:prstDash val="solid"/>
          </a:ln>
        </p:spPr>
      </p:sp>
      <p:sp>
        <p:nvSpPr>
          <p:cNvPr id="32" name="Shape 25"/>
          <p:cNvSpPr/>
          <p:nvPr/>
        </p:nvSpPr>
        <p:spPr>
          <a:xfrm>
            <a:off x="8321040" y="4370832"/>
            <a:ext cx="566928" cy="566928"/>
          </a:xfrm>
          <a:prstGeom prst="ellipse">
            <a:avLst/>
          </a:prstGeom>
          <a:solidFill>
            <a:srgbClr val="C4433A"/>
          </a:solidFill>
          <a:ln w="12700">
            <a:solidFill>
              <a:srgbClr val="C4433A"/>
            </a:solidFill>
            <a:prstDash val="solid"/>
          </a:ln>
        </p:spPr>
      </p:sp>
      <p:pic>
        <p:nvPicPr>
          <p:cNvPr id="33" name="Image 5" descr="preencoded.png">    </p:cNvPr>
          <p:cNvPicPr>
            <a:picLocks noChangeAspect="1"/>
          </p:cNvPicPr>
          <p:nvPr/>
        </p:nvPicPr>
        <p:blipFill>
          <a:blip r:embed="rId6"/>
          <a:stretch>
            <a:fillRect/>
          </a:stretch>
        </p:blipFill>
        <p:spPr>
          <a:xfrm>
            <a:off x="8468441" y="4518233"/>
            <a:ext cx="272125" cy="272125"/>
          </a:xfrm>
          <a:prstGeom prst="rect">
            <a:avLst/>
          </a:prstGeom>
        </p:spPr>
      </p:pic>
      <p:sp>
        <p:nvSpPr>
          <p:cNvPr id="34" name="Text 26"/>
          <p:cNvSpPr txBox="1"/>
          <p:nvPr/>
        </p:nvSpPr>
        <p:spPr>
          <a:xfrm>
            <a:off x="9070848" y="4480560"/>
            <a:ext cx="246888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Data &amp; engineering</a:t>
            </a:r>
            <a:endParaRPr lang="en-US" sz="1600" dirty="0"/>
          </a:p>
        </p:txBody>
      </p:sp>
      <p:sp>
        <p:nvSpPr>
          <p:cNvPr id="35" name="Text 27"/>
          <p:cNvSpPr txBox="1"/>
          <p:nvPr/>
        </p:nvSpPr>
        <p:spPr>
          <a:xfrm>
            <a:off x="8321040" y="5074920"/>
            <a:ext cx="3108960" cy="86868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SQL analysis, data cleanup, dashboards, and a full coding team.</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THE PRODUCT</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chat that manages, agents that do the work</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No code needed: the person is the boss, the chat is the manager, configured subagents are the workhorses.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2103120"/>
            <a:ext cx="658368" cy="658368"/>
          </a:xfrm>
          <a:prstGeom prst="ellipse">
            <a:avLst/>
          </a:prstGeom>
          <a:solidFill>
            <a:srgbClr val="E08A1E"/>
          </a:solidFill>
          <a:ln w="12700">
            <a:solidFill>
              <a:srgbClr val="E08A1E"/>
            </a:solidFill>
            <a:prstDash val="solid"/>
          </a:ln>
        </p:spPr>
      </p:sp>
      <p:pic>
        <p:nvPicPr>
          <p:cNvPr id="7" name="Image 0" descr="preencoded.png">    </p:cNvPr>
          <p:cNvPicPr>
            <a:picLocks noChangeAspect="1"/>
          </p:cNvPicPr>
          <p:nvPr/>
        </p:nvPicPr>
        <p:blipFill>
          <a:blip r:embed="rId1"/>
          <a:stretch>
            <a:fillRect/>
          </a:stretch>
        </p:blipFill>
        <p:spPr>
          <a:xfrm>
            <a:off x="719816" y="2274296"/>
            <a:ext cx="316017" cy="316017"/>
          </a:xfrm>
          <a:prstGeom prst="rect">
            <a:avLst/>
          </a:prstGeom>
        </p:spPr>
      </p:pic>
      <p:sp>
        <p:nvSpPr>
          <p:cNvPr id="8" name="Text 5"/>
          <p:cNvSpPr txBox="1"/>
          <p:nvPr/>
        </p:nvSpPr>
        <p:spPr>
          <a:xfrm>
            <a:off x="1417320" y="2121408"/>
            <a:ext cx="5120640" cy="868680"/>
          </a:xfrm>
          <a:prstGeom prst="rect">
            <a:avLst/>
          </a:prstGeom>
          <a:noFill/>
          <a:ln/>
        </p:spPr>
        <p:txBody>
          <a:bodyPr wrap="square" lIns="0" tIns="0" rIns="0" bIns="0" rtlCol="0" anchor="t"/>
          <a:lstStyle/>
          <a:p>
            <a:pPr indent="0" marL="0">
              <a:buNone/>
            </a:pPr>
            <a:r>
              <a:rPr lang="en-US" sz="1600" b="1" dirty="0">
                <a:solidFill>
                  <a:srgbClr val="1C212B"/>
                </a:solidFill>
                <a:latin typeface="Arial" pitchFamily="34" charset="0"/>
                <a:ea typeface="Arial" pitchFamily="34" charset="-122"/>
                <a:cs typeface="Arial" pitchFamily="34" charset="-120"/>
              </a:rPr>
              <a:t>Chat orchestrator</a:t>
            </a:r>
            <a:endParaRPr lang="en-US" sz="1600" dirty="0"/>
          </a:p>
          <a:p>
            <a:pPr indent="0" marL="0">
              <a:buNone/>
            </a:pPr>
            <a:r>
              <a:rPr lang="en-US" sz="1350" dirty="0">
                <a:solidFill>
                  <a:srgbClr val="5B6472"/>
                </a:solidFill>
                <a:latin typeface="Calibri" pitchFamily="34" charset="0"/>
                <a:ea typeface="Calibri" pitchFamily="34" charset="-122"/>
                <a:cs typeface="Calibri" pitchFamily="34" charset="-120"/>
              </a:rPr>
              <a:t>Reads, plans and delegates. Holds no write, send or spend tools.</a:t>
            </a:r>
            <a:endParaRPr lang="en-US" sz="1600" dirty="0"/>
          </a:p>
        </p:txBody>
      </p:sp>
      <p:sp>
        <p:nvSpPr>
          <p:cNvPr id="9" name="Shape 6"/>
          <p:cNvSpPr/>
          <p:nvPr/>
        </p:nvSpPr>
        <p:spPr>
          <a:xfrm>
            <a:off x="548640" y="3127248"/>
            <a:ext cx="658368" cy="658368"/>
          </a:xfrm>
          <a:prstGeom prst="ellipse">
            <a:avLst/>
          </a:prstGeom>
          <a:solidFill>
            <a:srgbClr val="15877D"/>
          </a:solidFill>
          <a:ln w="12700">
            <a:solidFill>
              <a:srgbClr val="15877D"/>
            </a:solidFill>
            <a:prstDash val="solid"/>
          </a:ln>
        </p:spPr>
      </p:sp>
      <p:pic>
        <p:nvPicPr>
          <p:cNvPr id="10" name="Image 1" descr="preencoded.png">    </p:cNvPr>
          <p:cNvPicPr>
            <a:picLocks noChangeAspect="1"/>
          </p:cNvPicPr>
          <p:nvPr/>
        </p:nvPicPr>
        <p:blipFill>
          <a:blip r:embed="rId2"/>
          <a:stretch>
            <a:fillRect/>
          </a:stretch>
        </p:blipFill>
        <p:spPr>
          <a:xfrm>
            <a:off x="719816" y="3298424"/>
            <a:ext cx="316017" cy="316017"/>
          </a:xfrm>
          <a:prstGeom prst="rect">
            <a:avLst/>
          </a:prstGeom>
        </p:spPr>
      </p:pic>
      <p:sp>
        <p:nvSpPr>
          <p:cNvPr id="11" name="Text 7"/>
          <p:cNvSpPr txBox="1"/>
          <p:nvPr/>
        </p:nvSpPr>
        <p:spPr>
          <a:xfrm>
            <a:off x="1417320" y="3145536"/>
            <a:ext cx="5120640" cy="868680"/>
          </a:xfrm>
          <a:prstGeom prst="rect">
            <a:avLst/>
          </a:prstGeom>
          <a:noFill/>
          <a:ln/>
        </p:spPr>
        <p:txBody>
          <a:bodyPr wrap="square" lIns="0" tIns="0" rIns="0" bIns="0" rtlCol="0" anchor="t"/>
          <a:lstStyle/>
          <a:p>
            <a:pPr indent="0" marL="0">
              <a:buNone/>
            </a:pPr>
            <a:r>
              <a:rPr lang="en-US" sz="1600" b="1" dirty="0">
                <a:solidFill>
                  <a:srgbClr val="1C212B"/>
                </a:solidFill>
                <a:latin typeface="Arial" pitchFamily="34" charset="0"/>
                <a:ea typeface="Arial" pitchFamily="34" charset="-122"/>
                <a:cs typeface="Arial" pitchFamily="34" charset="-120"/>
              </a:rPr>
              <a:t>Subagents</a:t>
            </a:r>
            <a:endParaRPr lang="en-US" sz="1600" dirty="0"/>
          </a:p>
          <a:p>
            <a:pPr indent="0" marL="0">
              <a:buNone/>
            </a:pPr>
            <a:r>
              <a:rPr lang="en-US" sz="1350" dirty="0">
                <a:solidFill>
                  <a:srgbClr val="5B6472"/>
                </a:solidFill>
                <a:latin typeface="Calibri" pitchFamily="34" charset="0"/>
                <a:ea typeface="Calibri" pitchFamily="34" charset="-122"/>
                <a:cs typeface="Calibri" pitchFamily="34" charset="-120"/>
              </a:rPr>
              <a:t>Configured workers: a prompt, a model, grants, scopes, schedules.</a:t>
            </a:r>
            <a:endParaRPr lang="en-US" sz="1600" dirty="0"/>
          </a:p>
        </p:txBody>
      </p:sp>
      <p:sp>
        <p:nvSpPr>
          <p:cNvPr id="12" name="Shape 8"/>
          <p:cNvSpPr/>
          <p:nvPr/>
        </p:nvSpPr>
        <p:spPr>
          <a:xfrm>
            <a:off x="548640" y="4151376"/>
            <a:ext cx="658368" cy="658368"/>
          </a:xfrm>
          <a:prstGeom prst="ellipse">
            <a:avLst/>
          </a:prstGeom>
          <a:solidFill>
            <a:srgbClr val="4E5A6B"/>
          </a:solidFill>
          <a:ln w="12700">
            <a:solidFill>
              <a:srgbClr val="4E5A6B"/>
            </a:solidFill>
            <a:prstDash val="solid"/>
          </a:ln>
        </p:spPr>
      </p:sp>
      <p:pic>
        <p:nvPicPr>
          <p:cNvPr id="13" name="Image 2" descr="preencoded.png">    </p:cNvPr>
          <p:cNvPicPr>
            <a:picLocks noChangeAspect="1"/>
          </p:cNvPicPr>
          <p:nvPr/>
        </p:nvPicPr>
        <p:blipFill>
          <a:blip r:embed="rId3"/>
          <a:stretch>
            <a:fillRect/>
          </a:stretch>
        </p:blipFill>
        <p:spPr>
          <a:xfrm>
            <a:off x="719816" y="4322552"/>
            <a:ext cx="316017" cy="316017"/>
          </a:xfrm>
          <a:prstGeom prst="rect">
            <a:avLst/>
          </a:prstGeom>
        </p:spPr>
      </p:pic>
      <p:sp>
        <p:nvSpPr>
          <p:cNvPr id="14" name="Text 9"/>
          <p:cNvSpPr txBox="1"/>
          <p:nvPr/>
        </p:nvSpPr>
        <p:spPr>
          <a:xfrm>
            <a:off x="1417320" y="4169664"/>
            <a:ext cx="5120640" cy="868680"/>
          </a:xfrm>
          <a:prstGeom prst="rect">
            <a:avLst/>
          </a:prstGeom>
          <a:noFill/>
          <a:ln/>
        </p:spPr>
        <p:txBody>
          <a:bodyPr wrap="square" lIns="0" tIns="0" rIns="0" bIns="0" rtlCol="0" anchor="t"/>
          <a:lstStyle/>
          <a:p>
            <a:pPr indent="0" marL="0">
              <a:buNone/>
            </a:pPr>
            <a:r>
              <a:rPr lang="en-US" sz="1600" b="1" dirty="0">
                <a:solidFill>
                  <a:srgbClr val="1C212B"/>
                </a:solidFill>
                <a:latin typeface="Arial" pitchFamily="34" charset="0"/>
                <a:ea typeface="Arial" pitchFamily="34" charset="-122"/>
                <a:cs typeface="Arial" pitchFamily="34" charset="-120"/>
              </a:rPr>
              <a:t>Office &amp; files</a:t>
            </a:r>
            <a:endParaRPr lang="en-US" sz="1600" dirty="0"/>
          </a:p>
          <a:p>
            <a:pPr indent="0" marL="0">
              <a:buNone/>
            </a:pPr>
            <a:r>
              <a:rPr lang="en-US" sz="1350" dirty="0">
                <a:solidFill>
                  <a:srgbClr val="5B6472"/>
                </a:solidFill>
                <a:latin typeface="Calibri" pitchFamily="34" charset="0"/>
                <a:ea typeface="Calibri" pitchFamily="34" charset="-122"/>
                <a:cs typeface="Calibri" pitchFamily="34" charset="-120"/>
              </a:rPr>
              <a:t>Real .docx / .xlsx / .pptx in a per-user virtual filesystem.</a:t>
            </a:r>
            <a:endParaRPr lang="en-US" sz="1600" dirty="0"/>
          </a:p>
        </p:txBody>
      </p:sp>
      <p:sp>
        <p:nvSpPr>
          <p:cNvPr id="15" name="Shape 10"/>
          <p:cNvSpPr/>
          <p:nvPr/>
        </p:nvSpPr>
        <p:spPr>
          <a:xfrm>
            <a:off x="548640" y="5175504"/>
            <a:ext cx="658368" cy="658368"/>
          </a:xfrm>
          <a:prstGeom prst="ellipse">
            <a:avLst/>
          </a:prstGeom>
          <a:solidFill>
            <a:srgbClr val="0D5C55"/>
          </a:solidFill>
          <a:ln w="12700">
            <a:solidFill>
              <a:srgbClr val="0D5C55"/>
            </a:solidFill>
            <a:prstDash val="solid"/>
          </a:ln>
        </p:spPr>
      </p:sp>
      <p:pic>
        <p:nvPicPr>
          <p:cNvPr id="16" name="Image 3" descr="preencoded.png">    </p:cNvPr>
          <p:cNvPicPr>
            <a:picLocks noChangeAspect="1"/>
          </p:cNvPicPr>
          <p:nvPr/>
        </p:nvPicPr>
        <p:blipFill>
          <a:blip r:embed="rId4"/>
          <a:stretch>
            <a:fillRect/>
          </a:stretch>
        </p:blipFill>
        <p:spPr>
          <a:xfrm>
            <a:off x="719816" y="5346680"/>
            <a:ext cx="316017" cy="316017"/>
          </a:xfrm>
          <a:prstGeom prst="rect">
            <a:avLst/>
          </a:prstGeom>
        </p:spPr>
      </p:pic>
      <p:sp>
        <p:nvSpPr>
          <p:cNvPr id="17" name="Text 11"/>
          <p:cNvSpPr txBox="1"/>
          <p:nvPr/>
        </p:nvSpPr>
        <p:spPr>
          <a:xfrm>
            <a:off x="1417320" y="5193792"/>
            <a:ext cx="5120640" cy="868680"/>
          </a:xfrm>
          <a:prstGeom prst="rect">
            <a:avLst/>
          </a:prstGeom>
          <a:noFill/>
          <a:ln/>
        </p:spPr>
        <p:txBody>
          <a:bodyPr wrap="square" lIns="0" tIns="0" rIns="0" bIns="0" rtlCol="0" anchor="t"/>
          <a:lstStyle/>
          <a:p>
            <a:pPr indent="0" marL="0">
              <a:buNone/>
            </a:pPr>
            <a:r>
              <a:rPr lang="en-US" sz="1600" b="1" dirty="0">
                <a:solidFill>
                  <a:srgbClr val="1C212B"/>
                </a:solidFill>
                <a:latin typeface="Arial" pitchFamily="34" charset="0"/>
                <a:ea typeface="Arial" pitchFamily="34" charset="-122"/>
                <a:cs typeface="Arial" pitchFamily="34" charset="-120"/>
              </a:rPr>
              <a:t>Evaluation</a:t>
            </a:r>
            <a:endParaRPr lang="en-US" sz="1600" dirty="0"/>
          </a:p>
          <a:p>
            <a:pPr indent="0" marL="0">
              <a:buNone/>
            </a:pPr>
            <a:r>
              <a:rPr lang="en-US" sz="1350" dirty="0">
                <a:solidFill>
                  <a:srgbClr val="5B6472"/>
                </a:solidFill>
                <a:latin typeface="Calibri" pitchFamily="34" charset="0"/>
                <a:ea typeface="Calibri" pitchFamily="34" charset="-122"/>
                <a:cs typeface="Calibri" pitchFamily="34" charset="-120"/>
              </a:rPr>
              <a:t>Agents are graded in judge-built test worlds before they ship.</a:t>
            </a:r>
            <a:endParaRPr lang="en-US" sz="1600" dirty="0"/>
          </a:p>
        </p:txBody>
      </p:sp>
      <p:sp>
        <p:nvSpPr>
          <p:cNvPr id="18" name="Shape 12"/>
          <p:cNvSpPr/>
          <p:nvPr/>
        </p:nvSpPr>
        <p:spPr>
          <a:xfrm>
            <a:off x="6903720" y="2103120"/>
            <a:ext cx="2258568" cy="1828800"/>
          </a:xfrm>
          <a:prstGeom prst="roundRect">
            <a:avLst>
              <a:gd name="adj" fmla="val 5000"/>
            </a:avLst>
          </a:prstGeom>
          <a:solidFill>
            <a:srgbClr val="F3F5F8"/>
          </a:solidFill>
          <a:ln w="12700">
            <a:solidFill>
              <a:srgbClr val="F3F5F8"/>
            </a:solidFill>
            <a:prstDash val="solid"/>
          </a:ln>
        </p:spPr>
      </p:sp>
      <p:sp>
        <p:nvSpPr>
          <p:cNvPr id="19" name="Text 13"/>
          <p:cNvSpPr txBox="1"/>
          <p:nvPr/>
        </p:nvSpPr>
        <p:spPr>
          <a:xfrm>
            <a:off x="7132320" y="2286000"/>
            <a:ext cx="1920240" cy="777240"/>
          </a:xfrm>
          <a:prstGeom prst="rect">
            <a:avLst/>
          </a:prstGeom>
          <a:noFill/>
          <a:ln/>
        </p:spPr>
        <p:txBody>
          <a:bodyPr wrap="square" lIns="0" tIns="0" rIns="0" bIns="0" rtlCol="0" anchor="ctr"/>
          <a:lstStyle/>
          <a:p>
            <a:pPr algn="l" indent="0" marL="0">
              <a:buNone/>
            </a:pPr>
            <a:r>
              <a:rPr lang="en-US" sz="4400" b="1" dirty="0">
                <a:solidFill>
                  <a:srgbClr val="E08A1E"/>
                </a:solidFill>
                <a:latin typeface="Arial" pitchFamily="34" charset="0"/>
                <a:ea typeface="Arial" pitchFamily="34" charset="-122"/>
                <a:cs typeface="Arial" pitchFamily="34" charset="-120"/>
              </a:rPr>
              <a:t>5</a:t>
            </a:r>
            <a:endParaRPr lang="en-US" sz="4400" dirty="0"/>
          </a:p>
        </p:txBody>
      </p:sp>
      <p:sp>
        <p:nvSpPr>
          <p:cNvPr id="20" name="Text 14"/>
          <p:cNvSpPr txBox="1"/>
          <p:nvPr/>
        </p:nvSpPr>
        <p:spPr>
          <a:xfrm>
            <a:off x="7132320" y="3090672"/>
            <a:ext cx="1874520" cy="73152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autonomy levels, from plan-only to fully unattended</a:t>
            </a:r>
            <a:endParaRPr lang="en-US" sz="1250" dirty="0"/>
          </a:p>
        </p:txBody>
      </p:sp>
      <p:sp>
        <p:nvSpPr>
          <p:cNvPr id="21" name="Shape 15"/>
          <p:cNvSpPr/>
          <p:nvPr/>
        </p:nvSpPr>
        <p:spPr>
          <a:xfrm>
            <a:off x="9299448" y="2103120"/>
            <a:ext cx="2258568" cy="1828800"/>
          </a:xfrm>
          <a:prstGeom prst="roundRect">
            <a:avLst>
              <a:gd name="adj" fmla="val 5000"/>
            </a:avLst>
          </a:prstGeom>
          <a:solidFill>
            <a:srgbClr val="F3F5F8"/>
          </a:solidFill>
          <a:ln w="12700">
            <a:solidFill>
              <a:srgbClr val="F3F5F8"/>
            </a:solidFill>
            <a:prstDash val="solid"/>
          </a:ln>
        </p:spPr>
      </p:sp>
      <p:sp>
        <p:nvSpPr>
          <p:cNvPr id="22" name="Text 16"/>
          <p:cNvSpPr txBox="1"/>
          <p:nvPr/>
        </p:nvSpPr>
        <p:spPr>
          <a:xfrm>
            <a:off x="9528048" y="2286000"/>
            <a:ext cx="1920240" cy="777240"/>
          </a:xfrm>
          <a:prstGeom prst="rect">
            <a:avLst/>
          </a:prstGeom>
          <a:noFill/>
          <a:ln/>
        </p:spPr>
        <p:txBody>
          <a:bodyPr wrap="square" lIns="0" tIns="0" rIns="0" bIns="0" rtlCol="0" anchor="ctr"/>
          <a:lstStyle/>
          <a:p>
            <a:pPr algn="l" indent="0" marL="0">
              <a:buNone/>
            </a:pPr>
            <a:r>
              <a:rPr lang="en-US" sz="4400" b="1" dirty="0">
                <a:solidFill>
                  <a:srgbClr val="E08A1E"/>
                </a:solidFill>
                <a:latin typeface="Arial" pitchFamily="34" charset="0"/>
                <a:ea typeface="Arial" pitchFamily="34" charset="-122"/>
                <a:cs typeface="Arial" pitchFamily="34" charset="-120"/>
              </a:rPr>
              <a:t>4</a:t>
            </a:r>
            <a:endParaRPr lang="en-US" sz="4400" dirty="0"/>
          </a:p>
        </p:txBody>
      </p:sp>
      <p:sp>
        <p:nvSpPr>
          <p:cNvPr id="23" name="Text 17"/>
          <p:cNvSpPr txBox="1"/>
          <p:nvPr/>
        </p:nvSpPr>
        <p:spPr>
          <a:xfrm>
            <a:off x="9528048" y="3090672"/>
            <a:ext cx="1874520" cy="73152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independent permission axes on every agent</a:t>
            </a:r>
            <a:endParaRPr lang="en-US" sz="1250" dirty="0"/>
          </a:p>
        </p:txBody>
      </p:sp>
      <p:sp>
        <p:nvSpPr>
          <p:cNvPr id="24" name="Shape 18"/>
          <p:cNvSpPr/>
          <p:nvPr/>
        </p:nvSpPr>
        <p:spPr>
          <a:xfrm>
            <a:off x="6903720" y="4114800"/>
            <a:ext cx="2258568" cy="1828800"/>
          </a:xfrm>
          <a:prstGeom prst="roundRect">
            <a:avLst>
              <a:gd name="adj" fmla="val 5000"/>
            </a:avLst>
          </a:prstGeom>
          <a:solidFill>
            <a:srgbClr val="F3F5F8"/>
          </a:solidFill>
          <a:ln w="12700">
            <a:solidFill>
              <a:srgbClr val="F3F5F8"/>
            </a:solidFill>
            <a:prstDash val="solid"/>
          </a:ln>
        </p:spPr>
      </p:sp>
      <p:sp>
        <p:nvSpPr>
          <p:cNvPr id="25" name="Text 19"/>
          <p:cNvSpPr txBox="1"/>
          <p:nvPr/>
        </p:nvSpPr>
        <p:spPr>
          <a:xfrm>
            <a:off x="7132320" y="4297680"/>
            <a:ext cx="1920240" cy="777240"/>
          </a:xfrm>
          <a:prstGeom prst="rect">
            <a:avLst/>
          </a:prstGeom>
          <a:noFill/>
          <a:ln/>
        </p:spPr>
        <p:txBody>
          <a:bodyPr wrap="square" lIns="0" tIns="0" rIns="0" bIns="0" rtlCol="0" anchor="ctr"/>
          <a:lstStyle/>
          <a:p>
            <a:pPr algn="l" indent="0" marL="0">
              <a:buNone/>
            </a:pPr>
            <a:r>
              <a:rPr lang="en-US" sz="4400" b="1" dirty="0">
                <a:solidFill>
                  <a:srgbClr val="E08A1E"/>
                </a:solidFill>
                <a:latin typeface="Arial" pitchFamily="34" charset="0"/>
                <a:ea typeface="Arial" pitchFamily="34" charset="-122"/>
                <a:cs typeface="Arial" pitchFamily="34" charset="-120"/>
              </a:rPr>
              <a:t>1</a:t>
            </a:r>
            <a:endParaRPr lang="en-US" sz="4400" dirty="0"/>
          </a:p>
        </p:txBody>
      </p:sp>
      <p:sp>
        <p:nvSpPr>
          <p:cNvPr id="26" name="Text 20"/>
          <p:cNvSpPr txBox="1"/>
          <p:nvPr/>
        </p:nvSpPr>
        <p:spPr>
          <a:xfrm>
            <a:off x="7132320" y="5102352"/>
            <a:ext cx="1874520" cy="73152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door every run starts through, whoever starts it</a:t>
            </a:r>
            <a:endParaRPr lang="en-US" sz="1250" dirty="0"/>
          </a:p>
        </p:txBody>
      </p:sp>
      <p:sp>
        <p:nvSpPr>
          <p:cNvPr id="27" name="Shape 21"/>
          <p:cNvSpPr/>
          <p:nvPr/>
        </p:nvSpPr>
        <p:spPr>
          <a:xfrm>
            <a:off x="9299448" y="4114800"/>
            <a:ext cx="2258568" cy="1828800"/>
          </a:xfrm>
          <a:prstGeom prst="roundRect">
            <a:avLst>
              <a:gd name="adj" fmla="val 5000"/>
            </a:avLst>
          </a:prstGeom>
          <a:solidFill>
            <a:srgbClr val="F3F5F8"/>
          </a:solidFill>
          <a:ln w="12700">
            <a:solidFill>
              <a:srgbClr val="F3F5F8"/>
            </a:solidFill>
            <a:prstDash val="solid"/>
          </a:ln>
        </p:spPr>
      </p:sp>
      <p:sp>
        <p:nvSpPr>
          <p:cNvPr id="28" name="Text 22"/>
          <p:cNvSpPr txBox="1"/>
          <p:nvPr/>
        </p:nvSpPr>
        <p:spPr>
          <a:xfrm>
            <a:off x="9528048" y="4297680"/>
            <a:ext cx="1920240" cy="777240"/>
          </a:xfrm>
          <a:prstGeom prst="rect">
            <a:avLst/>
          </a:prstGeom>
          <a:noFill/>
          <a:ln/>
        </p:spPr>
        <p:txBody>
          <a:bodyPr wrap="square" lIns="0" tIns="0" rIns="0" bIns="0" rtlCol="0" anchor="ctr"/>
          <a:lstStyle/>
          <a:p>
            <a:pPr algn="l" indent="0" marL="0">
              <a:buNone/>
            </a:pPr>
            <a:r>
              <a:rPr lang="en-US" sz="3200" b="1" dirty="0">
                <a:solidFill>
                  <a:srgbClr val="E08A1E"/>
                </a:solidFill>
                <a:latin typeface="Arial" pitchFamily="34" charset="0"/>
                <a:ea typeface="Arial" pitchFamily="34" charset="-122"/>
                <a:cs typeface="Arial" pitchFamily="34" charset="-120"/>
              </a:rPr>
              <a:t>384 MB</a:t>
            </a:r>
            <a:endParaRPr lang="en-US" sz="3200" dirty="0"/>
          </a:p>
        </p:txBody>
      </p:sp>
      <p:sp>
        <p:nvSpPr>
          <p:cNvPr id="29" name="Text 23"/>
          <p:cNvSpPr txBox="1"/>
          <p:nvPr/>
        </p:nvSpPr>
        <p:spPr>
          <a:xfrm>
            <a:off x="9528048" y="5102352"/>
            <a:ext cx="1874520" cy="73152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container that runs the entire backend — lean by design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WHY US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Between a chatbot and a workflow builder</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Assistants answer but can't be trusted with access. Workflow tools act but need every step drawn. Frameworks need engineers.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3044952"/>
                <a:gridCol w="2011680"/>
                <a:gridCol w="2011680"/>
                <a:gridCol w="2011680"/>
                <a:gridCol w="2011680"/>
              </a:tblGrid>
              <a:tr h="530352">
                <a:tc>
                  <a:txBody>
                    <a:bodyPr/>
                    <a:lstStyle/>
                    <a:p>
                      <a:pPr algn="ctr" indent="0" marL="0">
                        <a:buNone/>
                      </a:pP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232A3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Chat assistants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232A3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Workflow builders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232A3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Agent frameworks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232A3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AIAAS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E08A1E"/>
                    </a:solidFill>
                  </a:tcPr>
                </a:tc>
              </a:tr>
              <a:tr h="530352">
                <a:tc>
                  <a:txBody>
                    <a:bodyPr/>
                    <a:lstStyle/>
                    <a:p>
                      <a:pPr indent="0" marL="0">
                        <a:buNone/>
                      </a:pPr>
                      <a:r>
                        <a:rPr lang="en-US" sz="1300" b="1" dirty="0">
                          <a:solidFill>
                            <a:srgbClr val="1C212B"/>
                          </a:solidFill>
                          <a:latin typeface="Calibri" pitchFamily="34" charset="0"/>
                          <a:ea typeface="Calibri" pitchFamily="34" charset="-122"/>
                          <a:cs typeface="Calibri" pitchFamily="34" charset="-120"/>
                        </a:rPr>
                        <a:t>No code to use</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D5C55"/>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Drag-and-drop flows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No — code</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D5C55"/>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DF0DE"/>
                    </a:solidFill>
                  </a:tcPr>
                </a:tc>
              </a:tr>
              <a:tr h="530352">
                <a:tc>
                  <a:txBody>
                    <a:bodyPr/>
                    <a:lstStyle/>
                    <a:p>
                      <a:pPr indent="0" marL="0">
                        <a:buNone/>
                      </a:pPr>
                      <a:r>
                        <a:rPr lang="en-US" sz="1300" b="1" dirty="0">
                          <a:solidFill>
                            <a:srgbClr val="1C212B"/>
                          </a:solidFill>
                          <a:latin typeface="Calibri" pitchFamily="34" charset="0"/>
                          <a:ea typeface="Calibri" pitchFamily="34" charset="-122"/>
                          <a:cs typeface="Calibri" pitchFamily="34" charset="-120"/>
                        </a:rPr>
                        <a:t>Handles open-ended tasks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0D5C55"/>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Fixed flows only</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0D5C55"/>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0D5C55"/>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BE5C8"/>
                    </a:solidFill>
                  </a:tcPr>
                </a:tc>
              </a:tr>
              <a:tr h="530352">
                <a:tc>
                  <a:txBody>
                    <a:bodyPr/>
                    <a:lstStyle/>
                    <a:p>
                      <a:pPr indent="0" marL="0">
                        <a:buNone/>
                      </a:pPr>
                      <a:r>
                        <a:rPr lang="en-US" sz="1300" b="1" dirty="0">
                          <a:solidFill>
                            <a:srgbClr val="1C212B"/>
                          </a:solidFill>
                          <a:latin typeface="Calibri" pitchFamily="34" charset="0"/>
                          <a:ea typeface="Calibri" pitchFamily="34" charset="-122"/>
                          <a:cs typeface="Calibri" pitchFamily="34" charset="-120"/>
                        </a:rPr>
                        <a:t>Acts on your mail, files, data</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Limited</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D5C55"/>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D5C55"/>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D5C55"/>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DF0DE"/>
                    </a:solidFill>
                  </a:tcPr>
                </a:tc>
              </a:tr>
              <a:tr h="530352">
                <a:tc>
                  <a:txBody>
                    <a:bodyPr/>
                    <a:lstStyle/>
                    <a:p>
                      <a:pPr indent="0" marL="0">
                        <a:buNone/>
                      </a:pPr>
                      <a:r>
                        <a:rPr lang="en-US" sz="1300" b="1" dirty="0">
                          <a:solidFill>
                            <a:srgbClr val="1C212B"/>
                          </a:solidFill>
                          <a:latin typeface="Calibri" pitchFamily="34" charset="0"/>
                          <a:ea typeface="Calibri" pitchFamily="34" charset="-122"/>
                          <a:cs typeface="Calibri" pitchFamily="34" charset="-120"/>
                        </a:rPr>
                        <a:t>Per-agent permissions and approvals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Coarse</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Partial</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Build it yourself</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0D5C55"/>
                          </a:solidFill>
                          <a:latin typeface="Calibri" pitchFamily="34" charset="0"/>
                          <a:ea typeface="Calibri" pitchFamily="34" charset="-122"/>
                          <a:cs typeface="Calibri" pitchFamily="34" charset="-120"/>
                        </a:rPr>
                        <a:t>Built in, five levels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BE5C8"/>
                    </a:solidFill>
                  </a:tcPr>
                </a:tc>
              </a:tr>
              <a:tr h="530352">
                <a:tc>
                  <a:txBody>
                    <a:bodyPr/>
                    <a:lstStyle/>
                    <a:p>
                      <a:pPr indent="0" marL="0">
                        <a:buNone/>
                      </a:pPr>
                      <a:r>
                        <a:rPr lang="en-US" sz="1300" b="1" dirty="0">
                          <a:solidFill>
                            <a:srgbClr val="1C212B"/>
                          </a:solidFill>
                          <a:latin typeface="Calibri" pitchFamily="34" charset="0"/>
                          <a:ea typeface="Calibri" pitchFamily="34" charset="-122"/>
                          <a:cs typeface="Calibri" pitchFamily="34" charset="-120"/>
                        </a:rPr>
                        <a:t>Organisation memory, isolated per org</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Personal</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Build it yourself</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D5C55"/>
                          </a:solidFill>
                          <a:latin typeface="Calibri" pitchFamily="34" charset="0"/>
                          <a:ea typeface="Calibri" pitchFamily="34" charset="-122"/>
                          <a:cs typeface="Calibri" pitchFamily="34" charset="-120"/>
                        </a:rPr>
                        <a:t>Built in</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DF0DE"/>
                    </a:solidFill>
                  </a:tcPr>
                </a:tc>
              </a:tr>
              <a:tr h="530352">
                <a:tc>
                  <a:txBody>
                    <a:bodyPr/>
                    <a:lstStyle/>
                    <a:p>
                      <a:pPr indent="0" marL="0">
                        <a:buNone/>
                      </a:pPr>
                      <a:r>
                        <a:rPr lang="en-US" sz="1300" b="1" dirty="0">
                          <a:solidFill>
                            <a:srgbClr val="1C212B"/>
                          </a:solidFill>
                          <a:latin typeface="Calibri" pitchFamily="34" charset="0"/>
                          <a:ea typeface="Calibri" pitchFamily="34" charset="-122"/>
                          <a:cs typeface="Calibri" pitchFamily="34" charset="-120"/>
                        </a:rPr>
                        <a:t>Real files you open and edit</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Downloads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472"/>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0D5C55"/>
                          </a:solidFill>
                          <a:latin typeface="Calibri" pitchFamily="34" charset="0"/>
                          <a:ea typeface="Calibri" pitchFamily="34" charset="-122"/>
                          <a:cs typeface="Calibri" pitchFamily="34" charset="-120"/>
                        </a:rPr>
                        <a:t>15 built-in apps</a:t>
                      </a:r>
                      <a:endParaRPr lang="en-US" sz="130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BE5C8"/>
                    </a:solidFill>
                  </a:tcPr>
                </a:tc>
              </a:tr>
            </a:tbl>
          </a:graphicData>
        </a:graphic>
      </p:graphicFrame>
      <p:sp>
        <p:nvSpPr>
          <p:cNvPr id="7" name="Text 4"/>
          <p:cNvSpPr txBox="1"/>
          <p:nvPr/>
        </p:nvSpPr>
        <p:spPr>
          <a:xfrm>
            <a:off x="548640" y="5897880"/>
            <a:ext cx="10058400" cy="274320"/>
          </a:xfrm>
          <a:prstGeom prst="rect">
            <a:avLst/>
          </a:prstGeom>
          <a:noFill/>
          <a:ln/>
        </p:spPr>
        <p:txBody>
          <a:bodyPr wrap="square" lIns="0" tIns="0" rIns="0" bIns="0" rtlCol="0" anchor="t"/>
          <a:lstStyle/>
          <a:p>
            <a:pPr algn="l" indent="0" marL="0">
              <a:buNone/>
            </a:pPr>
            <a:r>
              <a:rPr lang="en-US" sz="1100" i="1" dirty="0">
                <a:solidFill>
                  <a:srgbClr val="8A93A1"/>
                </a:solidFill>
                <a:latin typeface="Calibri" pitchFamily="34" charset="0"/>
                <a:ea typeface="Calibri" pitchFamily="34" charset="-122"/>
                <a:cs typeface="Calibri" pitchFamily="34" charset="-120"/>
              </a:rPr>
              <a:t>Categories, not products: a general view of each approach.</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AGENDA</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Seven parts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One thread runs through all of them: every guardrail sits in one place, so nothing can skip it.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965960"/>
            <a:ext cx="2651760" cy="1965960"/>
          </a:xfrm>
          <a:prstGeom prst="roundRect">
            <a:avLst>
              <a:gd name="adj" fmla="val 4651"/>
            </a:avLst>
          </a:prstGeom>
          <a:solidFill>
            <a:srgbClr val="F3F5F8"/>
          </a:solidFill>
          <a:ln w="12700">
            <a:solidFill>
              <a:srgbClr val="F3F5F8"/>
            </a:solidFill>
            <a:prstDash val="solid"/>
          </a:ln>
        </p:spPr>
      </p:sp>
      <p:sp>
        <p:nvSpPr>
          <p:cNvPr id="7" name="Text 5"/>
          <p:cNvSpPr txBox="1"/>
          <p:nvPr/>
        </p:nvSpPr>
        <p:spPr>
          <a:xfrm>
            <a:off x="777240" y="2148840"/>
            <a:ext cx="914400" cy="457200"/>
          </a:xfrm>
          <a:prstGeom prst="rect">
            <a:avLst/>
          </a:prstGeom>
          <a:noFill/>
          <a:ln/>
        </p:spPr>
        <p:txBody>
          <a:bodyPr wrap="square" lIns="0" tIns="0" rIns="0" bIns="0" rtlCol="0" anchor="t"/>
          <a:lstStyle/>
          <a:p>
            <a:pPr algn="l" indent="0" marL="0">
              <a:buNone/>
            </a:pPr>
            <a:r>
              <a:rPr lang="en-US" sz="2200" b="1" dirty="0">
                <a:solidFill>
                  <a:srgbClr val="8A93A1"/>
                </a:solidFill>
                <a:latin typeface="Arial" pitchFamily="34" charset="0"/>
                <a:ea typeface="Arial" pitchFamily="34" charset="-122"/>
                <a:cs typeface="Arial" pitchFamily="34" charset="-120"/>
              </a:rPr>
              <a:t>01</a:t>
            </a:r>
            <a:endParaRPr lang="en-US" sz="2200" dirty="0"/>
          </a:p>
        </p:txBody>
      </p:sp>
      <p:sp>
        <p:nvSpPr>
          <p:cNvPr id="8" name="Text 6"/>
          <p:cNvSpPr txBox="1"/>
          <p:nvPr/>
        </p:nvSpPr>
        <p:spPr>
          <a:xfrm>
            <a:off x="777240" y="265176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Shape</a:t>
            </a:r>
            <a:endParaRPr lang="en-US" sz="1700" dirty="0"/>
          </a:p>
        </p:txBody>
      </p:sp>
      <p:sp>
        <p:nvSpPr>
          <p:cNvPr id="9" name="Text 7"/>
          <p:cNvSpPr txBox="1"/>
          <p:nvPr/>
        </p:nvSpPr>
        <p:spPr>
          <a:xfrm>
            <a:off x="777240" y="306324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Request path, one entry point, the turn loop</a:t>
            </a:r>
            <a:endParaRPr lang="en-US" sz="1250" dirty="0"/>
          </a:p>
        </p:txBody>
      </p:sp>
      <p:sp>
        <p:nvSpPr>
          <p:cNvPr id="10" name="Shape 8"/>
          <p:cNvSpPr/>
          <p:nvPr/>
        </p:nvSpPr>
        <p:spPr>
          <a:xfrm>
            <a:off x="3355848" y="1965960"/>
            <a:ext cx="2651760" cy="1965960"/>
          </a:xfrm>
          <a:prstGeom prst="roundRect">
            <a:avLst>
              <a:gd name="adj" fmla="val 4651"/>
            </a:avLst>
          </a:prstGeom>
          <a:solidFill>
            <a:srgbClr val="FDF0DE"/>
          </a:solidFill>
          <a:ln w="12700">
            <a:solidFill>
              <a:srgbClr val="FDF0DE"/>
            </a:solidFill>
            <a:prstDash val="solid"/>
          </a:ln>
        </p:spPr>
      </p:sp>
      <p:sp>
        <p:nvSpPr>
          <p:cNvPr id="11" name="Text 9"/>
          <p:cNvSpPr txBox="1"/>
          <p:nvPr/>
        </p:nvSpPr>
        <p:spPr>
          <a:xfrm>
            <a:off x="3584448" y="2148840"/>
            <a:ext cx="914400" cy="457200"/>
          </a:xfrm>
          <a:prstGeom prst="rect">
            <a:avLst/>
          </a:prstGeom>
          <a:noFill/>
          <a:ln/>
        </p:spPr>
        <p:txBody>
          <a:bodyPr wrap="square" lIns="0" tIns="0" rIns="0" bIns="0" rtlCol="0" anchor="t"/>
          <a:lstStyle/>
          <a:p>
            <a:pPr algn="l" indent="0" marL="0">
              <a:buNone/>
            </a:pPr>
            <a:r>
              <a:rPr lang="en-US" sz="2200" b="1" dirty="0">
                <a:solidFill>
                  <a:srgbClr val="E08A1E"/>
                </a:solidFill>
                <a:latin typeface="Arial" pitchFamily="34" charset="0"/>
                <a:ea typeface="Arial" pitchFamily="34" charset="-122"/>
                <a:cs typeface="Arial" pitchFamily="34" charset="-120"/>
              </a:rPr>
              <a:t>02</a:t>
            </a:r>
            <a:endParaRPr lang="en-US" sz="2200" dirty="0"/>
          </a:p>
        </p:txBody>
      </p:sp>
      <p:sp>
        <p:nvSpPr>
          <p:cNvPr id="12" name="Text 10"/>
          <p:cNvSpPr txBox="1"/>
          <p:nvPr/>
        </p:nvSpPr>
        <p:spPr>
          <a:xfrm>
            <a:off x="3584448" y="265176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Orchestration</a:t>
            </a:r>
            <a:endParaRPr lang="en-US" sz="1700" dirty="0"/>
          </a:p>
        </p:txBody>
      </p:sp>
      <p:sp>
        <p:nvSpPr>
          <p:cNvPr id="13" name="Text 11"/>
          <p:cNvSpPr txBox="1"/>
          <p:nvPr/>
        </p:nvSpPr>
        <p:spPr>
          <a:xfrm>
            <a:off x="3584448" y="306324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Manager and workers, delegation limits, escalation, approvals, permissions</a:t>
            </a:r>
            <a:endParaRPr lang="en-US" sz="1250" dirty="0"/>
          </a:p>
        </p:txBody>
      </p:sp>
      <p:sp>
        <p:nvSpPr>
          <p:cNvPr id="14" name="Shape 12"/>
          <p:cNvSpPr/>
          <p:nvPr/>
        </p:nvSpPr>
        <p:spPr>
          <a:xfrm>
            <a:off x="6163056" y="1965960"/>
            <a:ext cx="2651760" cy="1965960"/>
          </a:xfrm>
          <a:prstGeom prst="roundRect">
            <a:avLst>
              <a:gd name="adj" fmla="val 4651"/>
            </a:avLst>
          </a:prstGeom>
          <a:solidFill>
            <a:srgbClr val="FDF0DE"/>
          </a:solidFill>
          <a:ln w="12700">
            <a:solidFill>
              <a:srgbClr val="FDF0DE"/>
            </a:solidFill>
            <a:prstDash val="solid"/>
          </a:ln>
        </p:spPr>
      </p:sp>
      <p:sp>
        <p:nvSpPr>
          <p:cNvPr id="15" name="Text 13"/>
          <p:cNvSpPr txBox="1"/>
          <p:nvPr/>
        </p:nvSpPr>
        <p:spPr>
          <a:xfrm>
            <a:off x="6391656" y="2148840"/>
            <a:ext cx="914400" cy="457200"/>
          </a:xfrm>
          <a:prstGeom prst="rect">
            <a:avLst/>
          </a:prstGeom>
          <a:noFill/>
          <a:ln/>
        </p:spPr>
        <p:txBody>
          <a:bodyPr wrap="square" lIns="0" tIns="0" rIns="0" bIns="0" rtlCol="0" anchor="t"/>
          <a:lstStyle/>
          <a:p>
            <a:pPr algn="l" indent="0" marL="0">
              <a:buNone/>
            </a:pPr>
            <a:r>
              <a:rPr lang="en-US" sz="2200" b="1" dirty="0">
                <a:solidFill>
                  <a:srgbClr val="E08A1E"/>
                </a:solidFill>
                <a:latin typeface="Arial" pitchFamily="34" charset="0"/>
                <a:ea typeface="Arial" pitchFamily="34" charset="-122"/>
                <a:cs typeface="Arial" pitchFamily="34" charset="-120"/>
              </a:rPr>
              <a:t>03</a:t>
            </a:r>
            <a:endParaRPr lang="en-US" sz="2200" dirty="0"/>
          </a:p>
        </p:txBody>
      </p:sp>
      <p:sp>
        <p:nvSpPr>
          <p:cNvPr id="16" name="Text 14"/>
          <p:cNvSpPr txBox="1"/>
          <p:nvPr/>
        </p:nvSpPr>
        <p:spPr>
          <a:xfrm>
            <a:off x="6391656" y="265176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Context</a:t>
            </a:r>
            <a:endParaRPr lang="en-US" sz="1700" dirty="0"/>
          </a:p>
        </p:txBody>
      </p:sp>
      <p:sp>
        <p:nvSpPr>
          <p:cNvPr id="17" name="Text 15"/>
          <p:cNvSpPr txBox="1"/>
          <p:nvPr/>
        </p:nvSpPr>
        <p:spPr>
          <a:xfrm>
            <a:off x="6391656" y="306324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What the model sees, curation, the plan, every budget</a:t>
            </a:r>
            <a:endParaRPr lang="en-US" sz="1250" dirty="0"/>
          </a:p>
        </p:txBody>
      </p:sp>
      <p:sp>
        <p:nvSpPr>
          <p:cNvPr id="18" name="Shape 16"/>
          <p:cNvSpPr/>
          <p:nvPr/>
        </p:nvSpPr>
        <p:spPr>
          <a:xfrm>
            <a:off x="8970264" y="1965960"/>
            <a:ext cx="2651760" cy="1965960"/>
          </a:xfrm>
          <a:prstGeom prst="roundRect">
            <a:avLst>
              <a:gd name="adj" fmla="val 4651"/>
            </a:avLst>
          </a:prstGeom>
          <a:solidFill>
            <a:srgbClr val="FDF0DE"/>
          </a:solidFill>
          <a:ln w="12700">
            <a:solidFill>
              <a:srgbClr val="FDF0DE"/>
            </a:solidFill>
            <a:prstDash val="solid"/>
          </a:ln>
        </p:spPr>
      </p:sp>
      <p:sp>
        <p:nvSpPr>
          <p:cNvPr id="19" name="Text 17"/>
          <p:cNvSpPr txBox="1"/>
          <p:nvPr/>
        </p:nvSpPr>
        <p:spPr>
          <a:xfrm>
            <a:off x="9198864" y="2148840"/>
            <a:ext cx="914400" cy="457200"/>
          </a:xfrm>
          <a:prstGeom prst="rect">
            <a:avLst/>
          </a:prstGeom>
          <a:noFill/>
          <a:ln/>
        </p:spPr>
        <p:txBody>
          <a:bodyPr wrap="square" lIns="0" tIns="0" rIns="0" bIns="0" rtlCol="0" anchor="t"/>
          <a:lstStyle/>
          <a:p>
            <a:pPr algn="l" indent="0" marL="0">
              <a:buNone/>
            </a:pPr>
            <a:r>
              <a:rPr lang="en-US" sz="2200" b="1" dirty="0">
                <a:solidFill>
                  <a:srgbClr val="E08A1E"/>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9198864" y="265176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Files &amp; apps</a:t>
            </a:r>
            <a:endParaRPr lang="en-US" sz="1700" dirty="0"/>
          </a:p>
        </p:txBody>
      </p:sp>
      <p:sp>
        <p:nvSpPr>
          <p:cNvPr id="21" name="Text 19"/>
          <p:cNvSpPr txBox="1"/>
          <p:nvPr/>
        </p:nvSpPr>
        <p:spPr>
          <a:xfrm>
            <a:off x="9198864" y="306324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The virtual filesystem, locking, office files, fifteen apps, the full journey</a:t>
            </a:r>
            <a:endParaRPr lang="en-US" sz="1250" dirty="0"/>
          </a:p>
        </p:txBody>
      </p:sp>
      <p:sp>
        <p:nvSpPr>
          <p:cNvPr id="22" name="Shape 20"/>
          <p:cNvSpPr/>
          <p:nvPr/>
        </p:nvSpPr>
        <p:spPr>
          <a:xfrm>
            <a:off x="548640" y="4114800"/>
            <a:ext cx="2651760" cy="1965960"/>
          </a:xfrm>
          <a:prstGeom prst="roundRect">
            <a:avLst>
              <a:gd name="adj" fmla="val 4651"/>
            </a:avLst>
          </a:prstGeom>
          <a:solidFill>
            <a:srgbClr val="F3F5F8"/>
          </a:solidFill>
          <a:ln w="12700">
            <a:solidFill>
              <a:srgbClr val="F3F5F8"/>
            </a:solidFill>
            <a:prstDash val="solid"/>
          </a:ln>
        </p:spPr>
      </p:sp>
      <p:sp>
        <p:nvSpPr>
          <p:cNvPr id="23" name="Text 21"/>
          <p:cNvSpPr txBox="1"/>
          <p:nvPr/>
        </p:nvSpPr>
        <p:spPr>
          <a:xfrm>
            <a:off x="777240" y="4297680"/>
            <a:ext cx="914400" cy="457200"/>
          </a:xfrm>
          <a:prstGeom prst="rect">
            <a:avLst/>
          </a:prstGeom>
          <a:noFill/>
          <a:ln/>
        </p:spPr>
        <p:txBody>
          <a:bodyPr wrap="square" lIns="0" tIns="0" rIns="0" bIns="0" rtlCol="0" anchor="t"/>
          <a:lstStyle/>
          <a:p>
            <a:pPr algn="l" indent="0" marL="0">
              <a:buNone/>
            </a:pPr>
            <a:r>
              <a:rPr lang="en-US" sz="2200" b="1" dirty="0">
                <a:solidFill>
                  <a:srgbClr val="8A93A1"/>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777240" y="480060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Runtime</a:t>
            </a:r>
            <a:endParaRPr lang="en-US" sz="1700" dirty="0"/>
          </a:p>
        </p:txBody>
      </p:sp>
      <p:sp>
        <p:nvSpPr>
          <p:cNvPr id="25" name="Text 23"/>
          <p:cNvSpPr txBox="1"/>
          <p:nvPr/>
        </p:nvSpPr>
        <p:spPr>
          <a:xfrm>
            <a:off x="777240" y="521208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Lean by design, parallel tools, the sandbox</a:t>
            </a:r>
            <a:endParaRPr lang="en-US" sz="1250" dirty="0"/>
          </a:p>
        </p:txBody>
      </p:sp>
      <p:sp>
        <p:nvSpPr>
          <p:cNvPr id="26" name="Shape 24"/>
          <p:cNvSpPr/>
          <p:nvPr/>
        </p:nvSpPr>
        <p:spPr>
          <a:xfrm>
            <a:off x="3355848" y="4114800"/>
            <a:ext cx="2651760" cy="1965960"/>
          </a:xfrm>
          <a:prstGeom prst="roundRect">
            <a:avLst>
              <a:gd name="adj" fmla="val 4651"/>
            </a:avLst>
          </a:prstGeom>
          <a:solidFill>
            <a:srgbClr val="F3F5F8"/>
          </a:solidFill>
          <a:ln w="12700">
            <a:solidFill>
              <a:srgbClr val="F3F5F8"/>
            </a:solidFill>
            <a:prstDash val="solid"/>
          </a:ln>
        </p:spPr>
      </p:sp>
      <p:sp>
        <p:nvSpPr>
          <p:cNvPr id="27" name="Text 25"/>
          <p:cNvSpPr txBox="1"/>
          <p:nvPr/>
        </p:nvSpPr>
        <p:spPr>
          <a:xfrm>
            <a:off x="3584448" y="4297680"/>
            <a:ext cx="914400" cy="457200"/>
          </a:xfrm>
          <a:prstGeom prst="rect">
            <a:avLst/>
          </a:prstGeom>
          <a:noFill/>
          <a:ln/>
        </p:spPr>
        <p:txBody>
          <a:bodyPr wrap="square" lIns="0" tIns="0" rIns="0" bIns="0" rtlCol="0" anchor="t"/>
          <a:lstStyle/>
          <a:p>
            <a:pPr algn="l" indent="0" marL="0">
              <a:buNone/>
            </a:pPr>
            <a:r>
              <a:rPr lang="en-US" sz="2200" b="1" dirty="0">
                <a:solidFill>
                  <a:srgbClr val="8A93A1"/>
                </a:solidFill>
                <a:latin typeface="Arial" pitchFamily="34" charset="0"/>
                <a:ea typeface="Arial" pitchFamily="34" charset="-122"/>
                <a:cs typeface="Arial" pitchFamily="34" charset="-120"/>
              </a:rPr>
              <a:t>06</a:t>
            </a:r>
            <a:endParaRPr lang="en-US" sz="2200" dirty="0"/>
          </a:p>
        </p:txBody>
      </p:sp>
      <p:sp>
        <p:nvSpPr>
          <p:cNvPr id="28" name="Text 26"/>
          <p:cNvSpPr txBox="1"/>
          <p:nvPr/>
        </p:nvSpPr>
        <p:spPr>
          <a:xfrm>
            <a:off x="3584448" y="480060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Trust</a:t>
            </a:r>
            <a:endParaRPr lang="en-US" sz="1700" dirty="0"/>
          </a:p>
        </p:txBody>
      </p:sp>
      <p:sp>
        <p:nvSpPr>
          <p:cNvPr id="29" name="Text 27"/>
          <p:cNvSpPr txBox="1"/>
          <p:nvPr/>
        </p:nvSpPr>
        <p:spPr>
          <a:xfrm>
            <a:off x="3584448" y="521208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Prompt injection, credentials, solution memory, isolation</a:t>
            </a:r>
            <a:endParaRPr lang="en-US" sz="1250" dirty="0"/>
          </a:p>
        </p:txBody>
      </p:sp>
      <p:sp>
        <p:nvSpPr>
          <p:cNvPr id="30" name="Shape 28"/>
          <p:cNvSpPr/>
          <p:nvPr/>
        </p:nvSpPr>
        <p:spPr>
          <a:xfrm>
            <a:off x="6163056" y="4114800"/>
            <a:ext cx="2651760" cy="1965960"/>
          </a:xfrm>
          <a:prstGeom prst="roundRect">
            <a:avLst>
              <a:gd name="adj" fmla="val 4651"/>
            </a:avLst>
          </a:prstGeom>
          <a:solidFill>
            <a:srgbClr val="F3F5F8"/>
          </a:solidFill>
          <a:ln w="12700">
            <a:solidFill>
              <a:srgbClr val="F3F5F8"/>
            </a:solidFill>
            <a:prstDash val="solid"/>
          </a:ln>
        </p:spPr>
      </p:sp>
      <p:sp>
        <p:nvSpPr>
          <p:cNvPr id="31" name="Text 29"/>
          <p:cNvSpPr txBox="1"/>
          <p:nvPr/>
        </p:nvSpPr>
        <p:spPr>
          <a:xfrm>
            <a:off x="6391656" y="4297680"/>
            <a:ext cx="914400" cy="457200"/>
          </a:xfrm>
          <a:prstGeom prst="rect">
            <a:avLst/>
          </a:prstGeom>
          <a:noFill/>
          <a:ln/>
        </p:spPr>
        <p:txBody>
          <a:bodyPr wrap="square" lIns="0" tIns="0" rIns="0" bIns="0" rtlCol="0" anchor="t"/>
          <a:lstStyle/>
          <a:p>
            <a:pPr algn="l" indent="0" marL="0">
              <a:buNone/>
            </a:pPr>
            <a:r>
              <a:rPr lang="en-US" sz="2200" b="1" dirty="0">
                <a:solidFill>
                  <a:srgbClr val="8A93A1"/>
                </a:solidFill>
                <a:latin typeface="Arial" pitchFamily="34" charset="0"/>
                <a:ea typeface="Arial" pitchFamily="34" charset="-122"/>
                <a:cs typeface="Arial" pitchFamily="34" charset="-120"/>
              </a:rPr>
              <a:t>07</a:t>
            </a:r>
            <a:endParaRPr lang="en-US" sz="2200" dirty="0"/>
          </a:p>
        </p:txBody>
      </p:sp>
      <p:sp>
        <p:nvSpPr>
          <p:cNvPr id="32" name="Text 30"/>
          <p:cNvSpPr txBox="1"/>
          <p:nvPr/>
        </p:nvSpPr>
        <p:spPr>
          <a:xfrm>
            <a:off x="6391656" y="4800600"/>
            <a:ext cx="22860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Proof &amp; next</a:t>
            </a:r>
            <a:endParaRPr lang="en-US" sz="1700" dirty="0"/>
          </a:p>
        </p:txBody>
      </p:sp>
      <p:sp>
        <p:nvSpPr>
          <p:cNvPr id="33" name="Text 31"/>
          <p:cNvSpPr txBox="1"/>
          <p:nvPr/>
        </p:nvSpPr>
        <p:spPr>
          <a:xfrm>
            <a:off x="6391656" y="5212080"/>
            <a:ext cx="2240280" cy="77724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Run records, evaluation, the roadmap</a:t>
            </a:r>
            <a:endParaRPr lang="en-US" sz="1250" dirty="0"/>
          </a:p>
        </p:txBody>
      </p:sp>
      <p:sp>
        <p:nvSpPr>
          <p:cNvPr id="34" name="Shape 32"/>
          <p:cNvSpPr/>
          <p:nvPr/>
        </p:nvSpPr>
        <p:spPr>
          <a:xfrm>
            <a:off x="8970264" y="4114800"/>
            <a:ext cx="2651760" cy="1965960"/>
          </a:xfrm>
          <a:prstGeom prst="roundRect">
            <a:avLst>
              <a:gd name="adj" fmla="val 4651"/>
            </a:avLst>
          </a:prstGeom>
          <a:solidFill>
            <a:srgbClr val="151922"/>
          </a:solidFill>
          <a:ln w="12700">
            <a:solidFill>
              <a:srgbClr val="151922"/>
            </a:solidFill>
            <a:prstDash val="solid"/>
          </a:ln>
        </p:spPr>
      </p:sp>
      <p:sp>
        <p:nvSpPr>
          <p:cNvPr id="35" name="Text 33"/>
          <p:cNvSpPr txBox="1"/>
          <p:nvPr/>
        </p:nvSpPr>
        <p:spPr>
          <a:xfrm>
            <a:off x="9198864" y="4343400"/>
            <a:ext cx="2286000" cy="320040"/>
          </a:xfrm>
          <a:prstGeom prst="rect">
            <a:avLst/>
          </a:prstGeom>
          <a:noFill/>
          <a:ln/>
        </p:spPr>
        <p:txBody>
          <a:bodyPr wrap="square" lIns="0" tIns="0" rIns="0" bIns="0" rtlCol="0" anchor="t"/>
          <a:lstStyle/>
          <a:p>
            <a:pPr algn="l" indent="0" marL="0">
              <a:buNone/>
            </a:pPr>
            <a:r>
              <a:rPr lang="en-US" sz="1400" b="1" dirty="0">
                <a:solidFill>
                  <a:srgbClr val="E08A1E"/>
                </a:solidFill>
                <a:latin typeface="Arial" pitchFamily="34" charset="0"/>
                <a:ea typeface="Arial" pitchFamily="34" charset="-122"/>
                <a:cs typeface="Arial" pitchFamily="34" charset="-120"/>
              </a:rPr>
              <a:t>Deep dives today</a:t>
            </a:r>
            <a:endParaRPr lang="en-US" sz="1400" dirty="0"/>
          </a:p>
        </p:txBody>
      </p:sp>
      <p:sp>
        <p:nvSpPr>
          <p:cNvPr id="36" name="Text 34"/>
          <p:cNvSpPr txBox="1"/>
          <p:nvPr/>
        </p:nvSpPr>
        <p:spPr>
          <a:xfrm>
            <a:off x="9198864" y="4754880"/>
            <a:ext cx="2240280" cy="1188720"/>
          </a:xfrm>
          <a:prstGeom prst="rect">
            <a:avLst/>
          </a:prstGeom>
          <a:noFill/>
          <a:ln/>
        </p:spPr>
        <p:txBody>
          <a:bodyPr wrap="square" lIns="0" tIns="0" rIns="0" bIns="0" rtlCol="0" anchor="t"/>
          <a:lstStyle/>
          <a:p>
            <a:pPr algn="l" indent="0" marL="0">
              <a:buNone/>
            </a:pPr>
            <a:r>
              <a:rPr lang="en-US" sz="1300" dirty="0">
                <a:solidFill>
                  <a:srgbClr val="C9D0DB"/>
                </a:solidFill>
                <a:latin typeface="Calibri" pitchFamily="34" charset="0"/>
                <a:ea typeface="Calibri" pitchFamily="34" charset="-122"/>
                <a:cs typeface="Calibri" pitchFamily="34" charset="-120"/>
              </a:rPr>
              <a:t>Orchestration, context and files get the most time — highlighted in amber.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SHAPE · TOPOLOGY</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Request path: browser to model and back</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Streaming both ways, one async backend, and a code sandbox with no network access.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8</a:t>
            </a:r>
            <a:endParaRPr lang="en-US" sz="1000" dirty="0"/>
          </a:p>
        </p:txBody>
      </p:sp>
      <p:sp>
        <p:nvSpPr>
          <p:cNvPr id="6" name="Text 4"/>
          <p:cNvSpPr txBox="1"/>
          <p:nvPr/>
        </p:nvSpPr>
        <p:spPr>
          <a:xfrm>
            <a:off x="548640" y="2926080"/>
            <a:ext cx="1965960" cy="2286000"/>
          </a:xfrm>
          <a:prstGeom prst="roundRect">
            <a:avLst>
              <a:gd name="adj" fmla="val 3721"/>
            </a:avLst>
          </a:prstGeom>
          <a:solidFill>
            <a:srgbClr val="E9EDF2"/>
          </a:solidFill>
          <a:ln w="12700">
            <a:solidFill>
              <a:srgbClr val="E9EDF2"/>
            </a:solidFill>
            <a:prstDash val="solid"/>
          </a:ln>
        </p:spPr>
        <p:txBody>
          <a:bodyPr wrap="square" lIns="50800" tIns="101600" rIns="101600" bIns="50800" rtlCol="0" anchor="ctr"/>
          <a:lstStyle/>
          <a:p>
            <a:pPr algn="ctr" indent="0" marL="0">
              <a:spcAft>
                <a:spcPts val="200"/>
              </a:spcAft>
              <a:buNone/>
            </a:pPr>
            <a:r>
              <a:rPr lang="en-US" sz="1500" b="1" dirty="0">
                <a:solidFill>
                  <a:srgbClr val="1C212B"/>
                </a:solidFill>
                <a:latin typeface="Arial" pitchFamily="34" charset="0"/>
                <a:ea typeface="Arial" pitchFamily="34" charset="-122"/>
                <a:cs typeface="Arial" pitchFamily="34" charset="-120"/>
              </a:rPr>
              <a:t>Browser</a:t>
            </a:r>
            <a:endParaRPr lang="en-US" sz="15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React + Vite SPA</a:t>
            </a:r>
            <a:endParaRPr lang="en-US" sz="1500" dirty="0"/>
          </a:p>
          <a:p>
            <a:pPr algn="ctr" indent="0" marL="0">
              <a:spcAft>
                <a:spcPts val="200"/>
              </a:spcAft>
              <a:buNone/>
            </a:pPr>
            <a:endParaRPr lang="en-US" sz="15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SSE for chat turns</a:t>
            </a:r>
            <a:endParaRPr lang="en-US" sz="15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WebSocket for runs, approvals, notifications</a:t>
            </a:r>
            <a:endParaRPr lang="en-US" sz="1500" dirty="0"/>
          </a:p>
        </p:txBody>
      </p:sp>
      <p:sp>
        <p:nvSpPr>
          <p:cNvPr id="7" name="Shape 5"/>
          <p:cNvSpPr/>
          <p:nvPr/>
        </p:nvSpPr>
        <p:spPr>
          <a:xfrm>
            <a:off x="2514600" y="4069080"/>
            <a:ext cx="548640" cy="0"/>
          </a:xfrm>
          <a:prstGeom prst="line">
            <a:avLst/>
          </a:prstGeom>
          <a:noFill/>
          <a:ln w="22225">
            <a:solidFill>
              <a:srgbClr val="4E5A6B"/>
            </a:solidFill>
            <a:prstDash val="solid"/>
            <a:headEnd type="triangle"/>
            <a:tailEnd type="triangle"/>
          </a:ln>
        </p:spPr>
      </p:sp>
      <p:sp>
        <p:nvSpPr>
          <p:cNvPr id="8" name="Text 6"/>
          <p:cNvSpPr txBox="1"/>
          <p:nvPr/>
        </p:nvSpPr>
        <p:spPr>
          <a:xfrm>
            <a:off x="3063240" y="3429000"/>
            <a:ext cx="1417320" cy="1280160"/>
          </a:xfrm>
          <a:prstGeom prst="roundRect">
            <a:avLst>
              <a:gd name="adj" fmla="val 5714"/>
            </a:avLst>
          </a:prstGeom>
          <a:solidFill>
            <a:srgbClr val="E9EDF2"/>
          </a:solidFill>
          <a:ln w="12700">
            <a:solidFill>
              <a:srgbClr val="E9EDF2"/>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Caddy</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TLS</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reverse proxy</a:t>
            </a:r>
            <a:endParaRPr lang="en-US" sz="1400" dirty="0"/>
          </a:p>
        </p:txBody>
      </p:sp>
      <p:sp>
        <p:nvSpPr>
          <p:cNvPr id="9" name="Shape 7"/>
          <p:cNvSpPr/>
          <p:nvPr/>
        </p:nvSpPr>
        <p:spPr>
          <a:xfrm>
            <a:off x="4480560" y="4069080"/>
            <a:ext cx="548640" cy="0"/>
          </a:xfrm>
          <a:prstGeom prst="line">
            <a:avLst/>
          </a:prstGeom>
          <a:noFill/>
          <a:ln w="22225">
            <a:solidFill>
              <a:srgbClr val="4E5A6B"/>
            </a:solidFill>
            <a:prstDash val="solid"/>
            <a:headEnd type="triangle"/>
            <a:tailEnd type="triangle"/>
          </a:ln>
        </p:spPr>
      </p:sp>
      <p:sp>
        <p:nvSpPr>
          <p:cNvPr id="10" name="Shape 8"/>
          <p:cNvSpPr/>
          <p:nvPr/>
        </p:nvSpPr>
        <p:spPr>
          <a:xfrm>
            <a:off x="5029200" y="2011680"/>
            <a:ext cx="3154680" cy="4160520"/>
          </a:xfrm>
          <a:prstGeom prst="roundRect">
            <a:avLst>
              <a:gd name="adj" fmla="val 2899"/>
            </a:avLst>
          </a:prstGeom>
          <a:solidFill>
            <a:srgbClr val="FDF0DE"/>
          </a:solidFill>
          <a:ln w="15875">
            <a:solidFill>
              <a:srgbClr val="E08A1E"/>
            </a:solidFill>
            <a:prstDash val="solid"/>
          </a:ln>
        </p:spPr>
      </p:sp>
      <p:sp>
        <p:nvSpPr>
          <p:cNvPr id="11" name="Text 9"/>
          <p:cNvSpPr txBox="1"/>
          <p:nvPr/>
        </p:nvSpPr>
        <p:spPr>
          <a:xfrm>
            <a:off x="5212080" y="2121408"/>
            <a:ext cx="2834640" cy="320040"/>
          </a:xfrm>
          <a:prstGeom prst="rect">
            <a:avLst/>
          </a:prstGeom>
          <a:noFill/>
          <a:ln/>
        </p:spPr>
        <p:txBody>
          <a:bodyPr wrap="square" lIns="0" tIns="0" rIns="0" bIns="0" rtlCol="0" anchor="t"/>
          <a:lstStyle/>
          <a:p>
            <a:pPr algn="l" indent="0" marL="0">
              <a:buNone/>
            </a:pPr>
            <a:r>
              <a:rPr lang="en-US" sz="1400" b="1" dirty="0">
                <a:solidFill>
                  <a:srgbClr val="9A5A0C"/>
                </a:solidFill>
                <a:latin typeface="Arial" pitchFamily="34" charset="0"/>
                <a:ea typeface="Arial" pitchFamily="34" charset="-122"/>
                <a:cs typeface="Arial" pitchFamily="34" charset="-120"/>
              </a:rPr>
              <a:t>Django ASGI  (Daphne)</a:t>
            </a:r>
            <a:endParaRPr lang="en-US" sz="1400" dirty="0"/>
          </a:p>
        </p:txBody>
      </p:sp>
      <p:sp>
        <p:nvSpPr>
          <p:cNvPr id="12" name="Text 10"/>
          <p:cNvSpPr txBox="1"/>
          <p:nvPr/>
        </p:nvSpPr>
        <p:spPr>
          <a:xfrm>
            <a:off x="5212080" y="2560320"/>
            <a:ext cx="2788920" cy="749808"/>
          </a:xfrm>
          <a:prstGeom prst="roundRect">
            <a:avLst>
              <a:gd name="adj" fmla="val 9756"/>
            </a:avLst>
          </a:prstGeom>
          <a:solidFill>
            <a:srgbClr val="FFFFFF"/>
          </a:solidFill>
          <a:ln w="12700">
            <a:solidFill>
              <a:srgbClr val="F2C58F"/>
            </a:solidFill>
            <a:prstDash val="solid"/>
          </a:ln>
        </p:spPr>
        <p:txBody>
          <a:bodyPr wrap="square" lIns="50800" tIns="101600" rIns="101600" bIns="50800" rtlCol="0" anchor="ctr"/>
          <a:lstStyle/>
          <a:p>
            <a:pPr algn="ctr" indent="0" marL="0">
              <a:spcAft>
                <a:spcPts val="200"/>
              </a:spcAft>
              <a:buNone/>
            </a:pPr>
            <a:r>
              <a:rPr lang="en-US" sz="1250" b="1" dirty="0">
                <a:solidFill>
                  <a:srgbClr val="1C212B"/>
                </a:solidFill>
                <a:latin typeface="Arial" pitchFamily="34" charset="0"/>
                <a:ea typeface="Arial" pitchFamily="34" charset="-122"/>
                <a:cs typeface="Arial" pitchFamily="34" charset="-120"/>
              </a:rPr>
              <a:t>REST API · auth · throttling</a:t>
            </a:r>
            <a:endParaRPr lang="en-US" sz="1250" dirty="0"/>
          </a:p>
        </p:txBody>
      </p:sp>
      <p:sp>
        <p:nvSpPr>
          <p:cNvPr id="13" name="Text 11"/>
          <p:cNvSpPr txBox="1"/>
          <p:nvPr/>
        </p:nvSpPr>
        <p:spPr>
          <a:xfrm>
            <a:off x="5212080" y="3447288"/>
            <a:ext cx="2788920" cy="749808"/>
          </a:xfrm>
          <a:prstGeom prst="roundRect">
            <a:avLst>
              <a:gd name="adj" fmla="val 9756"/>
            </a:avLst>
          </a:prstGeom>
          <a:solidFill>
            <a:srgbClr val="FFFFFF"/>
          </a:solidFill>
          <a:ln w="12700">
            <a:solidFill>
              <a:srgbClr val="F2C58F"/>
            </a:solidFill>
            <a:prstDash val="solid"/>
          </a:ln>
        </p:spPr>
        <p:txBody>
          <a:bodyPr wrap="square" lIns="50800" tIns="101600" rIns="101600" bIns="50800" rtlCol="0" anchor="ctr"/>
          <a:lstStyle/>
          <a:p>
            <a:pPr algn="ctr" indent="0" marL="0">
              <a:spcAft>
                <a:spcPts val="200"/>
              </a:spcAft>
              <a:buNone/>
            </a:pPr>
            <a:r>
              <a:rPr lang="en-US" sz="1250" b="1" dirty="0">
                <a:solidFill>
                  <a:srgbClr val="1C212B"/>
                </a:solidFill>
                <a:latin typeface="Arial" pitchFamily="34" charset="0"/>
                <a:ea typeface="Arial" pitchFamily="34" charset="-122"/>
                <a:cs typeface="Arial" pitchFamily="34" charset="-120"/>
              </a:rPr>
              <a:t>Agent runtime</a:t>
            </a:r>
            <a:endParaRPr lang="en-US" sz="125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LangGraph turn loop</a:t>
            </a:r>
            <a:endParaRPr lang="en-US" sz="1250" dirty="0"/>
          </a:p>
        </p:txBody>
      </p:sp>
      <p:sp>
        <p:nvSpPr>
          <p:cNvPr id="14" name="Text 12"/>
          <p:cNvSpPr txBox="1"/>
          <p:nvPr/>
        </p:nvSpPr>
        <p:spPr>
          <a:xfrm>
            <a:off x="5212080" y="4334256"/>
            <a:ext cx="2788920" cy="749808"/>
          </a:xfrm>
          <a:prstGeom prst="roundRect">
            <a:avLst>
              <a:gd name="adj" fmla="val 9756"/>
            </a:avLst>
          </a:prstGeom>
          <a:solidFill>
            <a:srgbClr val="FFFFFF"/>
          </a:solidFill>
          <a:ln w="12700">
            <a:solidFill>
              <a:srgbClr val="F2C58F"/>
            </a:solidFill>
            <a:prstDash val="solid"/>
          </a:ln>
        </p:spPr>
        <p:txBody>
          <a:bodyPr wrap="square" lIns="50800" tIns="101600" rIns="101600" bIns="50800" rtlCol="0" anchor="ctr"/>
          <a:lstStyle/>
          <a:p>
            <a:pPr algn="ctr" indent="0" marL="0">
              <a:spcAft>
                <a:spcPts val="200"/>
              </a:spcAft>
              <a:buNone/>
            </a:pPr>
            <a:r>
              <a:rPr lang="en-US" sz="1250" b="1" dirty="0">
                <a:solidFill>
                  <a:srgbClr val="1C212B"/>
                </a:solidFill>
                <a:latin typeface="Arial" pitchFamily="34" charset="0"/>
                <a:ea typeface="Arial" pitchFamily="34" charset="-122"/>
                <a:cs typeface="Arial" pitchFamily="34" charset="-120"/>
              </a:rPr>
              <a:t>Scheduler loop</a:t>
            </a:r>
            <a:endParaRPr lang="en-US" sz="125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triggers + periodic jobs, DB lease</a:t>
            </a:r>
            <a:endParaRPr lang="en-US" sz="1250" dirty="0"/>
          </a:p>
        </p:txBody>
      </p:sp>
      <p:sp>
        <p:nvSpPr>
          <p:cNvPr id="15" name="Text 13"/>
          <p:cNvSpPr txBox="1"/>
          <p:nvPr/>
        </p:nvSpPr>
        <p:spPr>
          <a:xfrm>
            <a:off x="5212080" y="5221224"/>
            <a:ext cx="2788920" cy="749808"/>
          </a:xfrm>
          <a:prstGeom prst="roundRect">
            <a:avLst>
              <a:gd name="adj" fmla="val 9756"/>
            </a:avLst>
          </a:prstGeom>
          <a:solidFill>
            <a:srgbClr val="FFFFFF"/>
          </a:solidFill>
          <a:ln w="12700">
            <a:solidFill>
              <a:srgbClr val="F2C58F"/>
            </a:solidFill>
            <a:prstDash val="solid"/>
          </a:ln>
        </p:spPr>
        <p:txBody>
          <a:bodyPr wrap="square" lIns="50800" tIns="101600" rIns="101600" bIns="50800" rtlCol="0" anchor="ctr"/>
          <a:lstStyle/>
          <a:p>
            <a:pPr algn="ctr" indent="0" marL="0">
              <a:spcAft>
                <a:spcPts val="200"/>
              </a:spcAft>
              <a:buNone/>
            </a:pPr>
            <a:r>
              <a:rPr lang="en-US" sz="1250" b="1" dirty="0">
                <a:solidFill>
                  <a:srgbClr val="1C212B"/>
                </a:solidFill>
                <a:latin typeface="Arial" pitchFamily="34" charset="0"/>
                <a:ea typeface="Arial" pitchFamily="34" charset="-122"/>
                <a:cs typeface="Arial" pitchFamily="34" charset="-120"/>
              </a:rPr>
              <a:t>Channels consumers</a:t>
            </a:r>
            <a:endParaRPr lang="en-US" sz="125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live run events</a:t>
            </a:r>
            <a:endParaRPr lang="en-US" sz="1250" dirty="0"/>
          </a:p>
        </p:txBody>
      </p:sp>
      <p:sp>
        <p:nvSpPr>
          <p:cNvPr id="16" name="Shape 14"/>
          <p:cNvSpPr/>
          <p:nvPr/>
        </p:nvSpPr>
        <p:spPr>
          <a:xfrm>
            <a:off x="8183880" y="2368296"/>
            <a:ext cx="548640" cy="0"/>
          </a:xfrm>
          <a:prstGeom prst="line">
            <a:avLst/>
          </a:prstGeom>
          <a:noFill/>
          <a:ln w="22225">
            <a:solidFill>
              <a:srgbClr val="4E5A6B"/>
            </a:solidFill>
            <a:prstDash val="solid"/>
            <a:tailEnd type="triangle"/>
          </a:ln>
        </p:spPr>
      </p:sp>
      <p:sp>
        <p:nvSpPr>
          <p:cNvPr id="17" name="Text 15"/>
          <p:cNvSpPr txBox="1"/>
          <p:nvPr/>
        </p:nvSpPr>
        <p:spPr>
          <a:xfrm>
            <a:off x="8732520" y="2011680"/>
            <a:ext cx="2907792" cy="713232"/>
          </a:xfrm>
          <a:prstGeom prst="roundRect">
            <a:avLst>
              <a:gd name="adj" fmla="val 10256"/>
            </a:avLst>
          </a:prstGeom>
          <a:solidFill>
            <a:srgbClr val="E9EDF2"/>
          </a:solidFill>
          <a:ln w="12700">
            <a:solidFill>
              <a:srgbClr val="E9EDF2"/>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PostgreSQL</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psycopg 3 connection pool</a:t>
            </a:r>
            <a:endParaRPr lang="en-US" sz="1300" dirty="0"/>
          </a:p>
        </p:txBody>
      </p:sp>
      <p:sp>
        <p:nvSpPr>
          <p:cNvPr id="18" name="Shape 16"/>
          <p:cNvSpPr/>
          <p:nvPr/>
        </p:nvSpPr>
        <p:spPr>
          <a:xfrm>
            <a:off x="8183880" y="3218688"/>
            <a:ext cx="548640" cy="0"/>
          </a:xfrm>
          <a:prstGeom prst="line">
            <a:avLst/>
          </a:prstGeom>
          <a:noFill/>
          <a:ln w="22225">
            <a:solidFill>
              <a:srgbClr val="4E5A6B"/>
            </a:solidFill>
            <a:prstDash val="solid"/>
            <a:tailEnd type="triangle"/>
          </a:ln>
        </p:spPr>
      </p:sp>
      <p:sp>
        <p:nvSpPr>
          <p:cNvPr id="19" name="Text 17"/>
          <p:cNvSpPr txBox="1"/>
          <p:nvPr/>
        </p:nvSpPr>
        <p:spPr>
          <a:xfrm>
            <a:off x="8732520" y="2862072"/>
            <a:ext cx="2907792" cy="713232"/>
          </a:xfrm>
          <a:prstGeom prst="roundRect">
            <a:avLst>
              <a:gd name="adj" fmla="val 10256"/>
            </a:avLst>
          </a:prstGeom>
          <a:solidFill>
            <a:srgbClr val="E9EDF2"/>
          </a:solidFill>
          <a:ln w="12700">
            <a:solidFill>
              <a:srgbClr val="E9EDF2"/>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Redis</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Channels layer</a:t>
            </a:r>
            <a:endParaRPr lang="en-US" sz="1300" dirty="0"/>
          </a:p>
        </p:txBody>
      </p:sp>
      <p:sp>
        <p:nvSpPr>
          <p:cNvPr id="20" name="Shape 18"/>
          <p:cNvSpPr/>
          <p:nvPr/>
        </p:nvSpPr>
        <p:spPr>
          <a:xfrm>
            <a:off x="8183880" y="4069080"/>
            <a:ext cx="548640" cy="0"/>
          </a:xfrm>
          <a:prstGeom prst="line">
            <a:avLst/>
          </a:prstGeom>
          <a:noFill/>
          <a:ln w="22225">
            <a:solidFill>
              <a:srgbClr val="4E5A6B"/>
            </a:solidFill>
            <a:prstDash val="solid"/>
            <a:tailEnd type="triangle"/>
          </a:ln>
        </p:spPr>
      </p:sp>
      <p:sp>
        <p:nvSpPr>
          <p:cNvPr id="21" name="Text 19"/>
          <p:cNvSpPr txBox="1"/>
          <p:nvPr/>
        </p:nvSpPr>
        <p:spPr>
          <a:xfrm>
            <a:off x="8732520" y="3712464"/>
            <a:ext cx="2907792" cy="713232"/>
          </a:xfrm>
          <a:prstGeom prst="roundRect">
            <a:avLst>
              <a:gd name="adj" fmla="val 10256"/>
            </a:avLst>
          </a:prstGeom>
          <a:solidFill>
            <a:srgbClr val="FBE8E6"/>
          </a:solidFill>
          <a:ln w="12700">
            <a:solidFill>
              <a:srgbClr val="C4433A"/>
            </a:solidFill>
            <a:prstDash val="solid"/>
          </a:ln>
        </p:spPr>
        <p:txBody>
          <a:bodyPr wrap="square" lIns="38100" tIns="127000" rIns="127000" bIns="38100" rtlCol="0" anchor="ctr"/>
          <a:lstStyle/>
          <a:p>
            <a:pPr algn="l" indent="0" marL="0">
              <a:spcAft>
                <a:spcPts val="200"/>
              </a:spcAft>
              <a:buNone/>
            </a:pPr>
            <a:r>
              <a:rPr lang="en-US" sz="1300" b="1" dirty="0">
                <a:solidFill>
                  <a:srgbClr val="8E2B24"/>
                </a:solidFill>
                <a:latin typeface="Arial" pitchFamily="34" charset="0"/>
                <a:ea typeface="Arial" pitchFamily="34" charset="-122"/>
                <a:cs typeface="Arial" pitchFamily="34" charset="-120"/>
              </a:rPr>
              <a:t>Sandbox sidecar</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internal network, no egress</a:t>
            </a:r>
            <a:endParaRPr lang="en-US" sz="1300" dirty="0"/>
          </a:p>
        </p:txBody>
      </p:sp>
      <p:sp>
        <p:nvSpPr>
          <p:cNvPr id="22" name="Shape 20"/>
          <p:cNvSpPr/>
          <p:nvPr/>
        </p:nvSpPr>
        <p:spPr>
          <a:xfrm>
            <a:off x="8183880" y="4919472"/>
            <a:ext cx="548640" cy="0"/>
          </a:xfrm>
          <a:prstGeom prst="line">
            <a:avLst/>
          </a:prstGeom>
          <a:noFill/>
          <a:ln w="22225">
            <a:solidFill>
              <a:srgbClr val="4E5A6B"/>
            </a:solidFill>
            <a:prstDash val="solid"/>
            <a:tailEnd type="triangle"/>
          </a:ln>
        </p:spPr>
      </p:sp>
      <p:sp>
        <p:nvSpPr>
          <p:cNvPr id="23" name="Text 21"/>
          <p:cNvSpPr txBox="1"/>
          <p:nvPr/>
        </p:nvSpPr>
        <p:spPr>
          <a:xfrm>
            <a:off x="8732520" y="4562856"/>
            <a:ext cx="2907792" cy="713232"/>
          </a:xfrm>
          <a:prstGeom prst="roundRect">
            <a:avLst>
              <a:gd name="adj" fmla="val 10256"/>
            </a:avLst>
          </a:prstGeom>
          <a:solidFill>
            <a:srgbClr val="E9EDF2"/>
          </a:solidFill>
          <a:ln w="12700">
            <a:solidFill>
              <a:srgbClr val="E9EDF2"/>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LLM providers</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OpenRouter · NVIDIA · OpenAI · Ollama · Zen</a:t>
            </a:r>
            <a:endParaRPr lang="en-US" sz="1300" dirty="0"/>
          </a:p>
        </p:txBody>
      </p:sp>
      <p:sp>
        <p:nvSpPr>
          <p:cNvPr id="24" name="Shape 22"/>
          <p:cNvSpPr/>
          <p:nvPr/>
        </p:nvSpPr>
        <p:spPr>
          <a:xfrm>
            <a:off x="8183880" y="5769864"/>
            <a:ext cx="548640" cy="0"/>
          </a:xfrm>
          <a:prstGeom prst="line">
            <a:avLst/>
          </a:prstGeom>
          <a:noFill/>
          <a:ln w="22225">
            <a:solidFill>
              <a:srgbClr val="4E5A6B"/>
            </a:solidFill>
            <a:prstDash val="solid"/>
            <a:tailEnd type="triangle"/>
          </a:ln>
        </p:spPr>
      </p:sp>
      <p:sp>
        <p:nvSpPr>
          <p:cNvPr id="25" name="Text 23"/>
          <p:cNvSpPr txBox="1"/>
          <p:nvPr/>
        </p:nvSpPr>
        <p:spPr>
          <a:xfrm>
            <a:off x="8732520" y="5413248"/>
            <a:ext cx="2907792" cy="713232"/>
          </a:xfrm>
          <a:prstGeom prst="roundRect">
            <a:avLst>
              <a:gd name="adj" fmla="val 10256"/>
            </a:avLst>
          </a:prstGeom>
          <a:solidFill>
            <a:srgbClr val="E9EDF2"/>
          </a:solidFill>
          <a:ln w="12700">
            <a:solidFill>
              <a:srgbClr val="E9EDF2"/>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Google REST APIs</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Gmail · Drive · Sheets · Calendar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SHAPE · ONE DOOR</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Every run starts through the same function</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Callers differ in configuration, never in code path — a second way in is a second place to forget a check.</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9</a:t>
            </a:r>
            <a:endParaRPr lang="en-US" sz="1000" dirty="0"/>
          </a:p>
        </p:txBody>
      </p:sp>
      <p:sp>
        <p:nvSpPr>
          <p:cNvPr id="6" name="Text 4"/>
          <p:cNvSpPr txBox="1"/>
          <p:nvPr/>
        </p:nvSpPr>
        <p:spPr>
          <a:xfrm>
            <a:off x="548640" y="2057400"/>
            <a:ext cx="2377440" cy="640080"/>
          </a:xfrm>
          <a:prstGeom prst="roundRect">
            <a:avLst>
              <a:gd name="adj" fmla="val 11429"/>
            </a:avLst>
          </a:prstGeom>
          <a:solidFill>
            <a:srgbClr val="E9EDF2"/>
          </a:solidFill>
          <a:ln w="12700">
            <a:solidFill>
              <a:srgbClr val="E9EDF2"/>
            </a:solidFill>
            <a:prstDash val="solid"/>
          </a:ln>
        </p:spPr>
        <p:txBody>
          <a:bodyPr wrap="square" lIns="25400" tIns="127000" rIns="127000" bIns="254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chat</a:t>
            </a:r>
            <a:endParaRPr lang="en-US" sz="13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delegation from a conversation</a:t>
            </a:r>
            <a:endParaRPr lang="en-US" sz="1300" dirty="0"/>
          </a:p>
        </p:txBody>
      </p:sp>
      <p:sp>
        <p:nvSpPr>
          <p:cNvPr id="7" name="Shape 5"/>
          <p:cNvSpPr/>
          <p:nvPr/>
        </p:nvSpPr>
        <p:spPr>
          <a:xfrm>
            <a:off x="2926080" y="2377440"/>
            <a:ext cx="731520" cy="1600200"/>
          </a:xfrm>
          <a:prstGeom prst="line">
            <a:avLst/>
          </a:prstGeom>
          <a:noFill/>
          <a:ln w="15875">
            <a:solidFill>
              <a:srgbClr val="8A93A1"/>
            </a:solidFill>
            <a:prstDash val="solid"/>
            <a:tailEnd type="triangle"/>
          </a:ln>
        </p:spPr>
      </p:sp>
      <p:sp>
        <p:nvSpPr>
          <p:cNvPr id="8" name="Text 6"/>
          <p:cNvSpPr txBox="1"/>
          <p:nvPr/>
        </p:nvSpPr>
        <p:spPr>
          <a:xfrm>
            <a:off x="548640" y="2843784"/>
            <a:ext cx="2377440" cy="640080"/>
          </a:xfrm>
          <a:prstGeom prst="roundRect">
            <a:avLst>
              <a:gd name="adj" fmla="val 11429"/>
            </a:avLst>
          </a:prstGeom>
          <a:solidFill>
            <a:srgbClr val="E9EDF2"/>
          </a:solidFill>
          <a:ln w="12700">
            <a:solidFill>
              <a:srgbClr val="E9EDF2"/>
            </a:solidFill>
            <a:prstDash val="solid"/>
          </a:ln>
        </p:spPr>
        <p:txBody>
          <a:bodyPr wrap="square" lIns="25400" tIns="127000" rIns="127000" bIns="254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orchestrator</a:t>
            </a:r>
            <a:endParaRPr lang="en-US" sz="13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a worker started by an agent</a:t>
            </a:r>
            <a:endParaRPr lang="en-US" sz="1300" dirty="0"/>
          </a:p>
        </p:txBody>
      </p:sp>
      <p:sp>
        <p:nvSpPr>
          <p:cNvPr id="9" name="Shape 7"/>
          <p:cNvSpPr/>
          <p:nvPr/>
        </p:nvSpPr>
        <p:spPr>
          <a:xfrm>
            <a:off x="2926080" y="3163824"/>
            <a:ext cx="731520" cy="813816"/>
          </a:xfrm>
          <a:prstGeom prst="line">
            <a:avLst/>
          </a:prstGeom>
          <a:noFill/>
          <a:ln w="15875">
            <a:solidFill>
              <a:srgbClr val="8A93A1"/>
            </a:solidFill>
            <a:prstDash val="solid"/>
            <a:tailEnd type="triangle"/>
          </a:ln>
        </p:spPr>
      </p:sp>
      <p:sp>
        <p:nvSpPr>
          <p:cNvPr id="10" name="Text 8"/>
          <p:cNvSpPr txBox="1"/>
          <p:nvPr/>
        </p:nvSpPr>
        <p:spPr>
          <a:xfrm>
            <a:off x="548640" y="3630168"/>
            <a:ext cx="2377440" cy="640080"/>
          </a:xfrm>
          <a:prstGeom prst="roundRect">
            <a:avLst>
              <a:gd name="adj" fmla="val 11429"/>
            </a:avLst>
          </a:prstGeom>
          <a:solidFill>
            <a:srgbClr val="E9EDF2"/>
          </a:solidFill>
          <a:ln w="12700">
            <a:solidFill>
              <a:srgbClr val="E9EDF2"/>
            </a:solidFill>
            <a:prstDash val="solid"/>
          </a:ln>
        </p:spPr>
        <p:txBody>
          <a:bodyPr wrap="square" lIns="25400" tIns="127000" rIns="127000" bIns="254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trigger</a:t>
            </a:r>
            <a:endParaRPr lang="en-US" sz="13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schedule, webhook or event</a:t>
            </a:r>
            <a:endParaRPr lang="en-US" sz="1300" dirty="0"/>
          </a:p>
        </p:txBody>
      </p:sp>
      <p:sp>
        <p:nvSpPr>
          <p:cNvPr id="11" name="Shape 9"/>
          <p:cNvSpPr/>
          <p:nvPr/>
        </p:nvSpPr>
        <p:spPr>
          <a:xfrm>
            <a:off x="2926080" y="3950208"/>
            <a:ext cx="731520" cy="27432"/>
          </a:xfrm>
          <a:prstGeom prst="line">
            <a:avLst/>
          </a:prstGeom>
          <a:noFill/>
          <a:ln w="15875">
            <a:solidFill>
              <a:srgbClr val="8A93A1"/>
            </a:solidFill>
            <a:prstDash val="solid"/>
            <a:tailEnd type="triangle"/>
          </a:ln>
        </p:spPr>
      </p:sp>
      <p:sp>
        <p:nvSpPr>
          <p:cNvPr id="12" name="Text 10"/>
          <p:cNvSpPr txBox="1"/>
          <p:nvPr/>
        </p:nvSpPr>
        <p:spPr>
          <a:xfrm>
            <a:off x="548640" y="4416552"/>
            <a:ext cx="2377440" cy="640080"/>
          </a:xfrm>
          <a:prstGeom prst="roundRect">
            <a:avLst>
              <a:gd name="adj" fmla="val 11429"/>
            </a:avLst>
          </a:prstGeom>
          <a:solidFill>
            <a:srgbClr val="E9EDF2"/>
          </a:solidFill>
          <a:ln w="12700">
            <a:solidFill>
              <a:srgbClr val="E9EDF2"/>
            </a:solidFill>
            <a:prstDash val="solid"/>
          </a:ln>
        </p:spPr>
        <p:txBody>
          <a:bodyPr wrap="square" lIns="25400" tIns="127000" rIns="127000" bIns="254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api</a:t>
            </a:r>
            <a:endParaRPr lang="en-US" sz="13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Run button, REST call</a:t>
            </a:r>
            <a:endParaRPr lang="en-US" sz="1300" dirty="0"/>
          </a:p>
        </p:txBody>
      </p:sp>
      <p:sp>
        <p:nvSpPr>
          <p:cNvPr id="13" name="Shape 11"/>
          <p:cNvSpPr/>
          <p:nvPr/>
        </p:nvSpPr>
        <p:spPr>
          <a:xfrm flipV="1">
            <a:off x="2926080" y="3977640"/>
            <a:ext cx="731520" cy="758952"/>
          </a:xfrm>
          <a:prstGeom prst="line">
            <a:avLst/>
          </a:prstGeom>
          <a:noFill/>
          <a:ln w="15875">
            <a:solidFill>
              <a:srgbClr val="8A93A1"/>
            </a:solidFill>
            <a:prstDash val="solid"/>
            <a:tailEnd type="triangle"/>
          </a:ln>
        </p:spPr>
      </p:sp>
      <p:sp>
        <p:nvSpPr>
          <p:cNvPr id="14" name="Text 12"/>
          <p:cNvSpPr txBox="1"/>
          <p:nvPr/>
        </p:nvSpPr>
        <p:spPr>
          <a:xfrm>
            <a:off x="548640" y="5202936"/>
            <a:ext cx="2377440" cy="640080"/>
          </a:xfrm>
          <a:prstGeom prst="roundRect">
            <a:avLst>
              <a:gd name="adj" fmla="val 11429"/>
            </a:avLst>
          </a:prstGeom>
          <a:solidFill>
            <a:srgbClr val="E9EDF2"/>
          </a:solidFill>
          <a:ln w="12700">
            <a:solidFill>
              <a:srgbClr val="E9EDF2"/>
            </a:solidFill>
            <a:prstDash val="solid"/>
          </a:ln>
        </p:spPr>
        <p:txBody>
          <a:bodyPr wrap="square" lIns="25400" tIns="127000" rIns="127000" bIns="254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eval</a:t>
            </a:r>
            <a:endParaRPr lang="en-US" sz="13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benchmark and test sweeps</a:t>
            </a:r>
            <a:endParaRPr lang="en-US" sz="1300" dirty="0"/>
          </a:p>
        </p:txBody>
      </p:sp>
      <p:sp>
        <p:nvSpPr>
          <p:cNvPr id="15" name="Shape 13"/>
          <p:cNvSpPr/>
          <p:nvPr/>
        </p:nvSpPr>
        <p:spPr>
          <a:xfrm flipV="1">
            <a:off x="2926080" y="3977640"/>
            <a:ext cx="731520" cy="1545336"/>
          </a:xfrm>
          <a:prstGeom prst="line">
            <a:avLst/>
          </a:prstGeom>
          <a:noFill/>
          <a:ln w="15875">
            <a:solidFill>
              <a:srgbClr val="8A93A1"/>
            </a:solidFill>
            <a:prstDash val="solid"/>
            <a:tailEnd type="triangle"/>
          </a:ln>
        </p:spPr>
      </p:sp>
      <p:sp>
        <p:nvSpPr>
          <p:cNvPr id="16" name="Text 14"/>
          <p:cNvSpPr txBox="1"/>
          <p:nvPr/>
        </p:nvSpPr>
        <p:spPr>
          <a:xfrm>
            <a:off x="3657600" y="3337560"/>
            <a:ext cx="2377440" cy="1280160"/>
          </a:xfrm>
          <a:prstGeom prst="roundRect">
            <a:avLst>
              <a:gd name="adj" fmla="val 5714"/>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400" b="1" dirty="0">
                <a:solidFill>
                  <a:srgbClr val="FFFFFF"/>
                </a:solidFill>
                <a:latin typeface="Arial" pitchFamily="34" charset="0"/>
                <a:ea typeface="Arial" pitchFamily="34" charset="-122"/>
                <a:cs typeface="Arial" pitchFamily="34" charset="-120"/>
              </a:rPr>
              <a:t>One entry point</a:t>
            </a:r>
            <a:endParaRPr lang="en-US" sz="1400" dirty="0"/>
          </a:p>
          <a:p>
            <a:pPr algn="ctr" indent="0" marL="0">
              <a:spcAft>
                <a:spcPts val="200"/>
              </a:spcAft>
              <a:buNone/>
            </a:pPr>
            <a:r>
              <a:rPr lang="en-US" sz="1100" dirty="0">
                <a:solidFill>
                  <a:srgbClr val="FFF3E3"/>
                </a:solidFill>
                <a:latin typeface="Calibri" pitchFamily="34" charset="0"/>
                <a:ea typeface="Calibri" pitchFamily="34" charset="-122"/>
                <a:cs typeface="Calibri" pitchFamily="34" charset="-120"/>
              </a:rPr>
              <a:t>every run, every caller</a:t>
            </a:r>
            <a:endParaRPr lang="en-US" sz="1400" dirty="0"/>
          </a:p>
        </p:txBody>
      </p:sp>
      <p:sp>
        <p:nvSpPr>
          <p:cNvPr id="17" name="Shape 15"/>
          <p:cNvSpPr/>
          <p:nvPr/>
        </p:nvSpPr>
        <p:spPr>
          <a:xfrm>
            <a:off x="6035040" y="3977640"/>
            <a:ext cx="548640" cy="0"/>
          </a:xfrm>
          <a:prstGeom prst="line">
            <a:avLst/>
          </a:prstGeom>
          <a:noFill/>
          <a:ln w="22225">
            <a:solidFill>
              <a:srgbClr val="4E5A6B"/>
            </a:solidFill>
            <a:prstDash val="solid"/>
            <a:tailEnd type="triangle"/>
          </a:ln>
        </p:spPr>
      </p:sp>
      <p:sp>
        <p:nvSpPr>
          <p:cNvPr id="18" name="Shape 16"/>
          <p:cNvSpPr/>
          <p:nvPr/>
        </p:nvSpPr>
        <p:spPr>
          <a:xfrm>
            <a:off x="6583680" y="2148840"/>
            <a:ext cx="2971800" cy="3657600"/>
          </a:xfrm>
          <a:prstGeom prst="roundRect">
            <a:avLst>
              <a:gd name="adj" fmla="val 3077"/>
            </a:avLst>
          </a:prstGeom>
          <a:solidFill>
            <a:srgbClr val="FDF0DE"/>
          </a:solidFill>
          <a:ln w="12700">
            <a:solidFill>
              <a:srgbClr val="FDF0DE"/>
            </a:solidFill>
            <a:prstDash val="solid"/>
          </a:ln>
        </p:spPr>
      </p:sp>
      <p:sp>
        <p:nvSpPr>
          <p:cNvPr id="19" name="Text 17"/>
          <p:cNvSpPr txBox="1"/>
          <p:nvPr/>
        </p:nvSpPr>
        <p:spPr>
          <a:xfrm>
            <a:off x="6812280" y="2286000"/>
            <a:ext cx="2651760" cy="274320"/>
          </a:xfrm>
          <a:prstGeom prst="rect">
            <a:avLst/>
          </a:prstGeom>
          <a:noFill/>
          <a:ln/>
        </p:spPr>
        <p:txBody>
          <a:bodyPr wrap="square" lIns="0" tIns="0" rIns="0" bIns="0" rtlCol="0" anchor="t"/>
          <a:lstStyle/>
          <a:p>
            <a:pPr algn="l" indent="0" marL="0">
              <a:buNone/>
            </a:pPr>
            <a:r>
              <a:rPr lang="en-US" sz="1300" b="1" dirty="0">
                <a:solidFill>
                  <a:srgbClr val="9A5A0C"/>
                </a:solidFill>
                <a:latin typeface="Arial" pitchFamily="34" charset="0"/>
                <a:ea typeface="Arial" pitchFamily="34" charset="-122"/>
                <a:cs typeface="Arial" pitchFamily="34" charset="-120"/>
              </a:rPr>
              <a:t>Checked once, for everyone</a:t>
            </a:r>
            <a:endParaRPr lang="en-US" sz="1300" dirty="0"/>
          </a:p>
        </p:txBody>
      </p:sp>
      <p:sp>
        <p:nvSpPr>
          <p:cNvPr id="20" name="Text 18"/>
          <p:cNvSpPr txBox="1"/>
          <p:nvPr/>
        </p:nvSpPr>
        <p:spPr>
          <a:xfrm>
            <a:off x="6812280" y="2651760"/>
            <a:ext cx="2606040" cy="3063240"/>
          </a:xfrm>
          <a:prstGeom prst="rect">
            <a:avLst/>
          </a:prstGeom>
          <a:noFill/>
          <a:ln/>
        </p:spPr>
        <p:txBody>
          <a:bodyPr wrap="square" lIns="0" tIns="0" rIns="0" bIns="0" rtlCol="0" anchor="t"/>
          <a:lstStyle/>
          <a:p>
            <a:pPr algn="l" marL="342900" indent="-342900">
              <a:spcAft>
                <a:spcPts val="600"/>
              </a:spcAft>
              <a:buSzPct val="100000"/>
              <a:buChar char="•"/>
            </a:pPr>
            <a:r>
              <a:rPr lang="en-US" sz="1200" dirty="0">
                <a:solidFill>
                  <a:srgbClr val="1C212B"/>
                </a:solidFill>
                <a:latin typeface="Calibri" pitchFamily="34" charset="0"/>
                <a:ea typeface="Calibri" pitchFamily="34" charset="-122"/>
                <a:cs typeface="Calibri" pitchFamily="34" charset="-120"/>
              </a:rPr>
              <a:t>Credentials checked before any work starts</a:t>
            </a:r>
            <a:endParaRPr lang="en-US" sz="1200" dirty="0"/>
          </a:p>
          <a:p>
            <a:pPr algn="l" marL="342900" indent="-342900">
              <a:spcAft>
                <a:spcPts val="600"/>
              </a:spcAft>
              <a:buSzPct val="100000"/>
              <a:buChar char="•"/>
            </a:pPr>
            <a:r>
              <a:rPr lang="en-US" sz="1200" dirty="0">
                <a:solidFill>
                  <a:srgbClr val="1C212B"/>
                </a:solidFill>
                <a:latin typeface="Calibri" pitchFamily="34" charset="0"/>
                <a:ea typeface="Calibri" pitchFamily="34" charset="-122"/>
                <a:cs typeface="Calibri" pitchFamily="34" charset="-120"/>
              </a:rPr>
              <a:t>Spend cap, against the tokens the run actually records</a:t>
            </a:r>
            <a:endParaRPr lang="en-US" sz="1200" dirty="0"/>
          </a:p>
          <a:p>
            <a:pPr algn="l" marL="342900" indent="-342900">
              <a:spcAft>
                <a:spcPts val="600"/>
              </a:spcAft>
              <a:buSzPct val="100000"/>
              <a:buChar char="•"/>
            </a:pPr>
            <a:r>
              <a:rPr lang="en-US" sz="1200" dirty="0">
                <a:solidFill>
                  <a:srgbClr val="1C212B"/>
                </a:solidFill>
                <a:latin typeface="Calibri" pitchFamily="34" charset="0"/>
                <a:ea typeface="Calibri" pitchFamily="34" charset="-122"/>
                <a:cs typeface="Calibri" pitchFamily="34" charset="-120"/>
              </a:rPr>
              <a:t>Unattended callers need allow_unattended</a:t>
            </a:r>
            <a:endParaRPr lang="en-US" sz="1200" dirty="0"/>
          </a:p>
          <a:p>
            <a:pPr algn="l" marL="342900" indent="-342900">
              <a:spcAft>
                <a:spcPts val="600"/>
              </a:spcAft>
              <a:buSzPct val="100000"/>
              <a:buChar char="•"/>
            </a:pPr>
            <a:r>
              <a:rPr lang="en-US" sz="1200" dirty="0">
                <a:solidFill>
                  <a:srgbClr val="1C212B"/>
                </a:solidFill>
                <a:latin typeface="Calibri" pitchFamily="34" charset="0"/>
                <a:ea typeface="Calibri" pitchFamily="34" charset="-122"/>
                <a:cs typeface="Calibri" pitchFamily="34" charset="-120"/>
              </a:rPr>
              <a:t>Account pause switch</a:t>
            </a:r>
            <a:endParaRPr lang="en-US" sz="1200" dirty="0"/>
          </a:p>
        </p:txBody>
      </p:sp>
      <p:sp>
        <p:nvSpPr>
          <p:cNvPr id="21" name="Shape 19"/>
          <p:cNvSpPr/>
          <p:nvPr/>
        </p:nvSpPr>
        <p:spPr>
          <a:xfrm>
            <a:off x="9555480" y="3977640"/>
            <a:ext cx="502920" cy="0"/>
          </a:xfrm>
          <a:prstGeom prst="line">
            <a:avLst/>
          </a:prstGeom>
          <a:noFill/>
          <a:ln w="22225">
            <a:solidFill>
              <a:srgbClr val="4E5A6B"/>
            </a:solidFill>
            <a:prstDash val="solid"/>
            <a:tailEnd type="triangle"/>
          </a:ln>
        </p:spPr>
      </p:sp>
      <p:sp>
        <p:nvSpPr>
          <p:cNvPr id="22" name="Text 20"/>
          <p:cNvSpPr txBox="1"/>
          <p:nvPr/>
        </p:nvSpPr>
        <p:spPr>
          <a:xfrm>
            <a:off x="10058400" y="3429000"/>
            <a:ext cx="1581912" cy="1097280"/>
          </a:xfrm>
          <a:prstGeom prst="roundRect">
            <a:avLst>
              <a:gd name="adj" fmla="val 6667"/>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00" b="1" dirty="0">
                <a:solidFill>
                  <a:srgbClr val="1C212B"/>
                </a:solidFill>
                <a:latin typeface="Arial" pitchFamily="34" charset="0"/>
                <a:ea typeface="Arial" pitchFamily="34" charset="-122"/>
                <a:cs typeface="Arial" pitchFamily="34" charset="-120"/>
              </a:rPr>
              <a:t>Turn loop</a:t>
            </a:r>
            <a:endParaRPr lang="en-US" sz="13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next slide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SHAPE · THE LOOP</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One turn loop for chat and agents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 LangGraph cycle; an iteration is four node visits, and the step budget is sized from that.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10</a:t>
            </a:r>
            <a:endParaRPr lang="en-US" sz="1000" dirty="0"/>
          </a:p>
        </p:txBody>
      </p:sp>
      <p:sp>
        <p:nvSpPr>
          <p:cNvPr id="6" name="Text 4"/>
          <p:cNvSpPr txBox="1"/>
          <p:nvPr/>
        </p:nvSpPr>
        <p:spPr>
          <a:xfrm>
            <a:off x="1097280" y="2331720"/>
            <a:ext cx="2011680" cy="868680"/>
          </a:xfrm>
          <a:prstGeom prst="roundRect">
            <a:avLst>
              <a:gd name="adj" fmla="val 8421"/>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700" b="1" dirty="0">
                <a:solidFill>
                  <a:srgbClr val="FFFFFF"/>
                </a:solidFill>
                <a:latin typeface="Arial" pitchFamily="34" charset="0"/>
                <a:ea typeface="Arial" pitchFamily="34" charset="-122"/>
                <a:cs typeface="Arial" pitchFamily="34" charset="-120"/>
              </a:rPr>
              <a:t>agent</a:t>
            </a:r>
            <a:endParaRPr lang="en-US" sz="1700" dirty="0"/>
          </a:p>
        </p:txBody>
      </p:sp>
      <p:sp>
        <p:nvSpPr>
          <p:cNvPr id="7" name="Text 5"/>
          <p:cNvSpPr txBox="1"/>
          <p:nvPr/>
        </p:nvSpPr>
        <p:spPr>
          <a:xfrm>
            <a:off x="3931920" y="2331720"/>
            <a:ext cx="2011680" cy="868680"/>
          </a:xfrm>
          <a:prstGeom prst="roundRect">
            <a:avLst>
              <a:gd name="adj" fmla="val 8421"/>
            </a:avLst>
          </a:prstGeom>
          <a:solidFill>
            <a:srgbClr val="15877D"/>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700" b="1" dirty="0">
                <a:solidFill>
                  <a:srgbClr val="FFFFFF"/>
                </a:solidFill>
                <a:latin typeface="Arial" pitchFamily="34" charset="0"/>
                <a:ea typeface="Arial" pitchFamily="34" charset="-122"/>
                <a:cs typeface="Arial" pitchFamily="34" charset="-120"/>
              </a:rPr>
              <a:t>tools</a:t>
            </a:r>
            <a:endParaRPr lang="en-US" sz="1700" dirty="0"/>
          </a:p>
        </p:txBody>
      </p:sp>
      <p:sp>
        <p:nvSpPr>
          <p:cNvPr id="8" name="Text 6"/>
          <p:cNvSpPr txBox="1"/>
          <p:nvPr/>
        </p:nvSpPr>
        <p:spPr>
          <a:xfrm>
            <a:off x="3931920" y="4572000"/>
            <a:ext cx="2011680" cy="868680"/>
          </a:xfrm>
          <a:prstGeom prst="roundRect">
            <a:avLst>
              <a:gd name="adj" fmla="val 8421"/>
            </a:avLst>
          </a:prstGeom>
          <a:solidFill>
            <a:srgbClr val="4E5A6B"/>
          </a:solidFill>
          <a:ln w="12700">
            <a:solidFill>
              <a:srgbClr val="4E5A6B"/>
            </a:solidFill>
            <a:prstDash val="solid"/>
          </a:ln>
        </p:spPr>
        <p:txBody>
          <a:bodyPr wrap="square" lIns="50800" tIns="101600" rIns="101600" bIns="50800" rtlCol="0" anchor="ctr"/>
          <a:lstStyle/>
          <a:p>
            <a:pPr algn="ctr" indent="0" marL="0">
              <a:spcAft>
                <a:spcPts val="200"/>
              </a:spcAft>
              <a:buNone/>
            </a:pPr>
            <a:r>
              <a:rPr lang="en-US" sz="1700" b="1" dirty="0">
                <a:solidFill>
                  <a:srgbClr val="FFFFFF"/>
                </a:solidFill>
                <a:latin typeface="Arial" pitchFamily="34" charset="0"/>
                <a:ea typeface="Arial" pitchFamily="34" charset="-122"/>
                <a:cs typeface="Arial" pitchFamily="34" charset="-120"/>
              </a:rPr>
              <a:t>curate</a:t>
            </a:r>
            <a:endParaRPr lang="en-US" sz="1700" dirty="0"/>
          </a:p>
        </p:txBody>
      </p:sp>
      <p:sp>
        <p:nvSpPr>
          <p:cNvPr id="9" name="Text 7"/>
          <p:cNvSpPr txBox="1"/>
          <p:nvPr/>
        </p:nvSpPr>
        <p:spPr>
          <a:xfrm>
            <a:off x="1097280" y="4572000"/>
            <a:ext cx="2011680" cy="868680"/>
          </a:xfrm>
          <a:prstGeom prst="roundRect">
            <a:avLst>
              <a:gd name="adj" fmla="val 8421"/>
            </a:avLst>
          </a:prstGeom>
          <a:solidFill>
            <a:srgbClr val="0D5C55"/>
          </a:solidFill>
          <a:ln w="12700">
            <a:solidFill>
              <a:srgbClr val="0D5C55"/>
            </a:solidFill>
            <a:prstDash val="solid"/>
          </a:ln>
        </p:spPr>
        <p:txBody>
          <a:bodyPr wrap="square" lIns="50800" tIns="101600" rIns="101600" bIns="50800" rtlCol="0" anchor="ctr"/>
          <a:lstStyle/>
          <a:p>
            <a:pPr algn="ctr" indent="0" marL="0">
              <a:spcAft>
                <a:spcPts val="200"/>
              </a:spcAft>
              <a:buNone/>
            </a:pPr>
            <a:r>
              <a:rPr lang="en-US" sz="1700" b="1" dirty="0">
                <a:solidFill>
                  <a:srgbClr val="FFFFFF"/>
                </a:solidFill>
                <a:latin typeface="Arial" pitchFamily="34" charset="0"/>
                <a:ea typeface="Arial" pitchFamily="34" charset="-122"/>
                <a:cs typeface="Arial" pitchFamily="34" charset="-120"/>
              </a:rPr>
              <a:t>steering</a:t>
            </a:r>
            <a:endParaRPr lang="en-US" sz="1700" dirty="0"/>
          </a:p>
        </p:txBody>
      </p:sp>
      <p:sp>
        <p:nvSpPr>
          <p:cNvPr id="10" name="Shape 8"/>
          <p:cNvSpPr/>
          <p:nvPr/>
        </p:nvSpPr>
        <p:spPr>
          <a:xfrm>
            <a:off x="3108960" y="2761488"/>
            <a:ext cx="822960" cy="0"/>
          </a:xfrm>
          <a:prstGeom prst="line">
            <a:avLst/>
          </a:prstGeom>
          <a:noFill/>
          <a:ln w="22225">
            <a:solidFill>
              <a:srgbClr val="4E5A6B"/>
            </a:solidFill>
            <a:prstDash val="solid"/>
            <a:tailEnd type="triangle"/>
          </a:ln>
        </p:spPr>
      </p:sp>
      <p:sp>
        <p:nvSpPr>
          <p:cNvPr id="11" name="Text 9"/>
          <p:cNvSpPr txBox="1"/>
          <p:nvPr/>
        </p:nvSpPr>
        <p:spPr>
          <a:xfrm>
            <a:off x="2743200" y="2487168"/>
            <a:ext cx="1828800" cy="237744"/>
          </a:xfrm>
          <a:prstGeom prst="rect">
            <a:avLst/>
          </a:prstGeom>
          <a:noFill/>
          <a:ln/>
        </p:spPr>
        <p:txBody>
          <a:bodyPr wrap="square" lIns="0" tIns="0" rIns="0" bIns="0" rtlCol="0" anchor="ctr"/>
          <a:lstStyle/>
          <a:p>
            <a:pPr algn="ctr" indent="0" marL="0">
              <a:buNone/>
            </a:pPr>
            <a:r>
              <a:rPr lang="en-US" sz="1050" i="1" dirty="0">
                <a:solidFill>
                  <a:srgbClr val="5B6472"/>
                </a:solidFill>
                <a:latin typeface="Calibri" pitchFamily="34" charset="0"/>
                <a:ea typeface="Calibri" pitchFamily="34" charset="-122"/>
                <a:cs typeface="Calibri" pitchFamily="34" charset="-120"/>
              </a:rPr>
              <a:t>tool calls</a:t>
            </a:r>
            <a:endParaRPr lang="en-US" sz="1050" dirty="0"/>
          </a:p>
        </p:txBody>
      </p:sp>
      <p:sp>
        <p:nvSpPr>
          <p:cNvPr id="12" name="Shape 10"/>
          <p:cNvSpPr/>
          <p:nvPr/>
        </p:nvSpPr>
        <p:spPr>
          <a:xfrm>
            <a:off x="4937760" y="3200400"/>
            <a:ext cx="0" cy="1371600"/>
          </a:xfrm>
          <a:prstGeom prst="line">
            <a:avLst/>
          </a:prstGeom>
          <a:noFill/>
          <a:ln w="22225">
            <a:solidFill>
              <a:srgbClr val="4E5A6B"/>
            </a:solidFill>
            <a:prstDash val="solid"/>
            <a:tailEnd type="triangle"/>
          </a:ln>
        </p:spPr>
      </p:sp>
      <p:sp>
        <p:nvSpPr>
          <p:cNvPr id="13" name="Shape 11"/>
          <p:cNvSpPr/>
          <p:nvPr/>
        </p:nvSpPr>
        <p:spPr>
          <a:xfrm flipH="1">
            <a:off x="3108960" y="5001768"/>
            <a:ext cx="822960" cy="0"/>
          </a:xfrm>
          <a:prstGeom prst="line">
            <a:avLst/>
          </a:prstGeom>
          <a:noFill/>
          <a:ln w="22225">
            <a:solidFill>
              <a:srgbClr val="4E5A6B"/>
            </a:solidFill>
            <a:prstDash val="solid"/>
            <a:tailEnd type="triangle"/>
          </a:ln>
        </p:spPr>
      </p:sp>
      <p:sp>
        <p:nvSpPr>
          <p:cNvPr id="14" name="Shape 12"/>
          <p:cNvSpPr/>
          <p:nvPr/>
        </p:nvSpPr>
        <p:spPr>
          <a:xfrm flipV="1">
            <a:off x="2103120" y="3200400"/>
            <a:ext cx="0" cy="1371600"/>
          </a:xfrm>
          <a:prstGeom prst="line">
            <a:avLst/>
          </a:prstGeom>
          <a:noFill/>
          <a:ln w="22225">
            <a:solidFill>
              <a:srgbClr val="4E5A6B"/>
            </a:solidFill>
            <a:prstDash val="solid"/>
            <a:tailEnd type="triangle"/>
          </a:ln>
        </p:spPr>
      </p:sp>
      <p:sp>
        <p:nvSpPr>
          <p:cNvPr id="15" name="Text 13"/>
          <p:cNvSpPr txBox="1"/>
          <p:nvPr/>
        </p:nvSpPr>
        <p:spPr>
          <a:xfrm>
            <a:off x="1097280" y="2011680"/>
            <a:ext cx="3200400" cy="256032"/>
          </a:xfrm>
          <a:prstGeom prst="rect">
            <a:avLst/>
          </a:prstGeom>
          <a:noFill/>
          <a:ln/>
        </p:spPr>
        <p:txBody>
          <a:bodyPr wrap="square" lIns="0" tIns="0" rIns="0" bIns="0" rtlCol="0" anchor="t"/>
          <a:lstStyle/>
          <a:p>
            <a:pPr algn="l" indent="0" marL="0">
              <a:buNone/>
            </a:pPr>
            <a:r>
              <a:rPr lang="en-US" sz="1100" i="1" dirty="0">
                <a:solidFill>
                  <a:srgbClr val="5B6472"/>
                </a:solidFill>
                <a:latin typeface="Calibri" pitchFamily="34" charset="0"/>
                <a:ea typeface="Calibri" pitchFamily="34" charset="-122"/>
                <a:cs typeface="Calibri" pitchFamily="34" charset="-120"/>
              </a:rPr>
              <a:t>no tool calls → final answer</a:t>
            </a:r>
            <a:endParaRPr lang="en-US" sz="1100" dirty="0"/>
          </a:p>
        </p:txBody>
      </p:sp>
      <p:sp>
        <p:nvSpPr>
          <p:cNvPr id="16" name="Text 14"/>
          <p:cNvSpPr txBox="1"/>
          <p:nvPr/>
        </p:nvSpPr>
        <p:spPr>
          <a:xfrm>
            <a:off x="2514600" y="3611880"/>
            <a:ext cx="1554480" cy="640080"/>
          </a:xfrm>
          <a:prstGeom prst="rect">
            <a:avLst/>
          </a:prstGeom>
          <a:noFill/>
          <a:ln/>
        </p:spPr>
        <p:txBody>
          <a:bodyPr wrap="square" lIns="0" tIns="0" rIns="0" bIns="0" rtlCol="0" anchor="t"/>
          <a:lstStyle/>
          <a:p>
            <a:pPr algn="ctr" indent="0" marL="0">
              <a:buNone/>
            </a:pPr>
            <a:r>
              <a:rPr lang="en-US" sz="1200" i="1" dirty="0">
                <a:solidFill>
                  <a:srgbClr val="8A93A1"/>
                </a:solidFill>
                <a:latin typeface="Calibri" pitchFamily="34" charset="0"/>
                <a:ea typeface="Calibri" pitchFamily="34" charset="-122"/>
                <a:cs typeface="Calibri" pitchFamily="34" charset="-120"/>
              </a:rPr>
              <a:t>×4 visits</a:t>
            </a:r>
            <a:endParaRPr lang="en-US" sz="1200" dirty="0"/>
          </a:p>
          <a:p>
            <a:pPr algn="ctr" indent="0" marL="0">
              <a:buNone/>
            </a:pPr>
            <a:r>
              <a:rPr lang="en-US" sz="1200" i="1" dirty="0">
                <a:solidFill>
                  <a:srgbClr val="8A93A1"/>
                </a:solidFill>
                <a:latin typeface="Calibri" pitchFamily="34" charset="0"/>
                <a:ea typeface="Calibri" pitchFamily="34" charset="-122"/>
                <a:cs typeface="Calibri" pitchFamily="34" charset="-120"/>
              </a:rPr>
              <a:t>per iteration</a:t>
            </a:r>
            <a:endParaRPr lang="en-US" sz="1200" dirty="0"/>
          </a:p>
        </p:txBody>
      </p:sp>
      <p:sp>
        <p:nvSpPr>
          <p:cNvPr id="17" name="Shape 15"/>
          <p:cNvSpPr/>
          <p:nvPr/>
        </p:nvSpPr>
        <p:spPr>
          <a:xfrm>
            <a:off x="6675120" y="2103120"/>
            <a:ext cx="548640" cy="548640"/>
          </a:xfrm>
          <a:prstGeom prst="ellipse">
            <a:avLst/>
          </a:prstGeom>
          <a:solidFill>
            <a:srgbClr val="E08A1E"/>
          </a:solidFill>
          <a:ln w="12700">
            <a:solidFill>
              <a:srgbClr val="E08A1E"/>
            </a:solidFill>
            <a:prstDash val="solid"/>
          </a:ln>
        </p:spPr>
      </p:sp>
      <p:pic>
        <p:nvPicPr>
          <p:cNvPr id="18" name="Image 0" descr="preencoded.png">    </p:cNvPr>
          <p:cNvPicPr>
            <a:picLocks noChangeAspect="1"/>
          </p:cNvPicPr>
          <p:nvPr/>
        </p:nvPicPr>
        <p:blipFill>
          <a:blip r:embed="rId1"/>
          <a:stretch>
            <a:fillRect/>
          </a:stretch>
        </p:blipFill>
        <p:spPr>
          <a:xfrm>
            <a:off x="6817766" y="2245766"/>
            <a:ext cx="263347" cy="263347"/>
          </a:xfrm>
          <a:prstGeom prst="rect">
            <a:avLst/>
          </a:prstGeom>
        </p:spPr>
      </p:pic>
      <p:sp>
        <p:nvSpPr>
          <p:cNvPr id="19" name="Text 16"/>
          <p:cNvSpPr txBox="1"/>
          <p:nvPr/>
        </p:nvSpPr>
        <p:spPr>
          <a:xfrm>
            <a:off x="7406640" y="2103120"/>
            <a:ext cx="4206240" cy="8686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agent</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The model reasons and issues zero or more tool calls together.</a:t>
            </a:r>
            <a:endParaRPr lang="en-US" sz="1400" dirty="0"/>
          </a:p>
        </p:txBody>
      </p:sp>
      <p:sp>
        <p:nvSpPr>
          <p:cNvPr id="20" name="Shape 17"/>
          <p:cNvSpPr/>
          <p:nvPr/>
        </p:nvSpPr>
        <p:spPr>
          <a:xfrm>
            <a:off x="6675120" y="3081528"/>
            <a:ext cx="548640" cy="548640"/>
          </a:xfrm>
          <a:prstGeom prst="ellipse">
            <a:avLst/>
          </a:prstGeom>
          <a:solidFill>
            <a:srgbClr val="15877D"/>
          </a:solidFill>
          <a:ln w="12700">
            <a:solidFill>
              <a:srgbClr val="15877D"/>
            </a:solidFill>
            <a:prstDash val="solid"/>
          </a:ln>
        </p:spPr>
      </p:sp>
      <p:pic>
        <p:nvPicPr>
          <p:cNvPr id="21" name="Image 1" descr="preencoded.png">    </p:cNvPr>
          <p:cNvPicPr>
            <a:picLocks noChangeAspect="1"/>
          </p:cNvPicPr>
          <p:nvPr/>
        </p:nvPicPr>
        <p:blipFill>
          <a:blip r:embed="rId2"/>
          <a:stretch>
            <a:fillRect/>
          </a:stretch>
        </p:blipFill>
        <p:spPr>
          <a:xfrm>
            <a:off x="6817766" y="3224174"/>
            <a:ext cx="263347" cy="263347"/>
          </a:xfrm>
          <a:prstGeom prst="rect">
            <a:avLst/>
          </a:prstGeom>
        </p:spPr>
      </p:pic>
      <p:sp>
        <p:nvSpPr>
          <p:cNvPr id="22" name="Text 18"/>
          <p:cNvSpPr txBox="1"/>
          <p:nvPr/>
        </p:nvSpPr>
        <p:spPr>
          <a:xfrm>
            <a:off x="7406640" y="3081528"/>
            <a:ext cx="4206240" cy="8686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tools</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Settle every approval first, then dispatch — safe calls in parallel.</a:t>
            </a:r>
            <a:endParaRPr lang="en-US" sz="1400" dirty="0"/>
          </a:p>
        </p:txBody>
      </p:sp>
      <p:sp>
        <p:nvSpPr>
          <p:cNvPr id="23" name="Shape 19"/>
          <p:cNvSpPr/>
          <p:nvPr/>
        </p:nvSpPr>
        <p:spPr>
          <a:xfrm>
            <a:off x="6675120" y="4059936"/>
            <a:ext cx="548640" cy="548640"/>
          </a:xfrm>
          <a:prstGeom prst="ellipse">
            <a:avLst/>
          </a:prstGeom>
          <a:solidFill>
            <a:srgbClr val="4E5A6B"/>
          </a:solidFill>
          <a:ln w="12700">
            <a:solidFill>
              <a:srgbClr val="4E5A6B"/>
            </a:solidFill>
            <a:prstDash val="solid"/>
          </a:ln>
        </p:spPr>
      </p:sp>
      <p:pic>
        <p:nvPicPr>
          <p:cNvPr id="24" name="Image 2" descr="preencoded.png">    </p:cNvPr>
          <p:cNvPicPr>
            <a:picLocks noChangeAspect="1"/>
          </p:cNvPicPr>
          <p:nvPr/>
        </p:nvPicPr>
        <p:blipFill>
          <a:blip r:embed="rId3"/>
          <a:stretch>
            <a:fillRect/>
          </a:stretch>
        </p:blipFill>
        <p:spPr>
          <a:xfrm>
            <a:off x="6817766" y="4202582"/>
            <a:ext cx="263347" cy="263347"/>
          </a:xfrm>
          <a:prstGeom prst="rect">
            <a:avLst/>
          </a:prstGeom>
        </p:spPr>
      </p:pic>
      <p:sp>
        <p:nvSpPr>
          <p:cNvPr id="25" name="Text 20"/>
          <p:cNvSpPr txBox="1"/>
          <p:nvPr/>
        </p:nvSpPr>
        <p:spPr>
          <a:xfrm>
            <a:off x="7406640" y="4059936"/>
            <a:ext cx="4206240" cy="8686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curate</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At 70% of the context budget, fold the transcript down to 45%.</a:t>
            </a:r>
            <a:endParaRPr lang="en-US" sz="1400" dirty="0"/>
          </a:p>
        </p:txBody>
      </p:sp>
      <p:sp>
        <p:nvSpPr>
          <p:cNvPr id="26" name="Shape 21"/>
          <p:cNvSpPr/>
          <p:nvPr/>
        </p:nvSpPr>
        <p:spPr>
          <a:xfrm>
            <a:off x="6675120" y="5038344"/>
            <a:ext cx="548640" cy="548640"/>
          </a:xfrm>
          <a:prstGeom prst="ellipse">
            <a:avLst/>
          </a:prstGeom>
          <a:solidFill>
            <a:srgbClr val="0D5C55"/>
          </a:solidFill>
          <a:ln w="12700">
            <a:solidFill>
              <a:srgbClr val="0D5C55"/>
            </a:solidFill>
            <a:prstDash val="solid"/>
          </a:ln>
        </p:spPr>
      </p:sp>
      <p:pic>
        <p:nvPicPr>
          <p:cNvPr id="27" name="Image 3" descr="preencoded.png">    </p:cNvPr>
          <p:cNvPicPr>
            <a:picLocks noChangeAspect="1"/>
          </p:cNvPicPr>
          <p:nvPr/>
        </p:nvPicPr>
        <p:blipFill>
          <a:blip r:embed="rId4"/>
          <a:stretch>
            <a:fillRect/>
          </a:stretch>
        </p:blipFill>
        <p:spPr>
          <a:xfrm>
            <a:off x="6817766" y="5180990"/>
            <a:ext cx="263347" cy="263347"/>
          </a:xfrm>
          <a:prstGeom prst="rect">
            <a:avLst/>
          </a:prstGeom>
        </p:spPr>
      </p:pic>
      <p:sp>
        <p:nvSpPr>
          <p:cNvPr id="28" name="Text 22"/>
          <p:cNvSpPr txBox="1"/>
          <p:nvPr/>
        </p:nvSpPr>
        <p:spPr>
          <a:xfrm>
            <a:off x="7406640" y="5038344"/>
            <a:ext cx="4206240" cy="8686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steering</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Drain instructions the user typed while the run was working.</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ROLES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The chat plans; subagents hold the power</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Chat cannot be configured the way an agent can, so it gets the narrowest reach, not the widest.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11</a:t>
            </a:r>
            <a:endParaRPr lang="en-US" sz="1000" dirty="0"/>
          </a:p>
        </p:txBody>
      </p:sp>
      <p:sp>
        <p:nvSpPr>
          <p:cNvPr id="6" name="Text 4"/>
          <p:cNvSpPr txBox="1"/>
          <p:nvPr/>
        </p:nvSpPr>
        <p:spPr>
          <a:xfrm>
            <a:off x="2148840" y="2011680"/>
            <a:ext cx="2743200" cy="658368"/>
          </a:xfrm>
          <a:prstGeom prst="roundRect">
            <a:avLst>
              <a:gd name="adj" fmla="val 11111"/>
            </a:avLst>
          </a:prstGeom>
          <a:solidFill>
            <a:srgbClr val="E9EDF2"/>
          </a:solidFill>
          <a:ln w="12700">
            <a:solidFill>
              <a:srgbClr val="E9EDF2"/>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You</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approve, answer, steer</a:t>
            </a:r>
            <a:endParaRPr lang="en-US" sz="1400" dirty="0"/>
          </a:p>
        </p:txBody>
      </p:sp>
      <p:sp>
        <p:nvSpPr>
          <p:cNvPr id="7" name="Shape 5"/>
          <p:cNvSpPr/>
          <p:nvPr/>
        </p:nvSpPr>
        <p:spPr>
          <a:xfrm>
            <a:off x="3520440" y="2670048"/>
            <a:ext cx="0" cy="393192"/>
          </a:xfrm>
          <a:prstGeom prst="line">
            <a:avLst/>
          </a:prstGeom>
          <a:noFill/>
          <a:ln w="22225">
            <a:solidFill>
              <a:srgbClr val="4E5A6B"/>
            </a:solidFill>
            <a:prstDash val="solid"/>
            <a:tailEnd type="triangle"/>
          </a:ln>
        </p:spPr>
      </p:sp>
      <p:sp>
        <p:nvSpPr>
          <p:cNvPr id="8" name="Text 6"/>
          <p:cNvSpPr txBox="1"/>
          <p:nvPr/>
        </p:nvSpPr>
        <p:spPr>
          <a:xfrm>
            <a:off x="1463040" y="3063240"/>
            <a:ext cx="4114800" cy="960120"/>
          </a:xfrm>
          <a:prstGeom prst="roundRect">
            <a:avLst>
              <a:gd name="adj" fmla="val 7619"/>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500" b="1" dirty="0">
                <a:solidFill>
                  <a:srgbClr val="FFFFFF"/>
                </a:solidFill>
                <a:latin typeface="Arial" pitchFamily="34" charset="0"/>
                <a:ea typeface="Arial" pitchFamily="34" charset="-122"/>
                <a:cs typeface="Arial" pitchFamily="34" charset="-120"/>
              </a:rPr>
              <a:t>Chat orchestrator</a:t>
            </a:r>
            <a:endParaRPr lang="en-US" sz="1500" dirty="0"/>
          </a:p>
          <a:p>
            <a:pPr algn="ctr" indent="0" marL="0">
              <a:spcAft>
                <a:spcPts val="200"/>
              </a:spcAft>
              <a:buNone/>
            </a:pPr>
            <a:r>
              <a:rPr lang="en-US" sz="1200" dirty="0">
                <a:solidFill>
                  <a:srgbClr val="FFF3E3"/>
                </a:solidFill>
                <a:latin typeface="Calibri" pitchFamily="34" charset="0"/>
                <a:ea typeface="Calibri" pitchFamily="34" charset="-122"/>
                <a:cs typeface="Calibri" pitchFamily="34" charset="-120"/>
              </a:rPr>
              <a:t>reads · plans · delegates · staffs agents</a:t>
            </a:r>
            <a:endParaRPr lang="en-US" sz="1500" dirty="0"/>
          </a:p>
        </p:txBody>
      </p:sp>
      <p:sp>
        <p:nvSpPr>
          <p:cNvPr id="9" name="Shape 7"/>
          <p:cNvSpPr/>
          <p:nvPr/>
        </p:nvSpPr>
        <p:spPr>
          <a:xfrm flipH="1">
            <a:off x="1508760" y="4023360"/>
            <a:ext cx="2011680" cy="914400"/>
          </a:xfrm>
          <a:prstGeom prst="line">
            <a:avLst/>
          </a:prstGeom>
          <a:noFill/>
          <a:ln w="22225">
            <a:solidFill>
              <a:srgbClr val="4E5A6B"/>
            </a:solidFill>
            <a:prstDash val="solid"/>
            <a:tailEnd type="triangle"/>
          </a:ln>
        </p:spPr>
      </p:sp>
      <p:sp>
        <p:nvSpPr>
          <p:cNvPr id="10" name="Text 8"/>
          <p:cNvSpPr txBox="1"/>
          <p:nvPr/>
        </p:nvSpPr>
        <p:spPr>
          <a:xfrm>
            <a:off x="548640" y="4937760"/>
            <a:ext cx="1920240" cy="914400"/>
          </a:xfrm>
          <a:prstGeom prst="roundRect">
            <a:avLst>
              <a:gd name="adj" fmla="val 8000"/>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50" b="1" dirty="0">
                <a:solidFill>
                  <a:srgbClr val="1C212B"/>
                </a:solidFill>
                <a:latin typeface="Arial" pitchFamily="34" charset="0"/>
                <a:ea typeface="Arial" pitchFamily="34" charset="-122"/>
                <a:cs typeface="Arial" pitchFamily="34" charset="-120"/>
              </a:rPr>
              <a:t>Analyst</a:t>
            </a:r>
            <a:endParaRPr lang="en-US" sz="135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code · files · office</a:t>
            </a:r>
            <a:endParaRPr lang="en-US" sz="1350" dirty="0"/>
          </a:p>
        </p:txBody>
      </p:sp>
      <p:sp>
        <p:nvSpPr>
          <p:cNvPr id="11" name="Shape 9"/>
          <p:cNvSpPr/>
          <p:nvPr/>
        </p:nvSpPr>
        <p:spPr>
          <a:xfrm>
            <a:off x="3520440" y="4023360"/>
            <a:ext cx="137160" cy="914400"/>
          </a:xfrm>
          <a:prstGeom prst="line">
            <a:avLst/>
          </a:prstGeom>
          <a:noFill/>
          <a:ln w="22225">
            <a:solidFill>
              <a:srgbClr val="4E5A6B"/>
            </a:solidFill>
            <a:prstDash val="solid"/>
            <a:tailEnd type="triangle"/>
          </a:ln>
        </p:spPr>
      </p:sp>
      <p:sp>
        <p:nvSpPr>
          <p:cNvPr id="12" name="Text 10"/>
          <p:cNvSpPr txBox="1"/>
          <p:nvPr/>
        </p:nvSpPr>
        <p:spPr>
          <a:xfrm>
            <a:off x="2697480" y="4937760"/>
            <a:ext cx="1920240" cy="914400"/>
          </a:xfrm>
          <a:prstGeom prst="roundRect">
            <a:avLst>
              <a:gd name="adj" fmla="val 8000"/>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50" b="1" dirty="0">
                <a:solidFill>
                  <a:srgbClr val="1C212B"/>
                </a:solidFill>
                <a:latin typeface="Arial" pitchFamily="34" charset="0"/>
                <a:ea typeface="Arial" pitchFamily="34" charset="-122"/>
                <a:cs typeface="Arial" pitchFamily="34" charset="-120"/>
              </a:rPr>
              <a:t>Writer</a:t>
            </a:r>
            <a:endParaRPr lang="en-US" sz="135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files · office · knowledge</a:t>
            </a:r>
            <a:endParaRPr lang="en-US" sz="1350" dirty="0"/>
          </a:p>
        </p:txBody>
      </p:sp>
      <p:sp>
        <p:nvSpPr>
          <p:cNvPr id="13" name="Shape 11"/>
          <p:cNvSpPr/>
          <p:nvPr/>
        </p:nvSpPr>
        <p:spPr>
          <a:xfrm>
            <a:off x="3520440" y="4023360"/>
            <a:ext cx="2286000" cy="914400"/>
          </a:xfrm>
          <a:prstGeom prst="line">
            <a:avLst/>
          </a:prstGeom>
          <a:noFill/>
          <a:ln w="22225">
            <a:solidFill>
              <a:srgbClr val="4E5A6B"/>
            </a:solidFill>
            <a:prstDash val="solid"/>
            <a:tailEnd type="triangle"/>
          </a:ln>
        </p:spPr>
      </p:sp>
      <p:sp>
        <p:nvSpPr>
          <p:cNvPr id="14" name="Text 12"/>
          <p:cNvSpPr txBox="1"/>
          <p:nvPr/>
        </p:nvSpPr>
        <p:spPr>
          <a:xfrm>
            <a:off x="4846320" y="4937760"/>
            <a:ext cx="1920240" cy="914400"/>
          </a:xfrm>
          <a:prstGeom prst="roundRect">
            <a:avLst>
              <a:gd name="adj" fmla="val 8000"/>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50" b="1" dirty="0">
                <a:solidFill>
                  <a:srgbClr val="1C212B"/>
                </a:solidFill>
                <a:latin typeface="Arial" pitchFamily="34" charset="0"/>
                <a:ea typeface="Arial" pitchFamily="34" charset="-122"/>
                <a:cs typeface="Arial" pitchFamily="34" charset="-120"/>
              </a:rPr>
              <a:t>Mailbox</a:t>
            </a:r>
            <a:endParaRPr lang="en-US" sz="135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Gmail, read-only</a:t>
            </a:r>
            <a:endParaRPr lang="en-US" sz="1350" dirty="0"/>
          </a:p>
        </p:txBody>
      </p:sp>
      <p:sp>
        <p:nvSpPr>
          <p:cNvPr id="15" name="Shape 13"/>
          <p:cNvSpPr/>
          <p:nvPr/>
        </p:nvSpPr>
        <p:spPr>
          <a:xfrm flipH="1" flipV="1">
            <a:off x="5577840" y="3611880"/>
            <a:ext cx="914400" cy="1325880"/>
          </a:xfrm>
          <a:prstGeom prst="line">
            <a:avLst/>
          </a:prstGeom>
          <a:noFill/>
          <a:ln w="22225">
            <a:solidFill>
              <a:srgbClr val="15877D"/>
            </a:solidFill>
            <a:prstDash val="dash"/>
            <a:tailEnd type="triangle"/>
          </a:ln>
        </p:spPr>
      </p:sp>
      <p:sp>
        <p:nvSpPr>
          <p:cNvPr id="16" name="Text 14"/>
          <p:cNvSpPr txBox="1"/>
          <p:nvPr/>
        </p:nvSpPr>
        <p:spPr>
          <a:xfrm>
            <a:off x="6172200" y="3749040"/>
            <a:ext cx="1371600" cy="685800"/>
          </a:xfrm>
          <a:prstGeom prst="rect">
            <a:avLst/>
          </a:prstGeom>
          <a:noFill/>
          <a:ln/>
        </p:spPr>
        <p:txBody>
          <a:bodyPr wrap="square" lIns="0" tIns="0" rIns="0" bIns="0" rtlCol="0" anchor="t"/>
          <a:lstStyle/>
          <a:p>
            <a:pPr algn="l" indent="0" marL="0">
              <a:buNone/>
            </a:pPr>
            <a:r>
              <a:rPr lang="en-US" sz="1100" i="1" dirty="0">
                <a:solidFill>
                  <a:srgbClr val="0D5C55"/>
                </a:solidFill>
                <a:latin typeface="Calibri" pitchFamily="34" charset="0"/>
                <a:ea typeface="Calibri" pitchFamily="34" charset="-122"/>
                <a:cs typeface="Calibri" pitchFamily="34" charset="-120"/>
              </a:rPr>
              <a:t>questions &amp;</a:t>
            </a:r>
            <a:endParaRPr lang="en-US" sz="1100" dirty="0"/>
          </a:p>
          <a:p>
            <a:pPr algn="l" indent="0" marL="0">
              <a:buNone/>
            </a:pPr>
            <a:r>
              <a:rPr lang="en-US" sz="1100" i="1" dirty="0">
                <a:solidFill>
                  <a:srgbClr val="0D5C55"/>
                </a:solidFill>
                <a:latin typeface="Calibri" pitchFamily="34" charset="0"/>
                <a:ea typeface="Calibri" pitchFamily="34" charset="-122"/>
                <a:cs typeface="Calibri" pitchFamily="34" charset="-120"/>
              </a:rPr>
              <a:t>approvals</a:t>
            </a:r>
            <a:endParaRPr lang="en-US" sz="1100" dirty="0"/>
          </a:p>
          <a:p>
            <a:pPr algn="l" indent="0" marL="0">
              <a:buNone/>
            </a:pPr>
            <a:r>
              <a:rPr lang="en-US" sz="1100" i="1" dirty="0">
                <a:solidFill>
                  <a:srgbClr val="0D5C55"/>
                </a:solidFill>
                <a:latin typeface="Calibri" pitchFamily="34" charset="0"/>
                <a:ea typeface="Calibri" pitchFamily="34" charset="-122"/>
                <a:cs typeface="Calibri" pitchFamily="34" charset="-120"/>
              </a:rPr>
              <a:t>come back up</a:t>
            </a:r>
            <a:endParaRPr lang="en-US" sz="1100" dirty="0"/>
          </a:p>
        </p:txBody>
      </p:sp>
      <p:sp>
        <p:nvSpPr>
          <p:cNvPr id="17" name="Shape 15"/>
          <p:cNvSpPr/>
          <p:nvPr/>
        </p:nvSpPr>
        <p:spPr>
          <a:xfrm>
            <a:off x="7680960" y="2011680"/>
            <a:ext cx="3959352" cy="1920240"/>
          </a:xfrm>
          <a:prstGeom prst="roundRect">
            <a:avLst>
              <a:gd name="adj" fmla="val 4762"/>
            </a:avLst>
          </a:prstGeom>
          <a:solidFill>
            <a:srgbClr val="E1F2F0"/>
          </a:solidFill>
          <a:ln w="12700">
            <a:solidFill>
              <a:srgbClr val="E1F2F0"/>
            </a:solidFill>
            <a:prstDash val="solid"/>
          </a:ln>
        </p:spPr>
      </p:sp>
      <p:sp>
        <p:nvSpPr>
          <p:cNvPr id="18" name="Text 16"/>
          <p:cNvSpPr txBox="1"/>
          <p:nvPr/>
        </p:nvSpPr>
        <p:spPr>
          <a:xfrm>
            <a:off x="7909560" y="2148840"/>
            <a:ext cx="3566160" cy="274320"/>
          </a:xfrm>
          <a:prstGeom prst="rect">
            <a:avLst/>
          </a:prstGeom>
          <a:noFill/>
          <a:ln/>
        </p:spPr>
        <p:txBody>
          <a:bodyPr wrap="square" lIns="0" tIns="0" rIns="0" bIns="0" rtlCol="0" anchor="t"/>
          <a:lstStyle/>
          <a:p>
            <a:pPr algn="l" indent="0" marL="0">
              <a:buNone/>
            </a:pPr>
            <a:r>
              <a:rPr lang="en-US" sz="1400" b="1" dirty="0">
                <a:solidFill>
                  <a:srgbClr val="0D5C55"/>
                </a:solidFill>
                <a:latin typeface="Arial" pitchFamily="34" charset="0"/>
                <a:ea typeface="Arial" pitchFamily="34" charset="-122"/>
                <a:cs typeface="Arial" pitchFamily="34" charset="-120"/>
              </a:rPr>
              <a:t>Chat holds</a:t>
            </a:r>
            <a:endParaRPr lang="en-US" sz="1400" dirty="0"/>
          </a:p>
        </p:txBody>
      </p:sp>
      <p:sp>
        <p:nvSpPr>
          <p:cNvPr id="19" name="Text 17"/>
          <p:cNvSpPr txBox="1"/>
          <p:nvPr/>
        </p:nvSpPr>
        <p:spPr>
          <a:xfrm>
            <a:off x="7909560" y="2514600"/>
            <a:ext cx="3611880" cy="1325880"/>
          </a:xfrm>
          <a:prstGeom prst="rect">
            <a:avLst/>
          </a:prstGeom>
          <a:noFill/>
          <a:ln/>
        </p:spPr>
        <p:txBody>
          <a:bodyPr wrap="square" lIns="0" tIns="0" rIns="0" bIns="0" rtlCol="0" anchor="t"/>
          <a:lstStyle/>
          <a:p>
            <a:pPr algn="l" marL="342900" indent="-342900">
              <a:spcAft>
                <a:spcPts val="400"/>
              </a:spcAft>
              <a:buSzPct val="100000"/>
              <a:buChar char="•"/>
            </a:pPr>
            <a:r>
              <a:rPr lang="en-US" sz="1250" dirty="0">
                <a:solidFill>
                  <a:srgbClr val="1C212B"/>
                </a:solidFill>
                <a:latin typeface="Calibri" pitchFamily="34" charset="0"/>
                <a:ea typeface="Calibri" pitchFamily="34" charset="-122"/>
                <a:cs typeface="Calibri" pitchFamily="34" charset="-120"/>
              </a:rPr>
              <a:t>Read-only tools and read-only MCP calls</a:t>
            </a:r>
            <a:endParaRPr lang="en-US" sz="1250" dirty="0"/>
          </a:p>
          <a:p>
            <a:pPr algn="l" marL="342900" indent="-342900">
              <a:spcAft>
                <a:spcPts val="400"/>
              </a:spcAft>
              <a:buSzPct val="100000"/>
              <a:buChar char="•"/>
            </a:pPr>
            <a:r>
              <a:rPr lang="en-US" sz="1250" dirty="0">
                <a:solidFill>
                  <a:srgbClr val="1C212B"/>
                </a:solidFill>
                <a:latin typeface="Calibri" pitchFamily="34" charset="0"/>
                <a:ea typeface="Calibri" pitchFamily="34" charset="-122"/>
                <a:cs typeface="Calibri" pitchFamily="34" charset="-120"/>
              </a:rPr>
              <a:t>Delegation, create / update agent</a:t>
            </a:r>
            <a:endParaRPr lang="en-US" sz="1250" dirty="0"/>
          </a:p>
          <a:p>
            <a:pPr algn="l" marL="342900" indent="-342900">
              <a:spcAft>
                <a:spcPts val="400"/>
              </a:spcAft>
              <a:buSzPct val="100000"/>
              <a:buChar char="•"/>
            </a:pPr>
            <a:r>
              <a:rPr lang="en-US" sz="1250" dirty="0">
                <a:solidFill>
                  <a:srgbClr val="1C212B"/>
                </a:solidFill>
                <a:latin typeface="Calibri" pitchFamily="34" charset="0"/>
                <a:ea typeface="Calibri" pitchFamily="34" charset="-122"/>
                <a:cs typeface="Calibri" pitchFamily="34" charset="-120"/>
              </a:rPr>
              <a:t>User memory, start mission</a:t>
            </a:r>
            <a:endParaRPr lang="en-US" sz="1250" dirty="0"/>
          </a:p>
        </p:txBody>
      </p:sp>
      <p:sp>
        <p:nvSpPr>
          <p:cNvPr id="20" name="Shape 18"/>
          <p:cNvSpPr/>
          <p:nvPr/>
        </p:nvSpPr>
        <p:spPr>
          <a:xfrm>
            <a:off x="7680960" y="4069080"/>
            <a:ext cx="3959352" cy="1783080"/>
          </a:xfrm>
          <a:prstGeom prst="roundRect">
            <a:avLst>
              <a:gd name="adj" fmla="val 5128"/>
            </a:avLst>
          </a:prstGeom>
          <a:solidFill>
            <a:srgbClr val="FBE8E6"/>
          </a:solidFill>
          <a:ln w="12700">
            <a:solidFill>
              <a:srgbClr val="FBE8E6"/>
            </a:solidFill>
            <a:prstDash val="solid"/>
          </a:ln>
        </p:spPr>
      </p:sp>
      <p:sp>
        <p:nvSpPr>
          <p:cNvPr id="21" name="Text 19"/>
          <p:cNvSpPr txBox="1"/>
          <p:nvPr/>
        </p:nvSpPr>
        <p:spPr>
          <a:xfrm>
            <a:off x="7909560" y="4206240"/>
            <a:ext cx="3566160" cy="274320"/>
          </a:xfrm>
          <a:prstGeom prst="rect">
            <a:avLst/>
          </a:prstGeom>
          <a:noFill/>
          <a:ln/>
        </p:spPr>
        <p:txBody>
          <a:bodyPr wrap="square" lIns="0" tIns="0" rIns="0" bIns="0" rtlCol="0" anchor="t"/>
          <a:lstStyle/>
          <a:p>
            <a:pPr algn="l" indent="0" marL="0">
              <a:buNone/>
            </a:pPr>
            <a:r>
              <a:rPr lang="en-US" sz="1400" b="1" dirty="0">
                <a:solidFill>
                  <a:srgbClr val="8E2B24"/>
                </a:solidFill>
                <a:latin typeface="Arial" pitchFamily="34" charset="0"/>
                <a:ea typeface="Arial" pitchFamily="34" charset="-122"/>
                <a:cs typeface="Arial" pitchFamily="34" charset="-120"/>
              </a:rPr>
              <a:t>Chat never holds</a:t>
            </a:r>
            <a:endParaRPr lang="en-US" sz="1400" dirty="0"/>
          </a:p>
        </p:txBody>
      </p:sp>
      <p:sp>
        <p:nvSpPr>
          <p:cNvPr id="22" name="Text 20"/>
          <p:cNvSpPr txBox="1"/>
          <p:nvPr/>
        </p:nvSpPr>
        <p:spPr>
          <a:xfrm>
            <a:off x="7909560" y="4572000"/>
            <a:ext cx="3611880" cy="1188720"/>
          </a:xfrm>
          <a:prstGeom prst="rect">
            <a:avLst/>
          </a:prstGeom>
          <a:noFill/>
          <a:ln/>
        </p:spPr>
        <p:txBody>
          <a:bodyPr wrap="square" lIns="0" tIns="0" rIns="0" bIns="0" rtlCol="0" anchor="t"/>
          <a:lstStyle/>
          <a:p>
            <a:pPr algn="l" marL="342900" indent="-342900">
              <a:spcAft>
                <a:spcPts val="400"/>
              </a:spcAft>
              <a:buSzPct val="100000"/>
              <a:buChar char="•"/>
            </a:pPr>
            <a:r>
              <a:rPr lang="en-US" sz="1250" dirty="0">
                <a:solidFill>
                  <a:srgbClr val="1C212B"/>
                </a:solidFill>
                <a:latin typeface="Calibri" pitchFamily="34" charset="0"/>
                <a:ea typeface="Calibri" pitchFamily="34" charset="-122"/>
                <a:cs typeface="Calibri" pitchFamily="34" charset="-120"/>
              </a:rPr>
              <a:t>Anything that writes, sends, publishes, renders or spends</a:t>
            </a:r>
            <a:endParaRPr lang="en-US" sz="1250" dirty="0"/>
          </a:p>
          <a:p>
            <a:pPr algn="l" marL="342900" indent="-342900">
              <a:spcAft>
                <a:spcPts val="400"/>
              </a:spcAft>
              <a:buSzPct val="100000"/>
              <a:buChar char="•"/>
            </a:pPr>
            <a:r>
              <a:rPr lang="en-US" sz="1250" dirty="0">
                <a:solidFill>
                  <a:srgbClr val="1C212B"/>
                </a:solidFill>
                <a:latin typeface="Calibri" pitchFamily="34" charset="0"/>
                <a:ea typeface="Calibri" pitchFamily="34" charset="-122"/>
                <a:cs typeface="Calibri" pitchFamily="34" charset="-120"/>
              </a:rPr>
              <a:t>Refused at both doors: the offered list and dispatch</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THE UNIT</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An agent is a configuration, not a graph</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No flowcharts to draw. An agent is a prompt, a model, and what it is allowed to do.</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2011680"/>
            <a:ext cx="5760720" cy="4160520"/>
          </a:xfrm>
          <a:prstGeom prst="roundRect">
            <a:avLst>
              <a:gd name="adj" fmla="val 2198"/>
            </a:avLst>
          </a:prstGeom>
          <a:solidFill>
            <a:srgbClr val="F3F5F8"/>
          </a:solidFill>
          <a:ln w="12700">
            <a:solidFill>
              <a:srgbClr val="F3F5F8"/>
            </a:solidFill>
            <a:prstDash val="solid"/>
          </a:ln>
        </p:spPr>
      </p:sp>
      <p:sp>
        <p:nvSpPr>
          <p:cNvPr id="7" name="Shape 5"/>
          <p:cNvSpPr/>
          <p:nvPr/>
        </p:nvSpPr>
        <p:spPr>
          <a:xfrm>
            <a:off x="777240" y="2194560"/>
            <a:ext cx="548640" cy="548640"/>
          </a:xfrm>
          <a:prstGeom prst="ellipse">
            <a:avLst/>
          </a:prstGeom>
          <a:solidFill>
            <a:srgbClr val="15877D"/>
          </a:solidFill>
          <a:ln w="12700">
            <a:solidFill>
              <a:srgbClr val="15877D"/>
            </a:solidFill>
            <a:prstDash val="solid"/>
          </a:ln>
        </p:spPr>
      </p:sp>
      <p:pic>
        <p:nvPicPr>
          <p:cNvPr id="8" name="Image 0" descr="preencoded.png">    </p:cNvPr>
          <p:cNvPicPr>
            <a:picLocks noChangeAspect="1"/>
          </p:cNvPicPr>
          <p:nvPr/>
        </p:nvPicPr>
        <p:blipFill>
          <a:blip r:embed="rId1"/>
          <a:stretch>
            <a:fillRect/>
          </a:stretch>
        </p:blipFill>
        <p:spPr>
          <a:xfrm>
            <a:off x="919886" y="2337206"/>
            <a:ext cx="263347" cy="263347"/>
          </a:xfrm>
          <a:prstGeom prst="rect">
            <a:avLst/>
          </a:prstGeom>
        </p:spPr>
      </p:pic>
      <p:sp>
        <p:nvSpPr>
          <p:cNvPr id="9" name="Text 6"/>
          <p:cNvSpPr txBox="1"/>
          <p:nvPr/>
        </p:nvSpPr>
        <p:spPr>
          <a:xfrm>
            <a:off x="1463040" y="2240280"/>
            <a:ext cx="2743200" cy="32004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Analyst</a:t>
            </a:r>
            <a:endParaRPr lang="en-US" sz="1700" dirty="0"/>
          </a:p>
        </p:txBody>
      </p:sp>
      <p:sp>
        <p:nvSpPr>
          <p:cNvPr id="10" name="Text 7"/>
          <p:cNvSpPr txBox="1"/>
          <p:nvPr/>
        </p:nvSpPr>
        <p:spPr>
          <a:xfrm>
            <a:off x="1463040" y="2560320"/>
            <a:ext cx="2743200" cy="228600"/>
          </a:xfrm>
          <a:prstGeom prst="rect">
            <a:avLst/>
          </a:prstGeom>
          <a:noFill/>
          <a:ln/>
        </p:spPr>
        <p:txBody>
          <a:bodyPr wrap="square" lIns="0" tIns="0" rIns="0" bIns="0" rtlCol="0" anchor="t"/>
          <a:lstStyle/>
          <a:p>
            <a:pPr algn="l" indent="0" marL="0">
              <a:buNone/>
            </a:pPr>
            <a:r>
              <a:rPr lang="en-US" sz="1100" dirty="0">
                <a:solidFill>
                  <a:srgbClr val="5B6472"/>
                </a:solidFill>
                <a:latin typeface="Calibri" pitchFamily="34" charset="0"/>
                <a:ea typeface="Calibri" pitchFamily="34" charset="-122"/>
                <a:cs typeface="Calibri" pitchFamily="34" charset="-120"/>
              </a:rPr>
              <a:t>subagent</a:t>
            </a:r>
            <a:endParaRPr lang="en-US" sz="1100" dirty="0"/>
          </a:p>
        </p:txBody>
      </p:sp>
      <p:sp>
        <p:nvSpPr>
          <p:cNvPr id="11" name="Shape 8"/>
          <p:cNvSpPr/>
          <p:nvPr/>
        </p:nvSpPr>
        <p:spPr>
          <a:xfrm>
            <a:off x="777240" y="2980944"/>
            <a:ext cx="5303520" cy="0"/>
          </a:xfrm>
          <a:prstGeom prst="line">
            <a:avLst/>
          </a:prstGeom>
          <a:noFill/>
          <a:ln w="9525">
            <a:solidFill>
              <a:srgbClr val="D3D9E1"/>
            </a:solidFill>
            <a:prstDash val="solid"/>
          </a:ln>
        </p:spPr>
      </p:sp>
      <p:sp>
        <p:nvSpPr>
          <p:cNvPr id="12" name="Text 9"/>
          <p:cNvSpPr txBox="1"/>
          <p:nvPr/>
        </p:nvSpPr>
        <p:spPr>
          <a:xfrm>
            <a:off x="777240" y="3072384"/>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prompt</a:t>
            </a:r>
            <a:endParaRPr lang="en-US" sz="1150" dirty="0"/>
          </a:p>
        </p:txBody>
      </p:sp>
      <p:sp>
        <p:nvSpPr>
          <p:cNvPr id="13" name="Text 10"/>
          <p:cNvSpPr txBox="1"/>
          <p:nvPr/>
        </p:nvSpPr>
        <p:spPr>
          <a:xfrm>
            <a:off x="2103120" y="3063240"/>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You analyse spreadsheets and report with numbers…</a:t>
            </a:r>
            <a:endParaRPr lang="en-US" sz="1250" dirty="0"/>
          </a:p>
        </p:txBody>
      </p:sp>
      <p:sp>
        <p:nvSpPr>
          <p:cNvPr id="14" name="Shape 11"/>
          <p:cNvSpPr/>
          <p:nvPr/>
        </p:nvSpPr>
        <p:spPr>
          <a:xfrm>
            <a:off x="777240" y="3410712"/>
            <a:ext cx="5303520" cy="0"/>
          </a:xfrm>
          <a:prstGeom prst="line">
            <a:avLst/>
          </a:prstGeom>
          <a:noFill/>
          <a:ln w="9525">
            <a:solidFill>
              <a:srgbClr val="D3D9E1"/>
            </a:solidFill>
            <a:prstDash val="solid"/>
          </a:ln>
        </p:spPr>
      </p:sp>
      <p:sp>
        <p:nvSpPr>
          <p:cNvPr id="15" name="Text 12"/>
          <p:cNvSpPr txBox="1"/>
          <p:nvPr/>
        </p:nvSpPr>
        <p:spPr>
          <a:xfrm>
            <a:off x="777240" y="3502152"/>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model</a:t>
            </a:r>
            <a:endParaRPr lang="en-US" sz="1150" dirty="0"/>
          </a:p>
        </p:txBody>
      </p:sp>
      <p:sp>
        <p:nvSpPr>
          <p:cNvPr id="16" name="Text 13"/>
          <p:cNvSpPr txBox="1"/>
          <p:nvPr/>
        </p:nvSpPr>
        <p:spPr>
          <a:xfrm>
            <a:off x="2103120" y="3493008"/>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deepseek/deepseek-v4.1-flash · medium effort</a:t>
            </a:r>
            <a:endParaRPr lang="en-US" sz="1250" dirty="0"/>
          </a:p>
        </p:txBody>
      </p:sp>
      <p:sp>
        <p:nvSpPr>
          <p:cNvPr id="17" name="Shape 14"/>
          <p:cNvSpPr/>
          <p:nvPr/>
        </p:nvSpPr>
        <p:spPr>
          <a:xfrm>
            <a:off x="777240" y="3840480"/>
            <a:ext cx="5303520" cy="0"/>
          </a:xfrm>
          <a:prstGeom prst="line">
            <a:avLst/>
          </a:prstGeom>
          <a:noFill/>
          <a:ln w="9525">
            <a:solidFill>
              <a:srgbClr val="D3D9E1"/>
            </a:solidFill>
            <a:prstDash val="solid"/>
          </a:ln>
        </p:spPr>
      </p:sp>
      <p:sp>
        <p:nvSpPr>
          <p:cNvPr id="18" name="Text 15"/>
          <p:cNvSpPr txBox="1"/>
          <p:nvPr/>
        </p:nvSpPr>
        <p:spPr>
          <a:xfrm>
            <a:off x="777240" y="3931920"/>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grants</a:t>
            </a:r>
            <a:endParaRPr lang="en-US" sz="1150" dirty="0"/>
          </a:p>
        </p:txBody>
      </p:sp>
      <p:sp>
        <p:nvSpPr>
          <p:cNvPr id="19" name="Text 16"/>
          <p:cNvSpPr txBox="1"/>
          <p:nvPr/>
        </p:nvSpPr>
        <p:spPr>
          <a:xfrm>
            <a:off x="2103120" y="3922776"/>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codeExecution · fileOps · office</a:t>
            </a:r>
            <a:endParaRPr lang="en-US" sz="1250" dirty="0"/>
          </a:p>
        </p:txBody>
      </p:sp>
      <p:sp>
        <p:nvSpPr>
          <p:cNvPr id="20" name="Shape 17"/>
          <p:cNvSpPr/>
          <p:nvPr/>
        </p:nvSpPr>
        <p:spPr>
          <a:xfrm>
            <a:off x="777240" y="4270248"/>
            <a:ext cx="5303520" cy="0"/>
          </a:xfrm>
          <a:prstGeom prst="line">
            <a:avLst/>
          </a:prstGeom>
          <a:noFill/>
          <a:ln w="9525">
            <a:solidFill>
              <a:srgbClr val="D3D9E1"/>
            </a:solidFill>
            <a:prstDash val="solid"/>
          </a:ln>
        </p:spPr>
      </p:sp>
      <p:sp>
        <p:nvSpPr>
          <p:cNvPr id="21" name="Text 18"/>
          <p:cNvSpPr txBox="1"/>
          <p:nvPr/>
        </p:nvSpPr>
        <p:spPr>
          <a:xfrm>
            <a:off x="777240" y="4361688"/>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fileAccess</a:t>
            </a:r>
            <a:endParaRPr lang="en-US" sz="1150" dirty="0"/>
          </a:p>
        </p:txBody>
      </p:sp>
      <p:sp>
        <p:nvSpPr>
          <p:cNvPr id="22" name="Text 19"/>
          <p:cNvSpPr txBox="1"/>
          <p:nvPr/>
        </p:nvSpPr>
        <p:spPr>
          <a:xfrm>
            <a:off x="2103120" y="4352544"/>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read_all_write_own</a:t>
            </a:r>
            <a:endParaRPr lang="en-US" sz="1250" dirty="0"/>
          </a:p>
        </p:txBody>
      </p:sp>
      <p:sp>
        <p:nvSpPr>
          <p:cNvPr id="23" name="Shape 20"/>
          <p:cNvSpPr/>
          <p:nvPr/>
        </p:nvSpPr>
        <p:spPr>
          <a:xfrm>
            <a:off x="777240" y="4700016"/>
            <a:ext cx="5303520" cy="0"/>
          </a:xfrm>
          <a:prstGeom prst="line">
            <a:avLst/>
          </a:prstGeom>
          <a:noFill/>
          <a:ln w="9525">
            <a:solidFill>
              <a:srgbClr val="D3D9E1"/>
            </a:solidFill>
            <a:prstDash val="solid"/>
          </a:ln>
        </p:spPr>
      </p:sp>
      <p:sp>
        <p:nvSpPr>
          <p:cNvPr id="24" name="Text 21"/>
          <p:cNvSpPr txBox="1"/>
          <p:nvPr/>
        </p:nvSpPr>
        <p:spPr>
          <a:xfrm>
            <a:off x="777240" y="4791456"/>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autonomy</a:t>
            </a:r>
            <a:endParaRPr lang="en-US" sz="1150" dirty="0"/>
          </a:p>
        </p:txBody>
      </p:sp>
      <p:sp>
        <p:nvSpPr>
          <p:cNvPr id="25" name="Text 22"/>
          <p:cNvSpPr txBox="1"/>
          <p:nvPr/>
        </p:nvSpPr>
        <p:spPr>
          <a:xfrm>
            <a:off x="2103120" y="4782312"/>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auto</a:t>
            </a:r>
            <a:endParaRPr lang="en-US" sz="1250" dirty="0"/>
          </a:p>
        </p:txBody>
      </p:sp>
      <p:sp>
        <p:nvSpPr>
          <p:cNvPr id="26" name="Shape 23"/>
          <p:cNvSpPr/>
          <p:nvPr/>
        </p:nvSpPr>
        <p:spPr>
          <a:xfrm>
            <a:off x="777240" y="5129784"/>
            <a:ext cx="5303520" cy="0"/>
          </a:xfrm>
          <a:prstGeom prst="line">
            <a:avLst/>
          </a:prstGeom>
          <a:noFill/>
          <a:ln w="9525">
            <a:solidFill>
              <a:srgbClr val="D3D9E1"/>
            </a:solidFill>
            <a:prstDash val="solid"/>
          </a:ln>
        </p:spPr>
      </p:sp>
      <p:sp>
        <p:nvSpPr>
          <p:cNvPr id="27" name="Text 24"/>
          <p:cNvSpPr txBox="1"/>
          <p:nvPr/>
        </p:nvSpPr>
        <p:spPr>
          <a:xfrm>
            <a:off x="777240" y="5221224"/>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output</a:t>
            </a:r>
            <a:endParaRPr lang="en-US" sz="1150" dirty="0"/>
          </a:p>
        </p:txBody>
      </p:sp>
      <p:sp>
        <p:nvSpPr>
          <p:cNvPr id="28" name="Text 25"/>
          <p:cNvSpPr txBox="1"/>
          <p:nvPr/>
        </p:nvSpPr>
        <p:spPr>
          <a:xfrm>
            <a:off x="2103120" y="5212080"/>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contract: files → { summary, files }</a:t>
            </a:r>
            <a:endParaRPr lang="en-US" sz="1250" dirty="0"/>
          </a:p>
        </p:txBody>
      </p:sp>
      <p:sp>
        <p:nvSpPr>
          <p:cNvPr id="29" name="Shape 26"/>
          <p:cNvSpPr/>
          <p:nvPr/>
        </p:nvSpPr>
        <p:spPr>
          <a:xfrm>
            <a:off x="777240" y="5559552"/>
            <a:ext cx="5303520" cy="0"/>
          </a:xfrm>
          <a:prstGeom prst="line">
            <a:avLst/>
          </a:prstGeom>
          <a:noFill/>
          <a:ln w="9525">
            <a:solidFill>
              <a:srgbClr val="D3D9E1"/>
            </a:solidFill>
            <a:prstDash val="solid"/>
          </a:ln>
        </p:spPr>
      </p:sp>
      <p:sp>
        <p:nvSpPr>
          <p:cNvPr id="30" name="Text 27"/>
          <p:cNvSpPr txBox="1"/>
          <p:nvPr/>
        </p:nvSpPr>
        <p:spPr>
          <a:xfrm>
            <a:off x="777240" y="5650992"/>
            <a:ext cx="1280160" cy="274320"/>
          </a:xfrm>
          <a:prstGeom prst="rect">
            <a:avLst/>
          </a:prstGeom>
          <a:noFill/>
          <a:ln/>
        </p:spPr>
        <p:txBody>
          <a:bodyPr wrap="square" lIns="0" tIns="0" rIns="0" bIns="0" rtlCol="0" anchor="t"/>
          <a:lstStyle/>
          <a:p>
            <a:pPr algn="l" indent="0" marL="0">
              <a:buNone/>
            </a:pPr>
            <a:r>
              <a:rPr lang="en-US" sz="1150" dirty="0">
                <a:solidFill>
                  <a:srgbClr val="5B6472"/>
                </a:solidFill>
                <a:latin typeface="Courier New" pitchFamily="34" charset="0"/>
                <a:ea typeface="Courier New" pitchFamily="34" charset="-122"/>
                <a:cs typeface="Courier New" pitchFamily="34" charset="-120"/>
              </a:rPr>
              <a:t>schedule</a:t>
            </a:r>
            <a:endParaRPr lang="en-US" sz="1150" dirty="0"/>
          </a:p>
        </p:txBody>
      </p:sp>
      <p:sp>
        <p:nvSpPr>
          <p:cNvPr id="31" name="Text 28"/>
          <p:cNvSpPr txBox="1"/>
          <p:nvPr/>
        </p:nvSpPr>
        <p:spPr>
          <a:xfrm>
            <a:off x="2103120" y="5641848"/>
            <a:ext cx="4023360" cy="27432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Mondays 09:00, in the owner's timezone</a:t>
            </a:r>
            <a:endParaRPr lang="en-US" sz="1250" dirty="0"/>
          </a:p>
        </p:txBody>
      </p:sp>
      <p:sp>
        <p:nvSpPr>
          <p:cNvPr id="32" name="Text 29"/>
          <p:cNvSpPr txBox="1"/>
          <p:nvPr/>
        </p:nvSpPr>
        <p:spPr>
          <a:xfrm>
            <a:off x="6720840" y="2103120"/>
            <a:ext cx="4937760" cy="40690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Composable</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An agent that may delegate is simply granted that permission — one mechanism, checked like any other.</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Structured outputs</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Named result contracts — files, patch, findings, plan — render as proper panels, not prose.</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One validated save path</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The builder, chat and template installs all pass the same ownership and permission checks.</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Portable templates</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Templates carry requirements, never ids — install asks you to pick your own data.</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DELEGATION LIMITS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Delegation is bounded in three directions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Each bound compounds with the others: depth × width × size is what one request can cost.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2011680"/>
            <a:ext cx="3575304" cy="3291840"/>
          </a:xfrm>
          <a:prstGeom prst="roundRect">
            <a:avLst>
              <a:gd name="adj" fmla="val 2778"/>
            </a:avLst>
          </a:prstGeom>
          <a:solidFill>
            <a:srgbClr val="F3F5F8"/>
          </a:solidFill>
          <a:ln w="12700">
            <a:solidFill>
              <a:srgbClr val="F3F5F8"/>
            </a:solidFill>
            <a:prstDash val="solid"/>
          </a:ln>
        </p:spPr>
      </p:sp>
      <p:sp>
        <p:nvSpPr>
          <p:cNvPr id="7" name="Shape 5"/>
          <p:cNvSpPr/>
          <p:nvPr/>
        </p:nvSpPr>
        <p:spPr>
          <a:xfrm>
            <a:off x="822960" y="2240280"/>
            <a:ext cx="566928" cy="566928"/>
          </a:xfrm>
          <a:prstGeom prst="ellipse">
            <a:avLst/>
          </a:prstGeom>
          <a:solidFill>
            <a:srgbClr val="E08A1E"/>
          </a:solidFill>
          <a:ln w="12700">
            <a:solidFill>
              <a:srgbClr val="E08A1E"/>
            </a:solidFill>
            <a:prstDash val="solid"/>
          </a:ln>
        </p:spPr>
      </p:sp>
      <p:pic>
        <p:nvPicPr>
          <p:cNvPr id="8" name="Image 0" descr="preencoded.png">    </p:cNvPr>
          <p:cNvPicPr>
            <a:picLocks noChangeAspect="1"/>
          </p:cNvPicPr>
          <p:nvPr/>
        </p:nvPicPr>
        <p:blipFill>
          <a:blip r:embed="rId1"/>
          <a:stretch>
            <a:fillRect/>
          </a:stretch>
        </p:blipFill>
        <p:spPr>
          <a:xfrm>
            <a:off x="970361" y="2387681"/>
            <a:ext cx="272125" cy="272125"/>
          </a:xfrm>
          <a:prstGeom prst="rect">
            <a:avLst/>
          </a:prstGeom>
        </p:spPr>
      </p:pic>
      <p:sp>
        <p:nvSpPr>
          <p:cNvPr id="9" name="Text 6"/>
          <p:cNvSpPr txBox="1"/>
          <p:nvPr/>
        </p:nvSpPr>
        <p:spPr>
          <a:xfrm>
            <a:off x="1554480" y="2331720"/>
            <a:ext cx="237744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Depth</a:t>
            </a:r>
            <a:endParaRPr lang="en-US" sz="1700" dirty="0"/>
          </a:p>
        </p:txBody>
      </p:sp>
      <p:sp>
        <p:nvSpPr>
          <p:cNvPr id="10" name="Text 7"/>
          <p:cNvSpPr txBox="1"/>
          <p:nvPr/>
        </p:nvSpPr>
        <p:spPr>
          <a:xfrm>
            <a:off x="822960" y="3017520"/>
            <a:ext cx="3108960" cy="731520"/>
          </a:xfrm>
          <a:prstGeom prst="rect">
            <a:avLst/>
          </a:prstGeom>
          <a:noFill/>
          <a:ln/>
        </p:spPr>
        <p:txBody>
          <a:bodyPr wrap="square" lIns="0" tIns="0" rIns="0" bIns="0" rtlCol="0" anchor="t"/>
          <a:lstStyle/>
          <a:p>
            <a:pPr algn="l" indent="0" marL="0">
              <a:buNone/>
            </a:pPr>
            <a:r>
              <a:rPr lang="en-US" sz="3400" b="1" dirty="0">
                <a:solidFill>
                  <a:srgbClr val="E08A1E"/>
                </a:solidFill>
                <a:latin typeface="Arial" pitchFamily="34" charset="0"/>
                <a:ea typeface="Arial" pitchFamily="34" charset="-122"/>
                <a:cs typeface="Arial" pitchFamily="34" charset="-120"/>
              </a:rPr>
              <a:t>2 levels</a:t>
            </a:r>
            <a:endParaRPr lang="en-US" sz="3400" dirty="0"/>
          </a:p>
        </p:txBody>
      </p:sp>
      <p:sp>
        <p:nvSpPr>
          <p:cNvPr id="11" name="Text 8"/>
          <p:cNvSpPr txBox="1"/>
          <p:nvPr/>
        </p:nvSpPr>
        <p:spPr>
          <a:xfrm>
            <a:off x="822960" y="3840480"/>
            <a:ext cx="3063240" cy="141732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A user-started agent may delegate; its workers may not. Workers get a narrowed toolbox with no subAgents grant.</a:t>
            </a:r>
            <a:endParaRPr lang="en-US" sz="1300" dirty="0"/>
          </a:p>
        </p:txBody>
      </p:sp>
      <p:sp>
        <p:nvSpPr>
          <p:cNvPr id="12" name="Shape 9"/>
          <p:cNvSpPr/>
          <p:nvPr/>
        </p:nvSpPr>
        <p:spPr>
          <a:xfrm>
            <a:off x="4306824" y="2011680"/>
            <a:ext cx="3575304" cy="3291840"/>
          </a:xfrm>
          <a:prstGeom prst="roundRect">
            <a:avLst>
              <a:gd name="adj" fmla="val 2778"/>
            </a:avLst>
          </a:prstGeom>
          <a:solidFill>
            <a:srgbClr val="F3F5F8"/>
          </a:solidFill>
          <a:ln w="12700">
            <a:solidFill>
              <a:srgbClr val="F3F5F8"/>
            </a:solidFill>
            <a:prstDash val="solid"/>
          </a:ln>
        </p:spPr>
      </p:sp>
      <p:sp>
        <p:nvSpPr>
          <p:cNvPr id="13" name="Shape 10"/>
          <p:cNvSpPr/>
          <p:nvPr/>
        </p:nvSpPr>
        <p:spPr>
          <a:xfrm>
            <a:off x="4581144" y="2240280"/>
            <a:ext cx="566928" cy="566928"/>
          </a:xfrm>
          <a:prstGeom prst="ellipse">
            <a:avLst/>
          </a:prstGeom>
          <a:solidFill>
            <a:srgbClr val="15877D"/>
          </a:solidFill>
          <a:ln w="12700">
            <a:solidFill>
              <a:srgbClr val="15877D"/>
            </a:solidFill>
            <a:prstDash val="solid"/>
          </a:ln>
        </p:spPr>
      </p:sp>
      <p:pic>
        <p:nvPicPr>
          <p:cNvPr id="14" name="Image 1" descr="preencoded.png">    </p:cNvPr>
          <p:cNvPicPr>
            <a:picLocks noChangeAspect="1"/>
          </p:cNvPicPr>
          <p:nvPr/>
        </p:nvPicPr>
        <p:blipFill>
          <a:blip r:embed="rId2"/>
          <a:stretch>
            <a:fillRect/>
          </a:stretch>
        </p:blipFill>
        <p:spPr>
          <a:xfrm>
            <a:off x="4728545" y="2387681"/>
            <a:ext cx="272125" cy="272125"/>
          </a:xfrm>
          <a:prstGeom prst="rect">
            <a:avLst/>
          </a:prstGeom>
        </p:spPr>
      </p:pic>
      <p:sp>
        <p:nvSpPr>
          <p:cNvPr id="15" name="Text 11"/>
          <p:cNvSpPr txBox="1"/>
          <p:nvPr/>
        </p:nvSpPr>
        <p:spPr>
          <a:xfrm>
            <a:off x="5312664" y="2331720"/>
            <a:ext cx="237744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Budget</a:t>
            </a:r>
            <a:endParaRPr lang="en-US" sz="1700" dirty="0"/>
          </a:p>
        </p:txBody>
      </p:sp>
      <p:sp>
        <p:nvSpPr>
          <p:cNvPr id="16" name="Text 12"/>
          <p:cNvSpPr txBox="1"/>
          <p:nvPr/>
        </p:nvSpPr>
        <p:spPr>
          <a:xfrm>
            <a:off x="4581144" y="3017520"/>
            <a:ext cx="3108960" cy="731520"/>
          </a:xfrm>
          <a:prstGeom prst="rect">
            <a:avLst/>
          </a:prstGeom>
          <a:noFill/>
          <a:ln/>
        </p:spPr>
        <p:txBody>
          <a:bodyPr wrap="square" lIns="0" tIns="0" rIns="0" bIns="0" rtlCol="0" anchor="t"/>
          <a:lstStyle/>
          <a:p>
            <a:pPr algn="l" indent="0" marL="0">
              <a:buNone/>
            </a:pPr>
            <a:r>
              <a:rPr lang="en-US" sz="3400" b="1" dirty="0">
                <a:solidFill>
                  <a:srgbClr val="15877D"/>
                </a:solidFill>
                <a:latin typeface="Arial" pitchFamily="34" charset="0"/>
                <a:ea typeface="Arial" pitchFamily="34" charset="-122"/>
                <a:cs typeface="Arial" pitchFamily="34" charset="-120"/>
              </a:rPr>
              <a:t>÷ N</a:t>
            </a:r>
            <a:endParaRPr lang="en-US" sz="3400" dirty="0"/>
          </a:p>
        </p:txBody>
      </p:sp>
      <p:sp>
        <p:nvSpPr>
          <p:cNvPr id="17" name="Text 13"/>
          <p:cNvSpPr txBox="1"/>
          <p:nvPr/>
        </p:nvSpPr>
        <p:spPr>
          <a:xfrm>
            <a:off x="4581144" y="3840480"/>
            <a:ext cx="3063240" cy="141732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The spend cap is divided before workers start. Checks are read-then-run, so siblings started together would all see “under the cap”.</a:t>
            </a:r>
            <a:endParaRPr lang="en-US" sz="1300" dirty="0"/>
          </a:p>
        </p:txBody>
      </p:sp>
      <p:sp>
        <p:nvSpPr>
          <p:cNvPr id="18" name="Shape 14"/>
          <p:cNvSpPr/>
          <p:nvPr/>
        </p:nvSpPr>
        <p:spPr>
          <a:xfrm>
            <a:off x="8065008" y="2011680"/>
            <a:ext cx="3575304" cy="3291840"/>
          </a:xfrm>
          <a:prstGeom prst="roundRect">
            <a:avLst>
              <a:gd name="adj" fmla="val 2778"/>
            </a:avLst>
          </a:prstGeom>
          <a:solidFill>
            <a:srgbClr val="F3F5F8"/>
          </a:solidFill>
          <a:ln w="12700">
            <a:solidFill>
              <a:srgbClr val="F3F5F8"/>
            </a:solidFill>
            <a:prstDash val="solid"/>
          </a:ln>
        </p:spPr>
      </p:sp>
      <p:sp>
        <p:nvSpPr>
          <p:cNvPr id="19" name="Shape 15"/>
          <p:cNvSpPr/>
          <p:nvPr/>
        </p:nvSpPr>
        <p:spPr>
          <a:xfrm>
            <a:off x="8339328" y="2240280"/>
            <a:ext cx="566928" cy="566928"/>
          </a:xfrm>
          <a:prstGeom prst="ellipse">
            <a:avLst/>
          </a:prstGeom>
          <a:solidFill>
            <a:srgbClr val="4E5A6B"/>
          </a:solidFill>
          <a:ln w="12700">
            <a:solidFill>
              <a:srgbClr val="4E5A6B"/>
            </a:solidFill>
            <a:prstDash val="solid"/>
          </a:ln>
        </p:spPr>
      </p:sp>
      <p:pic>
        <p:nvPicPr>
          <p:cNvPr id="20" name="Image 2" descr="preencoded.png">    </p:cNvPr>
          <p:cNvPicPr>
            <a:picLocks noChangeAspect="1"/>
          </p:cNvPicPr>
          <p:nvPr/>
        </p:nvPicPr>
        <p:blipFill>
          <a:blip r:embed="rId3"/>
          <a:stretch>
            <a:fillRect/>
          </a:stretch>
        </p:blipFill>
        <p:spPr>
          <a:xfrm>
            <a:off x="8486729" y="2387681"/>
            <a:ext cx="272125" cy="272125"/>
          </a:xfrm>
          <a:prstGeom prst="rect">
            <a:avLst/>
          </a:prstGeom>
        </p:spPr>
      </p:pic>
      <p:sp>
        <p:nvSpPr>
          <p:cNvPr id="21" name="Text 16"/>
          <p:cNvSpPr txBox="1"/>
          <p:nvPr/>
        </p:nvSpPr>
        <p:spPr>
          <a:xfrm>
            <a:off x="9070848" y="2331720"/>
            <a:ext cx="237744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Size</a:t>
            </a:r>
            <a:endParaRPr lang="en-US" sz="1700" dirty="0"/>
          </a:p>
        </p:txBody>
      </p:sp>
      <p:sp>
        <p:nvSpPr>
          <p:cNvPr id="22" name="Text 17"/>
          <p:cNvSpPr txBox="1"/>
          <p:nvPr/>
        </p:nvSpPr>
        <p:spPr>
          <a:xfrm>
            <a:off x="8339328" y="3017520"/>
            <a:ext cx="3108960" cy="731520"/>
          </a:xfrm>
          <a:prstGeom prst="rect">
            <a:avLst/>
          </a:prstGeom>
          <a:noFill/>
          <a:ln/>
        </p:spPr>
        <p:txBody>
          <a:bodyPr wrap="square" lIns="0" tIns="0" rIns="0" bIns="0" rtlCol="0" anchor="t"/>
          <a:lstStyle/>
          <a:p>
            <a:pPr algn="l" indent="0" marL="0">
              <a:buNone/>
            </a:pPr>
            <a:r>
              <a:rPr lang="en-US" sz="3400" b="1" dirty="0">
                <a:solidFill>
                  <a:srgbClr val="4E5A6B"/>
                </a:solidFill>
                <a:latin typeface="Arial" pitchFamily="34" charset="0"/>
                <a:ea typeface="Arial" pitchFamily="34" charset="-122"/>
                <a:cs typeface="Arial" pitchFamily="34" charset="-120"/>
              </a:rPr>
              <a:t>8k ↓  20k ↑</a:t>
            </a:r>
            <a:endParaRPr lang="en-US" sz="3400" dirty="0"/>
          </a:p>
        </p:txBody>
      </p:sp>
      <p:sp>
        <p:nvSpPr>
          <p:cNvPr id="23" name="Text 18"/>
          <p:cNvSpPr txBox="1"/>
          <p:nvPr/>
        </p:nvSpPr>
        <p:spPr>
          <a:xfrm>
            <a:off x="8339328" y="3840480"/>
            <a:ext cx="3063240" cy="141732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Down: task ≤ 8,000 chars, one shared briefing ≤ 16,000, ≤ 16 workers, 8 at once — refused, not trimmed. Up: ≤ 20,000 per answer, 60,000 per fan-out; the cut is archived.</a:t>
            </a:r>
            <a:endParaRPr lang="en-US" sz="1300" dirty="0"/>
          </a:p>
        </p:txBody>
      </p:sp>
      <p:sp>
        <p:nvSpPr>
          <p:cNvPr id="24" name="Shape 19"/>
          <p:cNvSpPr/>
          <p:nvPr/>
        </p:nvSpPr>
        <p:spPr>
          <a:xfrm>
            <a:off x="548640" y="5486400"/>
            <a:ext cx="11091672" cy="685800"/>
          </a:xfrm>
          <a:prstGeom prst="roundRect">
            <a:avLst>
              <a:gd name="adj" fmla="val 13333"/>
            </a:avLst>
          </a:prstGeom>
          <a:solidFill>
            <a:srgbClr val="151922"/>
          </a:solidFill>
          <a:ln w="12700">
            <a:solidFill>
              <a:srgbClr val="151922"/>
            </a:solidFill>
            <a:prstDash val="solid"/>
          </a:ln>
        </p:spPr>
      </p:sp>
      <p:sp>
        <p:nvSpPr>
          <p:cNvPr id="25" name="Text 20"/>
          <p:cNvSpPr txBox="1"/>
          <p:nvPr/>
        </p:nvSpPr>
        <p:spPr>
          <a:xfrm>
            <a:off x="822960" y="5577840"/>
            <a:ext cx="10607040" cy="502920"/>
          </a:xfrm>
          <a:prstGeom prst="rect">
            <a:avLst/>
          </a:prstGeom>
          <a:noFill/>
          <a:ln/>
        </p:spPr>
        <p:txBody>
          <a:bodyPr wrap="square" lIns="0" tIns="0" rIns="0" bIns="0" rtlCol="0" anchor="ctr"/>
          <a:lstStyle/>
          <a:p>
            <a:pPr algn="l" indent="0" marL="0">
              <a:buNone/>
            </a:pPr>
            <a:r>
              <a:rPr lang="en-US" sz="1300" b="1" dirty="0">
                <a:solidFill>
                  <a:srgbClr val="E08A1E"/>
                </a:solidFill>
                <a:latin typeface="Calibri" pitchFamily="34" charset="0"/>
                <a:ea typeface="Calibri" pitchFamily="34" charset="-122"/>
                <a:cs typeface="Calibri" pitchFamily="34" charset="-120"/>
              </a:rPr>
              <a:t>Refuse going down, trim going up. </a:t>
            </a:r>
            <a:pPr algn="l" indent="0" marL="0">
              <a:buNone/>
            </a:pPr>
            <a:r>
              <a:rPr lang="en-US" sz="1300" dirty="0">
                <a:solidFill>
                  <a:srgbClr val="E6EAF0"/>
                </a:solidFill>
                <a:latin typeface="Calibri" pitchFamily="34" charset="0"/>
                <a:ea typeface="Calibri" pitchFamily="34" charset="-122"/>
                <a:cs typeface="Calibri" pitchFamily="34" charset="-120"/>
              </a:rPr>
              <a:t>An instruction our own model wrote can be retried shorter; a result arriving from outside cannot, so it is trimmed and archived.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RESULTS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Workers hand back files, not paragraphs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 worker writes into the folder its caller writes to, and answers with a path.</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960120" y="2578608"/>
            <a:ext cx="0" cy="1828800"/>
          </a:xfrm>
          <a:prstGeom prst="line">
            <a:avLst/>
          </a:prstGeom>
          <a:noFill/>
          <a:ln w="15875">
            <a:solidFill>
              <a:srgbClr val="D3D9E1"/>
            </a:solidFill>
            <a:prstDash val="solid"/>
          </a:ln>
        </p:spPr>
      </p:sp>
      <p:sp>
        <p:nvSpPr>
          <p:cNvPr id="7" name="Shape 5"/>
          <p:cNvSpPr/>
          <p:nvPr/>
        </p:nvSpPr>
        <p:spPr>
          <a:xfrm>
            <a:off x="1508760" y="3218688"/>
            <a:ext cx="0" cy="411480"/>
          </a:xfrm>
          <a:prstGeom prst="line">
            <a:avLst/>
          </a:prstGeom>
          <a:noFill/>
          <a:ln w="15875">
            <a:solidFill>
              <a:srgbClr val="D3D9E1"/>
            </a:solidFill>
            <a:prstDash val="solid"/>
          </a:ln>
        </p:spPr>
      </p:sp>
      <p:sp>
        <p:nvSpPr>
          <p:cNvPr id="8" name="Shape 6"/>
          <p:cNvSpPr/>
          <p:nvPr/>
        </p:nvSpPr>
        <p:spPr>
          <a:xfrm>
            <a:off x="1508760" y="4590288"/>
            <a:ext cx="0" cy="411480"/>
          </a:xfrm>
          <a:prstGeom prst="line">
            <a:avLst/>
          </a:prstGeom>
          <a:noFill/>
          <a:ln w="15875">
            <a:solidFill>
              <a:srgbClr val="D3D9E1"/>
            </a:solidFill>
            <a:prstDash val="solid"/>
          </a:ln>
        </p:spPr>
      </p:sp>
      <p:sp>
        <p:nvSpPr>
          <p:cNvPr id="9" name="Text 7"/>
          <p:cNvSpPr txBox="1"/>
          <p:nvPr/>
        </p:nvSpPr>
        <p:spPr>
          <a:xfrm>
            <a:off x="731520" y="2103120"/>
            <a:ext cx="1463040" cy="475488"/>
          </a:xfrm>
          <a:prstGeom prst="roundRect">
            <a:avLst>
              <a:gd name="adj" fmla="val 15385"/>
            </a:avLst>
          </a:prstGeom>
          <a:solidFill>
            <a:srgbClr val="F3F5F8"/>
          </a:solidFill>
          <a:ln w="12700">
            <a:solidFill>
              <a:srgbClr val="D3D9E1"/>
            </a:solidFill>
            <a:prstDash val="solid"/>
          </a:ln>
        </p:spPr>
        <p:txBody>
          <a:bodyPr wrap="square" lIns="12700" tIns="101600" rIns="101600" bIns="12700" rtlCol="0" anchor="ctr"/>
          <a:lstStyle/>
          <a:p>
            <a:pPr algn="l" indent="0" marL="0">
              <a:spcAft>
                <a:spcPts val="200"/>
              </a:spcAft>
              <a:buNone/>
            </a:pPr>
            <a:r>
              <a:rPr lang="en-US" sz="1200" b="1" dirty="0">
                <a:solidFill>
                  <a:srgbClr val="1C212B"/>
                </a:solidFill>
                <a:latin typeface="Arial" pitchFamily="34" charset="0"/>
                <a:ea typeface="Arial" pitchFamily="34" charset="-122"/>
                <a:cs typeface="Arial" pitchFamily="34" charset="-120"/>
              </a:rPr>
              <a:t>/</a:t>
            </a:r>
            <a:endParaRPr lang="en-US" sz="12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your whole tree</a:t>
            </a:r>
            <a:endParaRPr lang="en-US" sz="1200" dirty="0"/>
          </a:p>
        </p:txBody>
      </p:sp>
      <p:sp>
        <p:nvSpPr>
          <p:cNvPr id="10" name="Text 8"/>
          <p:cNvSpPr txBox="1"/>
          <p:nvPr/>
        </p:nvSpPr>
        <p:spPr>
          <a:xfrm>
            <a:off x="1234440" y="2743200"/>
            <a:ext cx="3200400" cy="475488"/>
          </a:xfrm>
          <a:prstGeom prst="roundRect">
            <a:avLst>
              <a:gd name="adj" fmla="val 15385"/>
            </a:avLst>
          </a:prstGeom>
          <a:solidFill>
            <a:srgbClr val="FDF0DE"/>
          </a:solidFill>
          <a:ln w="12700">
            <a:solidFill>
              <a:srgbClr val="E08A1E"/>
            </a:solidFill>
            <a:prstDash val="solid"/>
          </a:ln>
        </p:spPr>
        <p:txBody>
          <a:bodyPr wrap="square" lIns="12700" tIns="101600" rIns="101600" bIns="12700" rtlCol="0" anchor="ctr"/>
          <a:lstStyle/>
          <a:p>
            <a:pPr algn="l" indent="0" marL="0">
              <a:spcAft>
                <a:spcPts val="200"/>
              </a:spcAft>
              <a:buNone/>
            </a:pPr>
            <a:r>
              <a:rPr lang="en-US" sz="1200" b="1" dirty="0">
                <a:solidFill>
                  <a:srgbClr val="1C212B"/>
                </a:solidFill>
                <a:latin typeface="Arial" pitchFamily="34" charset="0"/>
                <a:ea typeface="Arial" pitchFamily="34" charset="-122"/>
                <a:cs typeface="Arial" pitchFamily="34" charset="-120"/>
              </a:rPr>
              <a:t>/Chat/</a:t>
            </a:r>
            <a:endParaRPr lang="en-US" sz="12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chat's folder — shared with its workers</a:t>
            </a:r>
            <a:endParaRPr lang="en-US" sz="1200" dirty="0"/>
          </a:p>
        </p:txBody>
      </p:sp>
      <p:sp>
        <p:nvSpPr>
          <p:cNvPr id="11" name="Text 9"/>
          <p:cNvSpPr txBox="1"/>
          <p:nvPr/>
        </p:nvSpPr>
        <p:spPr>
          <a:xfrm>
            <a:off x="1783080" y="3383280"/>
            <a:ext cx="2651760" cy="475488"/>
          </a:xfrm>
          <a:prstGeom prst="roundRect">
            <a:avLst>
              <a:gd name="adj" fmla="val 15385"/>
            </a:avLst>
          </a:prstGeom>
          <a:solidFill>
            <a:srgbClr val="E1F2F0"/>
          </a:solidFill>
          <a:ln w="12700">
            <a:solidFill>
              <a:srgbClr val="15877D"/>
            </a:solidFill>
            <a:prstDash val="solid"/>
          </a:ln>
        </p:spPr>
        <p:txBody>
          <a:bodyPr wrap="square" lIns="12700" tIns="101600" rIns="101600" bIns="12700" rtlCol="0" anchor="ctr"/>
          <a:lstStyle/>
          <a:p>
            <a:pPr algn="l" indent="0" marL="0">
              <a:spcAft>
                <a:spcPts val="200"/>
              </a:spcAft>
              <a:buNone/>
            </a:pPr>
            <a:r>
              <a:rPr lang="en-US" sz="1200" b="1" dirty="0">
                <a:solidFill>
                  <a:srgbClr val="1C212B"/>
                </a:solidFill>
                <a:latin typeface="Arial" pitchFamily="34" charset="0"/>
                <a:ea typeface="Arial" pitchFamily="34" charset="-122"/>
                <a:cs typeface="Arial" pitchFamily="34" charset="-120"/>
              </a:rPr>
              <a:t>findings-2.md</a:t>
            </a:r>
            <a:endParaRPr lang="en-US" sz="12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written by the Analyst run</a:t>
            </a:r>
            <a:endParaRPr lang="en-US" sz="1200" dirty="0"/>
          </a:p>
        </p:txBody>
      </p:sp>
      <p:sp>
        <p:nvSpPr>
          <p:cNvPr id="12" name="Text 10"/>
          <p:cNvSpPr txBox="1"/>
          <p:nvPr/>
        </p:nvSpPr>
        <p:spPr>
          <a:xfrm>
            <a:off x="1234440" y="4114800"/>
            <a:ext cx="3200400" cy="475488"/>
          </a:xfrm>
          <a:prstGeom prst="roundRect">
            <a:avLst>
              <a:gd name="adj" fmla="val 15385"/>
            </a:avLst>
          </a:prstGeom>
          <a:solidFill>
            <a:srgbClr val="F3F5F8"/>
          </a:solidFill>
          <a:ln w="12700">
            <a:solidFill>
              <a:srgbClr val="D3D9E1"/>
            </a:solidFill>
            <a:prstDash val="solid"/>
          </a:ln>
        </p:spPr>
        <p:txBody>
          <a:bodyPr wrap="square" lIns="12700" tIns="101600" rIns="101600" bIns="12700" rtlCol="0" anchor="ctr"/>
          <a:lstStyle/>
          <a:p>
            <a:pPr algn="l" indent="0" marL="0">
              <a:spcAft>
                <a:spcPts val="200"/>
              </a:spcAft>
              <a:buNone/>
            </a:pPr>
            <a:r>
              <a:rPr lang="en-US" sz="1200" b="1" dirty="0">
                <a:solidFill>
                  <a:srgbClr val="1C212B"/>
                </a:solidFill>
                <a:latin typeface="Arial" pitchFamily="34" charset="0"/>
                <a:ea typeface="Arial" pitchFamily="34" charset="-122"/>
                <a:cs typeface="Arial" pitchFamily="34" charset="-120"/>
              </a:rPr>
              <a:t>/Agents/</a:t>
            </a:r>
            <a:endParaRPr lang="en-US" sz="12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one home per agent</a:t>
            </a:r>
            <a:endParaRPr lang="en-US" sz="1200" dirty="0"/>
          </a:p>
        </p:txBody>
      </p:sp>
      <p:sp>
        <p:nvSpPr>
          <p:cNvPr id="13" name="Text 11"/>
          <p:cNvSpPr txBox="1"/>
          <p:nvPr/>
        </p:nvSpPr>
        <p:spPr>
          <a:xfrm>
            <a:off x="1783080" y="4754880"/>
            <a:ext cx="2651760" cy="475488"/>
          </a:xfrm>
          <a:prstGeom prst="roundRect">
            <a:avLst>
              <a:gd name="adj" fmla="val 15385"/>
            </a:avLst>
          </a:prstGeom>
          <a:solidFill>
            <a:srgbClr val="E9EDF2"/>
          </a:solidFill>
          <a:ln w="12700">
            <a:solidFill>
              <a:srgbClr val="4E5A6B"/>
            </a:solidFill>
            <a:prstDash val="solid"/>
          </a:ln>
        </p:spPr>
        <p:txBody>
          <a:bodyPr wrap="square" lIns="12700" tIns="101600" rIns="101600" bIns="12700" rtlCol="0" anchor="ctr"/>
          <a:lstStyle/>
          <a:p>
            <a:pPr algn="l" indent="0" marL="0">
              <a:spcAft>
                <a:spcPts val="200"/>
              </a:spcAft>
              <a:buNone/>
            </a:pPr>
            <a:r>
              <a:rPr lang="en-US" sz="1200" b="1" dirty="0">
                <a:solidFill>
                  <a:srgbClr val="1C212B"/>
                </a:solidFill>
                <a:latin typeface="Arial" pitchFamily="34" charset="0"/>
                <a:ea typeface="Arial" pitchFamily="34" charset="-122"/>
                <a:cs typeface="Arial" pitchFamily="34" charset="-120"/>
              </a:rPr>
              <a:t>/Agents/Analyst/</a:t>
            </a:r>
            <a:endParaRPr lang="en-US" sz="120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the worker's own files</a:t>
            </a:r>
            <a:endParaRPr lang="en-US" sz="1200" dirty="0"/>
          </a:p>
        </p:txBody>
      </p:sp>
      <p:sp>
        <p:nvSpPr>
          <p:cNvPr id="14" name="Text 12"/>
          <p:cNvSpPr txBox="1"/>
          <p:nvPr/>
        </p:nvSpPr>
        <p:spPr>
          <a:xfrm>
            <a:off x="5120640" y="2103120"/>
            <a:ext cx="1828800" cy="777240"/>
          </a:xfrm>
          <a:prstGeom prst="roundRect">
            <a:avLst>
              <a:gd name="adj" fmla="val 9412"/>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300" b="1" dirty="0">
                <a:solidFill>
                  <a:srgbClr val="FFFFFF"/>
                </a:solidFill>
                <a:latin typeface="Arial" pitchFamily="34" charset="0"/>
                <a:ea typeface="Arial" pitchFamily="34" charset="-122"/>
                <a:cs typeface="Arial" pitchFamily="34" charset="-120"/>
              </a:rPr>
              <a:t>Chat</a:t>
            </a:r>
            <a:endParaRPr lang="en-US" sz="1300" dirty="0"/>
          </a:p>
          <a:p>
            <a:pPr algn="ctr" indent="0" marL="0">
              <a:spcAft>
                <a:spcPts val="200"/>
              </a:spcAft>
              <a:buNone/>
            </a:pPr>
            <a:r>
              <a:rPr lang="en-US" sz="1050" dirty="0">
                <a:solidFill>
                  <a:srgbClr val="FFF3E3"/>
                </a:solidFill>
                <a:latin typeface="Calibri" pitchFamily="34" charset="0"/>
                <a:ea typeface="Calibri" pitchFamily="34" charset="-122"/>
                <a:cs typeface="Calibri" pitchFamily="34" charset="-120"/>
              </a:rPr>
              <a:t>orchestrator</a:t>
            </a:r>
            <a:endParaRPr lang="en-US" sz="1300" dirty="0"/>
          </a:p>
        </p:txBody>
      </p:sp>
      <p:sp>
        <p:nvSpPr>
          <p:cNvPr id="15" name="Text 13"/>
          <p:cNvSpPr txBox="1"/>
          <p:nvPr/>
        </p:nvSpPr>
        <p:spPr>
          <a:xfrm>
            <a:off x="5120640" y="4206240"/>
            <a:ext cx="1828800" cy="777240"/>
          </a:xfrm>
          <a:prstGeom prst="roundRect">
            <a:avLst>
              <a:gd name="adj" fmla="val 9412"/>
            </a:avLst>
          </a:prstGeom>
          <a:solidFill>
            <a:srgbClr val="15877D"/>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00" b="1" dirty="0">
                <a:solidFill>
                  <a:srgbClr val="FFFFFF"/>
                </a:solidFill>
                <a:latin typeface="Arial" pitchFamily="34" charset="0"/>
                <a:ea typeface="Arial" pitchFamily="34" charset="-122"/>
                <a:cs typeface="Arial" pitchFamily="34" charset="-120"/>
              </a:rPr>
              <a:t>Analyst run</a:t>
            </a:r>
            <a:endParaRPr lang="en-US" sz="1300" dirty="0"/>
          </a:p>
          <a:p>
            <a:pPr algn="ctr" indent="0" marL="0">
              <a:spcAft>
                <a:spcPts val="200"/>
              </a:spcAft>
              <a:buNone/>
            </a:pPr>
            <a:r>
              <a:rPr lang="en-US" sz="1050" dirty="0">
                <a:solidFill>
                  <a:srgbClr val="D5EFEC"/>
                </a:solidFill>
                <a:latin typeface="Calibri" pitchFamily="34" charset="0"/>
                <a:ea typeface="Calibri" pitchFamily="34" charset="-122"/>
                <a:cs typeface="Calibri" pitchFamily="34" charset="-120"/>
              </a:rPr>
              <a:t>worker</a:t>
            </a:r>
            <a:endParaRPr lang="en-US" sz="1300" dirty="0"/>
          </a:p>
        </p:txBody>
      </p:sp>
      <p:sp>
        <p:nvSpPr>
          <p:cNvPr id="16" name="Shape 14"/>
          <p:cNvSpPr/>
          <p:nvPr/>
        </p:nvSpPr>
        <p:spPr>
          <a:xfrm flipH="1" flipV="1">
            <a:off x="4434840" y="3657600"/>
            <a:ext cx="685800" cy="822960"/>
          </a:xfrm>
          <a:prstGeom prst="line">
            <a:avLst/>
          </a:prstGeom>
          <a:noFill/>
          <a:ln w="22225">
            <a:solidFill>
              <a:srgbClr val="15877D"/>
            </a:solidFill>
            <a:prstDash val="solid"/>
            <a:tailEnd type="triangle"/>
          </a:ln>
        </p:spPr>
      </p:sp>
      <p:sp>
        <p:nvSpPr>
          <p:cNvPr id="17" name="Text 15"/>
          <p:cNvSpPr txBox="1"/>
          <p:nvPr/>
        </p:nvSpPr>
        <p:spPr>
          <a:xfrm>
            <a:off x="4572000" y="3310128"/>
            <a:ext cx="640080" cy="228600"/>
          </a:xfrm>
          <a:prstGeom prst="rect">
            <a:avLst/>
          </a:prstGeom>
          <a:noFill/>
          <a:ln/>
        </p:spPr>
        <p:txBody>
          <a:bodyPr wrap="square" lIns="0" tIns="0" rIns="0" bIns="0" rtlCol="0" anchor="t"/>
          <a:lstStyle/>
          <a:p>
            <a:pPr algn="l" indent="0" marL="0">
              <a:buNone/>
            </a:pPr>
            <a:r>
              <a:rPr lang="en-US" sz="1050" i="1" dirty="0">
                <a:solidFill>
                  <a:srgbClr val="0D5C55"/>
                </a:solidFill>
                <a:latin typeface="Calibri" pitchFamily="34" charset="0"/>
                <a:ea typeface="Calibri" pitchFamily="34" charset="-122"/>
                <a:cs typeface="Calibri" pitchFamily="34" charset="-120"/>
              </a:rPr>
              <a:t>writes</a:t>
            </a:r>
            <a:endParaRPr lang="en-US" sz="1050" dirty="0"/>
          </a:p>
        </p:txBody>
      </p:sp>
      <p:sp>
        <p:nvSpPr>
          <p:cNvPr id="18" name="Shape 16"/>
          <p:cNvSpPr/>
          <p:nvPr/>
        </p:nvSpPr>
        <p:spPr>
          <a:xfrm flipV="1">
            <a:off x="6035040" y="2880360"/>
            <a:ext cx="0" cy="1325880"/>
          </a:xfrm>
          <a:prstGeom prst="line">
            <a:avLst/>
          </a:prstGeom>
          <a:noFill/>
          <a:ln w="22225">
            <a:solidFill>
              <a:srgbClr val="E08A1E"/>
            </a:solidFill>
            <a:prstDash val="dash"/>
            <a:tailEnd type="triangle"/>
          </a:ln>
        </p:spPr>
      </p:sp>
      <p:sp>
        <p:nvSpPr>
          <p:cNvPr id="19" name="Text 17"/>
          <p:cNvSpPr txBox="1"/>
          <p:nvPr/>
        </p:nvSpPr>
        <p:spPr>
          <a:xfrm>
            <a:off x="6126480" y="3200400"/>
            <a:ext cx="1188720" cy="731520"/>
          </a:xfrm>
          <a:prstGeom prst="rect">
            <a:avLst/>
          </a:prstGeom>
          <a:noFill/>
          <a:ln/>
        </p:spPr>
        <p:txBody>
          <a:bodyPr wrap="square" lIns="0" tIns="0" rIns="0" bIns="0" rtlCol="0" anchor="t"/>
          <a:lstStyle/>
          <a:p>
            <a:pPr algn="l" indent="0" marL="0">
              <a:buNone/>
            </a:pPr>
            <a:r>
              <a:rPr lang="en-US" sz="1050" i="1" dirty="0">
                <a:solidFill>
                  <a:srgbClr val="9A5A0C"/>
                </a:solidFill>
                <a:latin typeface="Calibri" pitchFamily="34" charset="0"/>
                <a:ea typeface="Calibri" pitchFamily="34" charset="-122"/>
                <a:cs typeface="Calibri" pitchFamily="34" charset="-120"/>
              </a:rPr>
              <a:t>answers:</a:t>
            </a:r>
            <a:endParaRPr lang="en-US" sz="1050" dirty="0"/>
          </a:p>
          <a:p>
            <a:pPr algn="l" indent="0" marL="0">
              <a:buNone/>
            </a:pPr>
            <a:r>
              <a:rPr lang="en-US" sz="1050" i="1" dirty="0">
                <a:solidFill>
                  <a:srgbClr val="9A5A0C"/>
                </a:solidFill>
                <a:latin typeface="Calibri" pitchFamily="34" charset="0"/>
                <a:ea typeface="Calibri" pitchFamily="34" charset="-122"/>
                <a:cs typeface="Calibri" pitchFamily="34" charset="-120"/>
              </a:rPr>
              <a:t>“wrote /Chat/findings-2.md”</a:t>
            </a:r>
            <a:endParaRPr lang="en-US" sz="1050" dirty="0"/>
          </a:p>
        </p:txBody>
      </p:sp>
      <p:sp>
        <p:nvSpPr>
          <p:cNvPr id="20" name="Text 18"/>
          <p:cNvSpPr txBox="1"/>
          <p:nvPr/>
        </p:nvSpPr>
        <p:spPr>
          <a:xfrm>
            <a:off x="7680960" y="2103120"/>
            <a:ext cx="3977640" cy="406908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The folder is passed down</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The worker gets its caller's own write folder — never rebuilt from a name, so it works when the caller is chat.</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Two named subtrees</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Its own home and the shared folder. Tools say which is which, and the worker is told to prefer the shared one.</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It only ever adds</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Declined for a scoped or read-only worker, and for an empty prefix — which would mean “write anywhere”.</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Archive read-through</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A worker may read what its parent's curation archived, one hop, read-only.</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DETACHED DISPATCH</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lead starts workers and keeps its turn</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Normal delegation waits for every worker. A coding lead can react while its workers run.</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15</a:t>
            </a:r>
            <a:endParaRPr lang="en-US" sz="1000" dirty="0"/>
          </a:p>
        </p:txBody>
      </p:sp>
      <p:sp>
        <p:nvSpPr>
          <p:cNvPr id="6" name="Text 4"/>
          <p:cNvSpPr txBox="1"/>
          <p:nvPr/>
        </p:nvSpPr>
        <p:spPr>
          <a:xfrm>
            <a:off x="548640" y="2286000"/>
            <a:ext cx="1097280" cy="274320"/>
          </a:xfrm>
          <a:prstGeom prst="rect">
            <a:avLst/>
          </a:prstGeom>
          <a:noFill/>
          <a:ln/>
        </p:spPr>
        <p:txBody>
          <a:bodyPr wrap="square" lIns="0" tIns="0" rIns="0" bIns="0" rtlCol="0" anchor="t"/>
          <a:lstStyle/>
          <a:p>
            <a:pPr algn="l" indent="0" marL="0">
              <a:buNone/>
            </a:pPr>
            <a:r>
              <a:rPr lang="en-US" sz="1250" b="1" dirty="0">
                <a:solidFill>
                  <a:srgbClr val="9A5A0C"/>
                </a:solidFill>
                <a:latin typeface="Arial" pitchFamily="34" charset="0"/>
                <a:ea typeface="Arial" pitchFamily="34" charset="-122"/>
                <a:cs typeface="Arial" pitchFamily="34" charset="-120"/>
              </a:rPr>
              <a:t>Lead</a:t>
            </a:r>
            <a:endParaRPr lang="en-US" sz="1250" dirty="0"/>
          </a:p>
        </p:txBody>
      </p:sp>
      <p:sp>
        <p:nvSpPr>
          <p:cNvPr id="7" name="Shape 5"/>
          <p:cNvSpPr/>
          <p:nvPr/>
        </p:nvSpPr>
        <p:spPr>
          <a:xfrm>
            <a:off x="1737360" y="2423160"/>
            <a:ext cx="5394960" cy="0"/>
          </a:xfrm>
          <a:prstGeom prst="line">
            <a:avLst/>
          </a:prstGeom>
          <a:noFill/>
          <a:ln w="9525">
            <a:solidFill>
              <a:srgbClr val="D3D9E1"/>
            </a:solidFill>
            <a:prstDash val="dash"/>
          </a:ln>
        </p:spPr>
      </p:sp>
      <p:sp>
        <p:nvSpPr>
          <p:cNvPr id="8" name="Text 6"/>
          <p:cNvSpPr txBox="1"/>
          <p:nvPr/>
        </p:nvSpPr>
        <p:spPr>
          <a:xfrm>
            <a:off x="548640" y="3108960"/>
            <a:ext cx="1097280" cy="274320"/>
          </a:xfrm>
          <a:prstGeom prst="rect">
            <a:avLst/>
          </a:prstGeom>
          <a:noFill/>
          <a:ln/>
        </p:spPr>
        <p:txBody>
          <a:bodyPr wrap="square" lIns="0" tIns="0" rIns="0" bIns="0" rtlCol="0" anchor="t"/>
          <a:lstStyle/>
          <a:p>
            <a:pPr algn="l" indent="0" marL="0">
              <a:buNone/>
            </a:pPr>
            <a:r>
              <a:rPr lang="en-US" sz="1250" b="1" dirty="0">
                <a:solidFill>
                  <a:srgbClr val="1C212B"/>
                </a:solidFill>
                <a:latin typeface="Arial" pitchFamily="34" charset="0"/>
                <a:ea typeface="Arial" pitchFamily="34" charset="-122"/>
                <a:cs typeface="Arial" pitchFamily="34" charset="-120"/>
              </a:rPr>
              <a:t>Worker 1</a:t>
            </a:r>
            <a:endParaRPr lang="en-US" sz="1250" dirty="0"/>
          </a:p>
        </p:txBody>
      </p:sp>
      <p:sp>
        <p:nvSpPr>
          <p:cNvPr id="9" name="Shape 7"/>
          <p:cNvSpPr/>
          <p:nvPr/>
        </p:nvSpPr>
        <p:spPr>
          <a:xfrm>
            <a:off x="1737360" y="3246120"/>
            <a:ext cx="5394960" cy="0"/>
          </a:xfrm>
          <a:prstGeom prst="line">
            <a:avLst/>
          </a:prstGeom>
          <a:noFill/>
          <a:ln w="9525">
            <a:solidFill>
              <a:srgbClr val="D3D9E1"/>
            </a:solidFill>
            <a:prstDash val="dash"/>
          </a:ln>
        </p:spPr>
      </p:sp>
      <p:sp>
        <p:nvSpPr>
          <p:cNvPr id="10" name="Text 8"/>
          <p:cNvSpPr txBox="1"/>
          <p:nvPr/>
        </p:nvSpPr>
        <p:spPr>
          <a:xfrm>
            <a:off x="548640" y="3931920"/>
            <a:ext cx="1097280" cy="274320"/>
          </a:xfrm>
          <a:prstGeom prst="rect">
            <a:avLst/>
          </a:prstGeom>
          <a:noFill/>
          <a:ln/>
        </p:spPr>
        <p:txBody>
          <a:bodyPr wrap="square" lIns="0" tIns="0" rIns="0" bIns="0" rtlCol="0" anchor="t"/>
          <a:lstStyle/>
          <a:p>
            <a:pPr algn="l" indent="0" marL="0">
              <a:buNone/>
            </a:pPr>
            <a:r>
              <a:rPr lang="en-US" sz="1250" b="1" dirty="0">
                <a:solidFill>
                  <a:srgbClr val="1C212B"/>
                </a:solidFill>
                <a:latin typeface="Arial" pitchFamily="34" charset="0"/>
                <a:ea typeface="Arial" pitchFamily="34" charset="-122"/>
                <a:cs typeface="Arial" pitchFamily="34" charset="-120"/>
              </a:rPr>
              <a:t>Worker 2</a:t>
            </a:r>
            <a:endParaRPr lang="en-US" sz="1250" dirty="0"/>
          </a:p>
        </p:txBody>
      </p:sp>
      <p:sp>
        <p:nvSpPr>
          <p:cNvPr id="11" name="Shape 9"/>
          <p:cNvSpPr/>
          <p:nvPr/>
        </p:nvSpPr>
        <p:spPr>
          <a:xfrm>
            <a:off x="1737360" y="4069080"/>
            <a:ext cx="5394960" cy="0"/>
          </a:xfrm>
          <a:prstGeom prst="line">
            <a:avLst/>
          </a:prstGeom>
          <a:noFill/>
          <a:ln w="9525">
            <a:solidFill>
              <a:srgbClr val="D3D9E1"/>
            </a:solidFill>
            <a:prstDash val="dash"/>
          </a:ln>
        </p:spPr>
      </p:sp>
      <p:sp>
        <p:nvSpPr>
          <p:cNvPr id="12" name="Text 10"/>
          <p:cNvSpPr txBox="1"/>
          <p:nvPr/>
        </p:nvSpPr>
        <p:spPr>
          <a:xfrm>
            <a:off x="548640" y="4754880"/>
            <a:ext cx="1097280" cy="274320"/>
          </a:xfrm>
          <a:prstGeom prst="rect">
            <a:avLst/>
          </a:prstGeom>
          <a:noFill/>
          <a:ln/>
        </p:spPr>
        <p:txBody>
          <a:bodyPr wrap="square" lIns="0" tIns="0" rIns="0" bIns="0" rtlCol="0" anchor="t"/>
          <a:lstStyle/>
          <a:p>
            <a:pPr algn="l" indent="0" marL="0">
              <a:buNone/>
            </a:pPr>
            <a:r>
              <a:rPr lang="en-US" sz="1250" b="1" dirty="0">
                <a:solidFill>
                  <a:srgbClr val="1C212B"/>
                </a:solidFill>
                <a:latin typeface="Arial" pitchFamily="34" charset="0"/>
                <a:ea typeface="Arial" pitchFamily="34" charset="-122"/>
                <a:cs typeface="Arial" pitchFamily="34" charset="-120"/>
              </a:rPr>
              <a:t>Worker 3</a:t>
            </a:r>
            <a:endParaRPr lang="en-US" sz="1250" dirty="0"/>
          </a:p>
        </p:txBody>
      </p:sp>
      <p:sp>
        <p:nvSpPr>
          <p:cNvPr id="13" name="Shape 11"/>
          <p:cNvSpPr/>
          <p:nvPr/>
        </p:nvSpPr>
        <p:spPr>
          <a:xfrm>
            <a:off x="1737360" y="4892040"/>
            <a:ext cx="5394960" cy="0"/>
          </a:xfrm>
          <a:prstGeom prst="line">
            <a:avLst/>
          </a:prstGeom>
          <a:noFill/>
          <a:ln w="9525">
            <a:solidFill>
              <a:srgbClr val="D3D9E1"/>
            </a:solidFill>
            <a:prstDash val="dash"/>
          </a:ln>
        </p:spPr>
      </p:sp>
      <p:sp>
        <p:nvSpPr>
          <p:cNvPr id="14" name="Text 12"/>
          <p:cNvSpPr txBox="1"/>
          <p:nvPr/>
        </p:nvSpPr>
        <p:spPr>
          <a:xfrm>
            <a:off x="1737360" y="2240280"/>
            <a:ext cx="777240" cy="365760"/>
          </a:xfrm>
          <a:prstGeom prst="roundRect">
            <a:avLst>
              <a:gd name="adj" fmla="val 12500"/>
            </a:avLst>
          </a:prstGeom>
          <a:solidFill>
            <a:srgbClr val="E08A1E"/>
          </a:solidFill>
          <a:ln w="9525">
            <a:solidFill>
              <a:srgbClr val="FFFFFF"/>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start</a:t>
            </a:r>
            <a:endParaRPr lang="en-US" sz="1050" dirty="0"/>
          </a:p>
        </p:txBody>
      </p:sp>
      <p:sp>
        <p:nvSpPr>
          <p:cNvPr id="15" name="Text 13"/>
          <p:cNvSpPr txBox="1"/>
          <p:nvPr/>
        </p:nvSpPr>
        <p:spPr>
          <a:xfrm>
            <a:off x="2514600" y="2240280"/>
            <a:ext cx="1097280" cy="365760"/>
          </a:xfrm>
          <a:prstGeom prst="roundRect">
            <a:avLst>
              <a:gd name="adj" fmla="val 12500"/>
            </a:avLst>
          </a:prstGeom>
          <a:solidFill>
            <a:srgbClr val="FDF0DE"/>
          </a:solidFill>
          <a:ln w="9525">
            <a:solidFill>
              <a:srgbClr val="FFFFFF"/>
            </a:solidFill>
          </a:ln>
        </p:spPr>
        <p:txBody>
          <a:bodyPr wrap="square" lIns="0" tIns="0" rIns="0" bIns="0" rtlCol="0" anchor="ctr"/>
          <a:lstStyle/>
          <a:p>
            <a:pPr algn="ctr" indent="0" marL="0">
              <a:buNone/>
            </a:pPr>
            <a:r>
              <a:rPr lang="en-US" sz="1050" b="1" dirty="0">
                <a:solidFill>
                  <a:srgbClr val="9A5A0C"/>
                </a:solidFill>
                <a:latin typeface="Calibri" pitchFamily="34" charset="0"/>
                <a:ea typeface="Calibri" pitchFamily="34" charset="-122"/>
                <a:cs typeface="Calibri" pitchFamily="34" charset="-120"/>
              </a:rPr>
              <a:t>waiting</a:t>
            </a:r>
            <a:endParaRPr lang="en-US" sz="1050" dirty="0"/>
          </a:p>
        </p:txBody>
      </p:sp>
      <p:sp>
        <p:nvSpPr>
          <p:cNvPr id="16" name="Text 14"/>
          <p:cNvSpPr txBox="1"/>
          <p:nvPr/>
        </p:nvSpPr>
        <p:spPr>
          <a:xfrm>
            <a:off x="3611880" y="2240280"/>
            <a:ext cx="777240" cy="365760"/>
          </a:xfrm>
          <a:prstGeom prst="roundRect">
            <a:avLst>
              <a:gd name="adj" fmla="val 12500"/>
            </a:avLst>
          </a:prstGeom>
          <a:solidFill>
            <a:srgbClr val="E08A1E"/>
          </a:solidFill>
          <a:ln w="9525">
            <a:solidFill>
              <a:srgbClr val="FFFFFF"/>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steer</a:t>
            </a:r>
            <a:endParaRPr lang="en-US" sz="1050" dirty="0"/>
          </a:p>
        </p:txBody>
      </p:sp>
      <p:sp>
        <p:nvSpPr>
          <p:cNvPr id="17" name="Text 15"/>
          <p:cNvSpPr txBox="1"/>
          <p:nvPr/>
        </p:nvSpPr>
        <p:spPr>
          <a:xfrm>
            <a:off x="4389120" y="2240280"/>
            <a:ext cx="1143000" cy="365760"/>
          </a:xfrm>
          <a:prstGeom prst="roundRect">
            <a:avLst>
              <a:gd name="adj" fmla="val 12500"/>
            </a:avLst>
          </a:prstGeom>
          <a:solidFill>
            <a:srgbClr val="FDF0DE"/>
          </a:solidFill>
          <a:ln w="9525">
            <a:solidFill>
              <a:srgbClr val="FFFFFF"/>
            </a:solidFill>
          </a:ln>
        </p:spPr>
        <p:txBody>
          <a:bodyPr wrap="square" lIns="0" tIns="0" rIns="0" bIns="0" rtlCol="0" anchor="ctr"/>
          <a:lstStyle/>
          <a:p>
            <a:pPr algn="ctr" indent="0" marL="0">
              <a:buNone/>
            </a:pPr>
            <a:r>
              <a:rPr lang="en-US" sz="1050" b="1" dirty="0">
                <a:solidFill>
                  <a:srgbClr val="9A5A0C"/>
                </a:solidFill>
                <a:latin typeface="Calibri" pitchFamily="34" charset="0"/>
                <a:ea typeface="Calibri" pitchFamily="34" charset="-122"/>
                <a:cs typeface="Calibri" pitchFamily="34" charset="-120"/>
              </a:rPr>
              <a:t>waiting</a:t>
            </a:r>
            <a:endParaRPr lang="en-US" sz="1050" dirty="0"/>
          </a:p>
        </p:txBody>
      </p:sp>
      <p:sp>
        <p:nvSpPr>
          <p:cNvPr id="18" name="Text 16"/>
          <p:cNvSpPr txBox="1"/>
          <p:nvPr/>
        </p:nvSpPr>
        <p:spPr>
          <a:xfrm>
            <a:off x="5532120" y="2240280"/>
            <a:ext cx="1600200" cy="365760"/>
          </a:xfrm>
          <a:prstGeom prst="roundRect">
            <a:avLst>
              <a:gd name="adj" fmla="val 12500"/>
            </a:avLst>
          </a:prstGeom>
          <a:solidFill>
            <a:srgbClr val="E08A1E"/>
          </a:solidFill>
          <a:ln w="9525">
            <a:solidFill>
              <a:srgbClr val="FFFFFF"/>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review, next</a:t>
            </a:r>
            <a:endParaRPr lang="en-US" sz="1050" dirty="0"/>
          </a:p>
        </p:txBody>
      </p:sp>
      <p:sp>
        <p:nvSpPr>
          <p:cNvPr id="19" name="Text 17"/>
          <p:cNvSpPr txBox="1"/>
          <p:nvPr/>
        </p:nvSpPr>
        <p:spPr>
          <a:xfrm>
            <a:off x="2514600" y="3063240"/>
            <a:ext cx="3017520" cy="365760"/>
          </a:xfrm>
          <a:prstGeom prst="roundRect">
            <a:avLst>
              <a:gd name="adj" fmla="val 12500"/>
            </a:avLst>
          </a:prstGeom>
          <a:solidFill>
            <a:srgbClr val="15877D"/>
          </a:solidFill>
          <a:ln w="9525">
            <a:solidFill>
              <a:srgbClr val="FFFFFF"/>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implement src/api</a:t>
            </a:r>
            <a:endParaRPr lang="en-US" sz="1050" dirty="0"/>
          </a:p>
        </p:txBody>
      </p:sp>
      <p:sp>
        <p:nvSpPr>
          <p:cNvPr id="20" name="Text 18"/>
          <p:cNvSpPr txBox="1"/>
          <p:nvPr/>
        </p:nvSpPr>
        <p:spPr>
          <a:xfrm>
            <a:off x="2514600" y="3886200"/>
            <a:ext cx="2514600" cy="365760"/>
          </a:xfrm>
          <a:prstGeom prst="roundRect">
            <a:avLst>
              <a:gd name="adj" fmla="val 12500"/>
            </a:avLst>
          </a:prstGeom>
          <a:solidFill>
            <a:srgbClr val="15877D"/>
          </a:solidFill>
          <a:ln w="9525">
            <a:solidFill>
              <a:srgbClr val="FFFFFF"/>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implement src/ui</a:t>
            </a:r>
            <a:endParaRPr lang="en-US" sz="1050" dirty="0"/>
          </a:p>
        </p:txBody>
      </p:sp>
      <p:sp>
        <p:nvSpPr>
          <p:cNvPr id="21" name="Text 19"/>
          <p:cNvSpPr txBox="1"/>
          <p:nvPr/>
        </p:nvSpPr>
        <p:spPr>
          <a:xfrm>
            <a:off x="5532120" y="4709160"/>
            <a:ext cx="1600200" cy="365760"/>
          </a:xfrm>
          <a:prstGeom prst="roundRect">
            <a:avLst>
              <a:gd name="adj" fmla="val 12500"/>
            </a:avLst>
          </a:prstGeom>
          <a:solidFill>
            <a:srgbClr val="4E5A6B"/>
          </a:solidFill>
          <a:ln w="9525">
            <a:solidFill>
              <a:srgbClr val="FFFFFF"/>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tests (after 1)</a:t>
            </a:r>
            <a:endParaRPr lang="en-US" sz="1050" dirty="0"/>
          </a:p>
        </p:txBody>
      </p:sp>
      <p:sp>
        <p:nvSpPr>
          <p:cNvPr id="22" name="Shape 20"/>
          <p:cNvSpPr/>
          <p:nvPr/>
        </p:nvSpPr>
        <p:spPr>
          <a:xfrm flipV="1">
            <a:off x="3611880" y="2606040"/>
            <a:ext cx="0" cy="457200"/>
          </a:xfrm>
          <a:prstGeom prst="line">
            <a:avLst/>
          </a:prstGeom>
          <a:noFill/>
          <a:ln w="19050">
            <a:solidFill>
              <a:srgbClr val="15877D"/>
            </a:solidFill>
            <a:prstDash val="solid"/>
            <a:tailEnd type="triangle"/>
          </a:ln>
        </p:spPr>
      </p:sp>
      <p:sp>
        <p:nvSpPr>
          <p:cNvPr id="23" name="Text 21"/>
          <p:cNvSpPr txBox="1"/>
          <p:nvPr/>
        </p:nvSpPr>
        <p:spPr>
          <a:xfrm>
            <a:off x="2606040" y="2697480"/>
            <a:ext cx="914400" cy="228600"/>
          </a:xfrm>
          <a:prstGeom prst="rect">
            <a:avLst/>
          </a:prstGeom>
          <a:noFill/>
          <a:ln/>
        </p:spPr>
        <p:txBody>
          <a:bodyPr wrap="square" lIns="0" tIns="0" rIns="0" bIns="0" rtlCol="0" anchor="t"/>
          <a:lstStyle/>
          <a:p>
            <a:pPr algn="r" indent="0" marL="0">
              <a:buNone/>
            </a:pPr>
            <a:r>
              <a:rPr lang="en-US" sz="950" i="1" dirty="0">
                <a:solidFill>
                  <a:srgbClr val="0D5C55"/>
                </a:solidFill>
                <a:latin typeface="Calibri" pitchFamily="34" charset="0"/>
                <a:ea typeface="Calibri" pitchFamily="34" charset="-122"/>
                <a:cs typeface="Calibri" pitchFamily="34" charset="-120"/>
              </a:rPr>
              <a:t>file changed</a:t>
            </a:r>
            <a:endParaRPr lang="en-US" sz="950" dirty="0"/>
          </a:p>
        </p:txBody>
      </p:sp>
      <p:sp>
        <p:nvSpPr>
          <p:cNvPr id="24" name="Shape 22"/>
          <p:cNvSpPr/>
          <p:nvPr/>
        </p:nvSpPr>
        <p:spPr>
          <a:xfrm>
            <a:off x="4023360" y="2606040"/>
            <a:ext cx="0" cy="1280160"/>
          </a:xfrm>
          <a:prstGeom prst="line">
            <a:avLst/>
          </a:prstGeom>
          <a:noFill/>
          <a:ln w="19050">
            <a:solidFill>
              <a:srgbClr val="E08A1E"/>
            </a:solidFill>
            <a:prstDash val="solid"/>
            <a:tailEnd type="triangle"/>
          </a:ln>
        </p:spPr>
      </p:sp>
      <p:sp>
        <p:nvSpPr>
          <p:cNvPr id="25" name="Text 23"/>
          <p:cNvSpPr txBox="1"/>
          <p:nvPr/>
        </p:nvSpPr>
        <p:spPr>
          <a:xfrm>
            <a:off x="4087368" y="3520440"/>
            <a:ext cx="548640" cy="228600"/>
          </a:xfrm>
          <a:prstGeom prst="rect">
            <a:avLst/>
          </a:prstGeom>
          <a:noFill/>
          <a:ln/>
        </p:spPr>
        <p:txBody>
          <a:bodyPr wrap="square" lIns="0" tIns="0" rIns="0" bIns="0" rtlCol="0" anchor="t"/>
          <a:lstStyle/>
          <a:p>
            <a:pPr algn="l" indent="0" marL="0">
              <a:buNone/>
            </a:pPr>
            <a:r>
              <a:rPr lang="en-US" sz="950" i="1" dirty="0">
                <a:solidFill>
                  <a:srgbClr val="9A5A0C"/>
                </a:solidFill>
                <a:latin typeface="Calibri" pitchFamily="34" charset="0"/>
                <a:ea typeface="Calibri" pitchFamily="34" charset="-122"/>
                <a:cs typeface="Calibri" pitchFamily="34" charset="-120"/>
              </a:rPr>
              <a:t>steer</a:t>
            </a:r>
            <a:endParaRPr lang="en-US" sz="950" dirty="0"/>
          </a:p>
        </p:txBody>
      </p:sp>
      <p:sp>
        <p:nvSpPr>
          <p:cNvPr id="26" name="Shape 24"/>
          <p:cNvSpPr/>
          <p:nvPr/>
        </p:nvSpPr>
        <p:spPr>
          <a:xfrm flipV="1">
            <a:off x="5532120" y="2606040"/>
            <a:ext cx="0" cy="457200"/>
          </a:xfrm>
          <a:prstGeom prst="line">
            <a:avLst/>
          </a:prstGeom>
          <a:noFill/>
          <a:ln w="19050">
            <a:solidFill>
              <a:srgbClr val="15877D"/>
            </a:solidFill>
            <a:prstDash val="solid"/>
            <a:tailEnd type="triangle"/>
          </a:ln>
        </p:spPr>
      </p:sp>
      <p:sp>
        <p:nvSpPr>
          <p:cNvPr id="27" name="Text 25"/>
          <p:cNvSpPr txBox="1"/>
          <p:nvPr/>
        </p:nvSpPr>
        <p:spPr>
          <a:xfrm>
            <a:off x="5577840" y="2697480"/>
            <a:ext cx="548640" cy="228600"/>
          </a:xfrm>
          <a:prstGeom prst="rect">
            <a:avLst/>
          </a:prstGeom>
          <a:noFill/>
          <a:ln/>
        </p:spPr>
        <p:txBody>
          <a:bodyPr wrap="square" lIns="0" tIns="0" rIns="0" bIns="0" rtlCol="0" anchor="t"/>
          <a:lstStyle/>
          <a:p>
            <a:pPr algn="l" indent="0" marL="0">
              <a:buNone/>
            </a:pPr>
            <a:r>
              <a:rPr lang="en-US" sz="950" i="1" dirty="0">
                <a:solidFill>
                  <a:srgbClr val="0D5C55"/>
                </a:solidFill>
                <a:latin typeface="Calibri" pitchFamily="34" charset="0"/>
                <a:ea typeface="Calibri" pitchFamily="34" charset="-122"/>
                <a:cs typeface="Calibri" pitchFamily="34" charset="-120"/>
              </a:rPr>
              <a:t>done</a:t>
            </a:r>
            <a:endParaRPr lang="en-US" sz="950" dirty="0"/>
          </a:p>
        </p:txBody>
      </p:sp>
      <p:sp>
        <p:nvSpPr>
          <p:cNvPr id="28" name="Text 26"/>
          <p:cNvSpPr txBox="1"/>
          <p:nvPr/>
        </p:nvSpPr>
        <p:spPr>
          <a:xfrm>
            <a:off x="6400800" y="5212080"/>
            <a:ext cx="731520" cy="228600"/>
          </a:xfrm>
          <a:prstGeom prst="rect">
            <a:avLst/>
          </a:prstGeom>
          <a:noFill/>
          <a:ln/>
        </p:spPr>
        <p:txBody>
          <a:bodyPr wrap="square" lIns="0" tIns="0" rIns="0" bIns="0" rtlCol="0" anchor="t"/>
          <a:lstStyle/>
          <a:p>
            <a:pPr algn="l" indent="0" marL="0">
              <a:buNone/>
            </a:pPr>
            <a:r>
              <a:rPr lang="en-US" sz="1100" i="1" dirty="0">
                <a:solidFill>
                  <a:srgbClr val="8A93A1"/>
                </a:solidFill>
                <a:latin typeface="Calibri" pitchFamily="34" charset="0"/>
                <a:ea typeface="Calibri" pitchFamily="34" charset="-122"/>
                <a:cs typeface="Calibri" pitchFamily="34" charset="-120"/>
              </a:rPr>
              <a:t>time →</a:t>
            </a:r>
            <a:endParaRPr lang="en-US" sz="1100" dirty="0"/>
          </a:p>
        </p:txBody>
      </p:sp>
      <p:sp>
        <p:nvSpPr>
          <p:cNvPr id="29" name="Shape 27"/>
          <p:cNvSpPr/>
          <p:nvPr/>
        </p:nvSpPr>
        <p:spPr>
          <a:xfrm>
            <a:off x="548640" y="5532120"/>
            <a:ext cx="6583680" cy="640080"/>
          </a:xfrm>
          <a:prstGeom prst="roundRect">
            <a:avLst>
              <a:gd name="adj" fmla="val 14286"/>
            </a:avLst>
          </a:prstGeom>
          <a:solidFill>
            <a:srgbClr val="F3F5F8"/>
          </a:solidFill>
          <a:ln w="12700">
            <a:solidFill>
              <a:srgbClr val="F3F5F8"/>
            </a:solidFill>
            <a:prstDash val="solid"/>
          </a:ln>
        </p:spPr>
      </p:sp>
      <p:sp>
        <p:nvSpPr>
          <p:cNvPr id="30" name="Text 28"/>
          <p:cNvSpPr txBox="1"/>
          <p:nvPr/>
        </p:nvSpPr>
        <p:spPr>
          <a:xfrm>
            <a:off x="777240" y="5669280"/>
            <a:ext cx="6217920" cy="36576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The plan panel draws the same lanes, with Steer · Ask · Stop · Open run on each worker.</a:t>
            </a:r>
            <a:endParaRPr lang="en-US" sz="1250" dirty="0"/>
          </a:p>
        </p:txBody>
      </p:sp>
      <p:sp>
        <p:nvSpPr>
          <p:cNvPr id="31" name="Text 29"/>
          <p:cNvSpPr txBox="1"/>
          <p:nvPr/>
        </p:nvSpPr>
        <p:spPr>
          <a:xfrm>
            <a:off x="7680960" y="2103120"/>
            <a:ext cx="3977640" cy="406908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Start returns at once</a:t>
            </a:r>
            <a:endParaRPr lang="en-US" sz="1350" dirty="0"/>
          </a:p>
          <a:p>
            <a:pPr indent="0" marL="0">
              <a:spcAft>
                <a:spcPts val="1100"/>
              </a:spcAft>
              <a:buNone/>
            </a:pPr>
            <a:r>
              <a:rPr lang="en-US" sz="1200" dirty="0">
                <a:solidFill>
                  <a:srgbClr val="5B6472"/>
                </a:solidFill>
                <a:latin typeface="Calibri" pitchFamily="34" charset="0"/>
                <a:ea typeface="Calibri" pitchFamily="34" charset="-122"/>
                <a:cs typeface="Calibri" pitchFamily="34" charset="-120"/>
              </a:rPr>
              <a:t>Each worker's files are leased and it starts in the background. Overlapping claims and unmet dependencies are refused.</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Wake on the first event</a:t>
            </a:r>
            <a:endParaRPr lang="en-US" sz="1350" dirty="0"/>
          </a:p>
          <a:p>
            <a:pPr indent="0" marL="0">
              <a:spcAft>
                <a:spcPts val="1100"/>
              </a:spcAft>
              <a:buNone/>
            </a:pPr>
            <a:r>
              <a:rPr lang="en-US" sz="1200" dirty="0">
                <a:solidFill>
                  <a:srgbClr val="5B6472"/>
                </a:solidFill>
                <a:latin typeface="Calibri" pitchFamily="34" charset="0"/>
                <a:ea typeface="Calibri" pitchFamily="34" charset="-122"/>
                <a:cs typeface="Calibri" pitchFamily="34" charset="-120"/>
              </a:rPr>
              <a:t>Done, failed, paused for approval, a file changed, or a timeout with progress.</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Steer, stop, revert</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The lead can redirect a worker, stop it, or undo its edits — unless someone changed them since.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ESCALATION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worker's question goes to the manager first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Answering is the manager's call. Approving still meets the normal gates.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16</a:t>
            </a:r>
            <a:endParaRPr lang="en-US" sz="1000" dirty="0"/>
          </a:p>
        </p:txBody>
      </p:sp>
      <p:sp>
        <p:nvSpPr>
          <p:cNvPr id="6" name="Text 4"/>
          <p:cNvSpPr txBox="1"/>
          <p:nvPr/>
        </p:nvSpPr>
        <p:spPr>
          <a:xfrm>
            <a:off x="548640" y="3017520"/>
            <a:ext cx="2011680" cy="1188720"/>
          </a:xfrm>
          <a:prstGeom prst="roundRect">
            <a:avLst>
              <a:gd name="adj" fmla="val 6154"/>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50" b="1" dirty="0">
                <a:solidFill>
                  <a:srgbClr val="1C212B"/>
                </a:solidFill>
                <a:latin typeface="Arial" pitchFamily="34" charset="0"/>
                <a:ea typeface="Arial" pitchFamily="34" charset="-122"/>
                <a:cs typeface="Arial" pitchFamily="34" charset="-120"/>
              </a:rPr>
              <a:t>Worker pauses</a:t>
            </a:r>
            <a:endParaRPr lang="en-US" sz="135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a row the Inbox also shows</a:t>
            </a:r>
            <a:endParaRPr lang="en-US" sz="1350" dirty="0"/>
          </a:p>
        </p:txBody>
      </p:sp>
      <p:sp>
        <p:nvSpPr>
          <p:cNvPr id="7" name="Shape 5"/>
          <p:cNvSpPr/>
          <p:nvPr/>
        </p:nvSpPr>
        <p:spPr>
          <a:xfrm>
            <a:off x="2560320" y="3611880"/>
            <a:ext cx="502920" cy="0"/>
          </a:xfrm>
          <a:prstGeom prst="line">
            <a:avLst/>
          </a:prstGeom>
          <a:noFill/>
          <a:ln w="22225">
            <a:solidFill>
              <a:srgbClr val="4E5A6B"/>
            </a:solidFill>
            <a:prstDash val="solid"/>
            <a:tailEnd type="triangle"/>
          </a:ln>
        </p:spPr>
      </p:sp>
      <p:sp>
        <p:nvSpPr>
          <p:cNvPr id="8" name="Text 6"/>
          <p:cNvSpPr txBox="1"/>
          <p:nvPr/>
        </p:nvSpPr>
        <p:spPr>
          <a:xfrm>
            <a:off x="3063240" y="3017520"/>
            <a:ext cx="2103120" cy="1188720"/>
          </a:xfrm>
          <a:prstGeom prst="roundRect">
            <a:avLst>
              <a:gd name="adj" fmla="val 6154"/>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400" b="1" dirty="0">
                <a:solidFill>
                  <a:srgbClr val="FFFFFF"/>
                </a:solidFill>
                <a:latin typeface="Arial" pitchFamily="34" charset="0"/>
                <a:ea typeface="Arial" pitchFamily="34" charset="-122"/>
                <a:cs typeface="Arial" pitchFamily="34" charset="-120"/>
              </a:rPr>
              <a:t>Manager</a:t>
            </a:r>
            <a:endParaRPr lang="en-US" sz="1400" dirty="0"/>
          </a:p>
          <a:p>
            <a:pPr algn="ctr" indent="0" marL="0">
              <a:spcAft>
                <a:spcPts val="200"/>
              </a:spcAft>
              <a:buNone/>
            </a:pPr>
            <a:r>
              <a:rPr lang="en-US" sz="1100" dirty="0">
                <a:solidFill>
                  <a:srgbClr val="FFF3E3"/>
                </a:solidFill>
                <a:latin typeface="Calibri" pitchFamily="34" charset="0"/>
                <a:ea typeface="Calibri" pitchFamily="34" charset="-122"/>
                <a:cs typeface="Calibri" pitchFamily="34" charset="-120"/>
              </a:rPr>
              <a:t>sees exactly what the worker needs</a:t>
            </a:r>
            <a:endParaRPr lang="en-US" sz="1400" dirty="0"/>
          </a:p>
        </p:txBody>
      </p:sp>
      <p:sp>
        <p:nvSpPr>
          <p:cNvPr id="9" name="Shape 7"/>
          <p:cNvSpPr/>
          <p:nvPr/>
        </p:nvSpPr>
        <p:spPr>
          <a:xfrm flipV="1">
            <a:off x="5166360" y="2468880"/>
            <a:ext cx="548640" cy="1143000"/>
          </a:xfrm>
          <a:prstGeom prst="line">
            <a:avLst/>
          </a:prstGeom>
          <a:noFill/>
          <a:ln w="22225">
            <a:solidFill>
              <a:srgbClr val="4E5A6B"/>
            </a:solidFill>
            <a:prstDash val="solid"/>
            <a:tailEnd type="triangle"/>
          </a:ln>
        </p:spPr>
      </p:sp>
      <p:sp>
        <p:nvSpPr>
          <p:cNvPr id="10" name="Text 8"/>
          <p:cNvSpPr txBox="1"/>
          <p:nvPr/>
        </p:nvSpPr>
        <p:spPr>
          <a:xfrm>
            <a:off x="5715000" y="2011680"/>
            <a:ext cx="3017520" cy="914400"/>
          </a:xfrm>
          <a:prstGeom prst="roundRect">
            <a:avLst>
              <a:gd name="adj" fmla="val 8000"/>
            </a:avLst>
          </a:prstGeom>
          <a:solidFill>
            <a:srgbClr val="E1F2F0"/>
          </a:solidFill>
          <a:ln w="12700">
            <a:solidFill>
              <a:srgbClr val="15877D"/>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A question</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the manager answers it directly</a:t>
            </a:r>
            <a:endParaRPr lang="en-US" sz="1300" dirty="0"/>
          </a:p>
        </p:txBody>
      </p:sp>
      <p:sp>
        <p:nvSpPr>
          <p:cNvPr id="11" name="Shape 9"/>
          <p:cNvSpPr/>
          <p:nvPr/>
        </p:nvSpPr>
        <p:spPr>
          <a:xfrm>
            <a:off x="8732520" y="2468880"/>
            <a:ext cx="548640" cy="1143000"/>
          </a:xfrm>
          <a:prstGeom prst="line">
            <a:avLst/>
          </a:prstGeom>
          <a:noFill/>
          <a:ln w="22225">
            <a:solidFill>
              <a:srgbClr val="4E5A6B"/>
            </a:solidFill>
            <a:prstDash val="solid"/>
            <a:tailEnd type="triangle"/>
          </a:ln>
        </p:spPr>
      </p:sp>
      <p:sp>
        <p:nvSpPr>
          <p:cNvPr id="12" name="Shape 10"/>
          <p:cNvSpPr/>
          <p:nvPr/>
        </p:nvSpPr>
        <p:spPr>
          <a:xfrm>
            <a:off x="5166360" y="3611880"/>
            <a:ext cx="548640" cy="0"/>
          </a:xfrm>
          <a:prstGeom prst="line">
            <a:avLst/>
          </a:prstGeom>
          <a:noFill/>
          <a:ln w="22225">
            <a:solidFill>
              <a:srgbClr val="4E5A6B"/>
            </a:solidFill>
            <a:prstDash val="solid"/>
            <a:tailEnd type="triangle"/>
          </a:ln>
        </p:spPr>
      </p:sp>
      <p:sp>
        <p:nvSpPr>
          <p:cNvPr id="13" name="Text 11"/>
          <p:cNvSpPr txBox="1"/>
          <p:nvPr/>
        </p:nvSpPr>
        <p:spPr>
          <a:xfrm>
            <a:off x="5715000" y="3154680"/>
            <a:ext cx="3017520" cy="914400"/>
          </a:xfrm>
          <a:prstGeom prst="roundRect">
            <a:avLst>
              <a:gd name="adj" fmla="val 8000"/>
            </a:avLst>
          </a:prstGeom>
          <a:solidFill>
            <a:srgbClr val="FDF0DE"/>
          </a:solidFill>
          <a:ln w="12700">
            <a:solidFill>
              <a:srgbClr val="E08A1E"/>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An approval, in ask mode</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you get the card, showing the worker's request</a:t>
            </a:r>
            <a:endParaRPr lang="en-US" sz="1300" dirty="0"/>
          </a:p>
        </p:txBody>
      </p:sp>
      <p:sp>
        <p:nvSpPr>
          <p:cNvPr id="14" name="Shape 12"/>
          <p:cNvSpPr/>
          <p:nvPr/>
        </p:nvSpPr>
        <p:spPr>
          <a:xfrm>
            <a:off x="8732520" y="3611880"/>
            <a:ext cx="548640" cy="0"/>
          </a:xfrm>
          <a:prstGeom prst="line">
            <a:avLst/>
          </a:prstGeom>
          <a:noFill/>
          <a:ln w="22225">
            <a:solidFill>
              <a:srgbClr val="4E5A6B"/>
            </a:solidFill>
            <a:prstDash val="solid"/>
            <a:tailEnd type="triangle"/>
          </a:ln>
        </p:spPr>
      </p:sp>
      <p:sp>
        <p:nvSpPr>
          <p:cNvPr id="15" name="Shape 13"/>
          <p:cNvSpPr/>
          <p:nvPr/>
        </p:nvSpPr>
        <p:spPr>
          <a:xfrm>
            <a:off x="5166360" y="3611880"/>
            <a:ext cx="548640" cy="1143000"/>
          </a:xfrm>
          <a:prstGeom prst="line">
            <a:avLst/>
          </a:prstGeom>
          <a:noFill/>
          <a:ln w="22225">
            <a:solidFill>
              <a:srgbClr val="4E5A6B"/>
            </a:solidFill>
            <a:prstDash val="solid"/>
            <a:tailEnd type="triangle"/>
          </a:ln>
        </p:spPr>
      </p:sp>
      <p:sp>
        <p:nvSpPr>
          <p:cNvPr id="16" name="Text 14"/>
          <p:cNvSpPr txBox="1"/>
          <p:nvPr/>
        </p:nvSpPr>
        <p:spPr>
          <a:xfrm>
            <a:off x="5715000" y="4297680"/>
            <a:ext cx="3017520" cy="914400"/>
          </a:xfrm>
          <a:prstGeom prst="roundRect">
            <a:avLst>
              <a:gd name="adj" fmla="val 8000"/>
            </a:avLst>
          </a:prstGeom>
          <a:solidFill>
            <a:srgbClr val="E9EDF2"/>
          </a:solidFill>
          <a:ln w="12700">
            <a:solidFill>
              <a:srgbClr val="4E5A6B"/>
            </a:solidFill>
            <a:prstDash val="solid"/>
          </a:ln>
        </p:spPr>
        <p:txBody>
          <a:bodyPr wrap="square" lIns="38100" tIns="127000" rIns="1270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An approval, in auto mode</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the manager decides — auto's floor still applies</a:t>
            </a:r>
            <a:endParaRPr lang="en-US" sz="1300" dirty="0"/>
          </a:p>
        </p:txBody>
      </p:sp>
      <p:sp>
        <p:nvSpPr>
          <p:cNvPr id="17" name="Shape 15"/>
          <p:cNvSpPr/>
          <p:nvPr/>
        </p:nvSpPr>
        <p:spPr>
          <a:xfrm flipV="1">
            <a:off x="8732520" y="3611880"/>
            <a:ext cx="548640" cy="1143000"/>
          </a:xfrm>
          <a:prstGeom prst="line">
            <a:avLst/>
          </a:prstGeom>
          <a:noFill/>
          <a:ln w="22225">
            <a:solidFill>
              <a:srgbClr val="4E5A6B"/>
            </a:solidFill>
            <a:prstDash val="solid"/>
            <a:tailEnd type="triangle"/>
          </a:ln>
        </p:spPr>
      </p:sp>
      <p:sp>
        <p:nvSpPr>
          <p:cNvPr id="18" name="Text 16"/>
          <p:cNvSpPr txBox="1"/>
          <p:nvPr/>
        </p:nvSpPr>
        <p:spPr>
          <a:xfrm>
            <a:off x="9281160" y="3017520"/>
            <a:ext cx="2359152" cy="1188720"/>
          </a:xfrm>
          <a:prstGeom prst="roundRect">
            <a:avLst>
              <a:gd name="adj" fmla="val 6154"/>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350" b="1" dirty="0">
                <a:solidFill>
                  <a:srgbClr val="1C212B"/>
                </a:solidFill>
                <a:latin typeface="Arial" pitchFamily="34" charset="0"/>
                <a:ea typeface="Arial" pitchFamily="34" charset="-122"/>
                <a:cs typeface="Arial" pitchFamily="34" charset="-120"/>
              </a:rPr>
              <a:t>Resume</a:t>
            </a:r>
            <a:endParaRPr lang="en-US" sz="135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same execution id, so the trace stays whole</a:t>
            </a:r>
            <a:endParaRPr lang="en-US" sz="1350" dirty="0"/>
          </a:p>
        </p:txBody>
      </p:sp>
      <p:sp>
        <p:nvSpPr>
          <p:cNvPr id="19" name="Shape 17"/>
          <p:cNvSpPr/>
          <p:nvPr/>
        </p:nvSpPr>
        <p:spPr>
          <a:xfrm>
            <a:off x="548640" y="5486400"/>
            <a:ext cx="5440680" cy="685800"/>
          </a:xfrm>
          <a:prstGeom prst="roundRect">
            <a:avLst>
              <a:gd name="adj" fmla="val 13333"/>
            </a:avLst>
          </a:prstGeom>
          <a:solidFill>
            <a:srgbClr val="F3F5F8"/>
          </a:solidFill>
          <a:ln w="12700">
            <a:solidFill>
              <a:srgbClr val="F3F5F8"/>
            </a:solidFill>
            <a:prstDash val="solid"/>
          </a:ln>
        </p:spPr>
      </p:sp>
      <p:sp>
        <p:nvSpPr>
          <p:cNvPr id="20" name="Text 18"/>
          <p:cNvSpPr txBox="1"/>
          <p:nvPr/>
        </p:nvSpPr>
        <p:spPr>
          <a:xfrm>
            <a:off x="777240" y="5577840"/>
            <a:ext cx="5029200" cy="548640"/>
          </a:xfrm>
          <a:prstGeom prst="rect">
            <a:avLst/>
          </a:prstGeom>
          <a:noFill/>
          <a:ln/>
        </p:spPr>
        <p:txBody>
          <a:bodyPr wrap="square" lIns="0" tIns="0" rIns="0" bIns="0" rtlCol="0" anchor="ctr"/>
          <a:lstStyle/>
          <a:p>
            <a:pPr algn="l" indent="0" marL="0">
              <a:buNone/>
            </a:pPr>
            <a:r>
              <a:rPr lang="en-US" sz="1200" b="1" dirty="0">
                <a:solidFill>
                  <a:srgbClr val="1C212B"/>
                </a:solidFill>
                <a:latin typeface="Calibri" pitchFamily="34" charset="0"/>
                <a:ea typeface="Calibri" pitchFamily="34" charset="-122"/>
                <a:cs typeface="Calibri" pitchFamily="34" charset="-120"/>
              </a:rPr>
              <a:t>Questions </a:t>
            </a:r>
            <a:pPr algn="l" indent="0" marL="0">
              <a:buNone/>
            </a:pPr>
            <a:r>
              <a:rPr lang="en-US" sz="1200" dirty="0">
                <a:solidFill>
                  <a:srgbClr val="1C212B"/>
                </a:solidFill>
                <a:latin typeface="Calibri" pitchFamily="34" charset="0"/>
                <a:ea typeface="Calibri" pitchFamily="34" charset="-122"/>
                <a:cs typeface="Calibri" pitchFamily="34" charset="-120"/>
              </a:rPr>
              <a:t>come as choice, multi-choice, number or text. Skipping means: go on with your stated assumption.</a:t>
            </a:r>
            <a:endParaRPr lang="en-US" sz="1200" dirty="0"/>
          </a:p>
        </p:txBody>
      </p:sp>
      <p:sp>
        <p:nvSpPr>
          <p:cNvPr id="21" name="Shape 19"/>
          <p:cNvSpPr/>
          <p:nvPr/>
        </p:nvSpPr>
        <p:spPr>
          <a:xfrm>
            <a:off x="6199632" y="5486400"/>
            <a:ext cx="5440680" cy="685800"/>
          </a:xfrm>
          <a:prstGeom prst="roundRect">
            <a:avLst>
              <a:gd name="adj" fmla="val 13333"/>
            </a:avLst>
          </a:prstGeom>
          <a:solidFill>
            <a:srgbClr val="F3F5F8"/>
          </a:solidFill>
          <a:ln w="12700">
            <a:solidFill>
              <a:srgbClr val="F3F5F8"/>
            </a:solidFill>
            <a:prstDash val="solid"/>
          </a:ln>
        </p:spPr>
      </p:sp>
      <p:sp>
        <p:nvSpPr>
          <p:cNvPr id="22" name="Text 20"/>
          <p:cNvSpPr txBox="1"/>
          <p:nvPr/>
        </p:nvSpPr>
        <p:spPr>
          <a:xfrm>
            <a:off x="6428232" y="5577840"/>
            <a:ext cx="5029200" cy="548640"/>
          </a:xfrm>
          <a:prstGeom prst="rect">
            <a:avLst/>
          </a:prstGeom>
          <a:noFill/>
          <a:ln/>
        </p:spPr>
        <p:txBody>
          <a:bodyPr wrap="square" lIns="0" tIns="0" rIns="0" bIns="0" rtlCol="0" anchor="ctr"/>
          <a:lstStyle/>
          <a:p>
            <a:pPr algn="l" indent="0" marL="0">
              <a:buNone/>
            </a:pPr>
            <a:r>
              <a:rPr lang="en-US" sz="1200" b="1" dirty="0">
                <a:solidFill>
                  <a:srgbClr val="1C212B"/>
                </a:solidFill>
                <a:latin typeface="Calibri" pitchFamily="34" charset="0"/>
                <a:ea typeface="Calibri" pitchFamily="34" charset="-122"/>
                <a:cs typeface="Calibri" pitchFamily="34" charset="-120"/>
              </a:rPr>
              <a:t>Nobody answering? </a:t>
            </a:r>
            <a:pPr algn="l" indent="0" marL="0">
              <a:buNone/>
            </a:pPr>
            <a:r>
              <a:rPr lang="en-US" sz="1200" dirty="0">
                <a:solidFill>
                  <a:srgbClr val="1C212B"/>
                </a:solidFill>
                <a:latin typeface="Calibri" pitchFamily="34" charset="0"/>
                <a:ea typeface="Calibri" pitchFamily="34" charset="-122"/>
                <a:cs typeface="Calibri" pitchFamily="34" charset="-120"/>
              </a:rPr>
              <a:t>Device reminders at +0, +1 h and +1 day, then a once-a-day email digest.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APPROVALS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Settle every approval before dispatching anything</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interrupt() discards a node's writes and replays it from the top. Graph state rolls back; the outside world does not.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17</a:t>
            </a:r>
            <a:endParaRPr lang="en-US" sz="1000" dirty="0"/>
          </a:p>
        </p:txBody>
      </p:sp>
      <p:sp>
        <p:nvSpPr>
          <p:cNvPr id="6" name="Shape 4"/>
          <p:cNvSpPr/>
          <p:nvPr/>
        </p:nvSpPr>
        <p:spPr>
          <a:xfrm>
            <a:off x="548640" y="2011680"/>
            <a:ext cx="5376672" cy="4114800"/>
          </a:xfrm>
          <a:prstGeom prst="roundRect">
            <a:avLst>
              <a:gd name="adj" fmla="val 2222"/>
            </a:avLst>
          </a:prstGeom>
          <a:solidFill>
            <a:srgbClr val="FBE8E6"/>
          </a:solidFill>
          <a:ln w="12700">
            <a:solidFill>
              <a:srgbClr val="FBE8E6"/>
            </a:solidFill>
            <a:prstDash val="solid"/>
          </a:ln>
        </p:spPr>
      </p:sp>
      <p:sp>
        <p:nvSpPr>
          <p:cNvPr id="7" name="Text 5"/>
          <p:cNvSpPr txBox="1"/>
          <p:nvPr/>
        </p:nvSpPr>
        <p:spPr>
          <a:xfrm>
            <a:off x="822960" y="2148840"/>
            <a:ext cx="4846320" cy="320040"/>
          </a:xfrm>
          <a:prstGeom prst="rect">
            <a:avLst/>
          </a:prstGeom>
          <a:noFill/>
          <a:ln/>
        </p:spPr>
        <p:txBody>
          <a:bodyPr wrap="square" lIns="0" tIns="0" rIns="0" bIns="0" rtlCol="0" anchor="t"/>
          <a:lstStyle/>
          <a:p>
            <a:pPr algn="l" indent="0" marL="0">
              <a:buNone/>
            </a:pPr>
            <a:r>
              <a:rPr lang="en-US" sz="1500" b="1" dirty="0">
                <a:solidFill>
                  <a:srgbClr val="8E2B24"/>
                </a:solidFill>
                <a:latin typeface="Arial" pitchFamily="34" charset="0"/>
                <a:ea typeface="Arial" pitchFamily="34" charset="-122"/>
                <a:cs typeface="Arial" pitchFamily="34" charset="-120"/>
              </a:rPr>
              <a:t>Checking inline — the trap</a:t>
            </a:r>
            <a:endParaRPr lang="en-US" sz="1500" dirty="0"/>
          </a:p>
        </p:txBody>
      </p:sp>
      <p:sp>
        <p:nvSpPr>
          <p:cNvPr id="8" name="Text 6"/>
          <p:cNvSpPr txBox="1"/>
          <p:nvPr/>
        </p:nvSpPr>
        <p:spPr>
          <a:xfrm>
            <a:off x="822960" y="2743200"/>
            <a:ext cx="457200" cy="457200"/>
          </a:xfrm>
          <a:prstGeom prst="ellipse">
            <a:avLst/>
          </a:prstGeom>
          <a:solidFill>
            <a:srgbClr val="C4433A"/>
          </a:solidFill>
          <a:ln>
            <a:solidFill>
              <a:srgbClr val="C4433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txBox="1"/>
          <p:nvPr/>
        </p:nvSpPr>
        <p:spPr>
          <a:xfrm>
            <a:off x="1463040" y="2697480"/>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Dispatch web_search()</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runs, result kept in graph state</a:t>
            </a:r>
            <a:endParaRPr lang="en-US" sz="1400" dirty="0"/>
          </a:p>
        </p:txBody>
      </p:sp>
      <p:sp>
        <p:nvSpPr>
          <p:cNvPr id="10" name="Shape 8"/>
          <p:cNvSpPr/>
          <p:nvPr/>
        </p:nvSpPr>
        <p:spPr>
          <a:xfrm>
            <a:off x="1051560" y="3200400"/>
            <a:ext cx="0" cy="384048"/>
          </a:xfrm>
          <a:prstGeom prst="line">
            <a:avLst/>
          </a:prstGeom>
          <a:noFill/>
          <a:ln w="15875">
            <a:solidFill>
              <a:srgbClr val="C4433A"/>
            </a:solidFill>
            <a:prstDash val="solid"/>
            <a:tailEnd type="triangle"/>
          </a:ln>
        </p:spPr>
      </p:sp>
      <p:sp>
        <p:nvSpPr>
          <p:cNvPr id="11" name="Text 9"/>
          <p:cNvSpPr txBox="1"/>
          <p:nvPr/>
        </p:nvSpPr>
        <p:spPr>
          <a:xfrm>
            <a:off x="822960" y="3584448"/>
            <a:ext cx="457200" cy="457200"/>
          </a:xfrm>
          <a:prstGeom prst="ellipse">
            <a:avLst/>
          </a:prstGeom>
          <a:solidFill>
            <a:srgbClr val="C4433A"/>
          </a:solidFill>
          <a:ln>
            <a:solidFill>
              <a:srgbClr val="C4433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1463040" y="3538728"/>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send_email() needs approval</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interrupt() pauses the run</a:t>
            </a:r>
            <a:endParaRPr lang="en-US" sz="1400" dirty="0"/>
          </a:p>
        </p:txBody>
      </p:sp>
      <p:sp>
        <p:nvSpPr>
          <p:cNvPr id="13" name="Shape 11"/>
          <p:cNvSpPr/>
          <p:nvPr/>
        </p:nvSpPr>
        <p:spPr>
          <a:xfrm>
            <a:off x="1051560" y="4041648"/>
            <a:ext cx="0" cy="384048"/>
          </a:xfrm>
          <a:prstGeom prst="line">
            <a:avLst/>
          </a:prstGeom>
          <a:noFill/>
          <a:ln w="15875">
            <a:solidFill>
              <a:srgbClr val="C4433A"/>
            </a:solidFill>
            <a:prstDash val="solid"/>
            <a:tailEnd type="triangle"/>
          </a:ln>
        </p:spPr>
      </p:sp>
      <p:sp>
        <p:nvSpPr>
          <p:cNvPr id="14" name="Text 12"/>
          <p:cNvSpPr txBox="1"/>
          <p:nvPr/>
        </p:nvSpPr>
        <p:spPr>
          <a:xfrm>
            <a:off x="822960" y="4425696"/>
            <a:ext cx="457200" cy="457200"/>
          </a:xfrm>
          <a:prstGeom prst="ellipse">
            <a:avLst/>
          </a:prstGeom>
          <a:solidFill>
            <a:srgbClr val="C4433A"/>
          </a:solidFill>
          <a:ln>
            <a:solidFill>
              <a:srgbClr val="C4433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txBox="1"/>
          <p:nvPr/>
        </p:nvSpPr>
        <p:spPr>
          <a:xfrm>
            <a:off x="1463040" y="4379976"/>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User approves</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the node replays from the top</a:t>
            </a:r>
            <a:endParaRPr lang="en-US" sz="1400" dirty="0"/>
          </a:p>
        </p:txBody>
      </p:sp>
      <p:sp>
        <p:nvSpPr>
          <p:cNvPr id="16" name="Shape 14"/>
          <p:cNvSpPr/>
          <p:nvPr/>
        </p:nvSpPr>
        <p:spPr>
          <a:xfrm>
            <a:off x="1051560" y="4882896"/>
            <a:ext cx="0" cy="384048"/>
          </a:xfrm>
          <a:prstGeom prst="line">
            <a:avLst/>
          </a:prstGeom>
          <a:noFill/>
          <a:ln w="15875">
            <a:solidFill>
              <a:srgbClr val="C4433A"/>
            </a:solidFill>
            <a:prstDash val="solid"/>
            <a:tailEnd type="triangle"/>
          </a:ln>
        </p:spPr>
      </p:sp>
      <p:sp>
        <p:nvSpPr>
          <p:cNvPr id="17" name="Text 15"/>
          <p:cNvSpPr txBox="1"/>
          <p:nvPr/>
        </p:nvSpPr>
        <p:spPr>
          <a:xfrm>
            <a:off x="822960" y="5266944"/>
            <a:ext cx="457200" cy="457200"/>
          </a:xfrm>
          <a:prstGeom prst="ellipse">
            <a:avLst/>
          </a:prstGeom>
          <a:solidFill>
            <a:srgbClr val="C4433A"/>
          </a:solidFill>
          <a:ln>
            <a:solidFill>
              <a:srgbClr val="C4433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463040" y="5221224"/>
            <a:ext cx="4297680" cy="731520"/>
          </a:xfrm>
          <a:prstGeom prst="rect">
            <a:avLst/>
          </a:prstGeom>
          <a:noFill/>
          <a:ln/>
        </p:spPr>
        <p:txBody>
          <a:bodyPr wrap="square" lIns="0" tIns="0" rIns="0" bIns="0" rtlCol="0" anchor="t"/>
          <a:lstStyle/>
          <a:p>
            <a:pPr indent="0" marL="0">
              <a:buNone/>
            </a:pPr>
            <a:r>
              <a:rPr lang="en-US" sz="1400" b="1" dirty="0">
                <a:solidFill>
                  <a:srgbClr val="8E2B24"/>
                </a:solidFill>
                <a:latin typeface="Arial" pitchFamily="34" charset="0"/>
                <a:ea typeface="Arial" pitchFamily="34" charset="-122"/>
                <a:cs typeface="Arial" pitchFamily="34" charset="-120"/>
              </a:rPr>
              <a:t>web_search() runs again</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a duplicate side effect</a:t>
            </a:r>
            <a:endParaRPr lang="en-US" sz="1400" dirty="0"/>
          </a:p>
        </p:txBody>
      </p:sp>
      <p:sp>
        <p:nvSpPr>
          <p:cNvPr id="19" name="Shape 17"/>
          <p:cNvSpPr/>
          <p:nvPr/>
        </p:nvSpPr>
        <p:spPr>
          <a:xfrm>
            <a:off x="6263640" y="2011680"/>
            <a:ext cx="5376672" cy="4114800"/>
          </a:xfrm>
          <a:prstGeom prst="roundRect">
            <a:avLst>
              <a:gd name="adj" fmla="val 2222"/>
            </a:avLst>
          </a:prstGeom>
          <a:solidFill>
            <a:srgbClr val="E1F2F0"/>
          </a:solidFill>
          <a:ln w="12700">
            <a:solidFill>
              <a:srgbClr val="E1F2F0"/>
            </a:solidFill>
            <a:prstDash val="solid"/>
          </a:ln>
        </p:spPr>
      </p:sp>
      <p:sp>
        <p:nvSpPr>
          <p:cNvPr id="20" name="Text 18"/>
          <p:cNvSpPr txBox="1"/>
          <p:nvPr/>
        </p:nvSpPr>
        <p:spPr>
          <a:xfrm>
            <a:off x="6537960" y="2148840"/>
            <a:ext cx="4846320" cy="320040"/>
          </a:xfrm>
          <a:prstGeom prst="rect">
            <a:avLst/>
          </a:prstGeom>
          <a:noFill/>
          <a:ln/>
        </p:spPr>
        <p:txBody>
          <a:bodyPr wrap="square" lIns="0" tIns="0" rIns="0" bIns="0" rtlCol="0" anchor="t"/>
          <a:lstStyle/>
          <a:p>
            <a:pPr algn="l" indent="0" marL="0">
              <a:buNone/>
            </a:pPr>
            <a:r>
              <a:rPr lang="en-US" sz="1500" b="1" dirty="0">
                <a:solidFill>
                  <a:srgbClr val="0D5C55"/>
                </a:solidFill>
                <a:latin typeface="Arial" pitchFamily="34" charset="0"/>
                <a:ea typeface="Arial" pitchFamily="34" charset="-122"/>
                <a:cs typeface="Arial" pitchFamily="34" charset="-120"/>
              </a:rPr>
              <a:t>Two passes — what AIAAS does</a:t>
            </a:r>
            <a:endParaRPr lang="en-US" sz="1500" dirty="0"/>
          </a:p>
        </p:txBody>
      </p:sp>
      <p:sp>
        <p:nvSpPr>
          <p:cNvPr id="21" name="Text 19"/>
          <p:cNvSpPr txBox="1"/>
          <p:nvPr/>
        </p:nvSpPr>
        <p:spPr>
          <a:xfrm>
            <a:off x="6537960" y="2743200"/>
            <a:ext cx="457200" cy="457200"/>
          </a:xfrm>
          <a:prstGeom prst="ellipse">
            <a:avLst/>
          </a:prstGeom>
          <a:solidFill>
            <a:srgbClr val="15877D"/>
          </a:solidFill>
          <a:ln>
            <a:solidFill>
              <a:srgbClr val="15877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2" name="Text 20"/>
          <p:cNvSpPr txBox="1"/>
          <p:nvPr/>
        </p:nvSpPr>
        <p:spPr>
          <a:xfrm>
            <a:off x="7178040" y="2697480"/>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Pass 1: settle every gate</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pause here — nothing dispatched yet</a:t>
            </a:r>
            <a:endParaRPr lang="en-US" sz="1400" dirty="0"/>
          </a:p>
        </p:txBody>
      </p:sp>
      <p:sp>
        <p:nvSpPr>
          <p:cNvPr id="23" name="Shape 21"/>
          <p:cNvSpPr/>
          <p:nvPr/>
        </p:nvSpPr>
        <p:spPr>
          <a:xfrm>
            <a:off x="6766560" y="3200400"/>
            <a:ext cx="0" cy="384048"/>
          </a:xfrm>
          <a:prstGeom prst="line">
            <a:avLst/>
          </a:prstGeom>
          <a:noFill/>
          <a:ln w="15875">
            <a:solidFill>
              <a:srgbClr val="15877D"/>
            </a:solidFill>
            <a:prstDash val="solid"/>
            <a:tailEnd type="triangle"/>
          </a:ln>
        </p:spPr>
      </p:sp>
      <p:sp>
        <p:nvSpPr>
          <p:cNvPr id="24" name="Text 22"/>
          <p:cNvSpPr txBox="1"/>
          <p:nvPr/>
        </p:nvSpPr>
        <p:spPr>
          <a:xfrm>
            <a:off x="6537960" y="3584448"/>
            <a:ext cx="457200" cy="457200"/>
          </a:xfrm>
          <a:prstGeom prst="ellipse">
            <a:avLst/>
          </a:prstGeom>
          <a:solidFill>
            <a:srgbClr val="15877D"/>
          </a:solidFill>
          <a:ln>
            <a:solidFill>
              <a:srgbClr val="15877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5" name="Text 23"/>
          <p:cNvSpPr txBox="1"/>
          <p:nvPr/>
        </p:nvSpPr>
        <p:spPr>
          <a:xfrm>
            <a:off x="7178040" y="3538728"/>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Resume replays Pass 1</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calls already approved are skipped</a:t>
            </a:r>
            <a:endParaRPr lang="en-US" sz="1400" dirty="0"/>
          </a:p>
        </p:txBody>
      </p:sp>
      <p:sp>
        <p:nvSpPr>
          <p:cNvPr id="26" name="Shape 24"/>
          <p:cNvSpPr/>
          <p:nvPr/>
        </p:nvSpPr>
        <p:spPr>
          <a:xfrm>
            <a:off x="6766560" y="4041648"/>
            <a:ext cx="0" cy="384048"/>
          </a:xfrm>
          <a:prstGeom prst="line">
            <a:avLst/>
          </a:prstGeom>
          <a:noFill/>
          <a:ln w="15875">
            <a:solidFill>
              <a:srgbClr val="15877D"/>
            </a:solidFill>
            <a:prstDash val="solid"/>
            <a:tailEnd type="triangle"/>
          </a:ln>
        </p:spPr>
      </p:sp>
      <p:sp>
        <p:nvSpPr>
          <p:cNvPr id="27" name="Text 25"/>
          <p:cNvSpPr txBox="1"/>
          <p:nvPr/>
        </p:nvSpPr>
        <p:spPr>
          <a:xfrm>
            <a:off x="6537960" y="4425696"/>
            <a:ext cx="457200" cy="457200"/>
          </a:xfrm>
          <a:prstGeom prst="ellipse">
            <a:avLst/>
          </a:prstGeom>
          <a:solidFill>
            <a:srgbClr val="15877D"/>
          </a:solidFill>
          <a:ln>
            <a:solidFill>
              <a:srgbClr val="15877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8" name="Text 26"/>
          <p:cNvSpPr txBox="1"/>
          <p:nvPr/>
        </p:nvSpPr>
        <p:spPr>
          <a:xfrm>
            <a:off x="7178040" y="4379976"/>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Pass 2: dispatch</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each approved call runs exactly once</a:t>
            </a:r>
            <a:endParaRPr lang="en-US" sz="1400" dirty="0"/>
          </a:p>
        </p:txBody>
      </p:sp>
      <p:sp>
        <p:nvSpPr>
          <p:cNvPr id="29" name="Shape 27"/>
          <p:cNvSpPr/>
          <p:nvPr/>
        </p:nvSpPr>
        <p:spPr>
          <a:xfrm>
            <a:off x="6766560" y="4882896"/>
            <a:ext cx="0" cy="384048"/>
          </a:xfrm>
          <a:prstGeom prst="line">
            <a:avLst/>
          </a:prstGeom>
          <a:noFill/>
          <a:ln w="15875">
            <a:solidFill>
              <a:srgbClr val="15877D"/>
            </a:solidFill>
            <a:prstDash val="solid"/>
            <a:tailEnd type="triangle"/>
          </a:ln>
        </p:spPr>
      </p:sp>
      <p:sp>
        <p:nvSpPr>
          <p:cNvPr id="30" name="Text 28"/>
          <p:cNvSpPr txBox="1"/>
          <p:nvPr/>
        </p:nvSpPr>
        <p:spPr>
          <a:xfrm>
            <a:off x="6537960" y="5266944"/>
            <a:ext cx="457200" cy="457200"/>
          </a:xfrm>
          <a:prstGeom prst="ellipse">
            <a:avLst/>
          </a:prstGeom>
          <a:solidFill>
            <a:srgbClr val="15877D"/>
          </a:solidFill>
          <a:ln>
            <a:solidFill>
              <a:srgbClr val="15877D"/>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1" name="Text 29"/>
          <p:cNvSpPr txBox="1"/>
          <p:nvPr/>
        </p:nvSpPr>
        <p:spPr>
          <a:xfrm>
            <a:off x="7178040" y="5221224"/>
            <a:ext cx="4297680" cy="73152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Record in call order</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same trace whichever call finished first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AUTONOMY</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Autonomy is a ladder with five rungs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Given only "always ask" and "never ask", people pick never. The middle rungs are the point.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18</a:t>
            </a:r>
            <a:endParaRPr lang="en-US" sz="1000" dirty="0"/>
          </a:p>
        </p:txBody>
      </p:sp>
      <p:sp>
        <p:nvSpPr>
          <p:cNvPr id="6" name="Shape 4"/>
          <p:cNvSpPr/>
          <p:nvPr/>
        </p:nvSpPr>
        <p:spPr>
          <a:xfrm>
            <a:off x="548640" y="2194560"/>
            <a:ext cx="11064240" cy="0"/>
          </a:xfrm>
          <a:prstGeom prst="line">
            <a:avLst/>
          </a:prstGeom>
          <a:noFill/>
          <a:ln w="15875">
            <a:solidFill>
              <a:srgbClr val="8A93A1"/>
            </a:solidFill>
            <a:prstDash val="solid"/>
            <a:tailEnd type="triangle"/>
          </a:ln>
        </p:spPr>
      </p:sp>
      <p:sp>
        <p:nvSpPr>
          <p:cNvPr id="7" name="Text 5"/>
          <p:cNvSpPr txBox="1"/>
          <p:nvPr/>
        </p:nvSpPr>
        <p:spPr>
          <a:xfrm>
            <a:off x="8869680" y="1892808"/>
            <a:ext cx="2743200" cy="237744"/>
          </a:xfrm>
          <a:prstGeom prst="rect">
            <a:avLst/>
          </a:prstGeom>
          <a:noFill/>
          <a:ln/>
        </p:spPr>
        <p:txBody>
          <a:bodyPr wrap="square" lIns="0" tIns="0" rIns="0" bIns="0" rtlCol="0" anchor="t"/>
          <a:lstStyle/>
          <a:p>
            <a:pPr algn="r" indent="0" marL="0">
              <a:buNone/>
            </a:pPr>
            <a:r>
              <a:rPr lang="en-US" sz="1100" i="1" dirty="0">
                <a:solidFill>
                  <a:srgbClr val="5B6472"/>
                </a:solidFill>
                <a:latin typeface="Calibri" pitchFamily="34" charset="0"/>
                <a:ea typeface="Calibri" pitchFamily="34" charset="-122"/>
                <a:cs typeface="Calibri" pitchFamily="34" charset="-120"/>
              </a:rPr>
              <a:t>fewer interruptions, more trust</a:t>
            </a:r>
            <a:endParaRPr lang="en-US" sz="1100" dirty="0"/>
          </a:p>
        </p:txBody>
      </p:sp>
      <p:sp>
        <p:nvSpPr>
          <p:cNvPr id="8" name="Text 6"/>
          <p:cNvSpPr txBox="1"/>
          <p:nvPr/>
        </p:nvSpPr>
        <p:spPr>
          <a:xfrm>
            <a:off x="548640" y="3886200"/>
            <a:ext cx="2103120" cy="640080"/>
          </a:xfrm>
          <a:prstGeom prst="roundRect">
            <a:avLst>
              <a:gd name="adj" fmla="val 11429"/>
            </a:avLst>
          </a:prstGeom>
          <a:solidFill>
            <a:srgbClr val="0D5C55"/>
          </a:solidFill>
          <a:ln>
            <a:solidFill>
              <a:srgbClr val="0D5C55"/>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plan</a:t>
            </a:r>
            <a:endParaRPr lang="en-US" sz="1700" dirty="0"/>
          </a:p>
        </p:txBody>
      </p:sp>
      <p:sp>
        <p:nvSpPr>
          <p:cNvPr id="9" name="Text 7"/>
          <p:cNvSpPr txBox="1"/>
          <p:nvPr/>
        </p:nvSpPr>
        <p:spPr>
          <a:xfrm>
            <a:off x="594360" y="4663440"/>
            <a:ext cx="2011680" cy="91440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Mutating tools are withheld, not gated. Read and plan only.</a:t>
            </a:r>
            <a:endParaRPr lang="en-US" sz="1250" dirty="0"/>
          </a:p>
        </p:txBody>
      </p:sp>
      <p:sp>
        <p:nvSpPr>
          <p:cNvPr id="10" name="Text 8"/>
          <p:cNvSpPr txBox="1"/>
          <p:nvPr/>
        </p:nvSpPr>
        <p:spPr>
          <a:xfrm>
            <a:off x="2788920" y="3593592"/>
            <a:ext cx="2103120" cy="932688"/>
          </a:xfrm>
          <a:prstGeom prst="roundRect">
            <a:avLst>
              <a:gd name="adj" fmla="val 7843"/>
            </a:avLst>
          </a:prstGeom>
          <a:solidFill>
            <a:srgbClr val="15877D"/>
          </a:solidFill>
          <a:ln>
            <a:solidFill>
              <a:srgbClr val="15877D"/>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review</a:t>
            </a:r>
            <a:endParaRPr lang="en-US" sz="1700" dirty="0"/>
          </a:p>
        </p:txBody>
      </p:sp>
      <p:sp>
        <p:nvSpPr>
          <p:cNvPr id="11" name="Text 9"/>
          <p:cNvSpPr txBox="1"/>
          <p:nvPr/>
        </p:nvSpPr>
        <p:spPr>
          <a:xfrm>
            <a:off x="2834640" y="4663440"/>
            <a:ext cx="2011680" cy="91440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Everything that changes something pauses for approval.</a:t>
            </a:r>
            <a:endParaRPr lang="en-US" sz="1250" dirty="0"/>
          </a:p>
        </p:txBody>
      </p:sp>
      <p:sp>
        <p:nvSpPr>
          <p:cNvPr id="12" name="Text 10"/>
          <p:cNvSpPr txBox="1"/>
          <p:nvPr/>
        </p:nvSpPr>
        <p:spPr>
          <a:xfrm>
            <a:off x="5029200" y="3300984"/>
            <a:ext cx="2103120" cy="1225296"/>
          </a:xfrm>
          <a:prstGeom prst="roundRect">
            <a:avLst>
              <a:gd name="adj" fmla="val 5970"/>
            </a:avLst>
          </a:prstGeom>
          <a:solidFill>
            <a:srgbClr val="4E5A6B"/>
          </a:solidFill>
          <a:ln>
            <a:solidFill>
              <a:srgbClr val="4E5A6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ask</a:t>
            </a:r>
            <a:endParaRPr lang="en-US" sz="1700" dirty="0"/>
          </a:p>
        </p:txBody>
      </p:sp>
      <p:sp>
        <p:nvSpPr>
          <p:cNvPr id="13" name="Text 11"/>
          <p:cNvSpPr txBox="1"/>
          <p:nvPr/>
        </p:nvSpPr>
        <p:spPr>
          <a:xfrm>
            <a:off x="5074920" y="4663440"/>
            <a:ext cx="2011680" cy="91440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Default. Sensitive tools and credentialed connector calls pause.</a:t>
            </a:r>
            <a:endParaRPr lang="en-US" sz="1250" dirty="0"/>
          </a:p>
        </p:txBody>
      </p:sp>
      <p:sp>
        <p:nvSpPr>
          <p:cNvPr id="14" name="Text 12"/>
          <p:cNvSpPr txBox="1"/>
          <p:nvPr/>
        </p:nvSpPr>
        <p:spPr>
          <a:xfrm>
            <a:off x="7269480" y="3008376"/>
            <a:ext cx="2103120" cy="1517904"/>
          </a:xfrm>
          <a:prstGeom prst="roundRect">
            <a:avLst>
              <a:gd name="adj" fmla="val 4819"/>
            </a:avLst>
          </a:prstGeom>
          <a:solidFill>
            <a:srgbClr val="E08A1E"/>
          </a:solidFill>
          <a:ln>
            <a:solidFill>
              <a:srgbClr val="E08A1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auto</a:t>
            </a:r>
            <a:endParaRPr lang="en-US" sz="1700" dirty="0"/>
          </a:p>
        </p:txBody>
      </p:sp>
      <p:sp>
        <p:nvSpPr>
          <p:cNvPr id="15" name="Text 13"/>
          <p:cNvSpPr txBox="1"/>
          <p:nvPr/>
        </p:nvSpPr>
        <p:spPr>
          <a:xfrm>
            <a:off x="7315200" y="4663440"/>
            <a:ext cx="2011680" cy="91440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Gated on effect: irreversible calls pause; a fast judge may allow the rest.</a:t>
            </a:r>
            <a:endParaRPr lang="en-US" sz="1250" dirty="0"/>
          </a:p>
        </p:txBody>
      </p:sp>
      <p:sp>
        <p:nvSpPr>
          <p:cNvPr id="16" name="Text 14"/>
          <p:cNvSpPr txBox="1"/>
          <p:nvPr/>
        </p:nvSpPr>
        <p:spPr>
          <a:xfrm>
            <a:off x="9509760" y="2715768"/>
            <a:ext cx="2103120" cy="1810512"/>
          </a:xfrm>
          <a:prstGeom prst="roundRect">
            <a:avLst>
              <a:gd name="adj" fmla="val 4040"/>
            </a:avLst>
          </a:prstGeom>
          <a:solidFill>
            <a:srgbClr val="C4433A"/>
          </a:solidFill>
          <a:ln>
            <a:solidFill>
              <a:srgbClr val="C4433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full</a:t>
            </a:r>
            <a:endParaRPr lang="en-US" sz="1700" dirty="0"/>
          </a:p>
        </p:txBody>
      </p:sp>
      <p:sp>
        <p:nvSpPr>
          <p:cNvPr id="17" name="Text 15"/>
          <p:cNvSpPr txBox="1"/>
          <p:nvPr/>
        </p:nvSpPr>
        <p:spPr>
          <a:xfrm>
            <a:off x="9555480" y="4663440"/>
            <a:ext cx="2011680" cy="914400"/>
          </a:xfrm>
          <a:prstGeom prst="rect">
            <a:avLst/>
          </a:prstGeom>
          <a:noFill/>
          <a:ln/>
        </p:spPr>
        <p:txBody>
          <a:bodyPr wrap="square" lIns="0" tIns="0" rIns="0" bIns="0" rtlCol="0" anchor="t"/>
          <a:lstStyle/>
          <a:p>
            <a:pPr algn="l" indent="0" marL="0">
              <a:buNone/>
            </a:pPr>
            <a:r>
              <a:rPr lang="en-US" sz="1250" dirty="0">
                <a:solidFill>
                  <a:srgbClr val="1C212B"/>
                </a:solidFill>
                <a:latin typeface="Calibri" pitchFamily="34" charset="0"/>
                <a:ea typeface="Calibri" pitchFamily="34" charset="-122"/>
                <a:cs typeface="Calibri" pitchFamily="34" charset="-120"/>
              </a:rPr>
              <a:t>Nothing pauses. Opt-in per agent, never offered in chat.</a:t>
            </a:r>
            <a:endParaRPr lang="en-US" sz="1250" dirty="0"/>
          </a:p>
        </p:txBody>
      </p:sp>
      <p:sp>
        <p:nvSpPr>
          <p:cNvPr id="18" name="Shape 16"/>
          <p:cNvSpPr/>
          <p:nvPr/>
        </p:nvSpPr>
        <p:spPr>
          <a:xfrm>
            <a:off x="548640" y="5623560"/>
            <a:ext cx="11091672" cy="548640"/>
          </a:xfrm>
          <a:prstGeom prst="roundRect">
            <a:avLst>
              <a:gd name="adj" fmla="val 16667"/>
            </a:avLst>
          </a:prstGeom>
          <a:solidFill>
            <a:srgbClr val="F3F5F8"/>
          </a:solidFill>
          <a:ln w="12700">
            <a:solidFill>
              <a:srgbClr val="F3F5F8"/>
            </a:solidFill>
            <a:prstDash val="solid"/>
          </a:ln>
        </p:spPr>
      </p:sp>
      <p:sp>
        <p:nvSpPr>
          <p:cNvPr id="19" name="Text 17"/>
          <p:cNvSpPr txBox="1"/>
          <p:nvPr/>
        </p:nvSpPr>
        <p:spPr>
          <a:xfrm>
            <a:off x="777240" y="5742432"/>
            <a:ext cx="10607040" cy="320040"/>
          </a:xfrm>
          <a:prstGeom prst="rect">
            <a:avLst/>
          </a:prstGeom>
          <a:noFill/>
          <a:ln/>
        </p:spPr>
        <p:txBody>
          <a:bodyPr wrap="square" lIns="0" tIns="0" rIns="0" bIns="0" rtlCol="0" anchor="t"/>
          <a:lstStyle/>
          <a:p>
            <a:pPr algn="l" indent="0" marL="0">
              <a:buNone/>
            </a:pPr>
            <a:r>
              <a:rPr lang="en-US" sz="1250" b="1" dirty="0">
                <a:solidFill>
                  <a:srgbClr val="1C212B"/>
                </a:solidFill>
                <a:latin typeface="Calibri" pitchFamily="34" charset="0"/>
                <a:ea typeface="Calibri" pitchFamily="34" charset="-122"/>
                <a:cs typeface="Calibri" pitchFamily="34" charset="-120"/>
              </a:rPr>
              <a:t>Switchable mid-run </a:t>
            </a:r>
            <a:pPr algn="l" indent="0" marL="0">
              <a:buNone/>
            </a:pPr>
            <a:r>
              <a:rPr lang="en-US" sz="1250" dirty="0">
                <a:solidFill>
                  <a:srgbClr val="1C212B"/>
                </a:solidFill>
                <a:latin typeface="Calibri" pitchFamily="34" charset="0"/>
                <a:ea typeface="Calibri" pitchFamily="34" charset="-122"/>
                <a:cs typeface="Calibri" pitchFamily="34" charset="-120"/>
              </a:rPr>
              <a:t>through the steering mailbox, never retroactively.   </a:t>
            </a:r>
            <a:pPr algn="l" indent="0" marL="0">
              <a:buNone/>
            </a:pPr>
            <a:r>
              <a:rPr lang="en-US" sz="1250" b="1" dirty="0">
                <a:solidFill>
                  <a:srgbClr val="1C212B"/>
                </a:solidFill>
                <a:latin typeface="Calibri" pitchFamily="34" charset="0"/>
                <a:ea typeface="Calibri" pitchFamily="34" charset="-122"/>
                <a:cs typeface="Calibri" pitchFamily="34" charset="-120"/>
              </a:rPr>
              <a:t>Approvals scope </a:t>
            </a:r>
            <a:pPr algn="l" indent="0" marL="0">
              <a:buNone/>
            </a:pPr>
            <a:r>
              <a:rPr lang="en-US" sz="1250" dirty="0">
                <a:solidFill>
                  <a:srgbClr val="1C212B"/>
                </a:solidFill>
                <a:latin typeface="Calibri" pitchFamily="34" charset="0"/>
                <a:ea typeface="Calibri" pitchFamily="34" charset="-122"/>
                <a:cs typeface="Calibri" pitchFamily="34" charset="-120"/>
              </a:rPr>
              <a:t>to once · this session · always.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ORCHESTRATION · PERMISSIONS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Four independent axes decide what an agent may touch</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Each can only narrow. Empty means unrestricted, so agents built before an axis existed keep working.</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19</a:t>
            </a:r>
            <a:endParaRPr lang="en-US" sz="1000" dirty="0"/>
          </a:p>
        </p:txBody>
      </p:sp>
      <p:sp>
        <p:nvSpPr>
          <p:cNvPr id="6" name="Shape 4"/>
          <p:cNvSpPr/>
          <p:nvPr/>
        </p:nvSpPr>
        <p:spPr>
          <a:xfrm>
            <a:off x="548640" y="2011680"/>
            <a:ext cx="5440680" cy="1828800"/>
          </a:xfrm>
          <a:prstGeom prst="roundRect">
            <a:avLst>
              <a:gd name="adj" fmla="val 5000"/>
            </a:avLst>
          </a:prstGeom>
          <a:solidFill>
            <a:srgbClr val="F3F5F8"/>
          </a:solidFill>
          <a:ln w="12700">
            <a:solidFill>
              <a:srgbClr val="F3F5F8"/>
            </a:solidFill>
            <a:prstDash val="solid"/>
          </a:ln>
        </p:spPr>
      </p:sp>
      <p:sp>
        <p:nvSpPr>
          <p:cNvPr id="7" name="Shape 5"/>
          <p:cNvSpPr/>
          <p:nvPr/>
        </p:nvSpPr>
        <p:spPr>
          <a:xfrm>
            <a:off x="822960" y="2286000"/>
            <a:ext cx="640080" cy="640080"/>
          </a:xfrm>
          <a:prstGeom prst="ellipse">
            <a:avLst/>
          </a:prstGeom>
          <a:solidFill>
            <a:srgbClr val="E08A1E"/>
          </a:solidFill>
          <a:ln w="12700">
            <a:solidFill>
              <a:srgbClr val="E08A1E"/>
            </a:solidFill>
            <a:prstDash val="solid"/>
          </a:ln>
        </p:spPr>
      </p:sp>
      <p:pic>
        <p:nvPicPr>
          <p:cNvPr id="8" name="Image 0" descr="preencoded.png">    </p:cNvPr>
          <p:cNvPicPr>
            <a:picLocks noChangeAspect="1"/>
          </p:cNvPicPr>
          <p:nvPr/>
        </p:nvPicPr>
        <p:blipFill>
          <a:blip r:embed="rId1"/>
          <a:stretch>
            <a:fillRect/>
          </a:stretch>
        </p:blipFill>
        <p:spPr>
          <a:xfrm>
            <a:off x="989381" y="2452421"/>
            <a:ext cx="307238" cy="307238"/>
          </a:xfrm>
          <a:prstGeom prst="rect">
            <a:avLst/>
          </a:prstGeom>
        </p:spPr>
      </p:pic>
      <p:sp>
        <p:nvSpPr>
          <p:cNvPr id="9" name="Text 6"/>
          <p:cNvSpPr txBox="1"/>
          <p:nvPr/>
        </p:nvSpPr>
        <p:spPr>
          <a:xfrm>
            <a:off x="1691640" y="2267712"/>
            <a:ext cx="411480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Grant — whether</a:t>
            </a:r>
            <a:endParaRPr lang="en-US" sz="1600" dirty="0"/>
          </a:p>
        </p:txBody>
      </p:sp>
      <p:sp>
        <p:nvSpPr>
          <p:cNvPr id="10" name="Text 7"/>
          <p:cNvSpPr txBox="1"/>
          <p:nvPr/>
        </p:nvSpPr>
        <p:spPr>
          <a:xfrm>
            <a:off x="1691640" y="2651760"/>
            <a:ext cx="4114800" cy="274320"/>
          </a:xfrm>
          <a:prstGeom prst="rect">
            <a:avLst/>
          </a:prstGeom>
          <a:noFill/>
          <a:ln/>
        </p:spPr>
        <p:txBody>
          <a:bodyPr wrap="square" lIns="0" tIns="0" rIns="0" bIns="0" rtlCol="0" anchor="t"/>
          <a:lstStyle/>
          <a:p>
            <a:pPr algn="l" indent="0" marL="0">
              <a:buNone/>
            </a:pPr>
            <a:r>
              <a:rPr lang="en-US" sz="1150" b="1" dirty="0">
                <a:solidFill>
                  <a:srgbClr val="9A5A0C"/>
                </a:solidFill>
                <a:latin typeface="Courier New" pitchFamily="34" charset="0"/>
                <a:ea typeface="Courier New" pitchFamily="34" charset="-122"/>
                <a:cs typeface="Courier New" pitchFamily="34" charset="-120"/>
              </a:rPr>
              <a:t>capabilities</a:t>
            </a:r>
            <a:endParaRPr lang="en-US" sz="1150" dirty="0"/>
          </a:p>
        </p:txBody>
      </p:sp>
      <p:sp>
        <p:nvSpPr>
          <p:cNvPr id="11" name="Text 8"/>
          <p:cNvSpPr txBox="1"/>
          <p:nvPr/>
        </p:nvSpPr>
        <p:spPr>
          <a:xfrm>
            <a:off x="1691640" y="3017520"/>
            <a:ext cx="4069080" cy="73152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May this agent reach connectors, files, office, delegation at all?</a:t>
            </a:r>
            <a:endParaRPr lang="en-US" sz="1400" dirty="0"/>
          </a:p>
        </p:txBody>
      </p:sp>
      <p:sp>
        <p:nvSpPr>
          <p:cNvPr id="12" name="Shape 9"/>
          <p:cNvSpPr/>
          <p:nvPr/>
        </p:nvSpPr>
        <p:spPr>
          <a:xfrm>
            <a:off x="6199632" y="2011680"/>
            <a:ext cx="5440680" cy="1828800"/>
          </a:xfrm>
          <a:prstGeom prst="roundRect">
            <a:avLst>
              <a:gd name="adj" fmla="val 5000"/>
            </a:avLst>
          </a:prstGeom>
          <a:solidFill>
            <a:srgbClr val="F3F5F8"/>
          </a:solidFill>
          <a:ln w="12700">
            <a:solidFill>
              <a:srgbClr val="F3F5F8"/>
            </a:solidFill>
            <a:prstDash val="solid"/>
          </a:ln>
        </p:spPr>
      </p:sp>
      <p:sp>
        <p:nvSpPr>
          <p:cNvPr id="13" name="Shape 10"/>
          <p:cNvSpPr/>
          <p:nvPr/>
        </p:nvSpPr>
        <p:spPr>
          <a:xfrm>
            <a:off x="6473952" y="2286000"/>
            <a:ext cx="640080" cy="640080"/>
          </a:xfrm>
          <a:prstGeom prst="ellipse">
            <a:avLst/>
          </a:prstGeom>
          <a:solidFill>
            <a:srgbClr val="15877D"/>
          </a:solidFill>
          <a:ln w="12700">
            <a:solidFill>
              <a:srgbClr val="15877D"/>
            </a:solidFill>
            <a:prstDash val="solid"/>
          </a:ln>
        </p:spPr>
      </p:sp>
      <p:pic>
        <p:nvPicPr>
          <p:cNvPr id="14" name="Image 1" descr="preencoded.png">    </p:cNvPr>
          <p:cNvPicPr>
            <a:picLocks noChangeAspect="1"/>
          </p:cNvPicPr>
          <p:nvPr/>
        </p:nvPicPr>
        <p:blipFill>
          <a:blip r:embed="rId2"/>
          <a:stretch>
            <a:fillRect/>
          </a:stretch>
        </p:blipFill>
        <p:spPr>
          <a:xfrm>
            <a:off x="6640373" y="2452421"/>
            <a:ext cx="307238" cy="307238"/>
          </a:xfrm>
          <a:prstGeom prst="rect">
            <a:avLst/>
          </a:prstGeom>
        </p:spPr>
      </p:pic>
      <p:sp>
        <p:nvSpPr>
          <p:cNvPr id="15" name="Text 11"/>
          <p:cNvSpPr txBox="1"/>
          <p:nvPr/>
        </p:nvSpPr>
        <p:spPr>
          <a:xfrm>
            <a:off x="7342632" y="2267712"/>
            <a:ext cx="411480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Scope — which rows</a:t>
            </a:r>
            <a:endParaRPr lang="en-US" sz="1600" dirty="0"/>
          </a:p>
        </p:txBody>
      </p:sp>
      <p:sp>
        <p:nvSpPr>
          <p:cNvPr id="16" name="Text 12"/>
          <p:cNvSpPr txBox="1"/>
          <p:nvPr/>
        </p:nvSpPr>
        <p:spPr>
          <a:xfrm>
            <a:off x="7342632" y="2651760"/>
            <a:ext cx="4114800" cy="274320"/>
          </a:xfrm>
          <a:prstGeom prst="rect">
            <a:avLst/>
          </a:prstGeom>
          <a:noFill/>
          <a:ln/>
        </p:spPr>
        <p:txBody>
          <a:bodyPr wrap="square" lIns="0" tIns="0" rIns="0" bIns="0" rtlCol="0" anchor="t"/>
          <a:lstStyle/>
          <a:p>
            <a:pPr algn="l" indent="0" marL="0">
              <a:buNone/>
            </a:pPr>
            <a:r>
              <a:rPr lang="en-US" sz="1150" b="1" dirty="0">
                <a:solidFill>
                  <a:srgbClr val="0D5C55"/>
                </a:solidFill>
                <a:latin typeface="Courier New" pitchFamily="34" charset="0"/>
                <a:ea typeface="Courier New" pitchFamily="34" charset="-122"/>
                <a:cs typeface="Courier New" pitchFamily="34" charset="-120"/>
              </a:rPr>
              <a:t>connections · knowledge bases · folders</a:t>
            </a:r>
            <a:endParaRPr lang="en-US" sz="1150" dirty="0"/>
          </a:p>
        </p:txBody>
      </p:sp>
      <p:sp>
        <p:nvSpPr>
          <p:cNvPr id="17" name="Text 13"/>
          <p:cNvSpPr txBox="1"/>
          <p:nvPr/>
        </p:nvSpPr>
        <p:spPr>
          <a:xfrm>
            <a:off x="7342632" y="3017520"/>
            <a:ext cx="4069080" cy="73152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This mailbox, read-only; this knowledge base; its own folder; these delegates.</a:t>
            </a:r>
            <a:endParaRPr lang="en-US" sz="1400" dirty="0"/>
          </a:p>
        </p:txBody>
      </p:sp>
      <p:sp>
        <p:nvSpPr>
          <p:cNvPr id="18" name="Shape 14"/>
          <p:cNvSpPr/>
          <p:nvPr/>
        </p:nvSpPr>
        <p:spPr>
          <a:xfrm>
            <a:off x="548640" y="4023360"/>
            <a:ext cx="5440680" cy="1828800"/>
          </a:xfrm>
          <a:prstGeom prst="roundRect">
            <a:avLst>
              <a:gd name="adj" fmla="val 5000"/>
            </a:avLst>
          </a:prstGeom>
          <a:solidFill>
            <a:srgbClr val="F3F5F8"/>
          </a:solidFill>
          <a:ln w="12700">
            <a:solidFill>
              <a:srgbClr val="F3F5F8"/>
            </a:solidFill>
            <a:prstDash val="solid"/>
          </a:ln>
        </p:spPr>
      </p:sp>
      <p:sp>
        <p:nvSpPr>
          <p:cNvPr id="19" name="Shape 15"/>
          <p:cNvSpPr/>
          <p:nvPr/>
        </p:nvSpPr>
        <p:spPr>
          <a:xfrm>
            <a:off x="822960" y="4297680"/>
            <a:ext cx="640080" cy="640080"/>
          </a:xfrm>
          <a:prstGeom prst="ellipse">
            <a:avLst/>
          </a:prstGeom>
          <a:solidFill>
            <a:srgbClr val="4E5A6B"/>
          </a:solidFill>
          <a:ln w="12700">
            <a:solidFill>
              <a:srgbClr val="4E5A6B"/>
            </a:solidFill>
            <a:prstDash val="solid"/>
          </a:ln>
        </p:spPr>
      </p:sp>
      <p:pic>
        <p:nvPicPr>
          <p:cNvPr id="20" name="Image 2" descr="preencoded.png">    </p:cNvPr>
          <p:cNvPicPr>
            <a:picLocks noChangeAspect="1"/>
          </p:cNvPicPr>
          <p:nvPr/>
        </p:nvPicPr>
        <p:blipFill>
          <a:blip r:embed="rId3"/>
          <a:stretch>
            <a:fillRect/>
          </a:stretch>
        </p:blipFill>
        <p:spPr>
          <a:xfrm>
            <a:off x="989381" y="4464101"/>
            <a:ext cx="307238" cy="307238"/>
          </a:xfrm>
          <a:prstGeom prst="rect">
            <a:avLst/>
          </a:prstGeom>
        </p:spPr>
      </p:pic>
      <p:sp>
        <p:nvSpPr>
          <p:cNvPr id="21" name="Text 16"/>
          <p:cNvSpPr txBox="1"/>
          <p:nvPr/>
        </p:nvSpPr>
        <p:spPr>
          <a:xfrm>
            <a:off x="1691640" y="4279392"/>
            <a:ext cx="411480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Tool scope — which tools</a:t>
            </a:r>
            <a:endParaRPr lang="en-US" sz="1600" dirty="0"/>
          </a:p>
        </p:txBody>
      </p:sp>
      <p:sp>
        <p:nvSpPr>
          <p:cNvPr id="22" name="Text 17"/>
          <p:cNvSpPr txBox="1"/>
          <p:nvPr/>
        </p:nvSpPr>
        <p:spPr>
          <a:xfrm>
            <a:off x="1691640" y="4663440"/>
            <a:ext cx="4114800" cy="274320"/>
          </a:xfrm>
          <a:prstGeom prst="rect">
            <a:avLst/>
          </a:prstGeom>
          <a:noFill/>
          <a:ln/>
        </p:spPr>
        <p:txBody>
          <a:bodyPr wrap="square" lIns="0" tIns="0" rIns="0" bIns="0" rtlCol="0" anchor="t"/>
          <a:lstStyle/>
          <a:p>
            <a:pPr algn="l" indent="0" marL="0">
              <a:buNone/>
            </a:pPr>
            <a:r>
              <a:rPr lang="en-US" sz="1150" b="1" dirty="0">
                <a:solidFill>
                  <a:srgbClr val="4E5A6B"/>
                </a:solidFill>
                <a:latin typeface="Courier New" pitchFamily="34" charset="0"/>
                <a:ea typeface="Courier New" pitchFamily="34" charset="-122"/>
                <a:cs typeface="Courier New" pitchFamily="34" charset="-120"/>
              </a:rPr>
              <a:t>tool list</a:t>
            </a:r>
            <a:endParaRPr lang="en-US" sz="1150" dirty="0"/>
          </a:p>
        </p:txBody>
      </p:sp>
      <p:sp>
        <p:nvSpPr>
          <p:cNvPr id="23" name="Text 18"/>
          <p:cNvSpPr txBox="1"/>
          <p:nvPr/>
        </p:nvSpPr>
        <p:spPr>
          <a:xfrm>
            <a:off x="1691640" y="5029200"/>
            <a:ext cx="4069080" cy="73152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Of everything the grants unlock, only find_files and read_file.</a:t>
            </a:r>
            <a:endParaRPr lang="en-US" sz="1400" dirty="0"/>
          </a:p>
        </p:txBody>
      </p:sp>
      <p:sp>
        <p:nvSpPr>
          <p:cNvPr id="24" name="Shape 19"/>
          <p:cNvSpPr/>
          <p:nvPr/>
        </p:nvSpPr>
        <p:spPr>
          <a:xfrm>
            <a:off x="6199632" y="4023360"/>
            <a:ext cx="5440680" cy="1828800"/>
          </a:xfrm>
          <a:prstGeom prst="roundRect">
            <a:avLst>
              <a:gd name="adj" fmla="val 5000"/>
            </a:avLst>
          </a:prstGeom>
          <a:solidFill>
            <a:srgbClr val="F3F5F8"/>
          </a:solidFill>
          <a:ln w="12700">
            <a:solidFill>
              <a:srgbClr val="F3F5F8"/>
            </a:solidFill>
            <a:prstDash val="solid"/>
          </a:ln>
        </p:spPr>
      </p:sp>
      <p:sp>
        <p:nvSpPr>
          <p:cNvPr id="25" name="Shape 20"/>
          <p:cNvSpPr/>
          <p:nvPr/>
        </p:nvSpPr>
        <p:spPr>
          <a:xfrm>
            <a:off x="6473952" y="4297680"/>
            <a:ext cx="640080" cy="640080"/>
          </a:xfrm>
          <a:prstGeom prst="ellipse">
            <a:avLst/>
          </a:prstGeom>
          <a:solidFill>
            <a:srgbClr val="0D5C55"/>
          </a:solidFill>
          <a:ln w="12700">
            <a:solidFill>
              <a:srgbClr val="0D5C55"/>
            </a:solidFill>
            <a:prstDash val="solid"/>
          </a:ln>
        </p:spPr>
      </p:sp>
      <p:pic>
        <p:nvPicPr>
          <p:cNvPr id="26" name="Image 3" descr="preencoded.png">    </p:cNvPr>
          <p:cNvPicPr>
            <a:picLocks noChangeAspect="1"/>
          </p:cNvPicPr>
          <p:nvPr/>
        </p:nvPicPr>
        <p:blipFill>
          <a:blip r:embed="rId4"/>
          <a:stretch>
            <a:fillRect/>
          </a:stretch>
        </p:blipFill>
        <p:spPr>
          <a:xfrm>
            <a:off x="6640373" y="4464101"/>
            <a:ext cx="307238" cy="307238"/>
          </a:xfrm>
          <a:prstGeom prst="rect">
            <a:avLst/>
          </a:prstGeom>
        </p:spPr>
      </p:pic>
      <p:sp>
        <p:nvSpPr>
          <p:cNvPr id="27" name="Text 21"/>
          <p:cNvSpPr txBox="1"/>
          <p:nvPr/>
        </p:nvSpPr>
        <p:spPr>
          <a:xfrm>
            <a:off x="7342632" y="4279392"/>
            <a:ext cx="4114800" cy="32004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Tool permission — how</a:t>
            </a:r>
            <a:endParaRPr lang="en-US" sz="1600" dirty="0"/>
          </a:p>
        </p:txBody>
      </p:sp>
      <p:sp>
        <p:nvSpPr>
          <p:cNvPr id="28" name="Text 22"/>
          <p:cNvSpPr txBox="1"/>
          <p:nvPr/>
        </p:nvSpPr>
        <p:spPr>
          <a:xfrm>
            <a:off x="7342632" y="4663440"/>
            <a:ext cx="4114800" cy="274320"/>
          </a:xfrm>
          <a:prstGeom prst="rect">
            <a:avLst/>
          </a:prstGeom>
          <a:noFill/>
          <a:ln/>
        </p:spPr>
        <p:txBody>
          <a:bodyPr wrap="square" lIns="0" tIns="0" rIns="0" bIns="0" rtlCol="0" anchor="t"/>
          <a:lstStyle/>
          <a:p>
            <a:pPr algn="l" indent="0" marL="0">
              <a:buNone/>
            </a:pPr>
            <a:r>
              <a:rPr lang="en-US" sz="1150" b="1" dirty="0">
                <a:solidFill>
                  <a:srgbClr val="0D5C55"/>
                </a:solidFill>
                <a:latin typeface="Courier New" pitchFamily="34" charset="0"/>
                <a:ea typeface="Courier New" pitchFamily="34" charset="-122"/>
                <a:cs typeface="Courier New" pitchFamily="34" charset="-120"/>
              </a:rPr>
              <a:t>allow · ask · deny</a:t>
            </a:r>
            <a:endParaRPr lang="en-US" sz="1150" dirty="0"/>
          </a:p>
        </p:txBody>
      </p:sp>
      <p:sp>
        <p:nvSpPr>
          <p:cNvPr id="29" name="Text 23"/>
          <p:cNvSpPr txBox="1"/>
          <p:nvPr/>
        </p:nvSpPr>
        <p:spPr>
          <a:xfrm>
            <a:off x="7342632" y="5029200"/>
            <a:ext cx="4069080" cy="73152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send_email always asks; list_files never does.</a:t>
            </a:r>
            <a:endParaRPr lang="en-US" sz="1400" dirty="0"/>
          </a:p>
        </p:txBody>
      </p:sp>
      <p:sp>
        <p:nvSpPr>
          <p:cNvPr id="30" name="Text 24"/>
          <p:cNvSpPr txBox="1"/>
          <p:nvPr/>
        </p:nvSpPr>
        <p:spPr>
          <a:xfrm>
            <a:off x="548640" y="5989320"/>
            <a:ext cx="10424160" cy="365760"/>
          </a:xfrm>
          <a:prstGeom prst="rect">
            <a:avLst/>
          </a:prstGeom>
          <a:noFill/>
          <a:ln/>
        </p:spPr>
        <p:txBody>
          <a:bodyPr wrap="square" lIns="0" tIns="0" rIns="0" bIns="0" rtlCol="0" anchor="t"/>
          <a:lstStyle/>
          <a:p>
            <a:pPr algn="l" indent="0" marL="0">
              <a:buNone/>
            </a:pPr>
            <a:r>
              <a:rPr lang="en-US" sz="1200" i="1" dirty="0">
                <a:solidFill>
                  <a:srgbClr val="5B6472"/>
                </a:solidFill>
                <a:latin typeface="Calibri" pitchFamily="34" charset="0"/>
                <a:ea typeface="Calibri" pitchFamily="34" charset="-122"/>
                <a:cs typeface="Calibri" pitchFamily="34" charset="-120"/>
              </a:rPr>
              <a:t>Delegation intersects parent and worker — most restrictive wins. Enforced both when tools are offered and at dispatch.</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CONTEXT · ASSEMBLY</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What the model sees on every call</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Stable parts first, so a provider can reuse the cached prefix; anything that changes goes after them.</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20</a:t>
            </a:r>
            <a:endParaRPr lang="en-US" sz="1000" dirty="0"/>
          </a:p>
        </p:txBody>
      </p:sp>
      <p:sp>
        <p:nvSpPr>
          <p:cNvPr id="6" name="Text 4"/>
          <p:cNvSpPr txBox="1"/>
          <p:nvPr/>
        </p:nvSpPr>
        <p:spPr>
          <a:xfrm>
            <a:off x="1371600" y="2011680"/>
            <a:ext cx="5120640" cy="868680"/>
          </a:xfrm>
          <a:prstGeom prst="roundRect">
            <a:avLst>
              <a:gd name="adj" fmla="val 8421"/>
            </a:avLst>
          </a:prstGeom>
          <a:solidFill>
            <a:srgbClr val="4E5A6B"/>
          </a:solidFill>
          <a:ln w="12700">
            <a:solidFill>
              <a:srgbClr val="4E5A6B"/>
            </a:solidFill>
            <a:prstDash val="solid"/>
          </a:ln>
        </p:spPr>
        <p:txBody>
          <a:bodyPr wrap="square" lIns="38100" tIns="152400" rIns="152400" bIns="38100" rtlCol="0" anchor="ctr"/>
          <a:lstStyle/>
          <a:p>
            <a:pPr algn="l" indent="0" marL="0">
              <a:spcAft>
                <a:spcPts val="200"/>
              </a:spcAft>
              <a:buNone/>
            </a:pPr>
            <a:r>
              <a:rPr lang="en-US" sz="1350" b="1" dirty="0">
                <a:solidFill>
                  <a:srgbClr val="FFFFFF"/>
                </a:solidFill>
                <a:latin typeface="Arial" pitchFamily="34" charset="0"/>
                <a:ea typeface="Arial" pitchFamily="34" charset="-122"/>
                <a:cs typeface="Arial" pitchFamily="34" charset="-120"/>
              </a:rPr>
              <a:t>System prompt</a:t>
            </a:r>
            <a:endParaRPr lang="en-US" sz="1350" dirty="0"/>
          </a:p>
          <a:p>
            <a:pPr algn="l" indent="0" marL="0">
              <a:spcAft>
                <a:spcPts val="200"/>
              </a:spcAft>
              <a:buNone/>
            </a:pPr>
            <a:r>
              <a:rPr lang="en-US" sz="1150" dirty="0">
                <a:solidFill>
                  <a:srgbClr val="DDE2E8"/>
                </a:solidFill>
                <a:latin typeface="Calibri" pitchFamily="34" charset="0"/>
                <a:ea typeface="Calibri" pitchFamily="34" charset="-122"/>
                <a:cs typeface="Calibri" pitchFamily="34" charset="-120"/>
              </a:rPr>
              <a:t>session prompt · core rules · user memory (≤ 2,000 chars)</a:t>
            </a:r>
            <a:endParaRPr lang="en-US" sz="1350" dirty="0"/>
          </a:p>
        </p:txBody>
      </p:sp>
      <p:sp>
        <p:nvSpPr>
          <p:cNvPr id="7" name="Text 5"/>
          <p:cNvSpPr txBox="1"/>
          <p:nvPr/>
        </p:nvSpPr>
        <p:spPr>
          <a:xfrm>
            <a:off x="1371600" y="2990088"/>
            <a:ext cx="5120640" cy="731520"/>
          </a:xfrm>
          <a:prstGeom prst="roundRect">
            <a:avLst>
              <a:gd name="adj" fmla="val 10000"/>
            </a:avLst>
          </a:prstGeom>
          <a:solidFill>
            <a:srgbClr val="E9EDF2"/>
          </a:solidFill>
          <a:ln w="12700">
            <a:solidFill>
              <a:srgbClr val="E9EDF2"/>
            </a:solidFill>
            <a:prstDash val="solid"/>
          </a:ln>
        </p:spPr>
        <p:txBody>
          <a:bodyPr wrap="square" lIns="38100" tIns="152400" rIns="1524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Earlier turns</a:t>
            </a:r>
            <a:endParaRPr lang="en-US" sz="1350" dirty="0"/>
          </a:p>
          <a:p>
            <a:pPr algn="l" indent="0" marL="0">
              <a:spcAft>
                <a:spcPts val="200"/>
              </a:spcAft>
              <a:buNone/>
            </a:pPr>
            <a:r>
              <a:rPr lang="en-US" sz="1150" dirty="0">
                <a:solidFill>
                  <a:srgbClr val="5B6472"/>
                </a:solidFill>
                <a:latin typeface="Calibri" pitchFamily="34" charset="0"/>
                <a:ea typeface="Calibri" pitchFamily="34" charset="-122"/>
                <a:cs typeface="Calibri" pitchFamily="34" charset="-120"/>
              </a:rPr>
              <a:t>from the database — windowed, older ones summarised</a:t>
            </a:r>
            <a:endParaRPr lang="en-US" sz="1350" dirty="0"/>
          </a:p>
        </p:txBody>
      </p:sp>
      <p:sp>
        <p:nvSpPr>
          <p:cNvPr id="8" name="Text 6"/>
          <p:cNvSpPr txBox="1"/>
          <p:nvPr/>
        </p:nvSpPr>
        <p:spPr>
          <a:xfrm>
            <a:off x="1371600" y="3831336"/>
            <a:ext cx="5120640" cy="731520"/>
          </a:xfrm>
          <a:prstGeom prst="roundRect">
            <a:avLst>
              <a:gd name="adj" fmla="val 10000"/>
            </a:avLst>
          </a:prstGeom>
          <a:solidFill>
            <a:srgbClr val="FDF0DE"/>
          </a:solidFill>
          <a:ln w="12700">
            <a:solidFill>
              <a:srgbClr val="FDF0DE"/>
            </a:solidFill>
            <a:prstDash val="solid"/>
          </a:ln>
        </p:spPr>
        <p:txBody>
          <a:bodyPr wrap="square" lIns="38100" tIns="152400" rIns="1524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Context update</a:t>
            </a:r>
            <a:endParaRPr lang="en-US" sz="1350" dirty="0"/>
          </a:p>
          <a:p>
            <a:pPr algn="l" indent="0" marL="0">
              <a:spcAft>
                <a:spcPts val="200"/>
              </a:spcAft>
              <a:buNone/>
            </a:pPr>
            <a:r>
              <a:rPr lang="en-US" sz="1150" dirty="0">
                <a:solidFill>
                  <a:srgbClr val="5B6472"/>
                </a:solidFill>
                <a:latin typeface="Calibri" pitchFamily="34" charset="0"/>
                <a:ea typeface="Calibri" pitchFamily="34" charset="-122"/>
                <a:cs typeface="Calibri" pitchFamily="34" charset="-120"/>
              </a:rPr>
              <a:t>clock · approval mode · open plan items · what was trimmed</a:t>
            </a:r>
            <a:endParaRPr lang="en-US" sz="1350" dirty="0"/>
          </a:p>
        </p:txBody>
      </p:sp>
      <p:sp>
        <p:nvSpPr>
          <p:cNvPr id="9" name="Text 7"/>
          <p:cNvSpPr txBox="1"/>
          <p:nvPr/>
        </p:nvSpPr>
        <p:spPr>
          <a:xfrm>
            <a:off x="1371600" y="4672584"/>
            <a:ext cx="5120640" cy="502920"/>
          </a:xfrm>
          <a:prstGeom prst="roundRect">
            <a:avLst>
              <a:gd name="adj" fmla="val 14545"/>
            </a:avLst>
          </a:prstGeom>
          <a:solidFill>
            <a:srgbClr val="FFFFFF"/>
          </a:solidFill>
          <a:ln w="12700">
            <a:solidFill>
              <a:srgbClr val="D3D9E1"/>
            </a:solidFill>
            <a:prstDash val="solid"/>
          </a:ln>
        </p:spPr>
        <p:txBody>
          <a:bodyPr wrap="square" lIns="38100" tIns="152400" rIns="1524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Your message</a:t>
            </a:r>
            <a:endParaRPr lang="en-US" sz="1350" dirty="0"/>
          </a:p>
        </p:txBody>
      </p:sp>
      <p:sp>
        <p:nvSpPr>
          <p:cNvPr id="10" name="Text 8"/>
          <p:cNvSpPr txBox="1"/>
          <p:nvPr/>
        </p:nvSpPr>
        <p:spPr>
          <a:xfrm>
            <a:off x="1371600" y="5285232"/>
            <a:ext cx="5120640" cy="868680"/>
          </a:xfrm>
          <a:prstGeom prst="roundRect">
            <a:avLst>
              <a:gd name="adj" fmla="val 8421"/>
            </a:avLst>
          </a:prstGeom>
          <a:solidFill>
            <a:srgbClr val="E1F2F0"/>
          </a:solidFill>
          <a:ln w="12700">
            <a:solidFill>
              <a:srgbClr val="E1F2F0"/>
            </a:solidFill>
            <a:prstDash val="solid"/>
          </a:ln>
        </p:spPr>
        <p:txBody>
          <a:bodyPr wrap="square" lIns="38100" tIns="152400" rIns="1524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This turn's work</a:t>
            </a:r>
            <a:endParaRPr lang="en-US" sz="1350" dirty="0"/>
          </a:p>
          <a:p>
            <a:pPr algn="l" indent="0" marL="0">
              <a:spcAft>
                <a:spcPts val="200"/>
              </a:spcAft>
              <a:buNone/>
            </a:pPr>
            <a:r>
              <a:rPr lang="en-US" sz="1150" dirty="0">
                <a:solidFill>
                  <a:srgbClr val="5B6472"/>
                </a:solidFill>
                <a:latin typeface="Calibri" pitchFamily="34" charset="0"/>
                <a:ea typeface="Calibri" pitchFamily="34" charset="-122"/>
                <a:cs typeface="Calibri" pitchFamily="34" charset="-120"/>
              </a:rPr>
              <a:t>tool calls and results — curated at 70% of the window</a:t>
            </a:r>
            <a:endParaRPr lang="en-US" sz="1350" dirty="0"/>
          </a:p>
        </p:txBody>
      </p:sp>
      <p:sp>
        <p:nvSpPr>
          <p:cNvPr id="11" name="Shape 9"/>
          <p:cNvSpPr/>
          <p:nvPr/>
        </p:nvSpPr>
        <p:spPr>
          <a:xfrm>
            <a:off x="1097280" y="2011680"/>
            <a:ext cx="0" cy="1709928"/>
          </a:xfrm>
          <a:prstGeom prst="line">
            <a:avLst/>
          </a:prstGeom>
          <a:noFill/>
          <a:ln w="25400">
            <a:solidFill>
              <a:srgbClr val="15877D"/>
            </a:solidFill>
            <a:prstDash val="solid"/>
          </a:ln>
        </p:spPr>
      </p:sp>
      <p:sp>
        <p:nvSpPr>
          <p:cNvPr id="12" name="Text 10"/>
          <p:cNvSpPr txBox="1"/>
          <p:nvPr/>
        </p:nvSpPr>
        <p:spPr>
          <a:xfrm>
            <a:off x="411480" y="2560320"/>
            <a:ext cx="640080" cy="548640"/>
          </a:xfrm>
          <a:prstGeom prst="rect">
            <a:avLst/>
          </a:prstGeom>
          <a:noFill/>
          <a:ln/>
        </p:spPr>
        <p:txBody>
          <a:bodyPr wrap="square" lIns="0" tIns="0" rIns="0" bIns="0" rtlCol="0" anchor="t"/>
          <a:lstStyle/>
          <a:p>
            <a:pPr algn="r" indent="0" marL="0">
              <a:buNone/>
            </a:pPr>
            <a:r>
              <a:rPr lang="en-US" sz="1050" i="1" dirty="0">
                <a:solidFill>
                  <a:srgbClr val="0D5C55"/>
                </a:solidFill>
                <a:latin typeface="Calibri" pitchFamily="34" charset="0"/>
                <a:ea typeface="Calibri" pitchFamily="34" charset="-122"/>
                <a:cs typeface="Calibri" pitchFamily="34" charset="-120"/>
              </a:rPr>
              <a:t>stable</a:t>
            </a:r>
            <a:endParaRPr lang="en-US" sz="1050" dirty="0"/>
          </a:p>
          <a:p>
            <a:pPr algn="r" indent="0" marL="0">
              <a:buNone/>
            </a:pPr>
            <a:r>
              <a:rPr lang="en-US" sz="1050" i="1" dirty="0">
                <a:solidFill>
                  <a:srgbClr val="0D5C55"/>
                </a:solidFill>
                <a:latin typeface="Calibri" pitchFamily="34" charset="0"/>
                <a:ea typeface="Calibri" pitchFamily="34" charset="-122"/>
                <a:cs typeface="Calibri" pitchFamily="34" charset="-120"/>
              </a:rPr>
              <a:t>cached</a:t>
            </a:r>
            <a:endParaRPr lang="en-US" sz="1050" dirty="0"/>
          </a:p>
        </p:txBody>
      </p:sp>
      <p:sp>
        <p:nvSpPr>
          <p:cNvPr id="13" name="Shape 11"/>
          <p:cNvSpPr/>
          <p:nvPr/>
        </p:nvSpPr>
        <p:spPr>
          <a:xfrm>
            <a:off x="1097280" y="3831336"/>
            <a:ext cx="0" cy="2340864"/>
          </a:xfrm>
          <a:prstGeom prst="line">
            <a:avLst/>
          </a:prstGeom>
          <a:noFill/>
          <a:ln w="25400">
            <a:solidFill>
              <a:srgbClr val="E08A1E"/>
            </a:solidFill>
            <a:prstDash val="solid"/>
          </a:ln>
        </p:spPr>
      </p:sp>
      <p:sp>
        <p:nvSpPr>
          <p:cNvPr id="14" name="Text 12"/>
          <p:cNvSpPr txBox="1"/>
          <p:nvPr/>
        </p:nvSpPr>
        <p:spPr>
          <a:xfrm>
            <a:off x="320040" y="4663440"/>
            <a:ext cx="731520" cy="548640"/>
          </a:xfrm>
          <a:prstGeom prst="rect">
            <a:avLst/>
          </a:prstGeom>
          <a:noFill/>
          <a:ln/>
        </p:spPr>
        <p:txBody>
          <a:bodyPr wrap="square" lIns="0" tIns="0" rIns="0" bIns="0" rtlCol="0" anchor="t"/>
          <a:lstStyle/>
          <a:p>
            <a:pPr algn="r" indent="0" marL="0">
              <a:buNone/>
            </a:pPr>
            <a:r>
              <a:rPr lang="en-US" sz="1050" i="1" dirty="0">
                <a:solidFill>
                  <a:srgbClr val="9A5A0C"/>
                </a:solidFill>
                <a:latin typeface="Calibri" pitchFamily="34" charset="0"/>
                <a:ea typeface="Calibri" pitchFamily="34" charset="-122"/>
                <a:cs typeface="Calibri" pitchFamily="34" charset="-120"/>
              </a:rPr>
              <a:t>changes</a:t>
            </a:r>
            <a:endParaRPr lang="en-US" sz="1050" dirty="0"/>
          </a:p>
          <a:p>
            <a:pPr algn="r" indent="0" marL="0">
              <a:buNone/>
            </a:pPr>
            <a:r>
              <a:rPr lang="en-US" sz="1050" i="1" dirty="0">
                <a:solidFill>
                  <a:srgbClr val="9A5A0C"/>
                </a:solidFill>
                <a:latin typeface="Calibri" pitchFamily="34" charset="0"/>
                <a:ea typeface="Calibri" pitchFamily="34" charset="-122"/>
                <a:cs typeface="Calibri" pitchFamily="34" charset="-120"/>
              </a:rPr>
              <a:t>each turn</a:t>
            </a:r>
            <a:endParaRPr lang="en-US" sz="1050" dirty="0"/>
          </a:p>
        </p:txBody>
      </p:sp>
      <p:sp>
        <p:nvSpPr>
          <p:cNvPr id="15" name="Text 13"/>
          <p:cNvSpPr txBox="1"/>
          <p:nvPr/>
        </p:nvSpPr>
        <p:spPr>
          <a:xfrm>
            <a:off x="7132320" y="2011680"/>
            <a:ext cx="457200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Outside the window, one tool call away</a:t>
            </a:r>
            <a:endParaRPr lang="en-US" sz="1400" dirty="0"/>
          </a:p>
        </p:txBody>
      </p:sp>
      <p:sp>
        <p:nvSpPr>
          <p:cNvPr id="16" name="Shape 14"/>
          <p:cNvSpPr/>
          <p:nvPr/>
        </p:nvSpPr>
        <p:spPr>
          <a:xfrm>
            <a:off x="7132320" y="2514600"/>
            <a:ext cx="502920" cy="502920"/>
          </a:xfrm>
          <a:prstGeom prst="ellipse">
            <a:avLst/>
          </a:prstGeom>
          <a:solidFill>
            <a:srgbClr val="E08A1E"/>
          </a:solidFill>
          <a:ln w="12700">
            <a:solidFill>
              <a:srgbClr val="E08A1E"/>
            </a:solidFill>
            <a:prstDash val="solid"/>
          </a:ln>
        </p:spPr>
      </p:sp>
      <p:pic>
        <p:nvPicPr>
          <p:cNvPr id="17" name="Image 0" descr="preencoded.png">    </p:cNvPr>
          <p:cNvPicPr>
            <a:picLocks noChangeAspect="1"/>
          </p:cNvPicPr>
          <p:nvPr/>
        </p:nvPicPr>
        <p:blipFill>
          <a:blip r:embed="rId1"/>
          <a:stretch>
            <a:fillRect/>
          </a:stretch>
        </p:blipFill>
        <p:spPr>
          <a:xfrm>
            <a:off x="7263079" y="2645359"/>
            <a:ext cx="241402" cy="241402"/>
          </a:xfrm>
          <a:prstGeom prst="rect">
            <a:avLst/>
          </a:prstGeom>
        </p:spPr>
      </p:pic>
      <p:sp>
        <p:nvSpPr>
          <p:cNvPr id="18" name="Text 15"/>
          <p:cNvSpPr txBox="1"/>
          <p:nvPr/>
        </p:nvSpPr>
        <p:spPr>
          <a:xfrm>
            <a:off x="7818120" y="2496312"/>
            <a:ext cx="3840480" cy="82296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The plan</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kept in turn metadata — curation never touches it</a:t>
            </a:r>
            <a:endParaRPr lang="en-US" sz="1350" dirty="0"/>
          </a:p>
        </p:txBody>
      </p:sp>
      <p:sp>
        <p:nvSpPr>
          <p:cNvPr id="19" name="Shape 16"/>
          <p:cNvSpPr/>
          <p:nvPr/>
        </p:nvSpPr>
        <p:spPr>
          <a:xfrm>
            <a:off x="7132320" y="3429000"/>
            <a:ext cx="502920" cy="502920"/>
          </a:xfrm>
          <a:prstGeom prst="ellipse">
            <a:avLst/>
          </a:prstGeom>
          <a:solidFill>
            <a:srgbClr val="15877D"/>
          </a:solidFill>
          <a:ln w="12700">
            <a:solidFill>
              <a:srgbClr val="15877D"/>
            </a:solidFill>
            <a:prstDash val="solid"/>
          </a:ln>
        </p:spPr>
      </p:sp>
      <p:pic>
        <p:nvPicPr>
          <p:cNvPr id="20" name="Image 1" descr="preencoded.png">    </p:cNvPr>
          <p:cNvPicPr>
            <a:picLocks noChangeAspect="1"/>
          </p:cNvPicPr>
          <p:nvPr/>
        </p:nvPicPr>
        <p:blipFill>
          <a:blip r:embed="rId2"/>
          <a:stretch>
            <a:fillRect/>
          </a:stretch>
        </p:blipFill>
        <p:spPr>
          <a:xfrm>
            <a:off x="7263079" y="3559759"/>
            <a:ext cx="241402" cy="241402"/>
          </a:xfrm>
          <a:prstGeom prst="rect">
            <a:avLst/>
          </a:prstGeom>
        </p:spPr>
      </p:pic>
      <p:sp>
        <p:nvSpPr>
          <p:cNvPr id="21" name="Text 17"/>
          <p:cNvSpPr txBox="1"/>
          <p:nvPr/>
        </p:nvSpPr>
        <p:spPr>
          <a:xfrm>
            <a:off x="7818120" y="3410712"/>
            <a:ext cx="3840480" cy="82296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The archive</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everything trimmed or oversized, fetched back on demand</a:t>
            </a:r>
            <a:endParaRPr lang="en-US" sz="1350" dirty="0"/>
          </a:p>
        </p:txBody>
      </p:sp>
      <p:sp>
        <p:nvSpPr>
          <p:cNvPr id="22" name="Shape 18"/>
          <p:cNvSpPr/>
          <p:nvPr/>
        </p:nvSpPr>
        <p:spPr>
          <a:xfrm>
            <a:off x="7132320" y="4343400"/>
            <a:ext cx="502920" cy="502920"/>
          </a:xfrm>
          <a:prstGeom prst="ellipse">
            <a:avLst/>
          </a:prstGeom>
          <a:solidFill>
            <a:srgbClr val="4E5A6B"/>
          </a:solidFill>
          <a:ln w="12700">
            <a:solidFill>
              <a:srgbClr val="4E5A6B"/>
            </a:solidFill>
            <a:prstDash val="solid"/>
          </a:ln>
        </p:spPr>
      </p:sp>
      <p:pic>
        <p:nvPicPr>
          <p:cNvPr id="23" name="Image 2" descr="preencoded.png">    </p:cNvPr>
          <p:cNvPicPr>
            <a:picLocks noChangeAspect="1"/>
          </p:cNvPicPr>
          <p:nvPr/>
        </p:nvPicPr>
        <p:blipFill>
          <a:blip r:embed="rId3"/>
          <a:stretch>
            <a:fillRect/>
          </a:stretch>
        </p:blipFill>
        <p:spPr>
          <a:xfrm>
            <a:off x="7263079" y="4474159"/>
            <a:ext cx="241402" cy="241402"/>
          </a:xfrm>
          <a:prstGeom prst="rect">
            <a:avLst/>
          </a:prstGeom>
        </p:spPr>
      </p:pic>
      <p:sp>
        <p:nvSpPr>
          <p:cNvPr id="24" name="Text 19"/>
          <p:cNvSpPr txBox="1"/>
          <p:nvPr/>
        </p:nvSpPr>
        <p:spPr>
          <a:xfrm>
            <a:off x="7818120" y="4325112"/>
            <a:ext cx="3840480" cy="82296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Files</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read and searched through the virtual filesystem</a:t>
            </a:r>
            <a:endParaRPr lang="en-US" sz="1350" dirty="0"/>
          </a:p>
        </p:txBody>
      </p:sp>
      <p:sp>
        <p:nvSpPr>
          <p:cNvPr id="25" name="Shape 20"/>
          <p:cNvSpPr/>
          <p:nvPr/>
        </p:nvSpPr>
        <p:spPr>
          <a:xfrm>
            <a:off x="7132320" y="5257800"/>
            <a:ext cx="502920" cy="502920"/>
          </a:xfrm>
          <a:prstGeom prst="ellipse">
            <a:avLst/>
          </a:prstGeom>
          <a:solidFill>
            <a:srgbClr val="0D5C55"/>
          </a:solidFill>
          <a:ln w="12700">
            <a:solidFill>
              <a:srgbClr val="0D5C55"/>
            </a:solidFill>
            <a:prstDash val="solid"/>
          </a:ln>
        </p:spPr>
      </p:sp>
      <p:pic>
        <p:nvPicPr>
          <p:cNvPr id="26" name="Image 3" descr="preencoded.png">    </p:cNvPr>
          <p:cNvPicPr>
            <a:picLocks noChangeAspect="1"/>
          </p:cNvPicPr>
          <p:nvPr/>
        </p:nvPicPr>
        <p:blipFill>
          <a:blip r:embed="rId4"/>
          <a:stretch>
            <a:fillRect/>
          </a:stretch>
        </p:blipFill>
        <p:spPr>
          <a:xfrm>
            <a:off x="7263079" y="5388559"/>
            <a:ext cx="241402" cy="241402"/>
          </a:xfrm>
          <a:prstGeom prst="rect">
            <a:avLst/>
          </a:prstGeom>
        </p:spPr>
      </p:pic>
      <p:sp>
        <p:nvSpPr>
          <p:cNvPr id="27" name="Text 21"/>
          <p:cNvSpPr txBox="1"/>
          <p:nvPr/>
        </p:nvSpPr>
        <p:spPr>
          <a:xfrm>
            <a:off x="7818120" y="5239512"/>
            <a:ext cx="3840480" cy="82296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Solutions</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what the organisation has already solved</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CONTEXT · CURATION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Long runs curate their own transcript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An agent may take 40 iterations with results up to 64k characters each. Without curation, the run does not degrade — it dies.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21</a:t>
            </a:r>
            <a:endParaRPr lang="en-US" sz="1000" dirty="0"/>
          </a:p>
        </p:txBody>
      </p:sp>
      <p:graphicFrame>
        <p:nvGraphicFramePr>
          <p:cNvPr id="6" name="Chart 0" descr=""/>
          <p:cNvGraphicFramePr/>
          <p:nvPr/>
        </p:nvGraphicFramePr>
        <p:xfrm>
          <a:off x="457200" y="2011680"/>
          <a:ext cx="6949440" cy="39776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6035040"/>
            <a:ext cx="6675120" cy="256032"/>
          </a:xfrm>
          <a:prstGeom prst="rect">
            <a:avLst/>
          </a:prstGeom>
          <a:noFill/>
          <a:ln/>
        </p:spPr>
        <p:txBody>
          <a:bodyPr wrap="square" lIns="0" tIns="0" rIns="0" bIns="0" rtlCol="0" anchor="t"/>
          <a:lstStyle/>
          <a:p>
            <a:pPr algn="l" indent="0" marL="0">
              <a:buNone/>
            </a:pPr>
            <a:r>
              <a:rPr lang="en-US" sz="1050" i="1" dirty="0">
                <a:solidFill>
                  <a:srgbClr val="8A93A1"/>
                </a:solidFill>
                <a:latin typeface="Calibri" pitchFamily="34" charset="0"/>
                <a:ea typeface="Calibri" pitchFamily="34" charset="-122"/>
                <a:cs typeface="Calibri" pitchFamily="34" charset="-120"/>
              </a:rPr>
              <a:t>Illustrative shape, not a measurement</a:t>
            </a:r>
            <a:endParaRPr lang="en-US" sz="1050" dirty="0"/>
          </a:p>
        </p:txBody>
      </p:sp>
      <p:sp>
        <p:nvSpPr>
          <p:cNvPr id="8" name="Text 5"/>
          <p:cNvSpPr txBox="1"/>
          <p:nvPr/>
        </p:nvSpPr>
        <p:spPr>
          <a:xfrm>
            <a:off x="7818120" y="2148840"/>
            <a:ext cx="3840480" cy="3931920"/>
          </a:xfrm>
          <a:prstGeom prst="rect">
            <a:avLst/>
          </a:prstGeom>
          <a:noFill/>
          <a:ln/>
        </p:spPr>
        <p:txBody>
          <a:bodyPr wrap="square" lIns="0" tIns="0" rIns="0" bIns="0" rtlCol="0" anchor="t"/>
          <a:lstStyle/>
          <a:p>
            <a:pPr indent="0" marL="0">
              <a:buNone/>
            </a:pPr>
            <a:r>
              <a:rPr lang="en-US" sz="1450" b="1" dirty="0">
                <a:solidFill>
                  <a:srgbClr val="1C212B"/>
                </a:solidFill>
                <a:latin typeface="Arial" pitchFamily="34" charset="0"/>
                <a:ea typeface="Arial" pitchFamily="34" charset="-122"/>
                <a:cs typeface="Arial" pitchFamily="34" charset="-120"/>
              </a:rPr>
              <a:t>Cut whole segments</a:t>
            </a:r>
            <a:endParaRPr lang="en-US" sz="1450" dirty="0"/>
          </a:p>
          <a:p>
            <a:pPr indent="0" marL="0">
              <a:spcAft>
                <a:spcPts val="1400"/>
              </a:spcAft>
              <a:buNone/>
            </a:pPr>
            <a:r>
              <a:rPr lang="en-US" sz="1250" dirty="0">
                <a:solidFill>
                  <a:srgbClr val="5B6472"/>
                </a:solidFill>
                <a:latin typeface="Calibri" pitchFamily="34" charset="0"/>
                <a:ea typeface="Calibri" pitchFamily="34" charset="-122"/>
                <a:cs typeface="Calibri" pitchFamily="34" charset="-120"/>
              </a:rPr>
              <a:t>An assistant tool-call turn and its results leave together. A dangling tool_call_id is a provider 400.</a:t>
            </a:r>
            <a:endParaRPr lang="en-US" sz="1450" dirty="0"/>
          </a:p>
          <a:p>
            <a:pPr indent="0" marL="0">
              <a:buNone/>
            </a:pPr>
            <a:r>
              <a:rPr lang="en-US" sz="1450" b="1" dirty="0">
                <a:solidFill>
                  <a:srgbClr val="1C212B"/>
                </a:solidFill>
                <a:latin typeface="Arial" pitchFamily="34" charset="0"/>
                <a:ea typeface="Arial" pitchFamily="34" charset="-122"/>
                <a:cs typeface="Arial" pitchFamily="34" charset="-120"/>
              </a:rPr>
              <a:t>Fire at a watermark</a:t>
            </a:r>
            <a:endParaRPr lang="en-US" sz="1450" dirty="0"/>
          </a:p>
          <a:p>
            <a:pPr indent="0" marL="0">
              <a:spcAft>
                <a:spcPts val="1400"/>
              </a:spcAft>
              <a:buNone/>
            </a:pPr>
            <a:r>
              <a:rPr lang="en-US" sz="1250" dirty="0">
                <a:solidFill>
                  <a:srgbClr val="5B6472"/>
                </a:solidFill>
                <a:latin typeface="Calibri" pitchFamily="34" charset="0"/>
                <a:ea typeface="Calibri" pitchFamily="34" charset="-122"/>
                <a:cs typeface="Calibri" pitchFamily="34" charset="-120"/>
              </a:rPr>
              <a:t>At 70%, cut to 45%. Curating every turn would rewrite the prefix and forfeit prompt caching.</a:t>
            </a:r>
            <a:endParaRPr lang="en-US" sz="1450" dirty="0"/>
          </a:p>
          <a:p>
            <a:pPr indent="0" marL="0">
              <a:buNone/>
            </a:pPr>
            <a:r>
              <a:rPr lang="en-US" sz="1450" b="1" dirty="0">
                <a:solidFill>
                  <a:srgbClr val="1C212B"/>
                </a:solidFill>
                <a:latin typeface="Arial" pitchFamily="34" charset="0"/>
                <a:ea typeface="Arial" pitchFamily="34" charset="-122"/>
                <a:cs typeface="Arial" pitchFamily="34" charset="-120"/>
              </a:rPr>
              <a:t>Keep what is cut</a:t>
            </a:r>
            <a:endParaRPr lang="en-US" sz="1450" dirty="0"/>
          </a:p>
          <a:p>
            <a:pPr indent="0" marL="0">
              <a:buNone/>
            </a:pPr>
            <a:r>
              <a:rPr lang="en-US" sz="1250" dirty="0">
                <a:solidFill>
                  <a:srgbClr val="5B6472"/>
                </a:solidFill>
                <a:latin typeface="Calibri" pitchFamily="34" charset="0"/>
                <a:ea typeface="Calibri" pitchFamily="34" charset="-122"/>
                <a:cs typeface="Calibri" pitchFamily="34" charset="-120"/>
              </a:rPr>
              <a:t>Removed text is archived, and the agent can fetch it back on demand.</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CONTEXT · THE PLAN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The plan lives outside the transcript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Curation folds away the oldest messages — which is exactly where the original instruction is.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22</a:t>
            </a:r>
            <a:endParaRPr lang="en-US" sz="1000" dirty="0"/>
          </a:p>
        </p:txBody>
      </p:sp>
      <p:sp>
        <p:nvSpPr>
          <p:cNvPr id="6" name="Shape 4"/>
          <p:cNvSpPr/>
          <p:nvPr/>
        </p:nvSpPr>
        <p:spPr>
          <a:xfrm>
            <a:off x="548640" y="2011680"/>
            <a:ext cx="5577840" cy="4160520"/>
          </a:xfrm>
          <a:prstGeom prst="roundRect">
            <a:avLst>
              <a:gd name="adj" fmla="val 2198"/>
            </a:avLst>
          </a:prstGeom>
          <a:solidFill>
            <a:srgbClr val="F3F5F8"/>
          </a:solidFill>
          <a:ln w="12700">
            <a:solidFill>
              <a:srgbClr val="F3F5F8"/>
            </a:solidFill>
            <a:prstDash val="solid"/>
          </a:ln>
        </p:spPr>
      </p:sp>
      <p:sp>
        <p:nvSpPr>
          <p:cNvPr id="7" name="Text 5"/>
          <p:cNvSpPr txBox="1"/>
          <p:nvPr/>
        </p:nvSpPr>
        <p:spPr>
          <a:xfrm>
            <a:off x="822960" y="2194560"/>
            <a:ext cx="182880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Plan</a:t>
            </a:r>
            <a:endParaRPr lang="en-US" sz="1500" dirty="0"/>
          </a:p>
        </p:txBody>
      </p:sp>
      <p:sp>
        <p:nvSpPr>
          <p:cNvPr id="8" name="Text 6"/>
          <p:cNvSpPr txBox="1"/>
          <p:nvPr/>
        </p:nvSpPr>
        <p:spPr>
          <a:xfrm>
            <a:off x="3200400" y="2221992"/>
            <a:ext cx="27432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revision 4 of 4 · history</a:t>
            </a:r>
            <a:endParaRPr lang="en-US" sz="1100" dirty="0"/>
          </a:p>
        </p:txBody>
      </p:sp>
      <p:sp>
        <p:nvSpPr>
          <p:cNvPr id="9" name="Shape 7"/>
          <p:cNvSpPr/>
          <p:nvPr/>
        </p:nvSpPr>
        <p:spPr>
          <a:xfrm>
            <a:off x="822960" y="2606040"/>
            <a:ext cx="5029200" cy="0"/>
          </a:xfrm>
          <a:prstGeom prst="line">
            <a:avLst/>
          </a:prstGeom>
          <a:noFill/>
          <a:ln w="9525">
            <a:solidFill>
              <a:srgbClr val="D3D9E1"/>
            </a:solidFill>
            <a:prstDash val="solid"/>
          </a:ln>
        </p:spPr>
      </p:sp>
      <p:sp>
        <p:nvSpPr>
          <p:cNvPr id="10" name="Text 8"/>
          <p:cNvSpPr txBox="1"/>
          <p:nvPr/>
        </p:nvSpPr>
        <p:spPr>
          <a:xfrm>
            <a:off x="822960" y="2743200"/>
            <a:ext cx="914400" cy="274320"/>
          </a:xfrm>
          <a:prstGeom prst="roundRect">
            <a:avLst>
              <a:gd name="adj" fmla="val 20000"/>
            </a:avLst>
          </a:prstGeom>
          <a:solidFill>
            <a:srgbClr val="15877D"/>
          </a:solidFill>
          <a:ln w="9525">
            <a:solidFill>
              <a:srgbClr val="15877D"/>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done</a:t>
            </a:r>
            <a:endParaRPr lang="en-US" sz="1050" dirty="0"/>
          </a:p>
        </p:txBody>
      </p:sp>
      <p:sp>
        <p:nvSpPr>
          <p:cNvPr id="11" name="Text 9"/>
          <p:cNvSpPr txBox="1"/>
          <p:nvPr/>
        </p:nvSpPr>
        <p:spPr>
          <a:xfrm>
            <a:off x="1920240" y="2715768"/>
            <a:ext cx="3931920" cy="274320"/>
          </a:xfrm>
          <a:prstGeom prst="rect">
            <a:avLst/>
          </a:prstGeom>
          <a:noFill/>
          <a:ln/>
        </p:spPr>
        <p:txBody>
          <a:bodyPr wrap="square" lIns="0" tIns="0" rIns="0" bIns="0" rtlCol="0" anchor="t"/>
          <a:lstStyle/>
          <a:p>
            <a:pPr algn="l" indent="0" marL="0">
              <a:buNone/>
            </a:pPr>
            <a:r>
              <a:rPr lang="en-US" sz="1300" dirty="0">
                <a:solidFill>
                  <a:srgbClr val="1C212B"/>
                </a:solidFill>
                <a:latin typeface="Calibri" pitchFamily="34" charset="0"/>
                <a:ea typeface="Calibri" pitchFamily="34" charset="-122"/>
                <a:cs typeface="Calibri" pitchFamily="34" charset="-120"/>
              </a:rPr>
              <a:t>Read the three sales exports</a:t>
            </a:r>
            <a:endParaRPr lang="en-US" sz="1300" dirty="0"/>
          </a:p>
        </p:txBody>
      </p:sp>
      <p:sp>
        <p:nvSpPr>
          <p:cNvPr id="12" name="Shape 10"/>
          <p:cNvSpPr/>
          <p:nvPr/>
        </p:nvSpPr>
        <p:spPr>
          <a:xfrm>
            <a:off x="822960" y="3273552"/>
            <a:ext cx="5029200" cy="0"/>
          </a:xfrm>
          <a:prstGeom prst="line">
            <a:avLst/>
          </a:prstGeom>
          <a:noFill/>
          <a:ln w="9525">
            <a:solidFill>
              <a:srgbClr val="D3D9E1"/>
            </a:solidFill>
            <a:prstDash val="solid"/>
          </a:ln>
        </p:spPr>
      </p:sp>
      <p:sp>
        <p:nvSpPr>
          <p:cNvPr id="13" name="Text 11"/>
          <p:cNvSpPr txBox="1"/>
          <p:nvPr/>
        </p:nvSpPr>
        <p:spPr>
          <a:xfrm>
            <a:off x="822960" y="3410712"/>
            <a:ext cx="914400" cy="274320"/>
          </a:xfrm>
          <a:prstGeom prst="roundRect">
            <a:avLst>
              <a:gd name="adj" fmla="val 20000"/>
            </a:avLst>
          </a:prstGeom>
          <a:solidFill>
            <a:srgbClr val="E08A1E"/>
          </a:solidFill>
          <a:ln w="9525">
            <a:solidFill>
              <a:srgbClr val="E08A1E"/>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doing</a:t>
            </a:r>
            <a:endParaRPr lang="en-US" sz="1050" dirty="0"/>
          </a:p>
        </p:txBody>
      </p:sp>
      <p:sp>
        <p:nvSpPr>
          <p:cNvPr id="14" name="Text 12"/>
          <p:cNvSpPr txBox="1"/>
          <p:nvPr/>
        </p:nvSpPr>
        <p:spPr>
          <a:xfrm>
            <a:off x="1920240" y="3383280"/>
            <a:ext cx="3931920" cy="274320"/>
          </a:xfrm>
          <a:prstGeom prst="rect">
            <a:avLst/>
          </a:prstGeom>
          <a:noFill/>
          <a:ln/>
        </p:spPr>
        <p:txBody>
          <a:bodyPr wrap="square" lIns="0" tIns="0" rIns="0" bIns="0" rtlCol="0" anchor="t"/>
          <a:lstStyle/>
          <a:p>
            <a:pPr algn="l" indent="0" marL="0">
              <a:buNone/>
            </a:pPr>
            <a:r>
              <a:rPr lang="en-US" sz="1300" dirty="0">
                <a:solidFill>
                  <a:srgbClr val="1C212B"/>
                </a:solidFill>
                <a:latin typeface="Calibri" pitchFamily="34" charset="0"/>
                <a:ea typeface="Calibri" pitchFamily="34" charset="-122"/>
                <a:cs typeface="Calibri" pitchFamily="34" charset="-120"/>
              </a:rPr>
              <a:t>Reconcile totals by region</a:t>
            </a:r>
            <a:endParaRPr lang="en-US" sz="1300" dirty="0"/>
          </a:p>
        </p:txBody>
      </p:sp>
      <p:sp>
        <p:nvSpPr>
          <p:cNvPr id="15" name="Shape 13"/>
          <p:cNvSpPr/>
          <p:nvPr/>
        </p:nvSpPr>
        <p:spPr>
          <a:xfrm>
            <a:off x="822960" y="3941064"/>
            <a:ext cx="5029200" cy="0"/>
          </a:xfrm>
          <a:prstGeom prst="line">
            <a:avLst/>
          </a:prstGeom>
          <a:noFill/>
          <a:ln w="9525">
            <a:solidFill>
              <a:srgbClr val="D3D9E1"/>
            </a:solidFill>
            <a:prstDash val="solid"/>
          </a:ln>
        </p:spPr>
      </p:sp>
      <p:sp>
        <p:nvSpPr>
          <p:cNvPr id="16" name="Text 14"/>
          <p:cNvSpPr txBox="1"/>
          <p:nvPr/>
        </p:nvSpPr>
        <p:spPr>
          <a:xfrm>
            <a:off x="822960" y="4078224"/>
            <a:ext cx="914400" cy="274320"/>
          </a:xfrm>
          <a:prstGeom prst="roundRect">
            <a:avLst>
              <a:gd name="adj" fmla="val 20000"/>
            </a:avLst>
          </a:prstGeom>
          <a:solidFill>
            <a:srgbClr val="C4433A"/>
          </a:solidFill>
          <a:ln w="9525">
            <a:solidFill>
              <a:srgbClr val="C4433A"/>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blocked</a:t>
            </a:r>
            <a:endParaRPr lang="en-US" sz="1050" dirty="0"/>
          </a:p>
        </p:txBody>
      </p:sp>
      <p:sp>
        <p:nvSpPr>
          <p:cNvPr id="17" name="Text 15"/>
          <p:cNvSpPr txBox="1"/>
          <p:nvPr/>
        </p:nvSpPr>
        <p:spPr>
          <a:xfrm>
            <a:off x="1920240" y="4050792"/>
            <a:ext cx="3931920" cy="274320"/>
          </a:xfrm>
          <a:prstGeom prst="rect">
            <a:avLst/>
          </a:prstGeom>
          <a:noFill/>
          <a:ln/>
        </p:spPr>
        <p:txBody>
          <a:bodyPr wrap="square" lIns="0" tIns="0" rIns="0" bIns="0" rtlCol="0" anchor="t"/>
          <a:lstStyle/>
          <a:p>
            <a:pPr algn="l" indent="0" marL="0">
              <a:buNone/>
            </a:pPr>
            <a:r>
              <a:rPr lang="en-US" sz="1300" dirty="0">
                <a:solidFill>
                  <a:srgbClr val="1C212B"/>
                </a:solidFill>
                <a:latin typeface="Calibri" pitchFamily="34" charset="0"/>
                <a:ea typeface="Calibri" pitchFamily="34" charset="-122"/>
                <a:cs typeface="Calibri" pitchFamily="34" charset="-120"/>
              </a:rPr>
              <a:t>Pull Q2 refunds</a:t>
            </a:r>
            <a:endParaRPr lang="en-US" sz="1300" dirty="0"/>
          </a:p>
        </p:txBody>
      </p:sp>
      <p:sp>
        <p:nvSpPr>
          <p:cNvPr id="18" name="Text 16"/>
          <p:cNvSpPr txBox="1"/>
          <p:nvPr/>
        </p:nvSpPr>
        <p:spPr>
          <a:xfrm>
            <a:off x="1920240" y="4325112"/>
            <a:ext cx="3931920" cy="228600"/>
          </a:xfrm>
          <a:prstGeom prst="rect">
            <a:avLst/>
          </a:prstGeom>
          <a:noFill/>
          <a:ln/>
        </p:spPr>
        <p:txBody>
          <a:bodyPr wrap="square" lIns="0" tIns="0" rIns="0" bIns="0" rtlCol="0" anchor="t"/>
          <a:lstStyle/>
          <a:p>
            <a:pPr algn="l" indent="0" marL="0">
              <a:buNone/>
            </a:pPr>
            <a:r>
              <a:rPr lang="en-US" sz="1100" i="1" dirty="0">
                <a:solidFill>
                  <a:srgbClr val="8E2B24"/>
                </a:solidFill>
                <a:latin typeface="Calibri" pitchFamily="34" charset="0"/>
                <a:ea typeface="Calibri" pitchFamily="34" charset="-122"/>
                <a:cs typeface="Calibri" pitchFamily="34" charset="-120"/>
              </a:rPr>
              <a:t>no access to the refunds sheet</a:t>
            </a:r>
            <a:endParaRPr lang="en-US" sz="1100" dirty="0"/>
          </a:p>
        </p:txBody>
      </p:sp>
      <p:sp>
        <p:nvSpPr>
          <p:cNvPr id="19" name="Shape 17"/>
          <p:cNvSpPr/>
          <p:nvPr/>
        </p:nvSpPr>
        <p:spPr>
          <a:xfrm>
            <a:off x="822960" y="4608576"/>
            <a:ext cx="5029200" cy="0"/>
          </a:xfrm>
          <a:prstGeom prst="line">
            <a:avLst/>
          </a:prstGeom>
          <a:noFill/>
          <a:ln w="9525">
            <a:solidFill>
              <a:srgbClr val="D3D9E1"/>
            </a:solidFill>
            <a:prstDash val="solid"/>
          </a:ln>
        </p:spPr>
      </p:sp>
      <p:sp>
        <p:nvSpPr>
          <p:cNvPr id="20" name="Text 18"/>
          <p:cNvSpPr txBox="1"/>
          <p:nvPr/>
        </p:nvSpPr>
        <p:spPr>
          <a:xfrm>
            <a:off x="822960" y="4745736"/>
            <a:ext cx="914400" cy="274320"/>
          </a:xfrm>
          <a:prstGeom prst="roundRect">
            <a:avLst>
              <a:gd name="adj" fmla="val 20000"/>
            </a:avLst>
          </a:prstGeom>
          <a:solidFill>
            <a:srgbClr val="F3F5F8"/>
          </a:solidFill>
          <a:ln w="9525">
            <a:solidFill>
              <a:srgbClr val="8A93A1"/>
            </a:solidFill>
          </a:ln>
        </p:spPr>
        <p:txBody>
          <a:bodyPr wrap="square" lIns="0" tIns="0" rIns="0" bIns="0" rtlCol="0" anchor="ctr"/>
          <a:lstStyle/>
          <a:p>
            <a:pPr algn="ctr" indent="0" marL="0">
              <a:buNone/>
            </a:pPr>
            <a:r>
              <a:rPr lang="en-US" sz="1050" b="1" dirty="0">
                <a:solidFill>
                  <a:srgbClr val="5B6472"/>
                </a:solidFill>
                <a:latin typeface="Calibri" pitchFamily="34" charset="0"/>
                <a:ea typeface="Calibri" pitchFamily="34" charset="-122"/>
                <a:cs typeface="Calibri" pitchFamily="34" charset="-120"/>
              </a:rPr>
              <a:t>todo</a:t>
            </a:r>
            <a:endParaRPr lang="en-US" sz="1050" dirty="0"/>
          </a:p>
        </p:txBody>
      </p:sp>
      <p:sp>
        <p:nvSpPr>
          <p:cNvPr id="21" name="Text 19"/>
          <p:cNvSpPr txBox="1"/>
          <p:nvPr/>
        </p:nvSpPr>
        <p:spPr>
          <a:xfrm>
            <a:off x="1920240" y="4718304"/>
            <a:ext cx="3931920" cy="274320"/>
          </a:xfrm>
          <a:prstGeom prst="rect">
            <a:avLst/>
          </a:prstGeom>
          <a:noFill/>
          <a:ln/>
        </p:spPr>
        <p:txBody>
          <a:bodyPr wrap="square" lIns="0" tIns="0" rIns="0" bIns="0" rtlCol="0" anchor="t"/>
          <a:lstStyle/>
          <a:p>
            <a:pPr algn="l" indent="0" marL="0">
              <a:buNone/>
            </a:pPr>
            <a:r>
              <a:rPr lang="en-US" sz="1300" dirty="0">
                <a:solidFill>
                  <a:srgbClr val="1C212B"/>
                </a:solidFill>
                <a:latin typeface="Calibri" pitchFamily="34" charset="0"/>
                <a:ea typeface="Calibri" pitchFamily="34" charset="-122"/>
                <a:cs typeface="Calibri" pitchFamily="34" charset="-120"/>
              </a:rPr>
              <a:t>Draft the deck with the Slides agent</a:t>
            </a:r>
            <a:endParaRPr lang="en-US" sz="1300" dirty="0"/>
          </a:p>
        </p:txBody>
      </p:sp>
      <p:sp>
        <p:nvSpPr>
          <p:cNvPr id="22" name="Shape 20"/>
          <p:cNvSpPr/>
          <p:nvPr/>
        </p:nvSpPr>
        <p:spPr>
          <a:xfrm>
            <a:off x="822960" y="5276088"/>
            <a:ext cx="5029200" cy="0"/>
          </a:xfrm>
          <a:prstGeom prst="line">
            <a:avLst/>
          </a:prstGeom>
          <a:noFill/>
          <a:ln w="9525">
            <a:solidFill>
              <a:srgbClr val="D3D9E1"/>
            </a:solidFill>
            <a:prstDash val="solid"/>
          </a:ln>
        </p:spPr>
      </p:sp>
      <p:sp>
        <p:nvSpPr>
          <p:cNvPr id="23" name="Text 21"/>
          <p:cNvSpPr txBox="1"/>
          <p:nvPr/>
        </p:nvSpPr>
        <p:spPr>
          <a:xfrm>
            <a:off x="822960" y="5413248"/>
            <a:ext cx="914400" cy="274320"/>
          </a:xfrm>
          <a:prstGeom prst="roundRect">
            <a:avLst>
              <a:gd name="adj" fmla="val 20000"/>
            </a:avLst>
          </a:prstGeom>
          <a:solidFill>
            <a:srgbClr val="F3F5F8"/>
          </a:solidFill>
          <a:ln w="9525">
            <a:solidFill>
              <a:srgbClr val="8A93A1"/>
            </a:solidFill>
          </a:ln>
        </p:spPr>
        <p:txBody>
          <a:bodyPr wrap="square" lIns="0" tIns="0" rIns="0" bIns="0" rtlCol="0" anchor="ctr"/>
          <a:lstStyle/>
          <a:p>
            <a:pPr algn="ctr" indent="0" marL="0">
              <a:buNone/>
            </a:pPr>
            <a:r>
              <a:rPr lang="en-US" sz="1050" b="1" dirty="0">
                <a:solidFill>
                  <a:srgbClr val="5B6472"/>
                </a:solidFill>
                <a:latin typeface="Calibri" pitchFamily="34" charset="0"/>
                <a:ea typeface="Calibri" pitchFamily="34" charset="-122"/>
                <a:cs typeface="Calibri" pitchFamily="34" charset="-120"/>
              </a:rPr>
              <a:t>dropped</a:t>
            </a:r>
            <a:endParaRPr lang="en-US" sz="1050" dirty="0"/>
          </a:p>
        </p:txBody>
      </p:sp>
      <p:sp>
        <p:nvSpPr>
          <p:cNvPr id="24" name="Text 22"/>
          <p:cNvSpPr txBox="1"/>
          <p:nvPr/>
        </p:nvSpPr>
        <p:spPr>
          <a:xfrm>
            <a:off x="1920240" y="5385816"/>
            <a:ext cx="3931920" cy="274320"/>
          </a:xfrm>
          <a:prstGeom prst="rect">
            <a:avLst/>
          </a:prstGeom>
          <a:noFill/>
          <a:ln/>
        </p:spPr>
        <p:txBody>
          <a:bodyPr wrap="square" lIns="0" tIns="0" rIns="0" bIns="0" rtlCol="0" anchor="t"/>
          <a:lstStyle/>
          <a:p>
            <a:pPr algn="l" indent="0" marL="0">
              <a:buNone/>
            </a:pPr>
            <a:r>
              <a:rPr lang="en-US" sz="1300" dirty="0">
                <a:solidFill>
                  <a:srgbClr val="8A93A1"/>
                </a:solidFill>
                <a:latin typeface="Calibri" pitchFamily="34" charset="0"/>
                <a:ea typeface="Calibri" pitchFamily="34" charset="-122"/>
                <a:cs typeface="Calibri" pitchFamily="34" charset="-120"/>
              </a:rPr>
              <a:t>Email finance the summary</a:t>
            </a:r>
            <a:endParaRPr lang="en-US" sz="1300" dirty="0"/>
          </a:p>
        </p:txBody>
      </p:sp>
      <p:sp>
        <p:nvSpPr>
          <p:cNvPr id="25" name="Text 23"/>
          <p:cNvSpPr txBox="1"/>
          <p:nvPr/>
        </p:nvSpPr>
        <p:spPr>
          <a:xfrm>
            <a:off x="1920240" y="5660136"/>
            <a:ext cx="3931920" cy="228600"/>
          </a:xfrm>
          <a:prstGeom prst="rect">
            <a:avLst/>
          </a:prstGeom>
          <a:noFill/>
          <a:ln/>
        </p:spPr>
        <p:txBody>
          <a:bodyPr wrap="square" lIns="0" tIns="0" rIns="0" bIns="0" rtlCol="0" anchor="t"/>
          <a:lstStyle/>
          <a:p>
            <a:pPr algn="l" indent="0" marL="0">
              <a:buNone/>
            </a:pPr>
            <a:r>
              <a:rPr lang="en-US" sz="1100" i="1" dirty="0">
                <a:solidFill>
                  <a:srgbClr val="8A93A1"/>
                </a:solidFill>
                <a:latin typeface="Calibri" pitchFamily="34" charset="0"/>
                <a:ea typeface="Calibri" pitchFamily="34" charset="-122"/>
                <a:cs typeface="Calibri" pitchFamily="34" charset="-120"/>
              </a:rPr>
              <a:t>removed unfinished in revision 3</a:t>
            </a:r>
            <a:endParaRPr lang="en-US" sz="1100" dirty="0"/>
          </a:p>
        </p:txBody>
      </p:sp>
      <p:sp>
        <p:nvSpPr>
          <p:cNvPr id="26" name="Text 24"/>
          <p:cNvSpPr txBox="1"/>
          <p:nvPr/>
        </p:nvSpPr>
        <p:spPr>
          <a:xfrm>
            <a:off x="6583680" y="2103120"/>
            <a:ext cx="5074920" cy="406908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Safe by construction</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Curation only ever rewrites messages. The plan is in turn metadata, so no exclusion list is needed.</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Replace, don't patch</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The model always sends the whole list — no ids to track and eventually get wrong.</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Re-read every turn</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Open items ride in the context update — never the system prompt, which must stay stable.</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Honest endings</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blocked needs a reason; up to 30 revisions are kept and the original plan is never trimmed.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CONTEXT · BUDGETS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Every input has a limit, and says what happens past it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rule: a truncated result and a genuinely short one must never look alike.</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23</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2651760"/>
                <a:gridCol w="3108960"/>
                <a:gridCol w="5330952"/>
              </a:tblGrid>
              <a:tr h="43891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232A3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Limit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232A3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Past the limit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232A36"/>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Tool result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64,000 chars</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Full text stored; the model gets a preview and an id to read the rest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Worker answer</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20,000 each · 60,000 per fan-out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Trimmed proportionally with a notice; the full answer is archived</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Task sent to a worker</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8,000 chars</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Refused — the model is told to shorten it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Shared briefing</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16,000 chars, sent once</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Refused, for the same reason</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Steering message</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4,000 each · 8,000 per delivery</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Oldest dropped, and the drop is counted back to you</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User memory in prompt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2,000 chars</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Filled by priority: profile, preference, project, context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Plan history</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30 revisions</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Older ones trimmed; the original plan is always kept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C212B"/>
                          </a:solidFill>
                          <a:latin typeface="Calibri" pitchFamily="34" charset="0"/>
                          <a:ea typeface="Calibri" pitchFamily="34" charset="-122"/>
                          <a:cs typeface="Calibri" pitchFamily="34" charset="-120"/>
                        </a:rPr>
                        <a:t>Transcript</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1C212B"/>
                          </a:solidFill>
                          <a:latin typeface="Calibri" pitchFamily="34" charset="0"/>
                          <a:ea typeface="Calibri" pitchFamily="34" charset="-122"/>
                          <a:cs typeface="Calibri" pitchFamily="34" charset="-120"/>
                        </a:rPr>
                        <a:t>70% of the window</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c>
                  <a:txBody>
                    <a:bodyPr/>
                    <a:lstStyle/>
                    <a:p>
                      <a:pPr indent="0" marL="0">
                        <a:buNone/>
                      </a:pPr>
                      <a:r>
                        <a:rPr lang="en-US" sz="1250" dirty="0">
                          <a:solidFill>
                            <a:srgbClr val="5B6472"/>
                          </a:solidFill>
                          <a:latin typeface="Calibri" pitchFamily="34" charset="0"/>
                          <a:ea typeface="Calibri" pitchFamily="34" charset="-122"/>
                          <a:cs typeface="Calibri" pitchFamily="34" charset="-120"/>
                        </a:rPr>
                        <a:t>Cut to 45% in whole segments; the cut is archived</a:t>
                      </a:r>
                      <a:endParaRPr lang="en-US" sz="1250" dirty="0">
                        <a:latin typeface="Calibri" charset="0"/>
                        <a:ea typeface="Calibri" charset="0"/>
                        <a:cs typeface="Calibri" charset="0"/>
                      </a:endParaRPr>
                    </a:p>
                  </a:txBody>
                  <a:tcPr marL="109728" marR="109728" marT="27432" marB="27432"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FILES &amp; APPS · VIRTUAL FILESYSTEM</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An agent's filesystem is rows, not files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os is never imported and no handle is ever opened. The worst a path bug reaches is another row.</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548640" y="2011680"/>
            <a:ext cx="5852160" cy="2148840"/>
          </a:xfrm>
          <a:prstGeom prst="roundRect">
            <a:avLst>
              <a:gd name="adj" fmla="val 4255"/>
            </a:avLst>
          </a:prstGeom>
          <a:solidFill>
            <a:srgbClr val="F3F5F8"/>
          </a:solidFill>
          <a:ln w="12700">
            <a:solidFill>
              <a:srgbClr val="F3F5F8"/>
            </a:solidFill>
            <a:prstDash val="solid"/>
          </a:ln>
        </p:spPr>
      </p:sp>
      <p:sp>
        <p:nvSpPr>
          <p:cNvPr id="7" name="Text 5"/>
          <p:cNvSpPr txBox="1"/>
          <p:nvPr/>
        </p:nvSpPr>
        <p:spPr>
          <a:xfrm>
            <a:off x="777240" y="2176272"/>
            <a:ext cx="5486400" cy="320040"/>
          </a:xfrm>
          <a:prstGeom prst="rect">
            <a:avLst/>
          </a:prstGeom>
          <a:noFill/>
          <a:ln/>
        </p:spPr>
        <p:txBody>
          <a:bodyPr wrap="square" lIns="0" tIns="0" rIns="0" bIns="0" rtlCol="0" anchor="t"/>
          <a:lstStyle/>
          <a:p>
            <a:pPr algn="l" indent="0" marL="0">
              <a:buNone/>
            </a:pPr>
            <a:r>
              <a:rPr lang="en-US" sz="1300" b="1" dirty="0">
                <a:solidFill>
                  <a:srgbClr val="8E2B24"/>
                </a:solidFill>
                <a:latin typeface="Courier New" pitchFamily="34" charset="0"/>
                <a:ea typeface="Courier New" pitchFamily="34" charset="-122"/>
                <a:cs typeface="Courier New" pitchFamily="34" charset="-120"/>
              </a:rPr>
              <a:t>read_file("../../etc/passwd")</a:t>
            </a:r>
            <a:endParaRPr lang="en-US" sz="1300" dirty="0"/>
          </a:p>
        </p:txBody>
      </p:sp>
      <p:sp>
        <p:nvSpPr>
          <p:cNvPr id="8" name="Text 6"/>
          <p:cNvSpPr txBox="1"/>
          <p:nvPr/>
        </p:nvSpPr>
        <p:spPr>
          <a:xfrm>
            <a:off x="777240" y="2697480"/>
            <a:ext cx="960120" cy="548640"/>
          </a:xfrm>
          <a:prstGeom prst="roundRect">
            <a:avLst>
              <a:gd name="adj" fmla="val 10000"/>
            </a:avLst>
          </a:prstGeom>
          <a:solidFill>
            <a:srgbClr val="E9EDF2"/>
          </a:solidFill>
          <a:ln>
            <a:solidFill>
              <a:srgbClr val="E9EDF2"/>
            </a:solidFill>
          </a:ln>
        </p:spPr>
        <p:txBody>
          <a:bodyPr wrap="square" lIns="25400" tIns="25400" rIns="25400" bIns="25400" rtlCol="0" anchor="ctr"/>
          <a:lstStyle/>
          <a:p>
            <a:pPr algn="ctr" indent="0" marL="0">
              <a:buNone/>
            </a:pPr>
            <a:r>
              <a:rPr lang="en-US" sz="1100" b="1" dirty="0">
                <a:solidFill>
                  <a:srgbClr val="1C212B"/>
                </a:solidFill>
                <a:latin typeface="Calibri" pitchFamily="34" charset="0"/>
                <a:ea typeface="Calibri" pitchFamily="34" charset="-122"/>
                <a:cs typeface="Calibri" pitchFamily="34" charset="-120"/>
              </a:rPr>
              <a:t>scope root</a:t>
            </a:r>
            <a:endParaRPr lang="en-US" sz="1100" dirty="0"/>
          </a:p>
        </p:txBody>
      </p:sp>
      <p:sp>
        <p:nvSpPr>
          <p:cNvPr id="9" name="Shape 7"/>
          <p:cNvSpPr/>
          <p:nvPr/>
        </p:nvSpPr>
        <p:spPr>
          <a:xfrm>
            <a:off x="1737360" y="2971800"/>
            <a:ext cx="155448" cy="0"/>
          </a:xfrm>
          <a:prstGeom prst="line">
            <a:avLst/>
          </a:prstGeom>
          <a:noFill/>
          <a:ln w="15875">
            <a:solidFill>
              <a:srgbClr val="4E5A6B"/>
            </a:solidFill>
            <a:prstDash val="solid"/>
            <a:tailEnd type="triangle"/>
          </a:ln>
        </p:spPr>
      </p:sp>
      <p:sp>
        <p:nvSpPr>
          <p:cNvPr id="10" name="Text 8"/>
          <p:cNvSpPr txBox="1"/>
          <p:nvPr/>
        </p:nvSpPr>
        <p:spPr>
          <a:xfrm>
            <a:off x="1892808" y="2697480"/>
            <a:ext cx="960120" cy="548640"/>
          </a:xfrm>
          <a:prstGeom prst="roundRect">
            <a:avLst>
              <a:gd name="adj" fmla="val 10000"/>
            </a:avLst>
          </a:prstGeom>
          <a:solidFill>
            <a:srgbClr val="FDF0DE"/>
          </a:solidFill>
          <a:ln>
            <a:solidFill>
              <a:srgbClr val="FDF0DE"/>
            </a:solidFill>
          </a:ln>
        </p:spPr>
        <p:txBody>
          <a:bodyPr wrap="square" lIns="25400" tIns="25400" rIns="25400" bIns="2540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  clamped</a:t>
            </a:r>
            <a:endParaRPr lang="en-US" sz="1100" dirty="0"/>
          </a:p>
        </p:txBody>
      </p:sp>
      <p:sp>
        <p:nvSpPr>
          <p:cNvPr id="11" name="Shape 9"/>
          <p:cNvSpPr/>
          <p:nvPr/>
        </p:nvSpPr>
        <p:spPr>
          <a:xfrm>
            <a:off x="2852928" y="2971800"/>
            <a:ext cx="155448" cy="0"/>
          </a:xfrm>
          <a:prstGeom prst="line">
            <a:avLst/>
          </a:prstGeom>
          <a:noFill/>
          <a:ln w="15875">
            <a:solidFill>
              <a:srgbClr val="4E5A6B"/>
            </a:solidFill>
            <a:prstDash val="solid"/>
            <a:tailEnd type="triangle"/>
          </a:ln>
        </p:spPr>
      </p:sp>
      <p:sp>
        <p:nvSpPr>
          <p:cNvPr id="12" name="Text 10"/>
          <p:cNvSpPr txBox="1"/>
          <p:nvPr/>
        </p:nvSpPr>
        <p:spPr>
          <a:xfrm>
            <a:off x="3008376" y="2697480"/>
            <a:ext cx="960120" cy="548640"/>
          </a:xfrm>
          <a:prstGeom prst="roundRect">
            <a:avLst>
              <a:gd name="adj" fmla="val 10000"/>
            </a:avLst>
          </a:prstGeom>
          <a:solidFill>
            <a:srgbClr val="FDF0DE"/>
          </a:solidFill>
          <a:ln>
            <a:solidFill>
              <a:srgbClr val="FDF0DE"/>
            </a:solidFill>
          </a:ln>
        </p:spPr>
        <p:txBody>
          <a:bodyPr wrap="square" lIns="25400" tIns="25400" rIns="25400" bIns="25400" rtlCol="0" anchor="ctr"/>
          <a:lstStyle/>
          <a:p>
            <a:pPr algn="ctr" indent="0" marL="0">
              <a:buNone/>
            </a:pPr>
            <a:r>
              <a:rPr lang="en-US" sz="1100" b="1" dirty="0">
                <a:solidFill>
                  <a:srgbClr val="9A5A0C"/>
                </a:solidFill>
                <a:latin typeface="Calibri" pitchFamily="34" charset="0"/>
                <a:ea typeface="Calibri" pitchFamily="34" charset="-122"/>
                <a:cs typeface="Calibri" pitchFamily="34" charset="-120"/>
              </a:rPr>
              <a:t>..  clamped</a:t>
            </a:r>
            <a:endParaRPr lang="en-US" sz="1100" dirty="0"/>
          </a:p>
        </p:txBody>
      </p:sp>
      <p:sp>
        <p:nvSpPr>
          <p:cNvPr id="13" name="Shape 11"/>
          <p:cNvSpPr/>
          <p:nvPr/>
        </p:nvSpPr>
        <p:spPr>
          <a:xfrm>
            <a:off x="3968496" y="2971800"/>
            <a:ext cx="155448" cy="0"/>
          </a:xfrm>
          <a:prstGeom prst="line">
            <a:avLst/>
          </a:prstGeom>
          <a:noFill/>
          <a:ln w="15875">
            <a:solidFill>
              <a:srgbClr val="4E5A6B"/>
            </a:solidFill>
            <a:prstDash val="solid"/>
            <a:tailEnd type="triangle"/>
          </a:ln>
        </p:spPr>
      </p:sp>
      <p:sp>
        <p:nvSpPr>
          <p:cNvPr id="14" name="Text 12"/>
          <p:cNvSpPr txBox="1"/>
          <p:nvPr/>
        </p:nvSpPr>
        <p:spPr>
          <a:xfrm>
            <a:off x="4123944" y="2697480"/>
            <a:ext cx="960120" cy="548640"/>
          </a:xfrm>
          <a:prstGeom prst="roundRect">
            <a:avLst>
              <a:gd name="adj" fmla="val 10000"/>
            </a:avLst>
          </a:prstGeom>
          <a:solidFill>
            <a:srgbClr val="E9EDF2"/>
          </a:solidFill>
          <a:ln>
            <a:solidFill>
              <a:srgbClr val="E9EDF2"/>
            </a:solidFill>
          </a:ln>
        </p:spPr>
        <p:txBody>
          <a:bodyPr wrap="square" lIns="25400" tIns="25400" rIns="25400" bIns="25400" rtlCol="0" anchor="ctr"/>
          <a:lstStyle/>
          <a:p>
            <a:pPr algn="ctr" indent="0" marL="0">
              <a:buNone/>
            </a:pPr>
            <a:r>
              <a:rPr lang="en-US" sz="1100" b="1" dirty="0">
                <a:solidFill>
                  <a:srgbClr val="1C212B"/>
                </a:solidFill>
                <a:latin typeface="Calibri" pitchFamily="34" charset="0"/>
                <a:ea typeface="Calibri" pitchFamily="34" charset="-122"/>
                <a:cs typeface="Calibri" pitchFamily="34" charset="-120"/>
              </a:rPr>
              <a:t>etc</a:t>
            </a:r>
            <a:endParaRPr lang="en-US" sz="1100" dirty="0"/>
          </a:p>
        </p:txBody>
      </p:sp>
      <p:sp>
        <p:nvSpPr>
          <p:cNvPr id="15" name="Shape 13"/>
          <p:cNvSpPr/>
          <p:nvPr/>
        </p:nvSpPr>
        <p:spPr>
          <a:xfrm>
            <a:off x="5084064" y="2971800"/>
            <a:ext cx="155448" cy="0"/>
          </a:xfrm>
          <a:prstGeom prst="line">
            <a:avLst/>
          </a:prstGeom>
          <a:noFill/>
          <a:ln w="15875">
            <a:solidFill>
              <a:srgbClr val="4E5A6B"/>
            </a:solidFill>
            <a:prstDash val="solid"/>
            <a:tailEnd type="triangle"/>
          </a:ln>
        </p:spPr>
      </p:sp>
      <p:sp>
        <p:nvSpPr>
          <p:cNvPr id="16" name="Text 14"/>
          <p:cNvSpPr txBox="1"/>
          <p:nvPr/>
        </p:nvSpPr>
        <p:spPr>
          <a:xfrm>
            <a:off x="5239512" y="2697480"/>
            <a:ext cx="960120" cy="548640"/>
          </a:xfrm>
          <a:prstGeom prst="roundRect">
            <a:avLst>
              <a:gd name="adj" fmla="val 10000"/>
            </a:avLst>
          </a:prstGeom>
          <a:solidFill>
            <a:srgbClr val="FBE8E6"/>
          </a:solidFill>
          <a:ln>
            <a:solidFill>
              <a:srgbClr val="FBE8E6"/>
            </a:solidFill>
          </a:ln>
        </p:spPr>
        <p:txBody>
          <a:bodyPr wrap="square" lIns="25400" tIns="25400" rIns="25400" bIns="25400" rtlCol="0" anchor="ctr"/>
          <a:lstStyle/>
          <a:p>
            <a:pPr algn="ctr" indent="0" marL="0">
              <a:buNone/>
            </a:pPr>
            <a:r>
              <a:rPr lang="en-US" sz="1100" b="1" dirty="0">
                <a:solidFill>
                  <a:srgbClr val="8E2B24"/>
                </a:solidFill>
                <a:latin typeface="Calibri" pitchFamily="34" charset="0"/>
                <a:ea typeface="Calibri" pitchFamily="34" charset="-122"/>
                <a:cs typeface="Calibri" pitchFamily="34" charset="-120"/>
              </a:rPr>
              <a:t>No such file</a:t>
            </a:r>
            <a:endParaRPr lang="en-US" sz="1100" dirty="0"/>
          </a:p>
        </p:txBody>
      </p:sp>
      <p:sp>
        <p:nvSpPr>
          <p:cNvPr id="17" name="Text 15"/>
          <p:cNvSpPr txBox="1"/>
          <p:nvPr/>
        </p:nvSpPr>
        <p:spPr>
          <a:xfrm>
            <a:off x="777240" y="3383280"/>
            <a:ext cx="5440680" cy="731520"/>
          </a:xfrm>
          <a:prstGeom prst="rect">
            <a:avLst/>
          </a:prstGeom>
          <a:noFill/>
          <a:ln/>
        </p:spPr>
        <p:txBody>
          <a:bodyPr wrap="square" lIns="0" tIns="0" rIns="0" bIns="0" rtlCol="0" anchor="t"/>
          <a:lstStyle/>
          <a:p>
            <a:pPr algn="l" indent="0" marL="0">
              <a:buNone/>
            </a:pPr>
            <a:r>
              <a:rPr lang="en-US" sz="1200" dirty="0">
                <a:solidFill>
                  <a:srgbClr val="5B6472"/>
                </a:solidFill>
                <a:latin typeface="Calibri" pitchFamily="34" charset="0"/>
                <a:ea typeface="Calibri" pitchFamily="34" charset="-122"/>
                <a:cs typeface="Calibri" pitchFamily="34" charset="-120"/>
              </a:rPr>
              <a:t>Paths are walked one folder at a time from the scope root. Popping past the root does nothing — models write ../ constantly, and a clamp behaves like a chroot.</a:t>
            </a:r>
            <a:endParaRPr lang="en-US" sz="1200" dirty="0"/>
          </a:p>
        </p:txBody>
      </p:sp>
      <p:sp>
        <p:nvSpPr>
          <p:cNvPr id="18" name="Text 16"/>
          <p:cNvSpPr txBox="1"/>
          <p:nvPr/>
        </p:nvSpPr>
        <p:spPr>
          <a:xfrm>
            <a:off x="548640" y="4389120"/>
            <a:ext cx="5852160" cy="178308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Root is NULL, not a row</a:t>
            </a:r>
            <a:endParaRPr lang="en-US" sz="1350" dirty="0"/>
          </a:p>
          <a:p>
            <a:pPr indent="0" marL="0">
              <a:spcAft>
                <a:spcPts val="800"/>
              </a:spcAft>
              <a:buNone/>
            </a:pPr>
            <a:r>
              <a:rPr lang="en-US" sz="1200" dirty="0">
                <a:solidFill>
                  <a:srgbClr val="5B6472"/>
                </a:solidFill>
                <a:latin typeface="Calibri" pitchFamily="34" charset="0"/>
                <a:ea typeface="Calibri" pitchFamily="34" charset="-122"/>
                <a:cs typeface="Calibri" pitchFamily="34" charset="-120"/>
              </a:rPr>
              <a:t>The most-used location cannot be forged, and old documents were placed correctly the moment the column appeared.</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The API is id-addressed</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No route accepts a path as a locator, so traversal is off the table rather than guarded against.</a:t>
            </a:r>
            <a:endParaRPr lang="en-US" sz="1350" dirty="0"/>
          </a:p>
        </p:txBody>
      </p:sp>
      <p:sp>
        <p:nvSpPr>
          <p:cNvPr id="19" name="Text 17"/>
          <p:cNvSpPr txBox="1"/>
          <p:nvPr/>
        </p:nvSpPr>
        <p:spPr>
          <a:xfrm>
            <a:off x="6858000" y="2011680"/>
            <a:ext cx="475488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fileAccess — five modes</a:t>
            </a:r>
            <a:endParaRPr lang="en-US" sz="1400" dirty="0"/>
          </a:p>
        </p:txBody>
      </p:sp>
      <p:sp>
        <p:nvSpPr>
          <p:cNvPr id="20" name="Text 18"/>
          <p:cNvSpPr txBox="1"/>
          <p:nvPr/>
        </p:nvSpPr>
        <p:spPr>
          <a:xfrm>
            <a:off x="8915400" y="2377440"/>
            <a:ext cx="1280160" cy="228600"/>
          </a:xfrm>
          <a:prstGeom prst="rect">
            <a:avLst/>
          </a:prstGeom>
          <a:noFill/>
          <a:ln/>
        </p:spPr>
        <p:txBody>
          <a:bodyPr wrap="square" lIns="0" tIns="0" rIns="0" bIns="0" rtlCol="0" anchor="t"/>
          <a:lstStyle/>
          <a:p>
            <a:pPr algn="l" indent="0" marL="0">
              <a:buNone/>
            </a:pPr>
            <a:r>
              <a:rPr lang="en-US" sz="1100" b="1" dirty="0">
                <a:solidFill>
                  <a:srgbClr val="0D5C55"/>
                </a:solidFill>
                <a:latin typeface="Calibri" pitchFamily="34" charset="0"/>
                <a:ea typeface="Calibri" pitchFamily="34" charset="-122"/>
                <a:cs typeface="Calibri" pitchFamily="34" charset="-120"/>
              </a:rPr>
              <a:t>can read</a:t>
            </a:r>
            <a:endParaRPr lang="en-US" sz="1100" dirty="0"/>
          </a:p>
        </p:txBody>
      </p:sp>
      <p:sp>
        <p:nvSpPr>
          <p:cNvPr id="21" name="Text 19"/>
          <p:cNvSpPr txBox="1"/>
          <p:nvPr/>
        </p:nvSpPr>
        <p:spPr>
          <a:xfrm>
            <a:off x="10332720" y="2377440"/>
            <a:ext cx="1280160" cy="228600"/>
          </a:xfrm>
          <a:prstGeom prst="rect">
            <a:avLst/>
          </a:prstGeom>
          <a:noFill/>
          <a:ln/>
        </p:spPr>
        <p:txBody>
          <a:bodyPr wrap="square" lIns="0" tIns="0" rIns="0" bIns="0" rtlCol="0" anchor="t"/>
          <a:lstStyle/>
          <a:p>
            <a:pPr algn="l" indent="0" marL="0">
              <a:buNone/>
            </a:pPr>
            <a:r>
              <a:rPr lang="en-US" sz="1100" b="1" dirty="0">
                <a:solidFill>
                  <a:srgbClr val="9A5A0C"/>
                </a:solidFill>
                <a:latin typeface="Calibri" pitchFamily="34" charset="0"/>
                <a:ea typeface="Calibri" pitchFamily="34" charset="-122"/>
                <a:cs typeface="Calibri" pitchFamily="34" charset="-120"/>
              </a:rPr>
              <a:t>can write</a:t>
            </a:r>
            <a:endParaRPr lang="en-US" sz="1100" dirty="0"/>
          </a:p>
        </p:txBody>
      </p:sp>
      <p:sp>
        <p:nvSpPr>
          <p:cNvPr id="22" name="Shape 20"/>
          <p:cNvSpPr/>
          <p:nvPr/>
        </p:nvSpPr>
        <p:spPr>
          <a:xfrm>
            <a:off x="6858000" y="2670048"/>
            <a:ext cx="4782312" cy="0"/>
          </a:xfrm>
          <a:prstGeom prst="line">
            <a:avLst/>
          </a:prstGeom>
          <a:noFill/>
          <a:ln w="9525">
            <a:solidFill>
              <a:srgbClr val="D3D9E1"/>
            </a:solidFill>
            <a:prstDash val="solid"/>
          </a:ln>
        </p:spPr>
      </p:sp>
      <p:sp>
        <p:nvSpPr>
          <p:cNvPr id="23" name="Text 21"/>
          <p:cNvSpPr txBox="1"/>
          <p:nvPr/>
        </p:nvSpPr>
        <p:spPr>
          <a:xfrm>
            <a:off x="6858000" y="2816352"/>
            <a:ext cx="2011680" cy="274320"/>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none</a:t>
            </a:r>
            <a:endParaRPr lang="en-US" sz="1150" dirty="0"/>
          </a:p>
        </p:txBody>
      </p:sp>
      <p:sp>
        <p:nvSpPr>
          <p:cNvPr id="24" name="Shape 22"/>
          <p:cNvSpPr/>
          <p:nvPr/>
        </p:nvSpPr>
        <p:spPr>
          <a:xfrm>
            <a:off x="8915400" y="2834640"/>
            <a:ext cx="1234440" cy="256032"/>
          </a:xfrm>
          <a:prstGeom prst="rect">
            <a:avLst/>
          </a:prstGeom>
          <a:solidFill>
            <a:srgbClr val="F3F5F8"/>
          </a:solidFill>
          <a:ln w="12700">
            <a:solidFill>
              <a:srgbClr val="F3F5F8"/>
            </a:solidFill>
            <a:prstDash val="solid"/>
          </a:ln>
        </p:spPr>
      </p:sp>
      <p:sp>
        <p:nvSpPr>
          <p:cNvPr id="25" name="Shape 23"/>
          <p:cNvSpPr/>
          <p:nvPr/>
        </p:nvSpPr>
        <p:spPr>
          <a:xfrm>
            <a:off x="10332720" y="2834640"/>
            <a:ext cx="1234440" cy="256032"/>
          </a:xfrm>
          <a:prstGeom prst="rect">
            <a:avLst/>
          </a:prstGeom>
          <a:solidFill>
            <a:srgbClr val="F3F5F8"/>
          </a:solidFill>
          <a:ln w="12700">
            <a:solidFill>
              <a:srgbClr val="F3F5F8"/>
            </a:solidFill>
            <a:prstDash val="solid"/>
          </a:ln>
        </p:spPr>
      </p:sp>
      <p:sp>
        <p:nvSpPr>
          <p:cNvPr id="26" name="Shape 24"/>
          <p:cNvSpPr/>
          <p:nvPr/>
        </p:nvSpPr>
        <p:spPr>
          <a:xfrm>
            <a:off x="6858000" y="3310128"/>
            <a:ext cx="4782312" cy="0"/>
          </a:xfrm>
          <a:prstGeom prst="line">
            <a:avLst/>
          </a:prstGeom>
          <a:noFill/>
          <a:ln w="9525">
            <a:solidFill>
              <a:srgbClr val="D3D9E1"/>
            </a:solidFill>
            <a:prstDash val="solid"/>
          </a:ln>
        </p:spPr>
      </p:sp>
      <p:sp>
        <p:nvSpPr>
          <p:cNvPr id="27" name="Text 25"/>
          <p:cNvSpPr txBox="1"/>
          <p:nvPr/>
        </p:nvSpPr>
        <p:spPr>
          <a:xfrm>
            <a:off x="6858000" y="3456432"/>
            <a:ext cx="2011680" cy="274320"/>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readonly</a:t>
            </a:r>
            <a:endParaRPr lang="en-US" sz="1150" dirty="0"/>
          </a:p>
        </p:txBody>
      </p:sp>
      <p:sp>
        <p:nvSpPr>
          <p:cNvPr id="28" name="Shape 26"/>
          <p:cNvSpPr/>
          <p:nvPr/>
        </p:nvSpPr>
        <p:spPr>
          <a:xfrm>
            <a:off x="8915400" y="3474720"/>
            <a:ext cx="1234440" cy="256032"/>
          </a:xfrm>
          <a:prstGeom prst="rect">
            <a:avLst/>
          </a:prstGeom>
          <a:solidFill>
            <a:srgbClr val="F3F5F8"/>
          </a:solidFill>
          <a:ln w="12700">
            <a:solidFill>
              <a:srgbClr val="F3F5F8"/>
            </a:solidFill>
            <a:prstDash val="solid"/>
          </a:ln>
        </p:spPr>
      </p:sp>
      <p:sp>
        <p:nvSpPr>
          <p:cNvPr id="29" name="Shape 27"/>
          <p:cNvSpPr/>
          <p:nvPr/>
        </p:nvSpPr>
        <p:spPr>
          <a:xfrm>
            <a:off x="8915400" y="3474720"/>
            <a:ext cx="1234440" cy="256032"/>
          </a:xfrm>
          <a:prstGeom prst="rect">
            <a:avLst/>
          </a:prstGeom>
          <a:solidFill>
            <a:srgbClr val="15877D"/>
          </a:solidFill>
          <a:ln w="12700">
            <a:solidFill>
              <a:srgbClr val="15877D"/>
            </a:solidFill>
            <a:prstDash val="solid"/>
          </a:ln>
        </p:spPr>
      </p:sp>
      <p:sp>
        <p:nvSpPr>
          <p:cNvPr id="30" name="Shape 28"/>
          <p:cNvSpPr/>
          <p:nvPr/>
        </p:nvSpPr>
        <p:spPr>
          <a:xfrm>
            <a:off x="10332720" y="3474720"/>
            <a:ext cx="1234440" cy="256032"/>
          </a:xfrm>
          <a:prstGeom prst="rect">
            <a:avLst/>
          </a:prstGeom>
          <a:solidFill>
            <a:srgbClr val="F3F5F8"/>
          </a:solidFill>
          <a:ln w="12700">
            <a:solidFill>
              <a:srgbClr val="F3F5F8"/>
            </a:solidFill>
            <a:prstDash val="solid"/>
          </a:ln>
        </p:spPr>
      </p:sp>
      <p:sp>
        <p:nvSpPr>
          <p:cNvPr id="31" name="Shape 29"/>
          <p:cNvSpPr/>
          <p:nvPr/>
        </p:nvSpPr>
        <p:spPr>
          <a:xfrm>
            <a:off x="6858000" y="3950208"/>
            <a:ext cx="4782312" cy="0"/>
          </a:xfrm>
          <a:prstGeom prst="line">
            <a:avLst/>
          </a:prstGeom>
          <a:noFill/>
          <a:ln w="9525">
            <a:solidFill>
              <a:srgbClr val="D3D9E1"/>
            </a:solidFill>
            <a:prstDash val="solid"/>
          </a:ln>
        </p:spPr>
      </p:sp>
      <p:sp>
        <p:nvSpPr>
          <p:cNvPr id="32" name="Text 30"/>
          <p:cNvSpPr txBox="1"/>
          <p:nvPr/>
        </p:nvSpPr>
        <p:spPr>
          <a:xfrm>
            <a:off x="6858000" y="4096512"/>
            <a:ext cx="2011680" cy="274320"/>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scoped</a:t>
            </a:r>
            <a:endParaRPr lang="en-US" sz="1150" dirty="0"/>
          </a:p>
        </p:txBody>
      </p:sp>
      <p:sp>
        <p:nvSpPr>
          <p:cNvPr id="33" name="Shape 31"/>
          <p:cNvSpPr/>
          <p:nvPr/>
        </p:nvSpPr>
        <p:spPr>
          <a:xfrm>
            <a:off x="8915400" y="4114800"/>
            <a:ext cx="1234440" cy="256032"/>
          </a:xfrm>
          <a:prstGeom prst="rect">
            <a:avLst/>
          </a:prstGeom>
          <a:solidFill>
            <a:srgbClr val="F3F5F8"/>
          </a:solidFill>
          <a:ln w="12700">
            <a:solidFill>
              <a:srgbClr val="F3F5F8"/>
            </a:solidFill>
            <a:prstDash val="solid"/>
          </a:ln>
        </p:spPr>
      </p:sp>
      <p:sp>
        <p:nvSpPr>
          <p:cNvPr id="34" name="Shape 32"/>
          <p:cNvSpPr/>
          <p:nvPr/>
        </p:nvSpPr>
        <p:spPr>
          <a:xfrm>
            <a:off x="8915400" y="4114800"/>
            <a:ext cx="432054" cy="256032"/>
          </a:xfrm>
          <a:prstGeom prst="rect">
            <a:avLst/>
          </a:prstGeom>
          <a:solidFill>
            <a:srgbClr val="15877D"/>
          </a:solidFill>
          <a:ln w="12700">
            <a:solidFill>
              <a:srgbClr val="15877D"/>
            </a:solidFill>
            <a:prstDash val="solid"/>
          </a:ln>
        </p:spPr>
      </p:sp>
      <p:sp>
        <p:nvSpPr>
          <p:cNvPr id="35" name="Shape 33"/>
          <p:cNvSpPr/>
          <p:nvPr/>
        </p:nvSpPr>
        <p:spPr>
          <a:xfrm>
            <a:off x="10332720" y="4114800"/>
            <a:ext cx="1234440" cy="256032"/>
          </a:xfrm>
          <a:prstGeom prst="rect">
            <a:avLst/>
          </a:prstGeom>
          <a:solidFill>
            <a:srgbClr val="F3F5F8"/>
          </a:solidFill>
          <a:ln w="12700">
            <a:solidFill>
              <a:srgbClr val="F3F5F8"/>
            </a:solidFill>
            <a:prstDash val="solid"/>
          </a:ln>
        </p:spPr>
      </p:sp>
      <p:sp>
        <p:nvSpPr>
          <p:cNvPr id="36" name="Shape 34"/>
          <p:cNvSpPr/>
          <p:nvPr/>
        </p:nvSpPr>
        <p:spPr>
          <a:xfrm>
            <a:off x="10332720" y="4114800"/>
            <a:ext cx="432054" cy="256032"/>
          </a:xfrm>
          <a:prstGeom prst="rect">
            <a:avLst/>
          </a:prstGeom>
          <a:solidFill>
            <a:srgbClr val="E08A1E"/>
          </a:solidFill>
          <a:ln w="12700">
            <a:solidFill>
              <a:srgbClr val="E08A1E"/>
            </a:solidFill>
            <a:prstDash val="solid"/>
          </a:ln>
        </p:spPr>
      </p:sp>
      <p:sp>
        <p:nvSpPr>
          <p:cNvPr id="37" name="Shape 35"/>
          <p:cNvSpPr/>
          <p:nvPr/>
        </p:nvSpPr>
        <p:spPr>
          <a:xfrm>
            <a:off x="6858000" y="4590288"/>
            <a:ext cx="4782312" cy="0"/>
          </a:xfrm>
          <a:prstGeom prst="line">
            <a:avLst/>
          </a:prstGeom>
          <a:noFill/>
          <a:ln w="9525">
            <a:solidFill>
              <a:srgbClr val="D3D9E1"/>
            </a:solidFill>
            <a:prstDash val="solid"/>
          </a:ln>
        </p:spPr>
      </p:sp>
      <p:sp>
        <p:nvSpPr>
          <p:cNvPr id="38" name="Text 36"/>
          <p:cNvSpPr txBox="1"/>
          <p:nvPr/>
        </p:nvSpPr>
        <p:spPr>
          <a:xfrm>
            <a:off x="6858000" y="4736592"/>
            <a:ext cx="2011680" cy="274320"/>
          </a:xfrm>
          <a:prstGeom prst="rect">
            <a:avLst/>
          </a:prstGeom>
          <a:noFill/>
          <a:ln/>
        </p:spPr>
        <p:txBody>
          <a:bodyPr wrap="square" lIns="0" tIns="0" rIns="0" bIns="0" rtlCol="0" anchor="t"/>
          <a:lstStyle/>
          <a:p>
            <a:pPr algn="l" indent="0" marL="0">
              <a:buNone/>
            </a:pPr>
            <a:r>
              <a:rPr lang="en-US" sz="1150" b="1" dirty="0">
                <a:solidFill>
                  <a:srgbClr val="1C212B"/>
                </a:solidFill>
                <a:latin typeface="Courier New" pitchFamily="34" charset="0"/>
                <a:ea typeface="Courier New" pitchFamily="34" charset="-122"/>
                <a:cs typeface="Courier New" pitchFamily="34" charset="-120"/>
              </a:rPr>
              <a:t>read_all_write_own</a:t>
            </a:r>
            <a:endParaRPr lang="en-US" sz="1150" dirty="0"/>
          </a:p>
        </p:txBody>
      </p:sp>
      <p:sp>
        <p:nvSpPr>
          <p:cNvPr id="39" name="Shape 37"/>
          <p:cNvSpPr/>
          <p:nvPr/>
        </p:nvSpPr>
        <p:spPr>
          <a:xfrm>
            <a:off x="8915400" y="4754880"/>
            <a:ext cx="1234440" cy="256032"/>
          </a:xfrm>
          <a:prstGeom prst="rect">
            <a:avLst/>
          </a:prstGeom>
          <a:solidFill>
            <a:srgbClr val="F3F5F8"/>
          </a:solidFill>
          <a:ln w="12700">
            <a:solidFill>
              <a:srgbClr val="F3F5F8"/>
            </a:solidFill>
            <a:prstDash val="solid"/>
          </a:ln>
        </p:spPr>
      </p:sp>
      <p:sp>
        <p:nvSpPr>
          <p:cNvPr id="40" name="Shape 38"/>
          <p:cNvSpPr/>
          <p:nvPr/>
        </p:nvSpPr>
        <p:spPr>
          <a:xfrm>
            <a:off x="8915400" y="4754880"/>
            <a:ext cx="1234440" cy="256032"/>
          </a:xfrm>
          <a:prstGeom prst="rect">
            <a:avLst/>
          </a:prstGeom>
          <a:solidFill>
            <a:srgbClr val="15877D"/>
          </a:solidFill>
          <a:ln w="12700">
            <a:solidFill>
              <a:srgbClr val="15877D"/>
            </a:solidFill>
            <a:prstDash val="solid"/>
          </a:ln>
        </p:spPr>
      </p:sp>
      <p:sp>
        <p:nvSpPr>
          <p:cNvPr id="41" name="Shape 39"/>
          <p:cNvSpPr/>
          <p:nvPr/>
        </p:nvSpPr>
        <p:spPr>
          <a:xfrm>
            <a:off x="10332720" y="4754880"/>
            <a:ext cx="1234440" cy="256032"/>
          </a:xfrm>
          <a:prstGeom prst="rect">
            <a:avLst/>
          </a:prstGeom>
          <a:solidFill>
            <a:srgbClr val="F3F5F8"/>
          </a:solidFill>
          <a:ln w="12700">
            <a:solidFill>
              <a:srgbClr val="F3F5F8"/>
            </a:solidFill>
            <a:prstDash val="solid"/>
          </a:ln>
        </p:spPr>
      </p:sp>
      <p:sp>
        <p:nvSpPr>
          <p:cNvPr id="42" name="Shape 40"/>
          <p:cNvSpPr/>
          <p:nvPr/>
        </p:nvSpPr>
        <p:spPr>
          <a:xfrm>
            <a:off x="10332720" y="4754880"/>
            <a:ext cx="432054" cy="256032"/>
          </a:xfrm>
          <a:prstGeom prst="rect">
            <a:avLst/>
          </a:prstGeom>
          <a:solidFill>
            <a:srgbClr val="E08A1E"/>
          </a:solidFill>
          <a:ln w="12700">
            <a:solidFill>
              <a:srgbClr val="E08A1E"/>
            </a:solidFill>
            <a:prstDash val="solid"/>
          </a:ln>
        </p:spPr>
      </p:sp>
      <p:sp>
        <p:nvSpPr>
          <p:cNvPr id="43" name="Shape 41"/>
          <p:cNvSpPr/>
          <p:nvPr/>
        </p:nvSpPr>
        <p:spPr>
          <a:xfrm>
            <a:off x="6858000" y="5230368"/>
            <a:ext cx="4782312" cy="0"/>
          </a:xfrm>
          <a:prstGeom prst="line">
            <a:avLst/>
          </a:prstGeom>
          <a:noFill/>
          <a:ln w="9525">
            <a:solidFill>
              <a:srgbClr val="D3D9E1"/>
            </a:solidFill>
            <a:prstDash val="solid"/>
          </a:ln>
        </p:spPr>
      </p:sp>
      <p:sp>
        <p:nvSpPr>
          <p:cNvPr id="44" name="Text 42"/>
          <p:cNvSpPr txBox="1"/>
          <p:nvPr/>
        </p:nvSpPr>
        <p:spPr>
          <a:xfrm>
            <a:off x="6858000" y="5376672"/>
            <a:ext cx="2011680" cy="274320"/>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full</a:t>
            </a:r>
            <a:endParaRPr lang="en-US" sz="1150" dirty="0"/>
          </a:p>
        </p:txBody>
      </p:sp>
      <p:sp>
        <p:nvSpPr>
          <p:cNvPr id="45" name="Shape 43"/>
          <p:cNvSpPr/>
          <p:nvPr/>
        </p:nvSpPr>
        <p:spPr>
          <a:xfrm>
            <a:off x="8915400" y="5394960"/>
            <a:ext cx="1234440" cy="256032"/>
          </a:xfrm>
          <a:prstGeom prst="rect">
            <a:avLst/>
          </a:prstGeom>
          <a:solidFill>
            <a:srgbClr val="F3F5F8"/>
          </a:solidFill>
          <a:ln w="12700">
            <a:solidFill>
              <a:srgbClr val="F3F5F8"/>
            </a:solidFill>
            <a:prstDash val="solid"/>
          </a:ln>
        </p:spPr>
      </p:sp>
      <p:sp>
        <p:nvSpPr>
          <p:cNvPr id="46" name="Shape 44"/>
          <p:cNvSpPr/>
          <p:nvPr/>
        </p:nvSpPr>
        <p:spPr>
          <a:xfrm>
            <a:off x="8915400" y="5394960"/>
            <a:ext cx="1234440" cy="256032"/>
          </a:xfrm>
          <a:prstGeom prst="rect">
            <a:avLst/>
          </a:prstGeom>
          <a:solidFill>
            <a:srgbClr val="15877D"/>
          </a:solidFill>
          <a:ln w="12700">
            <a:solidFill>
              <a:srgbClr val="15877D"/>
            </a:solidFill>
            <a:prstDash val="solid"/>
          </a:ln>
        </p:spPr>
      </p:sp>
      <p:sp>
        <p:nvSpPr>
          <p:cNvPr id="47" name="Shape 45"/>
          <p:cNvSpPr/>
          <p:nvPr/>
        </p:nvSpPr>
        <p:spPr>
          <a:xfrm>
            <a:off x="10332720" y="5394960"/>
            <a:ext cx="1234440" cy="256032"/>
          </a:xfrm>
          <a:prstGeom prst="rect">
            <a:avLst/>
          </a:prstGeom>
          <a:solidFill>
            <a:srgbClr val="F3F5F8"/>
          </a:solidFill>
          <a:ln w="12700">
            <a:solidFill>
              <a:srgbClr val="F3F5F8"/>
            </a:solidFill>
            <a:prstDash val="solid"/>
          </a:ln>
        </p:spPr>
      </p:sp>
      <p:sp>
        <p:nvSpPr>
          <p:cNvPr id="48" name="Shape 46"/>
          <p:cNvSpPr/>
          <p:nvPr/>
        </p:nvSpPr>
        <p:spPr>
          <a:xfrm>
            <a:off x="10332720" y="5394960"/>
            <a:ext cx="1234440" cy="256032"/>
          </a:xfrm>
          <a:prstGeom prst="rect">
            <a:avLst/>
          </a:prstGeom>
          <a:solidFill>
            <a:srgbClr val="E08A1E"/>
          </a:solidFill>
          <a:ln w="12700">
            <a:solidFill>
              <a:srgbClr val="E08A1E"/>
            </a:solidFill>
            <a:prstDash val="solid"/>
          </a:ln>
        </p:spPr>
      </p:sp>
      <p:sp>
        <p:nvSpPr>
          <p:cNvPr id="49" name="Text 47"/>
          <p:cNvSpPr txBox="1"/>
          <p:nvPr/>
        </p:nvSpPr>
        <p:spPr>
          <a:xfrm>
            <a:off x="6858000" y="5989320"/>
            <a:ext cx="4800600" cy="457200"/>
          </a:xfrm>
          <a:prstGeom prst="rect">
            <a:avLst/>
          </a:prstGeom>
          <a:noFill/>
          <a:ln/>
        </p:spPr>
        <p:txBody>
          <a:bodyPr wrap="square" lIns="0" tIns="0" rIns="0" bIns="0" rtlCol="0" anchor="t"/>
          <a:lstStyle/>
          <a:p>
            <a:pPr algn="l" indent="0" marL="0">
              <a:buNone/>
            </a:pPr>
            <a:r>
              <a:rPr lang="en-US" sz="1100" i="1" dirty="0">
                <a:solidFill>
                  <a:srgbClr val="5B6472"/>
                </a:solidFill>
                <a:latin typeface="Calibri" pitchFamily="34" charset="0"/>
                <a:ea typeface="Calibri" pitchFamily="34" charset="-122"/>
                <a:cs typeface="Calibri" pitchFamily="34" charset="-120"/>
              </a:rPr>
              <a:t>Short bar = only the agent's own folder. read_all_write_own is what most tasks want: read everything, save somewhere bounded.</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FILES &amp; APPS · CONCURRENCY</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Two writers, one file: how the VFS stays consistent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An agent, a person in an editor and another agent can all touch the same document.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25</a:t>
            </a:r>
            <a:endParaRPr lang="en-US" sz="1000" dirty="0"/>
          </a:p>
        </p:txBody>
      </p:sp>
      <p:sp>
        <p:nvSpPr>
          <p:cNvPr id="6" name="Text 4"/>
          <p:cNvSpPr txBox="1"/>
          <p:nvPr/>
        </p:nvSpPr>
        <p:spPr>
          <a:xfrm>
            <a:off x="502920" y="2011680"/>
            <a:ext cx="1463040" cy="502920"/>
          </a:xfrm>
          <a:prstGeom prst="roundRect">
            <a:avLst>
              <a:gd name="adj" fmla="val 14545"/>
            </a:avLst>
          </a:prstGeom>
          <a:solidFill>
            <a:srgbClr val="E9EDF2"/>
          </a:solidFill>
          <a:ln w="12700">
            <a:solidFill>
              <a:srgbClr val="E9EDF2"/>
            </a:solidFill>
            <a:prstDash val="solid"/>
          </a:ln>
        </p:spPr>
        <p:txBody>
          <a:bodyPr wrap="square" lIns="50800" tIns="101600" rIns="101600" bIns="50800" rtlCol="0" anchor="ctr"/>
          <a:lstStyle/>
          <a:p>
            <a:pPr algn="ctr" indent="0" marL="0">
              <a:spcAft>
                <a:spcPts val="200"/>
              </a:spcAft>
              <a:buNone/>
            </a:pPr>
            <a:r>
              <a:rPr lang="en-US" sz="1300" b="1" dirty="0">
                <a:solidFill>
                  <a:srgbClr val="1C212B"/>
                </a:solidFill>
                <a:latin typeface="Arial" pitchFamily="34" charset="0"/>
                <a:ea typeface="Arial" pitchFamily="34" charset="-122"/>
                <a:cs typeface="Arial" pitchFamily="34" charset="-120"/>
              </a:rPr>
              <a:t>Agent</a:t>
            </a:r>
            <a:endParaRPr lang="en-US" sz="1300" dirty="0"/>
          </a:p>
        </p:txBody>
      </p:sp>
      <p:sp>
        <p:nvSpPr>
          <p:cNvPr id="7" name="Shape 5"/>
          <p:cNvSpPr/>
          <p:nvPr/>
        </p:nvSpPr>
        <p:spPr>
          <a:xfrm>
            <a:off x="1234440" y="2514600"/>
            <a:ext cx="0" cy="3611880"/>
          </a:xfrm>
          <a:prstGeom prst="line">
            <a:avLst/>
          </a:prstGeom>
          <a:noFill/>
          <a:ln w="15875">
            <a:solidFill>
              <a:srgbClr val="D3D9E1"/>
            </a:solidFill>
            <a:prstDash val="dash"/>
          </a:ln>
        </p:spPr>
      </p:sp>
      <p:sp>
        <p:nvSpPr>
          <p:cNvPr id="8" name="Text 6"/>
          <p:cNvSpPr txBox="1"/>
          <p:nvPr/>
        </p:nvSpPr>
        <p:spPr>
          <a:xfrm>
            <a:off x="2880360" y="2011680"/>
            <a:ext cx="1463040" cy="502920"/>
          </a:xfrm>
          <a:prstGeom prst="roundRect">
            <a:avLst>
              <a:gd name="adj" fmla="val 14545"/>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300" b="1" dirty="0">
                <a:solidFill>
                  <a:srgbClr val="FFFFFF"/>
                </a:solidFill>
                <a:latin typeface="Arial" pitchFamily="34" charset="0"/>
                <a:ea typeface="Arial" pitchFamily="34" charset="-122"/>
                <a:cs typeface="Arial" pitchFamily="34" charset="-120"/>
              </a:rPr>
              <a:t>VFS</a:t>
            </a:r>
            <a:endParaRPr lang="en-US" sz="1300" dirty="0"/>
          </a:p>
        </p:txBody>
      </p:sp>
      <p:sp>
        <p:nvSpPr>
          <p:cNvPr id="9" name="Shape 7"/>
          <p:cNvSpPr/>
          <p:nvPr/>
        </p:nvSpPr>
        <p:spPr>
          <a:xfrm>
            <a:off x="3611880" y="2514600"/>
            <a:ext cx="0" cy="3611880"/>
          </a:xfrm>
          <a:prstGeom prst="line">
            <a:avLst/>
          </a:prstGeom>
          <a:noFill/>
          <a:ln w="15875">
            <a:solidFill>
              <a:srgbClr val="D3D9E1"/>
            </a:solidFill>
            <a:prstDash val="dash"/>
          </a:ln>
        </p:spPr>
      </p:sp>
      <p:sp>
        <p:nvSpPr>
          <p:cNvPr id="10" name="Text 8"/>
          <p:cNvSpPr txBox="1"/>
          <p:nvPr/>
        </p:nvSpPr>
        <p:spPr>
          <a:xfrm>
            <a:off x="5257800" y="2011680"/>
            <a:ext cx="1463040" cy="502920"/>
          </a:xfrm>
          <a:prstGeom prst="roundRect">
            <a:avLst>
              <a:gd name="adj" fmla="val 14545"/>
            </a:avLst>
          </a:prstGeom>
          <a:solidFill>
            <a:srgbClr val="E9EDF2"/>
          </a:solidFill>
          <a:ln w="12700">
            <a:solidFill>
              <a:srgbClr val="E9EDF2"/>
            </a:solidFill>
            <a:prstDash val="solid"/>
          </a:ln>
        </p:spPr>
        <p:txBody>
          <a:bodyPr wrap="square" lIns="50800" tIns="101600" rIns="101600" bIns="50800" rtlCol="0" anchor="ctr"/>
          <a:lstStyle/>
          <a:p>
            <a:pPr algn="ctr" indent="0" marL="0">
              <a:spcAft>
                <a:spcPts val="200"/>
              </a:spcAft>
              <a:buNone/>
            </a:pPr>
            <a:r>
              <a:rPr lang="en-US" sz="1300" b="1" dirty="0">
                <a:solidFill>
                  <a:srgbClr val="1C212B"/>
                </a:solidFill>
                <a:latin typeface="Arial" pitchFamily="34" charset="0"/>
                <a:ea typeface="Arial" pitchFamily="34" charset="-122"/>
                <a:cs typeface="Arial" pitchFamily="34" charset="-120"/>
              </a:rPr>
              <a:t>You (editor)</a:t>
            </a:r>
            <a:endParaRPr lang="en-US" sz="1300" dirty="0"/>
          </a:p>
        </p:txBody>
      </p:sp>
      <p:sp>
        <p:nvSpPr>
          <p:cNvPr id="11" name="Shape 9"/>
          <p:cNvSpPr/>
          <p:nvPr/>
        </p:nvSpPr>
        <p:spPr>
          <a:xfrm>
            <a:off x="5989320" y="2514600"/>
            <a:ext cx="0" cy="3611880"/>
          </a:xfrm>
          <a:prstGeom prst="line">
            <a:avLst/>
          </a:prstGeom>
          <a:noFill/>
          <a:ln w="15875">
            <a:solidFill>
              <a:srgbClr val="D3D9E1"/>
            </a:solidFill>
            <a:prstDash val="dash"/>
          </a:ln>
        </p:spPr>
      </p:sp>
      <p:sp>
        <p:nvSpPr>
          <p:cNvPr id="12" name="Shape 10"/>
          <p:cNvSpPr/>
          <p:nvPr/>
        </p:nvSpPr>
        <p:spPr>
          <a:xfrm>
            <a:off x="1234440" y="2971800"/>
            <a:ext cx="2377440" cy="0"/>
          </a:xfrm>
          <a:prstGeom prst="line">
            <a:avLst/>
          </a:prstGeom>
          <a:noFill/>
          <a:ln w="22225">
            <a:solidFill>
              <a:srgbClr val="4E5A6B"/>
            </a:solidFill>
            <a:prstDash val="solid"/>
            <a:tailEnd type="triangle"/>
          </a:ln>
        </p:spPr>
      </p:sp>
      <p:sp>
        <p:nvSpPr>
          <p:cNvPr id="13" name="Text 11"/>
          <p:cNvSpPr txBox="1"/>
          <p:nvPr/>
        </p:nvSpPr>
        <p:spPr>
          <a:xfrm>
            <a:off x="1307592" y="2697480"/>
            <a:ext cx="2231136" cy="237744"/>
          </a:xfrm>
          <a:prstGeom prst="rect">
            <a:avLst/>
          </a:prstGeom>
          <a:noFill/>
          <a:ln/>
        </p:spPr>
        <p:txBody>
          <a:bodyPr wrap="square" lIns="0" tIns="0" rIns="0" bIns="0" rtlCol="0" anchor="t"/>
          <a:lstStyle/>
          <a:p>
            <a:pPr algn="ctr" indent="0" marL="0">
              <a:buNone/>
            </a:pPr>
            <a:r>
              <a:rPr lang="en-US" sz="1050" dirty="0">
                <a:solidFill>
                  <a:srgbClr val="1C212B"/>
                </a:solidFill>
                <a:latin typeface="Calibri" pitchFamily="34" charset="0"/>
                <a:ea typeface="Calibri" pitchFamily="34" charset="-122"/>
                <a:cs typeface="Calibri" pitchFamily="34" charset="-120"/>
              </a:rPr>
              <a:t>read_file</a:t>
            </a:r>
            <a:endParaRPr lang="en-US" sz="1050" dirty="0"/>
          </a:p>
        </p:txBody>
      </p:sp>
      <p:sp>
        <p:nvSpPr>
          <p:cNvPr id="14" name="Shape 12"/>
          <p:cNvSpPr/>
          <p:nvPr/>
        </p:nvSpPr>
        <p:spPr>
          <a:xfrm flipH="1">
            <a:off x="1234440" y="3474720"/>
            <a:ext cx="2377440" cy="0"/>
          </a:xfrm>
          <a:prstGeom prst="line">
            <a:avLst/>
          </a:prstGeom>
          <a:noFill/>
          <a:ln w="22225">
            <a:solidFill>
              <a:srgbClr val="4E5A6B"/>
            </a:solidFill>
            <a:prstDash val="dash"/>
            <a:tailEnd type="triangle"/>
          </a:ln>
        </p:spPr>
      </p:sp>
      <p:sp>
        <p:nvSpPr>
          <p:cNvPr id="15" name="Text 13"/>
          <p:cNvSpPr txBox="1"/>
          <p:nvPr/>
        </p:nvSpPr>
        <p:spPr>
          <a:xfrm>
            <a:off x="1307592" y="3200400"/>
            <a:ext cx="2231136" cy="237744"/>
          </a:xfrm>
          <a:prstGeom prst="rect">
            <a:avLst/>
          </a:prstGeom>
          <a:noFill/>
          <a:ln/>
        </p:spPr>
        <p:txBody>
          <a:bodyPr wrap="square" lIns="0" tIns="0" rIns="0" bIns="0" rtlCol="0" anchor="t"/>
          <a:lstStyle/>
          <a:p>
            <a:pPr algn="ctr" indent="0" marL="0">
              <a:buNone/>
            </a:pPr>
            <a:r>
              <a:rPr lang="en-US" sz="1050" i="1" dirty="0">
                <a:solidFill>
                  <a:srgbClr val="5B6472"/>
                </a:solidFill>
                <a:latin typeface="Calibri" pitchFamily="34" charset="0"/>
                <a:ea typeface="Calibri" pitchFamily="34" charset="-122"/>
                <a:cs typeface="Calibri" pitchFamily="34" charset="-120"/>
              </a:rPr>
              <a:t>content + version v7</a:t>
            </a:r>
            <a:endParaRPr lang="en-US" sz="1050" dirty="0"/>
          </a:p>
        </p:txBody>
      </p:sp>
      <p:sp>
        <p:nvSpPr>
          <p:cNvPr id="16" name="Shape 14"/>
          <p:cNvSpPr/>
          <p:nvPr/>
        </p:nvSpPr>
        <p:spPr>
          <a:xfrm flipH="1">
            <a:off x="3611880" y="4114800"/>
            <a:ext cx="2377440" cy="0"/>
          </a:xfrm>
          <a:prstGeom prst="line">
            <a:avLst/>
          </a:prstGeom>
          <a:noFill/>
          <a:ln w="22225">
            <a:solidFill>
              <a:srgbClr val="4E5A6B"/>
            </a:solidFill>
            <a:prstDash val="solid"/>
            <a:tailEnd type="triangle"/>
          </a:ln>
        </p:spPr>
      </p:sp>
      <p:sp>
        <p:nvSpPr>
          <p:cNvPr id="17" name="Text 15"/>
          <p:cNvSpPr txBox="1"/>
          <p:nvPr/>
        </p:nvSpPr>
        <p:spPr>
          <a:xfrm>
            <a:off x="3685032" y="3840480"/>
            <a:ext cx="2231136" cy="237744"/>
          </a:xfrm>
          <a:prstGeom prst="rect">
            <a:avLst/>
          </a:prstGeom>
          <a:noFill/>
          <a:ln/>
        </p:spPr>
        <p:txBody>
          <a:bodyPr wrap="square" lIns="0" tIns="0" rIns="0" bIns="0" rtlCol="0" anchor="t"/>
          <a:lstStyle/>
          <a:p>
            <a:pPr algn="ctr" indent="0" marL="0">
              <a:buNone/>
            </a:pPr>
            <a:r>
              <a:rPr lang="en-US" sz="1050" dirty="0">
                <a:solidFill>
                  <a:srgbClr val="1C212B"/>
                </a:solidFill>
                <a:latin typeface="Calibri" pitchFamily="34" charset="0"/>
                <a:ea typeface="Calibri" pitchFamily="34" charset="-122"/>
                <a:cs typeface="Calibri" pitchFamily="34" charset="-120"/>
              </a:rPr>
              <a:t>autosave an edit</a:t>
            </a:r>
            <a:endParaRPr lang="en-US" sz="1050" dirty="0"/>
          </a:p>
        </p:txBody>
      </p:sp>
      <p:sp>
        <p:nvSpPr>
          <p:cNvPr id="18" name="Text 16"/>
          <p:cNvSpPr txBox="1"/>
          <p:nvPr/>
        </p:nvSpPr>
        <p:spPr>
          <a:xfrm>
            <a:off x="3703320" y="4251960"/>
            <a:ext cx="2103120" cy="237744"/>
          </a:xfrm>
          <a:prstGeom prst="rect">
            <a:avLst/>
          </a:prstGeom>
          <a:noFill/>
          <a:ln/>
        </p:spPr>
        <p:txBody>
          <a:bodyPr wrap="square" lIns="0" tIns="0" rIns="0" bIns="0" rtlCol="0" anchor="t"/>
          <a:lstStyle/>
          <a:p>
            <a:pPr algn="l" indent="0" marL="0">
              <a:buNone/>
            </a:pPr>
            <a:r>
              <a:rPr lang="en-US" sz="1050" i="1" dirty="0">
                <a:solidFill>
                  <a:srgbClr val="0D5C55"/>
                </a:solidFill>
                <a:latin typeface="Calibri" pitchFamily="34" charset="0"/>
                <a:ea typeface="Calibri" pitchFamily="34" charset="-122"/>
                <a:cs typeface="Calibri" pitchFamily="34" charset="-120"/>
              </a:rPr>
              <a:t>v7 kept as a version → v8</a:t>
            </a:r>
            <a:endParaRPr lang="en-US" sz="1050" dirty="0"/>
          </a:p>
        </p:txBody>
      </p:sp>
      <p:sp>
        <p:nvSpPr>
          <p:cNvPr id="19" name="Shape 17"/>
          <p:cNvSpPr/>
          <p:nvPr/>
        </p:nvSpPr>
        <p:spPr>
          <a:xfrm>
            <a:off x="1234440" y="4937760"/>
            <a:ext cx="2377440" cy="0"/>
          </a:xfrm>
          <a:prstGeom prst="line">
            <a:avLst/>
          </a:prstGeom>
          <a:noFill/>
          <a:ln w="22225">
            <a:solidFill>
              <a:srgbClr val="4E5A6B"/>
            </a:solidFill>
            <a:prstDash val="solid"/>
            <a:tailEnd type="triangle"/>
          </a:ln>
        </p:spPr>
      </p:sp>
      <p:sp>
        <p:nvSpPr>
          <p:cNvPr id="20" name="Text 18"/>
          <p:cNvSpPr txBox="1"/>
          <p:nvPr/>
        </p:nvSpPr>
        <p:spPr>
          <a:xfrm>
            <a:off x="1307592" y="4663440"/>
            <a:ext cx="2231136" cy="237744"/>
          </a:xfrm>
          <a:prstGeom prst="rect">
            <a:avLst/>
          </a:prstGeom>
          <a:noFill/>
          <a:ln/>
        </p:spPr>
        <p:txBody>
          <a:bodyPr wrap="square" lIns="0" tIns="0" rIns="0" bIns="0" rtlCol="0" anchor="t"/>
          <a:lstStyle/>
          <a:p>
            <a:pPr algn="ctr" indent="0" marL="0">
              <a:buNone/>
            </a:pPr>
            <a:r>
              <a:rPr lang="en-US" sz="1050" dirty="0">
                <a:solidFill>
                  <a:srgbClr val="1C212B"/>
                </a:solidFill>
                <a:latin typeface="Calibri" pitchFamily="34" charset="0"/>
                <a:ea typeface="Calibri" pitchFamily="34" charset="-122"/>
                <a:cs typeface="Calibri" pitchFamily="34" charset="-120"/>
              </a:rPr>
              <a:t>edit_file(expected_version = v7)</a:t>
            </a:r>
            <a:endParaRPr lang="en-US" sz="1050" dirty="0"/>
          </a:p>
        </p:txBody>
      </p:sp>
      <p:sp>
        <p:nvSpPr>
          <p:cNvPr id="21" name="Shape 19"/>
          <p:cNvSpPr/>
          <p:nvPr/>
        </p:nvSpPr>
        <p:spPr>
          <a:xfrm flipH="1">
            <a:off x="1234440" y="5440680"/>
            <a:ext cx="2377440" cy="0"/>
          </a:xfrm>
          <a:prstGeom prst="line">
            <a:avLst/>
          </a:prstGeom>
          <a:noFill/>
          <a:ln w="22225">
            <a:solidFill>
              <a:srgbClr val="C4433A"/>
            </a:solidFill>
            <a:prstDash val="dash"/>
            <a:tailEnd type="triangle"/>
          </a:ln>
        </p:spPr>
      </p:sp>
      <p:sp>
        <p:nvSpPr>
          <p:cNvPr id="22" name="Text 20"/>
          <p:cNvSpPr txBox="1"/>
          <p:nvPr/>
        </p:nvSpPr>
        <p:spPr>
          <a:xfrm>
            <a:off x="1307592" y="5166360"/>
            <a:ext cx="2231136" cy="237744"/>
          </a:xfrm>
          <a:prstGeom prst="rect">
            <a:avLst/>
          </a:prstGeom>
          <a:noFill/>
          <a:ln/>
        </p:spPr>
        <p:txBody>
          <a:bodyPr wrap="square" lIns="0" tIns="0" rIns="0" bIns="0" rtlCol="0" anchor="t"/>
          <a:lstStyle/>
          <a:p>
            <a:pPr algn="ctr" indent="0" marL="0">
              <a:buNone/>
            </a:pPr>
            <a:r>
              <a:rPr lang="en-US" sz="1050" i="1" dirty="0">
                <a:solidFill>
                  <a:srgbClr val="8E2B24"/>
                </a:solidFill>
                <a:latin typeface="Calibri" pitchFamily="34" charset="0"/>
                <a:ea typeface="Calibri" pitchFamily="34" charset="-122"/>
                <a:cs typeface="Calibri" pitchFamily="34" charset="-120"/>
              </a:rPr>
              <a:t>refused: changed since you read it</a:t>
            </a:r>
            <a:endParaRPr lang="en-US" sz="1050" dirty="0"/>
          </a:p>
        </p:txBody>
      </p:sp>
      <p:sp>
        <p:nvSpPr>
          <p:cNvPr id="23" name="Text 21"/>
          <p:cNvSpPr txBox="1"/>
          <p:nvPr/>
        </p:nvSpPr>
        <p:spPr>
          <a:xfrm>
            <a:off x="7086600" y="2103120"/>
            <a:ext cx="4572000" cy="406908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No unique-name constraint, on purpose</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Uploads and attachments create same-named siblings by design; a constraint would fail the second upload of report.pdf.</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Lock the name, not the table</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Look-up-then-write runs under a Postgres advisory lock on that folder and name.</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Stale writes are refused</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Reads return a version; writes may pass expected_version — the same check the apps' autosave uses.</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Nothing is lost</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Every overwrite keeps a version: 25 kept, up to 25 MB, one per 5-minute burst. Delete is a state, restorable for 30 days.</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FILES &amp; APPS · CODE WORKSPACES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coding team shares one tree, with leases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Several workers edit one repository at once. Claims stop collisions; a hash check catches the rest.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26</a:t>
            </a:r>
            <a:endParaRPr lang="en-US" sz="1000" dirty="0"/>
          </a:p>
        </p:txBody>
      </p:sp>
      <p:sp>
        <p:nvSpPr>
          <p:cNvPr id="6" name="Shape 4"/>
          <p:cNvSpPr/>
          <p:nvPr/>
        </p:nvSpPr>
        <p:spPr>
          <a:xfrm>
            <a:off x="548640" y="2011680"/>
            <a:ext cx="6035040" cy="2926080"/>
          </a:xfrm>
          <a:prstGeom prst="roundRect">
            <a:avLst>
              <a:gd name="adj" fmla="val 3125"/>
            </a:avLst>
          </a:prstGeom>
          <a:solidFill>
            <a:srgbClr val="F3F5F8"/>
          </a:solidFill>
          <a:ln w="12700">
            <a:solidFill>
              <a:srgbClr val="F3F5F8"/>
            </a:solidFill>
            <a:prstDash val="solid"/>
          </a:ln>
        </p:spPr>
      </p:sp>
      <p:sp>
        <p:nvSpPr>
          <p:cNvPr id="7" name="Text 5"/>
          <p:cNvSpPr txBox="1"/>
          <p:nvPr/>
        </p:nvSpPr>
        <p:spPr>
          <a:xfrm>
            <a:off x="822960" y="2240280"/>
            <a:ext cx="2743200" cy="274320"/>
          </a:xfrm>
          <a:prstGeom prst="rect">
            <a:avLst/>
          </a:prstGeom>
          <a:noFill/>
          <a:ln/>
        </p:spPr>
        <p:txBody>
          <a:bodyPr wrap="square" lIns="0" tIns="0" rIns="0" bIns="0" rtlCol="0" anchor="t"/>
          <a:lstStyle/>
          <a:p>
            <a:pPr algn="l" indent="0" marL="0">
              <a:buNone/>
            </a:pPr>
            <a:r>
              <a:rPr lang="en-US" sz="1300" b="1" dirty="0">
                <a:solidFill>
                  <a:srgbClr val="1C212B"/>
                </a:solidFill>
                <a:latin typeface="Courier New" pitchFamily="34" charset="0"/>
                <a:ea typeface="Courier New" pitchFamily="34" charset="-122"/>
                <a:cs typeface="Courier New" pitchFamily="34" charset="-120"/>
              </a:rPr>
              <a:t>repo/</a:t>
            </a:r>
            <a:endParaRPr lang="en-US" sz="1300" dirty="0"/>
          </a:p>
        </p:txBody>
      </p:sp>
      <p:sp>
        <p:nvSpPr>
          <p:cNvPr id="8" name="Text 6"/>
          <p:cNvSpPr txBox="1"/>
          <p:nvPr/>
        </p:nvSpPr>
        <p:spPr>
          <a:xfrm>
            <a:off x="822960" y="2770632"/>
            <a:ext cx="2743200" cy="274320"/>
          </a:xfrm>
          <a:prstGeom prst="rect">
            <a:avLst/>
          </a:prstGeom>
          <a:noFill/>
          <a:ln/>
        </p:spPr>
        <p:txBody>
          <a:bodyPr wrap="square" lIns="0" tIns="0" rIns="0" bIns="0" rtlCol="0" anchor="t"/>
          <a:lstStyle/>
          <a:p>
            <a:pPr algn="l" indent="0" marL="0">
              <a:buNone/>
            </a:pPr>
            <a:r>
              <a:rPr lang="en-US" sz="1300" dirty="0">
                <a:solidFill>
                  <a:srgbClr val="1C212B"/>
                </a:solidFill>
                <a:latin typeface="Courier New" pitchFamily="34" charset="0"/>
                <a:ea typeface="Courier New" pitchFamily="34" charset="-122"/>
                <a:cs typeface="Courier New" pitchFamily="34" charset="-120"/>
              </a:rPr>
              <a:t>  src/api/</a:t>
            </a:r>
            <a:endParaRPr lang="en-US" sz="1300" dirty="0"/>
          </a:p>
        </p:txBody>
      </p:sp>
      <p:sp>
        <p:nvSpPr>
          <p:cNvPr id="9" name="Text 7"/>
          <p:cNvSpPr txBox="1"/>
          <p:nvPr/>
        </p:nvSpPr>
        <p:spPr>
          <a:xfrm>
            <a:off x="3931920" y="2724912"/>
            <a:ext cx="2377440" cy="347472"/>
          </a:xfrm>
          <a:prstGeom prst="roundRect">
            <a:avLst>
              <a:gd name="adj" fmla="val 15789"/>
            </a:avLst>
          </a:prstGeom>
          <a:solidFill>
            <a:srgbClr val="15877D"/>
          </a:solidFill>
          <a:ln>
            <a:solidFill>
              <a:srgbClr val="15877D"/>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Implementer 1</a:t>
            </a:r>
            <a:endParaRPr lang="en-US" sz="1150" dirty="0"/>
          </a:p>
        </p:txBody>
      </p:sp>
      <p:sp>
        <p:nvSpPr>
          <p:cNvPr id="10" name="Text 8"/>
          <p:cNvSpPr txBox="1"/>
          <p:nvPr/>
        </p:nvSpPr>
        <p:spPr>
          <a:xfrm>
            <a:off x="822960" y="3300984"/>
            <a:ext cx="2743200" cy="274320"/>
          </a:xfrm>
          <a:prstGeom prst="rect">
            <a:avLst/>
          </a:prstGeom>
          <a:noFill/>
          <a:ln/>
        </p:spPr>
        <p:txBody>
          <a:bodyPr wrap="square" lIns="0" tIns="0" rIns="0" bIns="0" rtlCol="0" anchor="t"/>
          <a:lstStyle/>
          <a:p>
            <a:pPr algn="l" indent="0" marL="0">
              <a:buNone/>
            </a:pPr>
            <a:r>
              <a:rPr lang="en-US" sz="1300" dirty="0">
                <a:solidFill>
                  <a:srgbClr val="1C212B"/>
                </a:solidFill>
                <a:latin typeface="Courier New" pitchFamily="34" charset="0"/>
                <a:ea typeface="Courier New" pitchFamily="34" charset="-122"/>
                <a:cs typeface="Courier New" pitchFamily="34" charset="-120"/>
              </a:rPr>
              <a:t>  src/ui/</a:t>
            </a:r>
            <a:endParaRPr lang="en-US" sz="1300" dirty="0"/>
          </a:p>
        </p:txBody>
      </p:sp>
      <p:sp>
        <p:nvSpPr>
          <p:cNvPr id="11" name="Text 9"/>
          <p:cNvSpPr txBox="1"/>
          <p:nvPr/>
        </p:nvSpPr>
        <p:spPr>
          <a:xfrm>
            <a:off x="3931920" y="3255264"/>
            <a:ext cx="2377440" cy="347472"/>
          </a:xfrm>
          <a:prstGeom prst="roundRect">
            <a:avLst>
              <a:gd name="adj" fmla="val 15789"/>
            </a:avLst>
          </a:prstGeom>
          <a:solidFill>
            <a:srgbClr val="E08A1E"/>
          </a:solidFill>
          <a:ln>
            <a:solidFill>
              <a:srgbClr val="E08A1E"/>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Implementer 2</a:t>
            </a:r>
            <a:endParaRPr lang="en-US" sz="1150" dirty="0"/>
          </a:p>
        </p:txBody>
      </p:sp>
      <p:sp>
        <p:nvSpPr>
          <p:cNvPr id="12" name="Text 10"/>
          <p:cNvSpPr txBox="1"/>
          <p:nvPr/>
        </p:nvSpPr>
        <p:spPr>
          <a:xfrm>
            <a:off x="822960" y="3831336"/>
            <a:ext cx="2743200" cy="274320"/>
          </a:xfrm>
          <a:prstGeom prst="rect">
            <a:avLst/>
          </a:prstGeom>
          <a:noFill/>
          <a:ln/>
        </p:spPr>
        <p:txBody>
          <a:bodyPr wrap="square" lIns="0" tIns="0" rIns="0" bIns="0" rtlCol="0" anchor="t"/>
          <a:lstStyle/>
          <a:p>
            <a:pPr algn="l" indent="0" marL="0">
              <a:buNone/>
            </a:pPr>
            <a:r>
              <a:rPr lang="en-US" sz="1300" dirty="0">
                <a:solidFill>
                  <a:srgbClr val="1C212B"/>
                </a:solidFill>
                <a:latin typeface="Courier New" pitchFamily="34" charset="0"/>
                <a:ea typeface="Courier New" pitchFamily="34" charset="-122"/>
                <a:cs typeface="Courier New" pitchFamily="34" charset="-120"/>
              </a:rPr>
              <a:t>  tests/</a:t>
            </a:r>
            <a:endParaRPr lang="en-US" sz="1300" dirty="0"/>
          </a:p>
        </p:txBody>
      </p:sp>
      <p:sp>
        <p:nvSpPr>
          <p:cNvPr id="13" name="Text 11"/>
          <p:cNvSpPr txBox="1"/>
          <p:nvPr/>
        </p:nvSpPr>
        <p:spPr>
          <a:xfrm>
            <a:off x="3931920" y="3785616"/>
            <a:ext cx="2377440" cy="347472"/>
          </a:xfrm>
          <a:prstGeom prst="roundRect">
            <a:avLst>
              <a:gd name="adj" fmla="val 15789"/>
            </a:avLst>
          </a:prstGeom>
          <a:solidFill>
            <a:srgbClr val="4E5A6B"/>
          </a:solidFill>
          <a:ln>
            <a:solidFill>
              <a:srgbClr val="4E5A6B"/>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Test-writer</a:t>
            </a:r>
            <a:endParaRPr lang="en-US" sz="1150" dirty="0"/>
          </a:p>
        </p:txBody>
      </p:sp>
      <p:sp>
        <p:nvSpPr>
          <p:cNvPr id="14" name="Text 12"/>
          <p:cNvSpPr txBox="1"/>
          <p:nvPr/>
        </p:nvSpPr>
        <p:spPr>
          <a:xfrm>
            <a:off x="822960" y="4361688"/>
            <a:ext cx="2743200" cy="274320"/>
          </a:xfrm>
          <a:prstGeom prst="rect">
            <a:avLst/>
          </a:prstGeom>
          <a:noFill/>
          <a:ln/>
        </p:spPr>
        <p:txBody>
          <a:bodyPr wrap="square" lIns="0" tIns="0" rIns="0" bIns="0" rtlCol="0" anchor="t"/>
          <a:lstStyle/>
          <a:p>
            <a:pPr algn="l" indent="0" marL="0">
              <a:buNone/>
            </a:pPr>
            <a:r>
              <a:rPr lang="en-US" sz="1300" dirty="0">
                <a:solidFill>
                  <a:srgbClr val="1C212B"/>
                </a:solidFill>
                <a:latin typeface="Courier New" pitchFamily="34" charset="0"/>
                <a:ea typeface="Courier New" pitchFamily="34" charset="-122"/>
                <a:cs typeface="Courier New" pitchFamily="34" charset="-120"/>
              </a:rPr>
              <a:t>  README.md</a:t>
            </a:r>
            <a:endParaRPr lang="en-US" sz="1300" dirty="0"/>
          </a:p>
        </p:txBody>
      </p:sp>
      <p:sp>
        <p:nvSpPr>
          <p:cNvPr id="15" name="Text 13"/>
          <p:cNvSpPr txBox="1"/>
          <p:nvPr/>
        </p:nvSpPr>
        <p:spPr>
          <a:xfrm>
            <a:off x="3931920" y="4315968"/>
            <a:ext cx="2377440" cy="347472"/>
          </a:xfrm>
          <a:prstGeom prst="roundRect">
            <a:avLst>
              <a:gd name="adj" fmla="val 15789"/>
            </a:avLst>
          </a:prstGeom>
          <a:solidFill>
            <a:srgbClr val="F3F5F8"/>
          </a:solidFill>
          <a:ln>
            <a:solidFill>
              <a:srgbClr val="D3D9E1"/>
            </a:solidFill>
          </a:ln>
        </p:spPr>
        <p:txBody>
          <a:bodyPr wrap="square" lIns="0" tIns="0" rIns="0" bIns="0" rtlCol="0" anchor="ctr"/>
          <a:lstStyle/>
          <a:p>
            <a:pPr algn="ctr" indent="0" marL="0">
              <a:buNone/>
            </a:pPr>
            <a:r>
              <a:rPr lang="en-US" sz="1150" b="1" dirty="0">
                <a:solidFill>
                  <a:srgbClr val="5B6472"/>
                </a:solidFill>
                <a:latin typeface="Calibri" pitchFamily="34" charset="0"/>
                <a:ea typeface="Calibri" pitchFamily="34" charset="-122"/>
                <a:cs typeface="Calibri" pitchFamily="34" charset="-120"/>
              </a:rPr>
              <a:t>free</a:t>
            </a:r>
            <a:endParaRPr lang="en-US" sz="1150" dirty="0"/>
          </a:p>
        </p:txBody>
      </p:sp>
      <p:sp>
        <p:nvSpPr>
          <p:cNvPr id="16" name="Text 14"/>
          <p:cNvSpPr txBox="1"/>
          <p:nvPr/>
        </p:nvSpPr>
        <p:spPr>
          <a:xfrm>
            <a:off x="548640" y="5120640"/>
            <a:ext cx="6035040" cy="1005840"/>
          </a:xfrm>
          <a:prstGeom prst="roundRect">
            <a:avLst>
              <a:gd name="adj" fmla="val 7273"/>
            </a:avLst>
          </a:prstGeom>
          <a:solidFill>
            <a:srgbClr val="FBE8E6"/>
          </a:solidFill>
          <a:ln w="12700">
            <a:solidFill>
              <a:srgbClr val="C4433A"/>
            </a:solidFill>
            <a:prstDash val="solid"/>
          </a:ln>
        </p:spPr>
        <p:txBody>
          <a:bodyPr wrap="square" lIns="50800" tIns="177800" rIns="177800" bIns="50800" rtlCol="0" anchor="ctr"/>
          <a:lstStyle/>
          <a:p>
            <a:pPr algn="l" indent="0" marL="0">
              <a:spcAft>
                <a:spcPts val="200"/>
              </a:spcAft>
              <a:buNone/>
            </a:pPr>
            <a:r>
              <a:rPr lang="en-US" sz="1350" b="1" dirty="0">
                <a:solidFill>
                  <a:srgbClr val="8E2B24"/>
                </a:solidFill>
                <a:latin typeface="Arial" pitchFamily="34" charset="0"/>
                <a:ea typeface="Arial" pitchFamily="34" charset="-122"/>
                <a:cs typeface="Arial" pitchFamily="34" charset="-120"/>
              </a:rPr>
              <a:t>Implementer 3 → claim src/api/client.ts</a:t>
            </a:r>
            <a:endParaRPr lang="en-US" sz="1350" dirty="0"/>
          </a:p>
          <a:p>
            <a:pPr algn="l" indent="0" marL="0">
              <a:spcAft>
                <a:spcPts val="200"/>
              </a:spcAft>
              <a:buNone/>
            </a:pPr>
            <a:r>
              <a:rPr lang="en-US" sz="1200" dirty="0">
                <a:solidFill>
                  <a:srgbClr val="5B6472"/>
                </a:solidFill>
                <a:latin typeface="Calibri" pitchFamily="34" charset="0"/>
                <a:ea typeface="Calibri" pitchFamily="34" charset="-122"/>
                <a:cs typeface="Calibri" pitchFamily="34" charset="-120"/>
              </a:rPr>
              <a:t>refused: held by Implementer 1 — the reason names the holder</a:t>
            </a:r>
            <a:endParaRPr lang="en-US" sz="1350" dirty="0"/>
          </a:p>
        </p:txBody>
      </p:sp>
      <p:sp>
        <p:nvSpPr>
          <p:cNvPr id="17" name="Text 15"/>
          <p:cNvSpPr txBox="1"/>
          <p:nvPr/>
        </p:nvSpPr>
        <p:spPr>
          <a:xfrm>
            <a:off x="7040880" y="2103120"/>
            <a:ext cx="4617720" cy="406908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Claims are leases</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Taken atomically at dispatch, implicitly on write; released on every ending, plus a recovery sweep.</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The real guarantee: a stale-write guard</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Every read records the file's sha256. An edit is refused if the file changed since — by a worker, the editor or a git checkout.</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Changes tell whoever read them</a:t>
            </a:r>
            <a:endParaRPr lang="en-US" sz="1350" dirty="0"/>
          </a:p>
          <a:p>
            <a:pPr indent="0" marL="0">
              <a:spcAft>
                <a:spcPts val="900"/>
              </a:spcAft>
              <a:buNone/>
            </a:pPr>
            <a:r>
              <a:rPr lang="en-US" sz="1200" dirty="0">
                <a:solidFill>
                  <a:srgbClr val="5B6472"/>
                </a:solidFill>
                <a:latin typeface="Calibri" pitchFamily="34" charset="0"/>
                <a:ea typeface="Calibri" pitchFamily="34" charset="-122"/>
                <a:cs typeface="Calibri" pitchFamily="34" charset="-120"/>
              </a:rPr>
              <a:t>Runs that read or claimed a path get one coalesced notice through the steering mailbox.</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Shared tree, not worktrees</a:t>
            </a:r>
            <a:endParaRPr lang="en-US" sz="1350" dirty="0"/>
          </a:p>
          <a:p>
            <a:pPr indent="0" marL="0">
              <a:buNone/>
            </a:pPr>
            <a:r>
              <a:rPr lang="en-US" sz="1200" dirty="0">
                <a:solidFill>
                  <a:srgbClr val="5B6472"/>
                </a:solidFill>
                <a:latin typeface="Calibri" pitchFamily="34" charset="0"/>
                <a:ea typeface="Calibri" pitchFamily="34" charset="-122"/>
                <a:cs typeface="Calibri" pitchFamily="34" charset="-120"/>
              </a:rPr>
              <a:t>A deliberate choice, with at most three workers at once.</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FILES &amp; APPS · OFFICE FILES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An office file is a spec our code renders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model says what each slide says and which layout says it. Our code decides how it looks.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27</a:t>
            </a:r>
            <a:endParaRPr lang="en-US" sz="1000" dirty="0"/>
          </a:p>
        </p:txBody>
      </p:sp>
      <p:sp>
        <p:nvSpPr>
          <p:cNvPr id="6" name="Text 4"/>
          <p:cNvSpPr txBox="1"/>
          <p:nvPr/>
        </p:nvSpPr>
        <p:spPr>
          <a:xfrm>
            <a:off x="548640" y="2103120"/>
            <a:ext cx="1554480" cy="1554480"/>
          </a:xfrm>
          <a:prstGeom prst="roundRect">
            <a:avLst>
              <a:gd name="adj" fmla="val 4706"/>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400" b="1" dirty="0">
                <a:solidFill>
                  <a:srgbClr val="FFFFFF"/>
                </a:solidFill>
                <a:latin typeface="Arial" pitchFamily="34" charset="0"/>
                <a:ea typeface="Arial" pitchFamily="34" charset="-122"/>
                <a:cs typeface="Arial" pitchFamily="34" charset="-120"/>
              </a:rPr>
              <a:t>Model</a:t>
            </a:r>
            <a:endParaRPr lang="en-US" sz="1400" dirty="0"/>
          </a:p>
          <a:p>
            <a:pPr algn="ctr" indent="0" marL="0">
              <a:spcAft>
                <a:spcPts val="200"/>
              </a:spcAft>
              <a:buNone/>
            </a:pPr>
            <a:r>
              <a:rPr lang="en-US" sz="1050" dirty="0">
                <a:solidFill>
                  <a:srgbClr val="FFF3E3"/>
                </a:solidFill>
                <a:latin typeface="Calibri" pitchFamily="34" charset="0"/>
                <a:ea typeface="Calibri" pitchFamily="34" charset="-122"/>
                <a:cs typeface="Calibri" pitchFamily="34" charset="-120"/>
              </a:rPr>
              <a:t>decks</a:t>
            </a:r>
            <a:endParaRPr lang="en-US" sz="1400" dirty="0"/>
          </a:p>
          <a:p>
            <a:pPr algn="ctr" indent="0" marL="0">
              <a:spcAft>
                <a:spcPts val="200"/>
              </a:spcAft>
              <a:buNone/>
            </a:pPr>
            <a:r>
              <a:rPr lang="en-US" sz="1050" dirty="0">
                <a:solidFill>
                  <a:srgbClr val="FFF3E3"/>
                </a:solidFill>
                <a:latin typeface="Calibri" pitchFamily="34" charset="0"/>
                <a:ea typeface="Calibri" pitchFamily="34" charset="-122"/>
                <a:cs typeface="Calibri" pitchFamily="34" charset="-120"/>
              </a:rPr>
              <a:t>workbooks</a:t>
            </a:r>
            <a:endParaRPr lang="en-US" sz="1400" dirty="0"/>
          </a:p>
          <a:p>
            <a:pPr algn="ctr" indent="0" marL="0">
              <a:spcAft>
                <a:spcPts val="200"/>
              </a:spcAft>
              <a:buNone/>
            </a:pPr>
            <a:r>
              <a:rPr lang="en-US" sz="1050" dirty="0">
                <a:solidFill>
                  <a:srgbClr val="FFF3E3"/>
                </a:solidFill>
                <a:latin typeface="Calibri" pitchFamily="34" charset="0"/>
                <a:ea typeface="Calibri" pitchFamily="34" charset="-122"/>
                <a:cs typeface="Calibri" pitchFamily="34" charset="-120"/>
              </a:rPr>
              <a:t>documents</a:t>
            </a:r>
            <a:endParaRPr lang="en-US" sz="1400" dirty="0"/>
          </a:p>
        </p:txBody>
      </p:sp>
      <p:sp>
        <p:nvSpPr>
          <p:cNvPr id="7" name="Shape 5"/>
          <p:cNvSpPr/>
          <p:nvPr/>
        </p:nvSpPr>
        <p:spPr>
          <a:xfrm>
            <a:off x="2103120" y="2880360"/>
            <a:ext cx="411480" cy="0"/>
          </a:xfrm>
          <a:prstGeom prst="line">
            <a:avLst/>
          </a:prstGeom>
          <a:noFill/>
          <a:ln w="22225">
            <a:solidFill>
              <a:srgbClr val="4E5A6B"/>
            </a:solidFill>
            <a:prstDash val="solid"/>
            <a:tailEnd type="triangle"/>
          </a:ln>
        </p:spPr>
      </p:sp>
      <p:sp>
        <p:nvSpPr>
          <p:cNvPr id="8" name="Shape 6"/>
          <p:cNvSpPr/>
          <p:nvPr/>
        </p:nvSpPr>
        <p:spPr>
          <a:xfrm>
            <a:off x="2514600" y="2103120"/>
            <a:ext cx="3840480" cy="1554480"/>
          </a:xfrm>
          <a:prstGeom prst="roundRect">
            <a:avLst>
              <a:gd name="adj" fmla="val 4706"/>
            </a:avLst>
          </a:prstGeom>
          <a:solidFill>
            <a:srgbClr val="151922"/>
          </a:solidFill>
          <a:ln w="12700">
            <a:solidFill>
              <a:srgbClr val="151922"/>
            </a:solidFill>
            <a:prstDash val="solid"/>
          </a:ln>
        </p:spPr>
      </p:sp>
      <p:sp>
        <p:nvSpPr>
          <p:cNvPr id="9" name="Text 7"/>
          <p:cNvSpPr txBox="1"/>
          <p:nvPr/>
        </p:nvSpPr>
        <p:spPr>
          <a:xfrm>
            <a:off x="2697480" y="2286000"/>
            <a:ext cx="3566160" cy="1188720"/>
          </a:xfrm>
          <a:prstGeom prst="rect">
            <a:avLst/>
          </a:prstGeom>
          <a:noFill/>
          <a:ln/>
        </p:spPr>
        <p:txBody>
          <a:bodyPr wrap="square" lIns="0" tIns="0" rIns="0" bIns="0" rtlCol="0" anchor="ctr"/>
          <a:lstStyle/>
          <a:p>
            <a:pPr algn="l" indent="0" marL="0">
              <a:buNone/>
            </a:pPr>
            <a:r>
              <a:rPr lang="en-US" sz="1200" dirty="0">
                <a:solidFill>
                  <a:srgbClr val="C9D0DB"/>
                </a:solidFill>
                <a:latin typeface="Courier New" pitchFamily="34" charset="0"/>
                <a:ea typeface="Courier New" pitchFamily="34" charset="-122"/>
                <a:cs typeface="Courier New" pitchFamily="34" charset="-120"/>
              </a:rPr>
              <a:t>{ "layout": "title_bullets",</a:t>
            </a:r>
            <a:endParaRPr lang="en-US" sz="1200" dirty="0"/>
          </a:p>
          <a:p>
            <a:pPr algn="l" indent="0" marL="0">
              <a:buNone/>
            </a:pPr>
            <a:r>
              <a:rPr lang="en-US" sz="1200" dirty="0">
                <a:solidFill>
                  <a:srgbClr val="C9D0DB"/>
                </a:solidFill>
                <a:latin typeface="Courier New" pitchFamily="34" charset="0"/>
                <a:ea typeface="Courier New" pitchFamily="34" charset="-122"/>
                <a:cs typeface="Courier New" pitchFamily="34" charset="-120"/>
              </a:rPr>
              <a:t>  "title": "Q3 revenue",</a:t>
            </a:r>
            <a:endParaRPr lang="en-US" sz="1200" dirty="0"/>
          </a:p>
          <a:p>
            <a:pPr algn="l" indent="0" marL="0">
              <a:buNone/>
            </a:pPr>
            <a:r>
              <a:rPr lang="en-US" sz="1200" dirty="0">
                <a:solidFill>
                  <a:srgbClr val="C9D0DB"/>
                </a:solidFill>
                <a:latin typeface="Courier New" pitchFamily="34" charset="0"/>
                <a:ea typeface="Courier New" pitchFamily="34" charset="-122"/>
                <a:cs typeface="Courier New" pitchFamily="34" charset="-120"/>
              </a:rPr>
              <a:t>  "bullets": ["North +12%", …] }</a:t>
            </a:r>
            <a:endParaRPr lang="en-US" sz="1200" dirty="0"/>
          </a:p>
        </p:txBody>
      </p:sp>
      <p:sp>
        <p:nvSpPr>
          <p:cNvPr id="10" name="Shape 8"/>
          <p:cNvSpPr/>
          <p:nvPr/>
        </p:nvSpPr>
        <p:spPr>
          <a:xfrm>
            <a:off x="6355080" y="2880360"/>
            <a:ext cx="411480" cy="0"/>
          </a:xfrm>
          <a:prstGeom prst="line">
            <a:avLst/>
          </a:prstGeom>
          <a:noFill/>
          <a:ln w="22225">
            <a:solidFill>
              <a:srgbClr val="4E5A6B"/>
            </a:solidFill>
            <a:prstDash val="solid"/>
            <a:tailEnd type="triangle"/>
          </a:ln>
        </p:spPr>
      </p:sp>
      <p:sp>
        <p:nvSpPr>
          <p:cNvPr id="11" name="Text 9"/>
          <p:cNvSpPr txBox="1"/>
          <p:nvPr/>
        </p:nvSpPr>
        <p:spPr>
          <a:xfrm>
            <a:off x="6766560" y="2103120"/>
            <a:ext cx="2286000" cy="1554480"/>
          </a:xfrm>
          <a:prstGeom prst="roundRect">
            <a:avLst>
              <a:gd name="adj" fmla="val 4706"/>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Renderer</a:t>
            </a:r>
            <a:endParaRPr lang="en-US" sz="14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python-pptx · xlsxwriter · python-docx</a:t>
            </a:r>
            <a:endParaRPr lang="en-US" sz="14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+ 3 themes, chart palette</a:t>
            </a:r>
            <a:endParaRPr lang="en-US" sz="1400" dirty="0"/>
          </a:p>
        </p:txBody>
      </p:sp>
      <p:sp>
        <p:nvSpPr>
          <p:cNvPr id="12" name="Shape 10"/>
          <p:cNvSpPr/>
          <p:nvPr/>
        </p:nvSpPr>
        <p:spPr>
          <a:xfrm>
            <a:off x="9052560" y="2880360"/>
            <a:ext cx="411480" cy="0"/>
          </a:xfrm>
          <a:prstGeom prst="line">
            <a:avLst/>
          </a:prstGeom>
          <a:noFill/>
          <a:ln w="22225">
            <a:solidFill>
              <a:srgbClr val="4E5A6B"/>
            </a:solidFill>
            <a:prstDash val="solid"/>
            <a:tailEnd type="triangle"/>
          </a:ln>
        </p:spPr>
      </p:sp>
      <p:sp>
        <p:nvSpPr>
          <p:cNvPr id="13" name="Text 11"/>
          <p:cNvSpPr txBox="1"/>
          <p:nvPr/>
        </p:nvSpPr>
        <p:spPr>
          <a:xfrm>
            <a:off x="9464040" y="2103120"/>
            <a:ext cx="2176272" cy="457200"/>
          </a:xfrm>
          <a:prstGeom prst="roundRect">
            <a:avLst>
              <a:gd name="adj" fmla="val 12000"/>
            </a:avLst>
          </a:prstGeom>
          <a:solidFill>
            <a:srgbClr val="E9EDF2"/>
          </a:solidFill>
          <a:ln w="9525">
            <a:solidFill>
              <a:srgbClr val="4E5A6B"/>
            </a:solidFill>
          </a:ln>
        </p:spPr>
        <p:txBody>
          <a:bodyPr wrap="square" lIns="0" tIns="0" rIns="0" bIns="0" rtlCol="0" anchor="ctr"/>
          <a:lstStyle/>
          <a:p>
            <a:pPr algn="ctr" indent="0" marL="0">
              <a:buNone/>
            </a:pPr>
            <a:r>
              <a:rPr lang="en-US" sz="1200" b="1" dirty="0">
                <a:solidFill>
                  <a:srgbClr val="1C212B"/>
                </a:solidFill>
                <a:latin typeface="Courier New" pitchFamily="34" charset="0"/>
                <a:ea typeface="Courier New" pitchFamily="34" charset="-122"/>
                <a:cs typeface="Courier New" pitchFamily="34" charset="-120"/>
              </a:rPr>
              <a:t>report.pptx</a:t>
            </a:r>
            <a:endParaRPr lang="en-US" sz="1200" dirty="0"/>
          </a:p>
        </p:txBody>
      </p:sp>
      <p:sp>
        <p:nvSpPr>
          <p:cNvPr id="14" name="Text 12"/>
          <p:cNvSpPr txBox="1"/>
          <p:nvPr/>
        </p:nvSpPr>
        <p:spPr>
          <a:xfrm>
            <a:off x="9464040" y="2651760"/>
            <a:ext cx="2176272" cy="457200"/>
          </a:xfrm>
          <a:prstGeom prst="roundRect">
            <a:avLst>
              <a:gd name="adj" fmla="val 12000"/>
            </a:avLst>
          </a:prstGeom>
          <a:solidFill>
            <a:srgbClr val="E9EDF2"/>
          </a:solidFill>
          <a:ln w="9525">
            <a:solidFill>
              <a:srgbClr val="4E5A6B"/>
            </a:solidFill>
          </a:ln>
        </p:spPr>
        <p:txBody>
          <a:bodyPr wrap="square" lIns="0" tIns="0" rIns="0" bIns="0" rtlCol="0" anchor="ctr"/>
          <a:lstStyle/>
          <a:p>
            <a:pPr algn="ctr" indent="0" marL="0">
              <a:buNone/>
            </a:pPr>
            <a:r>
              <a:rPr lang="en-US" sz="1200" b="1" dirty="0">
                <a:solidFill>
                  <a:srgbClr val="1C212B"/>
                </a:solidFill>
                <a:latin typeface="Courier New" pitchFamily="34" charset="0"/>
                <a:ea typeface="Courier New" pitchFamily="34" charset="-122"/>
                <a:cs typeface="Courier New" pitchFamily="34" charset="-120"/>
              </a:rPr>
              <a:t>totals.xlsx</a:t>
            </a:r>
            <a:endParaRPr lang="en-US" sz="1200" dirty="0"/>
          </a:p>
        </p:txBody>
      </p:sp>
      <p:sp>
        <p:nvSpPr>
          <p:cNvPr id="15" name="Text 13"/>
          <p:cNvSpPr txBox="1"/>
          <p:nvPr/>
        </p:nvSpPr>
        <p:spPr>
          <a:xfrm>
            <a:off x="9464040" y="3200400"/>
            <a:ext cx="2176272" cy="457200"/>
          </a:xfrm>
          <a:prstGeom prst="roundRect">
            <a:avLst>
              <a:gd name="adj" fmla="val 12000"/>
            </a:avLst>
          </a:prstGeom>
          <a:solidFill>
            <a:srgbClr val="E9EDF2"/>
          </a:solidFill>
          <a:ln w="9525">
            <a:solidFill>
              <a:srgbClr val="4E5A6B"/>
            </a:solidFill>
          </a:ln>
        </p:spPr>
        <p:txBody>
          <a:bodyPr wrap="square" lIns="0" tIns="0" rIns="0" bIns="0" rtlCol="0" anchor="ctr"/>
          <a:lstStyle/>
          <a:p>
            <a:pPr algn="ctr" indent="0" marL="0">
              <a:buNone/>
            </a:pPr>
            <a:r>
              <a:rPr lang="en-US" sz="1200" b="1" dirty="0">
                <a:solidFill>
                  <a:srgbClr val="1C212B"/>
                </a:solidFill>
                <a:latin typeface="Courier New" pitchFamily="34" charset="0"/>
                <a:ea typeface="Courier New" pitchFamily="34" charset="-122"/>
                <a:cs typeface="Courier New" pitchFamily="34" charset="-120"/>
              </a:rPr>
              <a:t>memo.docx</a:t>
            </a:r>
            <a:endParaRPr lang="en-US" sz="1200" dirty="0"/>
          </a:p>
        </p:txBody>
      </p:sp>
      <p:sp>
        <p:nvSpPr>
          <p:cNvPr id="16" name="Shape 14"/>
          <p:cNvSpPr/>
          <p:nvPr/>
        </p:nvSpPr>
        <p:spPr>
          <a:xfrm>
            <a:off x="548640" y="4069080"/>
            <a:ext cx="2651760" cy="2103120"/>
          </a:xfrm>
          <a:prstGeom prst="roundRect">
            <a:avLst>
              <a:gd name="adj" fmla="val 4348"/>
            </a:avLst>
          </a:prstGeom>
          <a:solidFill>
            <a:srgbClr val="F3F5F8"/>
          </a:solidFill>
          <a:ln w="12700">
            <a:solidFill>
              <a:srgbClr val="F3F5F8"/>
            </a:solidFill>
            <a:prstDash val="solid"/>
          </a:ln>
        </p:spPr>
      </p:sp>
      <p:sp>
        <p:nvSpPr>
          <p:cNvPr id="17" name="Text 15"/>
          <p:cNvSpPr txBox="1"/>
          <p:nvPr/>
        </p:nvSpPr>
        <p:spPr>
          <a:xfrm>
            <a:off x="777240" y="4224528"/>
            <a:ext cx="2240280" cy="5486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Limits refuse, never shrink</a:t>
            </a:r>
            <a:endParaRPr lang="en-US" sz="1400" dirty="0"/>
          </a:p>
        </p:txBody>
      </p:sp>
      <p:sp>
        <p:nvSpPr>
          <p:cNvPr id="18" name="Text 16"/>
          <p:cNvSpPr txBox="1"/>
          <p:nvPr/>
        </p:nvSpPr>
        <p:spPr>
          <a:xfrm>
            <a:off x="777240" y="4800600"/>
            <a:ext cx="2240280" cy="128016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An overfull slide comes back as “split it”. Auto-fit is how a deck grows a 9-point slide.</a:t>
            </a:r>
            <a:endParaRPr lang="en-US" sz="1350" dirty="0"/>
          </a:p>
        </p:txBody>
      </p:sp>
      <p:sp>
        <p:nvSpPr>
          <p:cNvPr id="19" name="Shape 17"/>
          <p:cNvSpPr/>
          <p:nvPr/>
        </p:nvSpPr>
        <p:spPr>
          <a:xfrm>
            <a:off x="3355848" y="4069080"/>
            <a:ext cx="2651760" cy="2103120"/>
          </a:xfrm>
          <a:prstGeom prst="roundRect">
            <a:avLst>
              <a:gd name="adj" fmla="val 4348"/>
            </a:avLst>
          </a:prstGeom>
          <a:solidFill>
            <a:srgbClr val="F3F5F8"/>
          </a:solidFill>
          <a:ln w="12700">
            <a:solidFill>
              <a:srgbClr val="F3F5F8"/>
            </a:solidFill>
            <a:prstDash val="solid"/>
          </a:ln>
        </p:spPr>
      </p:sp>
      <p:sp>
        <p:nvSpPr>
          <p:cNvPr id="20" name="Text 18"/>
          <p:cNvSpPr txBox="1"/>
          <p:nvPr/>
        </p:nvSpPr>
        <p:spPr>
          <a:xfrm>
            <a:off x="3584448" y="4224528"/>
            <a:ext cx="2240280" cy="5486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Formulas stay formulas</a:t>
            </a:r>
            <a:endParaRPr lang="en-US" sz="1400" dirty="0"/>
          </a:p>
        </p:txBody>
      </p:sp>
      <p:sp>
        <p:nvSpPr>
          <p:cNvPr id="21" name="Text 19"/>
          <p:cNvSpPr txBox="1"/>
          <p:nvPr/>
        </p:nvSpPr>
        <p:spPr>
          <a:xfrm>
            <a:off x="3584448" y="4800600"/>
            <a:ext cx="2240280" cy="128016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 starts one, totals write SUM, and WEBSERVICE-style formulas are refused.</a:t>
            </a:r>
            <a:endParaRPr lang="en-US" sz="1350" dirty="0"/>
          </a:p>
        </p:txBody>
      </p:sp>
      <p:sp>
        <p:nvSpPr>
          <p:cNvPr id="22" name="Shape 20"/>
          <p:cNvSpPr/>
          <p:nvPr/>
        </p:nvSpPr>
        <p:spPr>
          <a:xfrm>
            <a:off x="6163056" y="4069080"/>
            <a:ext cx="2651760" cy="2103120"/>
          </a:xfrm>
          <a:prstGeom prst="roundRect">
            <a:avLst>
              <a:gd name="adj" fmla="val 4348"/>
            </a:avLst>
          </a:prstGeom>
          <a:solidFill>
            <a:srgbClr val="F3F5F8"/>
          </a:solidFill>
          <a:ln w="12700">
            <a:solidFill>
              <a:srgbClr val="F3F5F8"/>
            </a:solidFill>
            <a:prstDash val="solid"/>
          </a:ln>
        </p:spPr>
      </p:sp>
      <p:sp>
        <p:nvSpPr>
          <p:cNvPr id="23" name="Text 21"/>
          <p:cNvSpPr txBox="1"/>
          <p:nvPr/>
        </p:nvSpPr>
        <p:spPr>
          <a:xfrm>
            <a:off x="6391656" y="4224528"/>
            <a:ext cx="2240280" cy="5486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Charts are native</a:t>
            </a:r>
            <a:endParaRPr lang="en-US" sz="1400" dirty="0"/>
          </a:p>
        </p:txBody>
      </p:sp>
      <p:sp>
        <p:nvSpPr>
          <p:cNvPr id="24" name="Text 22"/>
          <p:cNvSpPr txBox="1"/>
          <p:nvPr/>
        </p:nvSpPr>
        <p:spPr>
          <a:xfrm>
            <a:off x="6391656" y="4800600"/>
            <a:ext cx="2240280" cy="128016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A chart on a slide takes render_chart's spec and becomes an editable PowerPoint chart.</a:t>
            </a:r>
            <a:endParaRPr lang="en-US" sz="1350" dirty="0"/>
          </a:p>
        </p:txBody>
      </p:sp>
      <p:sp>
        <p:nvSpPr>
          <p:cNvPr id="25" name="Shape 23"/>
          <p:cNvSpPr/>
          <p:nvPr/>
        </p:nvSpPr>
        <p:spPr>
          <a:xfrm>
            <a:off x="8970264" y="4069080"/>
            <a:ext cx="2651760" cy="2103120"/>
          </a:xfrm>
          <a:prstGeom prst="roundRect">
            <a:avLst>
              <a:gd name="adj" fmla="val 4348"/>
            </a:avLst>
          </a:prstGeom>
          <a:solidFill>
            <a:srgbClr val="F3F5F8"/>
          </a:solidFill>
          <a:ln w="12700">
            <a:solidFill>
              <a:srgbClr val="F3F5F8"/>
            </a:solidFill>
            <a:prstDash val="solid"/>
          </a:ln>
        </p:spPr>
      </p:sp>
      <p:sp>
        <p:nvSpPr>
          <p:cNvPr id="26" name="Text 24"/>
          <p:cNvSpPr txBox="1"/>
          <p:nvPr/>
        </p:nvSpPr>
        <p:spPr>
          <a:xfrm>
            <a:off x="9198864" y="4224528"/>
            <a:ext cx="2240280" cy="5486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Stored three ways</a:t>
            </a:r>
            <a:endParaRPr lang="en-US" sz="1400" dirty="0"/>
          </a:p>
        </p:txBody>
      </p:sp>
      <p:sp>
        <p:nvSpPr>
          <p:cNvPr id="27" name="Text 25"/>
          <p:cNvSpPr txBox="1"/>
          <p:nvPr/>
        </p:nvSpPr>
        <p:spPr>
          <a:xfrm>
            <a:off x="9198864" y="4800600"/>
            <a:ext cx="2240280" cy="1280160"/>
          </a:xfrm>
          <a:prstGeom prst="rect">
            <a:avLst/>
          </a:prstGeom>
          <a:noFill/>
          <a:ln/>
        </p:spPr>
        <p:txBody>
          <a:bodyPr wrap="square" lIns="0" tIns="0" rIns="0" bIns="0" rtlCol="0" anchor="t"/>
          <a:lstStyle/>
          <a:p>
            <a:pPr algn="l" indent="0" marL="0">
              <a:buNone/>
            </a:pPr>
            <a:r>
              <a:rPr lang="en-US" sz="1350" dirty="0">
                <a:solidFill>
                  <a:srgbClr val="5B6472"/>
                </a:solidFill>
                <a:latin typeface="Calibri" pitchFamily="34" charset="0"/>
                <a:ea typeface="Calibri" pitchFamily="34" charset="-122"/>
                <a:cs typeface="Calibri" pitchFamily="34" charset="-120"/>
              </a:rPr>
              <a:t>Bytes on the file, text extracted for search, the spec kept so the browser can preview.</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FILES &amp; APPS · THE APPS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Fifteen apps over one file tree</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Whatever an agent writes, you can open, edit and share — in the same product, on the same files.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28</a:t>
            </a:r>
            <a:endParaRPr lang="en-US" sz="1000" dirty="0"/>
          </a:p>
        </p:txBody>
      </p:sp>
      <p:sp>
        <p:nvSpPr>
          <p:cNvPr id="6" name="Shape 4"/>
          <p:cNvSpPr/>
          <p:nvPr/>
        </p:nvSpPr>
        <p:spPr>
          <a:xfrm>
            <a:off x="548640" y="1965960"/>
            <a:ext cx="2103120" cy="1161288"/>
          </a:xfrm>
          <a:prstGeom prst="roundRect">
            <a:avLst>
              <a:gd name="adj" fmla="val 7874"/>
            </a:avLst>
          </a:prstGeom>
          <a:solidFill>
            <a:srgbClr val="F3F5F8"/>
          </a:solidFill>
          <a:ln w="12700">
            <a:solidFill>
              <a:srgbClr val="F3F5F8"/>
            </a:solidFill>
            <a:prstDash val="solid"/>
          </a:ln>
        </p:spPr>
      </p:sp>
      <p:sp>
        <p:nvSpPr>
          <p:cNvPr id="7" name="Shape 5"/>
          <p:cNvSpPr/>
          <p:nvPr/>
        </p:nvSpPr>
        <p:spPr>
          <a:xfrm>
            <a:off x="731520" y="2148840"/>
            <a:ext cx="457200" cy="457200"/>
          </a:xfrm>
          <a:prstGeom prst="ellipse">
            <a:avLst/>
          </a:prstGeom>
          <a:solidFill>
            <a:srgbClr val="E08A1E"/>
          </a:solidFill>
          <a:ln w="12700">
            <a:solidFill>
              <a:srgbClr val="E08A1E"/>
            </a:solidFill>
            <a:prstDash val="solid"/>
          </a:ln>
        </p:spPr>
      </p:sp>
      <p:pic>
        <p:nvPicPr>
          <p:cNvPr id="8" name="Image 0" descr="preencoded.png">    </p:cNvPr>
          <p:cNvPicPr>
            <a:picLocks noChangeAspect="1"/>
          </p:cNvPicPr>
          <p:nvPr/>
        </p:nvPicPr>
        <p:blipFill>
          <a:blip r:embed="rId1"/>
          <a:stretch>
            <a:fillRect/>
          </a:stretch>
        </p:blipFill>
        <p:spPr>
          <a:xfrm>
            <a:off x="850392" y="2267712"/>
            <a:ext cx="219456" cy="219456"/>
          </a:xfrm>
          <a:prstGeom prst="rect">
            <a:avLst/>
          </a:prstGeom>
        </p:spPr>
      </p:pic>
      <p:sp>
        <p:nvSpPr>
          <p:cNvPr id="9" name="Text 6"/>
          <p:cNvSpPr txBox="1"/>
          <p:nvPr/>
        </p:nvSpPr>
        <p:spPr>
          <a:xfrm>
            <a:off x="1325880" y="2212848"/>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Files</a:t>
            </a:r>
            <a:endParaRPr lang="en-US" sz="1400" dirty="0"/>
          </a:p>
        </p:txBody>
      </p:sp>
      <p:sp>
        <p:nvSpPr>
          <p:cNvPr id="10" name="Text 7"/>
          <p:cNvSpPr txBox="1"/>
          <p:nvPr/>
        </p:nvSpPr>
        <p:spPr>
          <a:xfrm>
            <a:off x="731520" y="2697480"/>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browse, preview, restore</a:t>
            </a:r>
            <a:endParaRPr lang="en-US" sz="1150" dirty="0"/>
          </a:p>
        </p:txBody>
      </p:sp>
      <p:sp>
        <p:nvSpPr>
          <p:cNvPr id="11" name="Shape 8"/>
          <p:cNvSpPr/>
          <p:nvPr/>
        </p:nvSpPr>
        <p:spPr>
          <a:xfrm>
            <a:off x="2793492" y="1965960"/>
            <a:ext cx="2103120" cy="1161288"/>
          </a:xfrm>
          <a:prstGeom prst="roundRect">
            <a:avLst>
              <a:gd name="adj" fmla="val 7874"/>
            </a:avLst>
          </a:prstGeom>
          <a:solidFill>
            <a:srgbClr val="F3F5F8"/>
          </a:solidFill>
          <a:ln w="12700">
            <a:solidFill>
              <a:srgbClr val="F3F5F8"/>
            </a:solidFill>
            <a:prstDash val="solid"/>
          </a:ln>
        </p:spPr>
      </p:sp>
      <p:sp>
        <p:nvSpPr>
          <p:cNvPr id="12" name="Shape 9"/>
          <p:cNvSpPr/>
          <p:nvPr/>
        </p:nvSpPr>
        <p:spPr>
          <a:xfrm>
            <a:off x="2976372" y="2148840"/>
            <a:ext cx="457200" cy="457200"/>
          </a:xfrm>
          <a:prstGeom prst="ellipse">
            <a:avLst/>
          </a:prstGeom>
          <a:solidFill>
            <a:srgbClr val="15877D"/>
          </a:solidFill>
          <a:ln w="12700">
            <a:solidFill>
              <a:srgbClr val="15877D"/>
            </a:solidFill>
            <a:prstDash val="solid"/>
          </a:ln>
        </p:spPr>
      </p:sp>
      <p:pic>
        <p:nvPicPr>
          <p:cNvPr id="13" name="Image 1" descr="preencoded.png">    </p:cNvPr>
          <p:cNvPicPr>
            <a:picLocks noChangeAspect="1"/>
          </p:cNvPicPr>
          <p:nvPr/>
        </p:nvPicPr>
        <p:blipFill>
          <a:blip r:embed="rId2"/>
          <a:stretch>
            <a:fillRect/>
          </a:stretch>
        </p:blipFill>
        <p:spPr>
          <a:xfrm>
            <a:off x="3095244" y="2267712"/>
            <a:ext cx="219456" cy="219456"/>
          </a:xfrm>
          <a:prstGeom prst="rect">
            <a:avLst/>
          </a:prstGeom>
        </p:spPr>
      </p:pic>
      <p:sp>
        <p:nvSpPr>
          <p:cNvPr id="14" name="Text 10"/>
          <p:cNvSpPr txBox="1"/>
          <p:nvPr/>
        </p:nvSpPr>
        <p:spPr>
          <a:xfrm>
            <a:off x="3570732" y="2212848"/>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Docs</a:t>
            </a:r>
            <a:endParaRPr lang="en-US" sz="1400" dirty="0"/>
          </a:p>
        </p:txBody>
      </p:sp>
      <p:sp>
        <p:nvSpPr>
          <p:cNvPr id="15" name="Text 11"/>
          <p:cNvSpPr txBox="1"/>
          <p:nvPr/>
        </p:nvSpPr>
        <p:spPr>
          <a:xfrm>
            <a:off x="2976372" y="2697480"/>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Word &amp; Markdown · TipTap</a:t>
            </a:r>
            <a:endParaRPr lang="en-US" sz="1150" dirty="0"/>
          </a:p>
        </p:txBody>
      </p:sp>
      <p:sp>
        <p:nvSpPr>
          <p:cNvPr id="16" name="Shape 12"/>
          <p:cNvSpPr/>
          <p:nvPr/>
        </p:nvSpPr>
        <p:spPr>
          <a:xfrm>
            <a:off x="5038344" y="1965960"/>
            <a:ext cx="2103120" cy="1161288"/>
          </a:xfrm>
          <a:prstGeom prst="roundRect">
            <a:avLst>
              <a:gd name="adj" fmla="val 7874"/>
            </a:avLst>
          </a:prstGeom>
          <a:solidFill>
            <a:srgbClr val="F3F5F8"/>
          </a:solidFill>
          <a:ln w="12700">
            <a:solidFill>
              <a:srgbClr val="F3F5F8"/>
            </a:solidFill>
            <a:prstDash val="solid"/>
          </a:ln>
        </p:spPr>
      </p:sp>
      <p:sp>
        <p:nvSpPr>
          <p:cNvPr id="17" name="Shape 13"/>
          <p:cNvSpPr/>
          <p:nvPr/>
        </p:nvSpPr>
        <p:spPr>
          <a:xfrm>
            <a:off x="5221224" y="2148840"/>
            <a:ext cx="457200" cy="457200"/>
          </a:xfrm>
          <a:prstGeom prst="ellipse">
            <a:avLst/>
          </a:prstGeom>
          <a:solidFill>
            <a:srgbClr val="4E5A6B"/>
          </a:solidFill>
          <a:ln w="12700">
            <a:solidFill>
              <a:srgbClr val="4E5A6B"/>
            </a:solidFill>
            <a:prstDash val="solid"/>
          </a:ln>
        </p:spPr>
      </p:sp>
      <p:pic>
        <p:nvPicPr>
          <p:cNvPr id="18" name="Image 2" descr="preencoded.png">    </p:cNvPr>
          <p:cNvPicPr>
            <a:picLocks noChangeAspect="1"/>
          </p:cNvPicPr>
          <p:nvPr/>
        </p:nvPicPr>
        <p:blipFill>
          <a:blip r:embed="rId3"/>
          <a:stretch>
            <a:fillRect/>
          </a:stretch>
        </p:blipFill>
        <p:spPr>
          <a:xfrm>
            <a:off x="5340096" y="2267712"/>
            <a:ext cx="219456" cy="219456"/>
          </a:xfrm>
          <a:prstGeom prst="rect">
            <a:avLst/>
          </a:prstGeom>
        </p:spPr>
      </p:pic>
      <p:sp>
        <p:nvSpPr>
          <p:cNvPr id="19" name="Text 14"/>
          <p:cNvSpPr txBox="1"/>
          <p:nvPr/>
        </p:nvSpPr>
        <p:spPr>
          <a:xfrm>
            <a:off x="5815584" y="2212848"/>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Sheets</a:t>
            </a:r>
            <a:endParaRPr lang="en-US" sz="1400" dirty="0"/>
          </a:p>
        </p:txBody>
      </p:sp>
      <p:sp>
        <p:nvSpPr>
          <p:cNvPr id="20" name="Text 15"/>
          <p:cNvSpPr txBox="1"/>
          <p:nvPr/>
        </p:nvSpPr>
        <p:spPr>
          <a:xfrm>
            <a:off x="5221224" y="2697480"/>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Excel &amp; CSV · Univer</a:t>
            </a:r>
            <a:endParaRPr lang="en-US" sz="1150" dirty="0"/>
          </a:p>
        </p:txBody>
      </p:sp>
      <p:sp>
        <p:nvSpPr>
          <p:cNvPr id="21" name="Shape 16"/>
          <p:cNvSpPr/>
          <p:nvPr/>
        </p:nvSpPr>
        <p:spPr>
          <a:xfrm>
            <a:off x="7283196" y="1965960"/>
            <a:ext cx="2103120" cy="1161288"/>
          </a:xfrm>
          <a:prstGeom prst="roundRect">
            <a:avLst>
              <a:gd name="adj" fmla="val 7874"/>
            </a:avLst>
          </a:prstGeom>
          <a:solidFill>
            <a:srgbClr val="F3F5F8"/>
          </a:solidFill>
          <a:ln w="12700">
            <a:solidFill>
              <a:srgbClr val="F3F5F8"/>
            </a:solidFill>
            <a:prstDash val="solid"/>
          </a:ln>
        </p:spPr>
      </p:sp>
      <p:sp>
        <p:nvSpPr>
          <p:cNvPr id="22" name="Shape 17"/>
          <p:cNvSpPr/>
          <p:nvPr/>
        </p:nvSpPr>
        <p:spPr>
          <a:xfrm>
            <a:off x="7466076" y="2148840"/>
            <a:ext cx="457200" cy="457200"/>
          </a:xfrm>
          <a:prstGeom prst="ellipse">
            <a:avLst/>
          </a:prstGeom>
          <a:solidFill>
            <a:srgbClr val="0D5C55"/>
          </a:solidFill>
          <a:ln w="12700">
            <a:solidFill>
              <a:srgbClr val="0D5C55"/>
            </a:solidFill>
            <a:prstDash val="solid"/>
          </a:ln>
        </p:spPr>
      </p:sp>
      <p:pic>
        <p:nvPicPr>
          <p:cNvPr id="23" name="Image 3" descr="preencoded.png">    </p:cNvPr>
          <p:cNvPicPr>
            <a:picLocks noChangeAspect="1"/>
          </p:cNvPicPr>
          <p:nvPr/>
        </p:nvPicPr>
        <p:blipFill>
          <a:blip r:embed="rId4"/>
          <a:stretch>
            <a:fillRect/>
          </a:stretch>
        </p:blipFill>
        <p:spPr>
          <a:xfrm>
            <a:off x="7584948" y="2267712"/>
            <a:ext cx="219456" cy="219456"/>
          </a:xfrm>
          <a:prstGeom prst="rect">
            <a:avLst/>
          </a:prstGeom>
        </p:spPr>
      </p:pic>
      <p:sp>
        <p:nvSpPr>
          <p:cNvPr id="24" name="Text 18"/>
          <p:cNvSpPr txBox="1"/>
          <p:nvPr/>
        </p:nvSpPr>
        <p:spPr>
          <a:xfrm>
            <a:off x="8060436" y="2212848"/>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Slides</a:t>
            </a:r>
            <a:endParaRPr lang="en-US" sz="1400" dirty="0"/>
          </a:p>
        </p:txBody>
      </p:sp>
      <p:sp>
        <p:nvSpPr>
          <p:cNvPr id="25" name="Text 19"/>
          <p:cNvSpPr txBox="1"/>
          <p:nvPr/>
        </p:nvSpPr>
        <p:spPr>
          <a:xfrm>
            <a:off x="7466076" y="2697480"/>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edit on the slide, present</a:t>
            </a:r>
            <a:endParaRPr lang="en-US" sz="1150" dirty="0"/>
          </a:p>
        </p:txBody>
      </p:sp>
      <p:sp>
        <p:nvSpPr>
          <p:cNvPr id="26" name="Shape 20"/>
          <p:cNvSpPr/>
          <p:nvPr/>
        </p:nvSpPr>
        <p:spPr>
          <a:xfrm>
            <a:off x="9528048" y="1965960"/>
            <a:ext cx="2103120" cy="1161288"/>
          </a:xfrm>
          <a:prstGeom prst="roundRect">
            <a:avLst>
              <a:gd name="adj" fmla="val 7874"/>
            </a:avLst>
          </a:prstGeom>
          <a:solidFill>
            <a:srgbClr val="F3F5F8"/>
          </a:solidFill>
          <a:ln w="12700">
            <a:solidFill>
              <a:srgbClr val="F3F5F8"/>
            </a:solidFill>
            <a:prstDash val="solid"/>
          </a:ln>
        </p:spPr>
      </p:sp>
      <p:sp>
        <p:nvSpPr>
          <p:cNvPr id="27" name="Shape 21"/>
          <p:cNvSpPr/>
          <p:nvPr/>
        </p:nvSpPr>
        <p:spPr>
          <a:xfrm>
            <a:off x="9710928" y="2148840"/>
            <a:ext cx="457200" cy="457200"/>
          </a:xfrm>
          <a:prstGeom prst="ellipse">
            <a:avLst/>
          </a:prstGeom>
          <a:solidFill>
            <a:srgbClr val="9A5A0C"/>
          </a:solidFill>
          <a:ln w="12700">
            <a:solidFill>
              <a:srgbClr val="9A5A0C"/>
            </a:solidFill>
            <a:prstDash val="solid"/>
          </a:ln>
        </p:spPr>
      </p:sp>
      <p:pic>
        <p:nvPicPr>
          <p:cNvPr id="28" name="Image 4" descr="preencoded.png">    </p:cNvPr>
          <p:cNvPicPr>
            <a:picLocks noChangeAspect="1"/>
          </p:cNvPicPr>
          <p:nvPr/>
        </p:nvPicPr>
        <p:blipFill>
          <a:blip r:embed="rId5"/>
          <a:stretch>
            <a:fillRect/>
          </a:stretch>
        </p:blipFill>
        <p:spPr>
          <a:xfrm>
            <a:off x="9829800" y="2267712"/>
            <a:ext cx="219456" cy="219456"/>
          </a:xfrm>
          <a:prstGeom prst="rect">
            <a:avLst/>
          </a:prstGeom>
        </p:spPr>
      </p:pic>
      <p:sp>
        <p:nvSpPr>
          <p:cNvPr id="29" name="Text 22"/>
          <p:cNvSpPr txBox="1"/>
          <p:nvPr/>
        </p:nvSpPr>
        <p:spPr>
          <a:xfrm>
            <a:off x="10305288" y="2212848"/>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Notepad</a:t>
            </a:r>
            <a:endParaRPr lang="en-US" sz="1400" dirty="0"/>
          </a:p>
        </p:txBody>
      </p:sp>
      <p:sp>
        <p:nvSpPr>
          <p:cNvPr id="30" name="Text 23"/>
          <p:cNvSpPr txBox="1"/>
          <p:nvPr/>
        </p:nvSpPr>
        <p:spPr>
          <a:xfrm>
            <a:off x="9710928" y="2697480"/>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plain text, saved as you go</a:t>
            </a:r>
            <a:endParaRPr lang="en-US" sz="1150" dirty="0"/>
          </a:p>
        </p:txBody>
      </p:sp>
      <p:sp>
        <p:nvSpPr>
          <p:cNvPr id="31" name="Shape 24"/>
          <p:cNvSpPr/>
          <p:nvPr/>
        </p:nvSpPr>
        <p:spPr>
          <a:xfrm>
            <a:off x="548640" y="3264408"/>
            <a:ext cx="2103120" cy="1161288"/>
          </a:xfrm>
          <a:prstGeom prst="roundRect">
            <a:avLst>
              <a:gd name="adj" fmla="val 7874"/>
            </a:avLst>
          </a:prstGeom>
          <a:solidFill>
            <a:srgbClr val="F3F5F8"/>
          </a:solidFill>
          <a:ln w="12700">
            <a:solidFill>
              <a:srgbClr val="F3F5F8"/>
            </a:solidFill>
            <a:prstDash val="solid"/>
          </a:ln>
        </p:spPr>
      </p:sp>
      <p:sp>
        <p:nvSpPr>
          <p:cNvPr id="32" name="Shape 25"/>
          <p:cNvSpPr/>
          <p:nvPr/>
        </p:nvSpPr>
        <p:spPr>
          <a:xfrm>
            <a:off x="731520" y="3447288"/>
            <a:ext cx="457200" cy="457200"/>
          </a:xfrm>
          <a:prstGeom prst="ellipse">
            <a:avLst/>
          </a:prstGeom>
          <a:solidFill>
            <a:srgbClr val="E08A1E"/>
          </a:solidFill>
          <a:ln w="12700">
            <a:solidFill>
              <a:srgbClr val="E08A1E"/>
            </a:solidFill>
            <a:prstDash val="solid"/>
          </a:ln>
        </p:spPr>
      </p:sp>
      <p:pic>
        <p:nvPicPr>
          <p:cNvPr id="33" name="Image 5" descr="preencoded.png">    </p:cNvPr>
          <p:cNvPicPr>
            <a:picLocks noChangeAspect="1"/>
          </p:cNvPicPr>
          <p:nvPr/>
        </p:nvPicPr>
        <p:blipFill>
          <a:blip r:embed="rId6"/>
          <a:stretch>
            <a:fillRect/>
          </a:stretch>
        </p:blipFill>
        <p:spPr>
          <a:xfrm>
            <a:off x="850392" y="3566160"/>
            <a:ext cx="219456" cy="219456"/>
          </a:xfrm>
          <a:prstGeom prst="rect">
            <a:avLst/>
          </a:prstGeom>
        </p:spPr>
      </p:pic>
      <p:sp>
        <p:nvSpPr>
          <p:cNvPr id="34" name="Text 26"/>
          <p:cNvSpPr txBox="1"/>
          <p:nvPr/>
        </p:nvSpPr>
        <p:spPr>
          <a:xfrm>
            <a:off x="1325880" y="3511296"/>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Tasks</a:t>
            </a:r>
            <a:endParaRPr lang="en-US" sz="1400" dirty="0"/>
          </a:p>
        </p:txBody>
      </p:sp>
      <p:sp>
        <p:nvSpPr>
          <p:cNvPr id="35" name="Text 27"/>
          <p:cNvSpPr txBox="1"/>
          <p:nvPr/>
        </p:nvSpPr>
        <p:spPr>
          <a:xfrm>
            <a:off x="731520" y="3995928"/>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Markdown checklists</a:t>
            </a:r>
            <a:endParaRPr lang="en-US" sz="1150" dirty="0"/>
          </a:p>
        </p:txBody>
      </p:sp>
      <p:sp>
        <p:nvSpPr>
          <p:cNvPr id="36" name="Shape 28"/>
          <p:cNvSpPr/>
          <p:nvPr/>
        </p:nvSpPr>
        <p:spPr>
          <a:xfrm>
            <a:off x="2793492" y="3264408"/>
            <a:ext cx="2103120" cy="1161288"/>
          </a:xfrm>
          <a:prstGeom prst="roundRect">
            <a:avLst>
              <a:gd name="adj" fmla="val 7874"/>
            </a:avLst>
          </a:prstGeom>
          <a:solidFill>
            <a:srgbClr val="F3F5F8"/>
          </a:solidFill>
          <a:ln w="12700">
            <a:solidFill>
              <a:srgbClr val="F3F5F8"/>
            </a:solidFill>
            <a:prstDash val="solid"/>
          </a:ln>
        </p:spPr>
      </p:sp>
      <p:sp>
        <p:nvSpPr>
          <p:cNvPr id="37" name="Shape 29"/>
          <p:cNvSpPr/>
          <p:nvPr/>
        </p:nvSpPr>
        <p:spPr>
          <a:xfrm>
            <a:off x="2976372" y="3447288"/>
            <a:ext cx="457200" cy="457200"/>
          </a:xfrm>
          <a:prstGeom prst="ellipse">
            <a:avLst/>
          </a:prstGeom>
          <a:solidFill>
            <a:srgbClr val="15877D"/>
          </a:solidFill>
          <a:ln w="12700">
            <a:solidFill>
              <a:srgbClr val="15877D"/>
            </a:solidFill>
            <a:prstDash val="solid"/>
          </a:ln>
        </p:spPr>
      </p:sp>
      <p:pic>
        <p:nvPicPr>
          <p:cNvPr id="38" name="Image 6" descr="preencoded.png">    </p:cNvPr>
          <p:cNvPicPr>
            <a:picLocks noChangeAspect="1"/>
          </p:cNvPicPr>
          <p:nvPr/>
        </p:nvPicPr>
        <p:blipFill>
          <a:blip r:embed="rId7"/>
          <a:stretch>
            <a:fillRect/>
          </a:stretch>
        </p:blipFill>
        <p:spPr>
          <a:xfrm>
            <a:off x="3095244" y="3566160"/>
            <a:ext cx="219456" cy="219456"/>
          </a:xfrm>
          <a:prstGeom prst="rect">
            <a:avLst/>
          </a:prstGeom>
        </p:spPr>
      </p:pic>
      <p:sp>
        <p:nvSpPr>
          <p:cNvPr id="39" name="Text 30"/>
          <p:cNvSpPr txBox="1"/>
          <p:nvPr/>
        </p:nvSpPr>
        <p:spPr>
          <a:xfrm>
            <a:off x="3570732" y="3511296"/>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Code</a:t>
            </a:r>
            <a:endParaRPr lang="en-US" sz="1400" dirty="0"/>
          </a:p>
        </p:txBody>
      </p:sp>
      <p:sp>
        <p:nvSpPr>
          <p:cNvPr id="40" name="Text 31"/>
          <p:cNvSpPr txBox="1"/>
          <p:nvPr/>
        </p:nvSpPr>
        <p:spPr>
          <a:xfrm>
            <a:off x="2976372" y="3995928"/>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CodeMirror 6</a:t>
            </a:r>
            <a:endParaRPr lang="en-US" sz="1150" dirty="0"/>
          </a:p>
        </p:txBody>
      </p:sp>
      <p:sp>
        <p:nvSpPr>
          <p:cNvPr id="41" name="Shape 32"/>
          <p:cNvSpPr/>
          <p:nvPr/>
        </p:nvSpPr>
        <p:spPr>
          <a:xfrm>
            <a:off x="5038344" y="3264408"/>
            <a:ext cx="2103120" cy="1161288"/>
          </a:xfrm>
          <a:prstGeom prst="roundRect">
            <a:avLst>
              <a:gd name="adj" fmla="val 7874"/>
            </a:avLst>
          </a:prstGeom>
          <a:solidFill>
            <a:srgbClr val="F3F5F8"/>
          </a:solidFill>
          <a:ln w="12700">
            <a:solidFill>
              <a:srgbClr val="F3F5F8"/>
            </a:solidFill>
            <a:prstDash val="solid"/>
          </a:ln>
        </p:spPr>
      </p:sp>
      <p:sp>
        <p:nvSpPr>
          <p:cNvPr id="42" name="Shape 33"/>
          <p:cNvSpPr/>
          <p:nvPr/>
        </p:nvSpPr>
        <p:spPr>
          <a:xfrm>
            <a:off x="5221224" y="3447288"/>
            <a:ext cx="457200" cy="457200"/>
          </a:xfrm>
          <a:prstGeom prst="ellipse">
            <a:avLst/>
          </a:prstGeom>
          <a:solidFill>
            <a:srgbClr val="4E5A6B"/>
          </a:solidFill>
          <a:ln w="12700">
            <a:solidFill>
              <a:srgbClr val="4E5A6B"/>
            </a:solidFill>
            <a:prstDash val="solid"/>
          </a:ln>
        </p:spPr>
      </p:sp>
      <p:pic>
        <p:nvPicPr>
          <p:cNvPr id="43" name="Image 7" descr="preencoded.png">    </p:cNvPr>
          <p:cNvPicPr>
            <a:picLocks noChangeAspect="1"/>
          </p:cNvPicPr>
          <p:nvPr/>
        </p:nvPicPr>
        <p:blipFill>
          <a:blip r:embed="rId8"/>
          <a:stretch>
            <a:fillRect/>
          </a:stretch>
        </p:blipFill>
        <p:spPr>
          <a:xfrm>
            <a:off x="5340096" y="3566160"/>
            <a:ext cx="219456" cy="219456"/>
          </a:xfrm>
          <a:prstGeom prst="rect">
            <a:avLst/>
          </a:prstGeom>
        </p:spPr>
      </p:pic>
      <p:sp>
        <p:nvSpPr>
          <p:cNvPr id="44" name="Text 34"/>
          <p:cNvSpPr txBox="1"/>
          <p:nvPr/>
        </p:nvSpPr>
        <p:spPr>
          <a:xfrm>
            <a:off x="5815584" y="3511296"/>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Web</a:t>
            </a:r>
            <a:endParaRPr lang="en-US" sz="1400" dirty="0"/>
          </a:p>
        </p:txBody>
      </p:sp>
      <p:sp>
        <p:nvSpPr>
          <p:cNvPr id="45" name="Text 35"/>
          <p:cNvSpPr txBox="1"/>
          <p:nvPr/>
        </p:nvSpPr>
        <p:spPr>
          <a:xfrm>
            <a:off x="5221224" y="3995928"/>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HTML with a live render</a:t>
            </a:r>
            <a:endParaRPr lang="en-US" sz="1150" dirty="0"/>
          </a:p>
        </p:txBody>
      </p:sp>
      <p:sp>
        <p:nvSpPr>
          <p:cNvPr id="46" name="Shape 36"/>
          <p:cNvSpPr/>
          <p:nvPr/>
        </p:nvSpPr>
        <p:spPr>
          <a:xfrm>
            <a:off x="7283196" y="3264408"/>
            <a:ext cx="2103120" cy="1161288"/>
          </a:xfrm>
          <a:prstGeom prst="roundRect">
            <a:avLst>
              <a:gd name="adj" fmla="val 7874"/>
            </a:avLst>
          </a:prstGeom>
          <a:solidFill>
            <a:srgbClr val="F3F5F8"/>
          </a:solidFill>
          <a:ln w="12700">
            <a:solidFill>
              <a:srgbClr val="F3F5F8"/>
            </a:solidFill>
            <a:prstDash val="solid"/>
          </a:ln>
        </p:spPr>
      </p:sp>
      <p:sp>
        <p:nvSpPr>
          <p:cNvPr id="47" name="Shape 37"/>
          <p:cNvSpPr/>
          <p:nvPr/>
        </p:nvSpPr>
        <p:spPr>
          <a:xfrm>
            <a:off x="7466076" y="3447288"/>
            <a:ext cx="457200" cy="457200"/>
          </a:xfrm>
          <a:prstGeom prst="ellipse">
            <a:avLst/>
          </a:prstGeom>
          <a:solidFill>
            <a:srgbClr val="0D5C55"/>
          </a:solidFill>
          <a:ln w="12700">
            <a:solidFill>
              <a:srgbClr val="0D5C55"/>
            </a:solidFill>
            <a:prstDash val="solid"/>
          </a:ln>
        </p:spPr>
      </p:sp>
      <p:pic>
        <p:nvPicPr>
          <p:cNvPr id="48" name="Image 8" descr="preencoded.png">    </p:cNvPr>
          <p:cNvPicPr>
            <a:picLocks noChangeAspect="1"/>
          </p:cNvPicPr>
          <p:nvPr/>
        </p:nvPicPr>
        <p:blipFill>
          <a:blip r:embed="rId9"/>
          <a:stretch>
            <a:fillRect/>
          </a:stretch>
        </p:blipFill>
        <p:spPr>
          <a:xfrm>
            <a:off x="7584948" y="3566160"/>
            <a:ext cx="219456" cy="219456"/>
          </a:xfrm>
          <a:prstGeom prst="rect">
            <a:avLst/>
          </a:prstGeom>
        </p:spPr>
      </p:pic>
      <p:sp>
        <p:nvSpPr>
          <p:cNvPr id="49" name="Text 38"/>
          <p:cNvSpPr txBox="1"/>
          <p:nvPr/>
        </p:nvSpPr>
        <p:spPr>
          <a:xfrm>
            <a:off x="8060436" y="3511296"/>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PDF</a:t>
            </a:r>
            <a:endParaRPr lang="en-US" sz="1400" dirty="0"/>
          </a:p>
        </p:txBody>
      </p:sp>
      <p:sp>
        <p:nvSpPr>
          <p:cNvPr id="50" name="Text 39"/>
          <p:cNvSpPr txBox="1"/>
          <p:nvPr/>
        </p:nvSpPr>
        <p:spPr>
          <a:xfrm>
            <a:off x="7466076" y="3995928"/>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pdf.js reader, search, zoom</a:t>
            </a:r>
            <a:endParaRPr lang="en-US" sz="1150" dirty="0"/>
          </a:p>
        </p:txBody>
      </p:sp>
      <p:sp>
        <p:nvSpPr>
          <p:cNvPr id="51" name="Shape 40"/>
          <p:cNvSpPr/>
          <p:nvPr/>
        </p:nvSpPr>
        <p:spPr>
          <a:xfrm>
            <a:off x="9528048" y="3264408"/>
            <a:ext cx="2103120" cy="1161288"/>
          </a:xfrm>
          <a:prstGeom prst="roundRect">
            <a:avLst>
              <a:gd name="adj" fmla="val 7874"/>
            </a:avLst>
          </a:prstGeom>
          <a:solidFill>
            <a:srgbClr val="F3F5F8"/>
          </a:solidFill>
          <a:ln w="12700">
            <a:solidFill>
              <a:srgbClr val="F3F5F8"/>
            </a:solidFill>
            <a:prstDash val="solid"/>
          </a:ln>
        </p:spPr>
      </p:sp>
      <p:sp>
        <p:nvSpPr>
          <p:cNvPr id="52" name="Shape 41"/>
          <p:cNvSpPr/>
          <p:nvPr/>
        </p:nvSpPr>
        <p:spPr>
          <a:xfrm>
            <a:off x="9710928" y="3447288"/>
            <a:ext cx="457200" cy="457200"/>
          </a:xfrm>
          <a:prstGeom prst="ellipse">
            <a:avLst/>
          </a:prstGeom>
          <a:solidFill>
            <a:srgbClr val="9A5A0C"/>
          </a:solidFill>
          <a:ln w="12700">
            <a:solidFill>
              <a:srgbClr val="9A5A0C"/>
            </a:solidFill>
            <a:prstDash val="solid"/>
          </a:ln>
        </p:spPr>
      </p:sp>
      <p:pic>
        <p:nvPicPr>
          <p:cNvPr id="53" name="Image 9" descr="preencoded.png">    </p:cNvPr>
          <p:cNvPicPr>
            <a:picLocks noChangeAspect="1"/>
          </p:cNvPicPr>
          <p:nvPr/>
        </p:nvPicPr>
        <p:blipFill>
          <a:blip r:embed="rId10"/>
          <a:stretch>
            <a:fillRect/>
          </a:stretch>
        </p:blipFill>
        <p:spPr>
          <a:xfrm>
            <a:off x="9829800" y="3566160"/>
            <a:ext cx="219456" cy="219456"/>
          </a:xfrm>
          <a:prstGeom prst="rect">
            <a:avLst/>
          </a:prstGeom>
        </p:spPr>
      </p:pic>
      <p:sp>
        <p:nvSpPr>
          <p:cNvPr id="54" name="Text 42"/>
          <p:cNvSpPr txBox="1"/>
          <p:nvPr/>
        </p:nvSpPr>
        <p:spPr>
          <a:xfrm>
            <a:off x="10305288" y="3511296"/>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Photos</a:t>
            </a:r>
            <a:endParaRPr lang="en-US" sz="1400" dirty="0"/>
          </a:p>
        </p:txBody>
      </p:sp>
      <p:sp>
        <p:nvSpPr>
          <p:cNvPr id="55" name="Text 43"/>
          <p:cNvSpPr txBox="1"/>
          <p:nvPr/>
        </p:nvSpPr>
        <p:spPr>
          <a:xfrm>
            <a:off x="9710928" y="3995928"/>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zoom, rotate, TIFF / HEIC</a:t>
            </a:r>
            <a:endParaRPr lang="en-US" sz="1150" dirty="0"/>
          </a:p>
        </p:txBody>
      </p:sp>
      <p:sp>
        <p:nvSpPr>
          <p:cNvPr id="56" name="Shape 44"/>
          <p:cNvSpPr/>
          <p:nvPr/>
        </p:nvSpPr>
        <p:spPr>
          <a:xfrm>
            <a:off x="548640" y="4562856"/>
            <a:ext cx="2103120" cy="1161288"/>
          </a:xfrm>
          <a:prstGeom prst="roundRect">
            <a:avLst>
              <a:gd name="adj" fmla="val 7874"/>
            </a:avLst>
          </a:prstGeom>
          <a:solidFill>
            <a:srgbClr val="F3F5F8"/>
          </a:solidFill>
          <a:ln w="12700">
            <a:solidFill>
              <a:srgbClr val="F3F5F8"/>
            </a:solidFill>
            <a:prstDash val="solid"/>
          </a:ln>
        </p:spPr>
      </p:sp>
      <p:sp>
        <p:nvSpPr>
          <p:cNvPr id="57" name="Shape 45"/>
          <p:cNvSpPr/>
          <p:nvPr/>
        </p:nvSpPr>
        <p:spPr>
          <a:xfrm>
            <a:off x="731520" y="4745736"/>
            <a:ext cx="457200" cy="457200"/>
          </a:xfrm>
          <a:prstGeom prst="ellipse">
            <a:avLst/>
          </a:prstGeom>
          <a:solidFill>
            <a:srgbClr val="E08A1E"/>
          </a:solidFill>
          <a:ln w="12700">
            <a:solidFill>
              <a:srgbClr val="E08A1E"/>
            </a:solidFill>
            <a:prstDash val="solid"/>
          </a:ln>
        </p:spPr>
      </p:sp>
      <p:pic>
        <p:nvPicPr>
          <p:cNvPr id="58" name="Image 10" descr="preencoded.png">    </p:cNvPr>
          <p:cNvPicPr>
            <a:picLocks noChangeAspect="1"/>
          </p:cNvPicPr>
          <p:nvPr/>
        </p:nvPicPr>
        <p:blipFill>
          <a:blip r:embed="rId11"/>
          <a:stretch>
            <a:fillRect/>
          </a:stretch>
        </p:blipFill>
        <p:spPr>
          <a:xfrm>
            <a:off x="850392" y="4864608"/>
            <a:ext cx="219456" cy="219456"/>
          </a:xfrm>
          <a:prstGeom prst="rect">
            <a:avLst/>
          </a:prstGeom>
        </p:spPr>
      </p:pic>
      <p:sp>
        <p:nvSpPr>
          <p:cNvPr id="59" name="Text 46"/>
          <p:cNvSpPr txBox="1"/>
          <p:nvPr/>
        </p:nvSpPr>
        <p:spPr>
          <a:xfrm>
            <a:off x="1325880" y="4809744"/>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Whiteboard</a:t>
            </a:r>
            <a:endParaRPr lang="en-US" sz="1400" dirty="0"/>
          </a:p>
        </p:txBody>
      </p:sp>
      <p:sp>
        <p:nvSpPr>
          <p:cNvPr id="60" name="Text 47"/>
          <p:cNvSpPr txBox="1"/>
          <p:nvPr/>
        </p:nvSpPr>
        <p:spPr>
          <a:xfrm>
            <a:off x="731520" y="5294376"/>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sketch, save as PNG</a:t>
            </a:r>
            <a:endParaRPr lang="en-US" sz="1150" dirty="0"/>
          </a:p>
        </p:txBody>
      </p:sp>
      <p:sp>
        <p:nvSpPr>
          <p:cNvPr id="61" name="Shape 48"/>
          <p:cNvSpPr/>
          <p:nvPr/>
        </p:nvSpPr>
        <p:spPr>
          <a:xfrm>
            <a:off x="2793492" y="4562856"/>
            <a:ext cx="2103120" cy="1161288"/>
          </a:xfrm>
          <a:prstGeom prst="roundRect">
            <a:avLst>
              <a:gd name="adj" fmla="val 7874"/>
            </a:avLst>
          </a:prstGeom>
          <a:solidFill>
            <a:srgbClr val="F3F5F8"/>
          </a:solidFill>
          <a:ln w="12700">
            <a:solidFill>
              <a:srgbClr val="F3F5F8"/>
            </a:solidFill>
            <a:prstDash val="solid"/>
          </a:ln>
        </p:spPr>
      </p:sp>
      <p:sp>
        <p:nvSpPr>
          <p:cNvPr id="62" name="Shape 49"/>
          <p:cNvSpPr/>
          <p:nvPr/>
        </p:nvSpPr>
        <p:spPr>
          <a:xfrm>
            <a:off x="2976372" y="4745736"/>
            <a:ext cx="457200" cy="457200"/>
          </a:xfrm>
          <a:prstGeom prst="ellipse">
            <a:avLst/>
          </a:prstGeom>
          <a:solidFill>
            <a:srgbClr val="15877D"/>
          </a:solidFill>
          <a:ln w="12700">
            <a:solidFill>
              <a:srgbClr val="15877D"/>
            </a:solidFill>
            <a:prstDash val="solid"/>
          </a:ln>
        </p:spPr>
      </p:sp>
      <p:pic>
        <p:nvPicPr>
          <p:cNvPr id="63" name="Image 11" descr="preencoded.png">    </p:cNvPr>
          <p:cNvPicPr>
            <a:picLocks noChangeAspect="1"/>
          </p:cNvPicPr>
          <p:nvPr/>
        </p:nvPicPr>
        <p:blipFill>
          <a:blip r:embed="rId12"/>
          <a:stretch>
            <a:fillRect/>
          </a:stretch>
        </p:blipFill>
        <p:spPr>
          <a:xfrm>
            <a:off x="3095244" y="4864608"/>
            <a:ext cx="219456" cy="219456"/>
          </a:xfrm>
          <a:prstGeom prst="rect">
            <a:avLst/>
          </a:prstGeom>
        </p:spPr>
      </p:pic>
      <p:sp>
        <p:nvSpPr>
          <p:cNvPr id="64" name="Text 50"/>
          <p:cNvSpPr txBox="1"/>
          <p:nvPr/>
        </p:nvSpPr>
        <p:spPr>
          <a:xfrm>
            <a:off x="3570732" y="4809744"/>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Media</a:t>
            </a:r>
            <a:endParaRPr lang="en-US" sz="1400" dirty="0"/>
          </a:p>
        </p:txBody>
      </p:sp>
      <p:sp>
        <p:nvSpPr>
          <p:cNvPr id="65" name="Text 51"/>
          <p:cNvSpPr txBox="1"/>
          <p:nvPr/>
        </p:nvSpPr>
        <p:spPr>
          <a:xfrm>
            <a:off x="2976372" y="5294376"/>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video and audio</a:t>
            </a:r>
            <a:endParaRPr lang="en-US" sz="1150" dirty="0"/>
          </a:p>
        </p:txBody>
      </p:sp>
      <p:sp>
        <p:nvSpPr>
          <p:cNvPr id="66" name="Shape 52"/>
          <p:cNvSpPr/>
          <p:nvPr/>
        </p:nvSpPr>
        <p:spPr>
          <a:xfrm>
            <a:off x="5038344" y="4562856"/>
            <a:ext cx="2103120" cy="1161288"/>
          </a:xfrm>
          <a:prstGeom prst="roundRect">
            <a:avLst>
              <a:gd name="adj" fmla="val 7874"/>
            </a:avLst>
          </a:prstGeom>
          <a:solidFill>
            <a:srgbClr val="F3F5F8"/>
          </a:solidFill>
          <a:ln w="12700">
            <a:solidFill>
              <a:srgbClr val="F3F5F8"/>
            </a:solidFill>
            <a:prstDash val="solid"/>
          </a:ln>
        </p:spPr>
      </p:sp>
      <p:sp>
        <p:nvSpPr>
          <p:cNvPr id="67" name="Shape 53"/>
          <p:cNvSpPr/>
          <p:nvPr/>
        </p:nvSpPr>
        <p:spPr>
          <a:xfrm>
            <a:off x="5221224" y="4745736"/>
            <a:ext cx="457200" cy="457200"/>
          </a:xfrm>
          <a:prstGeom prst="ellipse">
            <a:avLst/>
          </a:prstGeom>
          <a:solidFill>
            <a:srgbClr val="4E5A6B"/>
          </a:solidFill>
          <a:ln w="12700">
            <a:solidFill>
              <a:srgbClr val="4E5A6B"/>
            </a:solidFill>
            <a:prstDash val="solid"/>
          </a:ln>
        </p:spPr>
      </p:sp>
      <p:pic>
        <p:nvPicPr>
          <p:cNvPr id="68" name="Image 12" descr="preencoded.png">    </p:cNvPr>
          <p:cNvPicPr>
            <a:picLocks noChangeAspect="1"/>
          </p:cNvPicPr>
          <p:nvPr/>
        </p:nvPicPr>
        <p:blipFill>
          <a:blip r:embed="rId13"/>
          <a:stretch>
            <a:fillRect/>
          </a:stretch>
        </p:blipFill>
        <p:spPr>
          <a:xfrm>
            <a:off x="5340096" y="4864608"/>
            <a:ext cx="219456" cy="219456"/>
          </a:xfrm>
          <a:prstGeom prst="rect">
            <a:avLst/>
          </a:prstGeom>
        </p:spPr>
      </p:pic>
      <p:sp>
        <p:nvSpPr>
          <p:cNvPr id="69" name="Text 54"/>
          <p:cNvSpPr txBox="1"/>
          <p:nvPr/>
        </p:nvSpPr>
        <p:spPr>
          <a:xfrm>
            <a:off x="5815584" y="4809744"/>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Dashboards</a:t>
            </a:r>
            <a:endParaRPr lang="en-US" sz="1400" dirty="0"/>
          </a:p>
        </p:txBody>
      </p:sp>
      <p:sp>
        <p:nvSpPr>
          <p:cNvPr id="70" name="Text 55"/>
          <p:cNvSpPr txBox="1"/>
          <p:nvPr/>
        </p:nvSpPr>
        <p:spPr>
          <a:xfrm>
            <a:off x="5221224" y="5294376"/>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live KPI and chart tiles</a:t>
            </a:r>
            <a:endParaRPr lang="en-US" sz="1150" dirty="0"/>
          </a:p>
        </p:txBody>
      </p:sp>
      <p:sp>
        <p:nvSpPr>
          <p:cNvPr id="71" name="Shape 56"/>
          <p:cNvSpPr/>
          <p:nvPr/>
        </p:nvSpPr>
        <p:spPr>
          <a:xfrm>
            <a:off x="7283196" y="4562856"/>
            <a:ext cx="2103120" cy="1161288"/>
          </a:xfrm>
          <a:prstGeom prst="roundRect">
            <a:avLst>
              <a:gd name="adj" fmla="val 7874"/>
            </a:avLst>
          </a:prstGeom>
          <a:solidFill>
            <a:srgbClr val="F3F5F8"/>
          </a:solidFill>
          <a:ln w="12700">
            <a:solidFill>
              <a:srgbClr val="F3F5F8"/>
            </a:solidFill>
            <a:prstDash val="solid"/>
          </a:ln>
        </p:spPr>
      </p:sp>
      <p:sp>
        <p:nvSpPr>
          <p:cNvPr id="72" name="Shape 57"/>
          <p:cNvSpPr/>
          <p:nvPr/>
        </p:nvSpPr>
        <p:spPr>
          <a:xfrm>
            <a:off x="7466076" y="4745736"/>
            <a:ext cx="457200" cy="457200"/>
          </a:xfrm>
          <a:prstGeom prst="ellipse">
            <a:avLst/>
          </a:prstGeom>
          <a:solidFill>
            <a:srgbClr val="0D5C55"/>
          </a:solidFill>
          <a:ln w="12700">
            <a:solidFill>
              <a:srgbClr val="0D5C55"/>
            </a:solidFill>
            <a:prstDash val="solid"/>
          </a:ln>
        </p:spPr>
      </p:sp>
      <p:pic>
        <p:nvPicPr>
          <p:cNvPr id="73" name="Image 13" descr="preencoded.png">    </p:cNvPr>
          <p:cNvPicPr>
            <a:picLocks noChangeAspect="1"/>
          </p:cNvPicPr>
          <p:nvPr/>
        </p:nvPicPr>
        <p:blipFill>
          <a:blip r:embed="rId14"/>
          <a:stretch>
            <a:fillRect/>
          </a:stretch>
        </p:blipFill>
        <p:spPr>
          <a:xfrm>
            <a:off x="7584948" y="4864608"/>
            <a:ext cx="219456" cy="219456"/>
          </a:xfrm>
          <a:prstGeom prst="rect">
            <a:avLst/>
          </a:prstGeom>
        </p:spPr>
      </p:pic>
      <p:sp>
        <p:nvSpPr>
          <p:cNvPr id="74" name="Text 58"/>
          <p:cNvSpPr txBox="1"/>
          <p:nvPr/>
        </p:nvSpPr>
        <p:spPr>
          <a:xfrm>
            <a:off x="8060436" y="4809744"/>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Pages</a:t>
            </a:r>
            <a:endParaRPr lang="en-US" sz="1400" dirty="0"/>
          </a:p>
        </p:txBody>
      </p:sp>
      <p:sp>
        <p:nvSpPr>
          <p:cNvPr id="75" name="Text 59"/>
          <p:cNvSpPr txBox="1"/>
          <p:nvPr/>
        </p:nvSpPr>
        <p:spPr>
          <a:xfrm>
            <a:off x="7466076" y="5294376"/>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published by link</a:t>
            </a:r>
            <a:endParaRPr lang="en-US" sz="1150" dirty="0"/>
          </a:p>
        </p:txBody>
      </p:sp>
      <p:sp>
        <p:nvSpPr>
          <p:cNvPr id="76" name="Shape 60"/>
          <p:cNvSpPr/>
          <p:nvPr/>
        </p:nvSpPr>
        <p:spPr>
          <a:xfrm>
            <a:off x="9528048" y="4562856"/>
            <a:ext cx="2103120" cy="1161288"/>
          </a:xfrm>
          <a:prstGeom prst="roundRect">
            <a:avLst>
              <a:gd name="adj" fmla="val 7874"/>
            </a:avLst>
          </a:prstGeom>
          <a:solidFill>
            <a:srgbClr val="F3F5F8"/>
          </a:solidFill>
          <a:ln w="12700">
            <a:solidFill>
              <a:srgbClr val="F3F5F8"/>
            </a:solidFill>
            <a:prstDash val="solid"/>
          </a:ln>
        </p:spPr>
      </p:sp>
      <p:sp>
        <p:nvSpPr>
          <p:cNvPr id="77" name="Shape 61"/>
          <p:cNvSpPr/>
          <p:nvPr/>
        </p:nvSpPr>
        <p:spPr>
          <a:xfrm>
            <a:off x="9710928" y="4745736"/>
            <a:ext cx="457200" cy="457200"/>
          </a:xfrm>
          <a:prstGeom prst="ellipse">
            <a:avLst/>
          </a:prstGeom>
          <a:solidFill>
            <a:srgbClr val="9A5A0C"/>
          </a:solidFill>
          <a:ln w="12700">
            <a:solidFill>
              <a:srgbClr val="9A5A0C"/>
            </a:solidFill>
            <a:prstDash val="solid"/>
          </a:ln>
        </p:spPr>
      </p:sp>
      <p:pic>
        <p:nvPicPr>
          <p:cNvPr id="78" name="Image 14" descr="preencoded.png">    </p:cNvPr>
          <p:cNvPicPr>
            <a:picLocks noChangeAspect="1"/>
          </p:cNvPicPr>
          <p:nvPr/>
        </p:nvPicPr>
        <p:blipFill>
          <a:blip r:embed="rId15"/>
          <a:stretch>
            <a:fillRect/>
          </a:stretch>
        </p:blipFill>
        <p:spPr>
          <a:xfrm>
            <a:off x="9829800" y="4864608"/>
            <a:ext cx="219456" cy="219456"/>
          </a:xfrm>
          <a:prstGeom prst="rect">
            <a:avLst/>
          </a:prstGeom>
        </p:spPr>
      </p:pic>
      <p:sp>
        <p:nvSpPr>
          <p:cNvPr id="79" name="Text 62"/>
          <p:cNvSpPr txBox="1"/>
          <p:nvPr/>
        </p:nvSpPr>
        <p:spPr>
          <a:xfrm>
            <a:off x="10305288" y="4809744"/>
            <a:ext cx="1280160" cy="32004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Imagine</a:t>
            </a:r>
            <a:endParaRPr lang="en-US" sz="1400" dirty="0"/>
          </a:p>
        </p:txBody>
      </p:sp>
      <p:sp>
        <p:nvSpPr>
          <p:cNvPr id="80" name="Text 63"/>
          <p:cNvSpPr txBox="1"/>
          <p:nvPr/>
        </p:nvSpPr>
        <p:spPr>
          <a:xfrm>
            <a:off x="9710928" y="5294376"/>
            <a:ext cx="1828800" cy="365760"/>
          </a:xfrm>
          <a:prstGeom prst="rect">
            <a:avLst/>
          </a:prstGeom>
          <a:noFill/>
          <a:ln/>
        </p:spPr>
        <p:txBody>
          <a:bodyPr wrap="square" lIns="0" tIns="0" rIns="0" bIns="0" rtlCol="0" anchor="t"/>
          <a:lstStyle/>
          <a:p>
            <a:pPr algn="l" indent="0" marL="0">
              <a:buNone/>
            </a:pPr>
            <a:r>
              <a:rPr lang="en-US" sz="1150" dirty="0">
                <a:solidFill>
                  <a:srgbClr val="5B6472"/>
                </a:solidFill>
                <a:latin typeface="Calibri" pitchFamily="34" charset="0"/>
                <a:ea typeface="Calibri" pitchFamily="34" charset="-122"/>
                <a:cs typeface="Calibri" pitchFamily="34" charset="-120"/>
              </a:rPr>
              <a:t>image, video, audio generation</a:t>
            </a:r>
            <a:endParaRPr lang="en-US" sz="1150" dirty="0"/>
          </a:p>
        </p:txBody>
      </p:sp>
      <p:sp>
        <p:nvSpPr>
          <p:cNvPr id="81" name="Shape 64"/>
          <p:cNvSpPr/>
          <p:nvPr/>
        </p:nvSpPr>
        <p:spPr>
          <a:xfrm>
            <a:off x="548640" y="5897880"/>
            <a:ext cx="11091672" cy="411480"/>
          </a:xfrm>
          <a:prstGeom prst="roundRect">
            <a:avLst>
              <a:gd name="adj" fmla="val 22222"/>
            </a:avLst>
          </a:prstGeom>
          <a:solidFill>
            <a:srgbClr val="FDF0DE"/>
          </a:solidFill>
          <a:ln w="12700">
            <a:solidFill>
              <a:srgbClr val="FDF0DE"/>
            </a:solidFill>
            <a:prstDash val="solid"/>
          </a:ln>
        </p:spPr>
      </p:sp>
      <p:sp>
        <p:nvSpPr>
          <p:cNvPr id="82" name="Text 65"/>
          <p:cNvSpPr txBox="1"/>
          <p:nvPr/>
        </p:nvSpPr>
        <p:spPr>
          <a:xfrm>
            <a:off x="777240" y="5943600"/>
            <a:ext cx="10698480" cy="320040"/>
          </a:xfrm>
          <a:prstGeom prst="rect">
            <a:avLst/>
          </a:prstGeom>
          <a:noFill/>
          <a:ln/>
        </p:spPr>
        <p:txBody>
          <a:bodyPr wrap="square" lIns="0" tIns="0" rIns="0" bIns="0" rtlCol="0" anchor="ctr"/>
          <a:lstStyle/>
          <a:p>
            <a:pPr algn="l" indent="0" marL="0">
              <a:buNone/>
            </a:pPr>
            <a:r>
              <a:rPr lang="en-US" sz="1200" b="1" dirty="0">
                <a:solidFill>
                  <a:srgbClr val="1C212B"/>
                </a:solidFill>
                <a:latin typeface="Calibri" pitchFamily="34" charset="0"/>
                <a:ea typeface="Calibri" pitchFamily="34" charset="-122"/>
                <a:cs typeface="Calibri" pitchFamily="34" charset="-120"/>
              </a:rPr>
              <a:t>Lightweight by design. </a:t>
            </a:r>
            <a:pPr algn="l" indent="0" marL="0">
              <a:buNone/>
            </a:pPr>
            <a:r>
              <a:rPr lang="en-US" sz="1200" dirty="0">
                <a:solidFill>
                  <a:srgbClr val="1C212B"/>
                </a:solidFill>
                <a:latin typeface="Calibri" pitchFamily="34" charset="0"/>
                <a:ea typeface="Calibri" pitchFamily="34" charset="-122"/>
                <a:cs typeface="Calibri" pitchFamily="34" charset="-120"/>
              </a:rPr>
              <a:t>Open-source MIT/Apache editors run inside our own pages — no separate office server to host or license.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FILES &amp; APPS · SAVING</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Autosave without a Save button — or lost work</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Office files are expensive to rebuild, so edits land as a draft first and the real file follows.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29</a:t>
            </a:r>
            <a:endParaRPr lang="en-US" sz="1000" dirty="0"/>
          </a:p>
        </p:txBody>
      </p:sp>
      <p:sp>
        <p:nvSpPr>
          <p:cNvPr id="6" name="Text 4"/>
          <p:cNvSpPr txBox="1"/>
          <p:nvPr/>
        </p:nvSpPr>
        <p:spPr>
          <a:xfrm>
            <a:off x="548640" y="2011680"/>
            <a:ext cx="2011680" cy="1417320"/>
          </a:xfrm>
          <a:prstGeom prst="roundRect">
            <a:avLst>
              <a:gd name="adj" fmla="val 5161"/>
            </a:avLst>
          </a:prstGeom>
          <a:solidFill>
            <a:srgbClr val="E9EDF2"/>
          </a:solidFill>
          <a:ln w="12700">
            <a:solidFill>
              <a:srgbClr val="4E5A6B"/>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You edit</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keystrokes, cells, slides</a:t>
            </a:r>
            <a:endParaRPr lang="en-US" sz="1400" dirty="0"/>
          </a:p>
        </p:txBody>
      </p:sp>
      <p:sp>
        <p:nvSpPr>
          <p:cNvPr id="7" name="Shape 5"/>
          <p:cNvSpPr/>
          <p:nvPr/>
        </p:nvSpPr>
        <p:spPr>
          <a:xfrm>
            <a:off x="2560320" y="2715768"/>
            <a:ext cx="251460" cy="0"/>
          </a:xfrm>
          <a:prstGeom prst="line">
            <a:avLst/>
          </a:prstGeom>
          <a:noFill/>
          <a:ln w="19050">
            <a:solidFill>
              <a:srgbClr val="4E5A6B"/>
            </a:solidFill>
            <a:prstDash val="solid"/>
            <a:tailEnd type="triangle"/>
          </a:ln>
        </p:spPr>
      </p:sp>
      <p:sp>
        <p:nvSpPr>
          <p:cNvPr id="8" name="Text 6"/>
          <p:cNvSpPr txBox="1"/>
          <p:nvPr/>
        </p:nvSpPr>
        <p:spPr>
          <a:xfrm>
            <a:off x="2811780" y="2011680"/>
            <a:ext cx="2011680" cy="1417320"/>
          </a:xfrm>
          <a:prstGeom prst="roundRect">
            <a:avLst>
              <a:gd name="adj" fmla="val 5161"/>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Draft saved</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instantly, next to the file</a:t>
            </a:r>
            <a:endParaRPr lang="en-US" sz="1400" dirty="0"/>
          </a:p>
        </p:txBody>
      </p:sp>
      <p:sp>
        <p:nvSpPr>
          <p:cNvPr id="9" name="Shape 7"/>
          <p:cNvSpPr/>
          <p:nvPr/>
        </p:nvSpPr>
        <p:spPr>
          <a:xfrm>
            <a:off x="4823460" y="2715768"/>
            <a:ext cx="251460" cy="0"/>
          </a:xfrm>
          <a:prstGeom prst="line">
            <a:avLst/>
          </a:prstGeom>
          <a:noFill/>
          <a:ln w="19050">
            <a:solidFill>
              <a:srgbClr val="4E5A6B"/>
            </a:solidFill>
            <a:prstDash val="solid"/>
            <a:tailEnd type="triangle"/>
          </a:ln>
        </p:spPr>
      </p:sp>
      <p:sp>
        <p:nvSpPr>
          <p:cNvPr id="10" name="Text 8"/>
          <p:cNvSpPr txBox="1"/>
          <p:nvPr/>
        </p:nvSpPr>
        <p:spPr>
          <a:xfrm>
            <a:off x="5074920" y="2011680"/>
            <a:ext cx="2011680" cy="1417320"/>
          </a:xfrm>
          <a:prstGeom prst="roundRect">
            <a:avLst>
              <a:gd name="adj" fmla="val 5161"/>
            </a:avLst>
          </a:prstGeom>
          <a:solidFill>
            <a:srgbClr val="FDF0D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30 s of quiet</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or anything needs the bytes: download, export, an agent's read</a:t>
            </a:r>
            <a:endParaRPr lang="en-US" sz="1400" dirty="0"/>
          </a:p>
        </p:txBody>
      </p:sp>
      <p:sp>
        <p:nvSpPr>
          <p:cNvPr id="11" name="Shape 9"/>
          <p:cNvSpPr/>
          <p:nvPr/>
        </p:nvSpPr>
        <p:spPr>
          <a:xfrm>
            <a:off x="7086600" y="2715768"/>
            <a:ext cx="251460" cy="0"/>
          </a:xfrm>
          <a:prstGeom prst="line">
            <a:avLst/>
          </a:prstGeom>
          <a:noFill/>
          <a:ln w="19050">
            <a:solidFill>
              <a:srgbClr val="4E5A6B"/>
            </a:solidFill>
            <a:prstDash val="solid"/>
            <a:tailEnd type="triangle"/>
          </a:ln>
        </p:spPr>
      </p:sp>
      <p:sp>
        <p:nvSpPr>
          <p:cNvPr id="12" name="Text 10"/>
          <p:cNvSpPr txBox="1"/>
          <p:nvPr/>
        </p:nvSpPr>
        <p:spPr>
          <a:xfrm>
            <a:off x="7338060" y="2011680"/>
            <a:ext cx="2011680" cy="1417320"/>
          </a:xfrm>
          <a:prstGeom prst="roundRect">
            <a:avLst>
              <a:gd name="adj" fmla="val 5161"/>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Real file rendered</a:t>
            </a:r>
            <a:endParaRPr lang="en-US" sz="1400" dirty="0"/>
          </a:p>
          <a:p>
            <a:pPr algn="ctr" indent="0" marL="0">
              <a:spcAft>
                <a:spcPts val="200"/>
              </a:spcAft>
              <a:buNone/>
            </a:pPr>
            <a:r>
              <a:rPr lang="en-US" sz="1150" dirty="0">
                <a:solidFill>
                  <a:srgbClr val="5B6472"/>
                </a:solidFill>
                <a:latin typeface="Calibri" pitchFamily="34" charset="0"/>
                <a:ea typeface="Calibri" pitchFamily="34" charset="-122"/>
                <a:cs typeface="Calibri" pitchFamily="34" charset="-120"/>
              </a:rPr>
              <a:t>through the normal edit path</a:t>
            </a:r>
            <a:endParaRPr lang="en-US" sz="1400" dirty="0"/>
          </a:p>
        </p:txBody>
      </p:sp>
      <p:sp>
        <p:nvSpPr>
          <p:cNvPr id="13" name="Shape 11"/>
          <p:cNvSpPr/>
          <p:nvPr/>
        </p:nvSpPr>
        <p:spPr>
          <a:xfrm>
            <a:off x="9349740" y="2715768"/>
            <a:ext cx="251460" cy="0"/>
          </a:xfrm>
          <a:prstGeom prst="line">
            <a:avLst/>
          </a:prstGeom>
          <a:noFill/>
          <a:ln w="19050">
            <a:solidFill>
              <a:srgbClr val="4E5A6B"/>
            </a:solidFill>
            <a:prstDash val="solid"/>
            <a:tailEnd type="triangle"/>
          </a:ln>
        </p:spPr>
      </p:sp>
      <p:sp>
        <p:nvSpPr>
          <p:cNvPr id="14" name="Text 12"/>
          <p:cNvSpPr txBox="1"/>
          <p:nvPr/>
        </p:nvSpPr>
        <p:spPr>
          <a:xfrm>
            <a:off x="9601200" y="2011680"/>
            <a:ext cx="2011680" cy="1417320"/>
          </a:xfrm>
          <a:prstGeom prst="roundRect">
            <a:avLst>
              <a:gd name="adj" fmla="val 5161"/>
            </a:avLst>
          </a:prstGeom>
          <a:solidFill>
            <a:srgbClr val="15877D"/>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400" b="1" dirty="0">
                <a:solidFill>
                  <a:srgbClr val="FFFFFF"/>
                </a:solidFill>
                <a:latin typeface="Arial" pitchFamily="34" charset="0"/>
                <a:ea typeface="Arial" pitchFamily="34" charset="-122"/>
                <a:cs typeface="Arial" pitchFamily="34" charset="-120"/>
              </a:rPr>
              <a:t>Version kept</a:t>
            </a:r>
            <a:endParaRPr lang="en-US" sz="1400" dirty="0"/>
          </a:p>
          <a:p>
            <a:pPr algn="ctr" indent="0" marL="0">
              <a:spcAft>
                <a:spcPts val="200"/>
              </a:spcAft>
              <a:buNone/>
            </a:pPr>
            <a:r>
              <a:rPr lang="en-US" sz="1150" dirty="0">
                <a:solidFill>
                  <a:srgbClr val="E0F2EF"/>
                </a:solidFill>
                <a:latin typeface="Calibri" pitchFamily="34" charset="0"/>
                <a:ea typeface="Calibri" pitchFamily="34" charset="-122"/>
                <a:cs typeface="Calibri" pitchFamily="34" charset="-120"/>
              </a:rPr>
              <a:t>one per burst, restorable</a:t>
            </a:r>
            <a:endParaRPr lang="en-US" sz="1400" dirty="0"/>
          </a:p>
        </p:txBody>
      </p:sp>
      <p:sp>
        <p:nvSpPr>
          <p:cNvPr id="15" name="Shape 13"/>
          <p:cNvSpPr/>
          <p:nvPr/>
        </p:nvSpPr>
        <p:spPr>
          <a:xfrm>
            <a:off x="548640" y="3749040"/>
            <a:ext cx="2651760" cy="2423160"/>
          </a:xfrm>
          <a:prstGeom prst="roundRect">
            <a:avLst>
              <a:gd name="adj" fmla="val 3774"/>
            </a:avLst>
          </a:prstGeom>
          <a:solidFill>
            <a:srgbClr val="F3F5F8"/>
          </a:solidFill>
          <a:ln w="12700">
            <a:solidFill>
              <a:srgbClr val="F3F5F8"/>
            </a:solidFill>
            <a:prstDash val="solid"/>
          </a:ln>
        </p:spPr>
      </p:sp>
      <p:sp>
        <p:nvSpPr>
          <p:cNvPr id="16" name="Shape 14"/>
          <p:cNvSpPr/>
          <p:nvPr/>
        </p:nvSpPr>
        <p:spPr>
          <a:xfrm>
            <a:off x="777240" y="3931920"/>
            <a:ext cx="457200" cy="457200"/>
          </a:xfrm>
          <a:prstGeom prst="ellipse">
            <a:avLst/>
          </a:prstGeom>
          <a:solidFill>
            <a:srgbClr val="C4433A"/>
          </a:solidFill>
          <a:ln w="12700">
            <a:solidFill>
              <a:srgbClr val="C4433A"/>
            </a:solidFill>
            <a:prstDash val="solid"/>
          </a:ln>
        </p:spPr>
      </p:sp>
      <p:pic>
        <p:nvPicPr>
          <p:cNvPr id="17" name="Image 0" descr="preencoded.png">    </p:cNvPr>
          <p:cNvPicPr>
            <a:picLocks noChangeAspect="1"/>
          </p:cNvPicPr>
          <p:nvPr/>
        </p:nvPicPr>
        <p:blipFill>
          <a:blip r:embed="rId1"/>
          <a:stretch>
            <a:fillRect/>
          </a:stretch>
        </p:blipFill>
        <p:spPr>
          <a:xfrm>
            <a:off x="896112" y="4050792"/>
            <a:ext cx="219456" cy="219456"/>
          </a:xfrm>
          <a:prstGeom prst="rect">
            <a:avLst/>
          </a:prstGeom>
        </p:spPr>
      </p:pic>
      <p:sp>
        <p:nvSpPr>
          <p:cNvPr id="18" name="Text 15"/>
          <p:cNvSpPr txBox="1"/>
          <p:nvPr/>
        </p:nvSpPr>
        <p:spPr>
          <a:xfrm>
            <a:off x="777240" y="4526280"/>
            <a:ext cx="2286000" cy="320040"/>
          </a:xfrm>
          <a:prstGeom prst="rect">
            <a:avLst/>
          </a:prstGeom>
          <a:noFill/>
          <a:ln/>
        </p:spPr>
        <p:txBody>
          <a:bodyPr wrap="square" lIns="0" tIns="0" rIns="0" bIns="0" rtlCol="0" anchor="t"/>
          <a:lstStyle/>
          <a:p>
            <a:pPr algn="l" indent="0" marL="0">
              <a:buNone/>
            </a:pPr>
            <a:r>
              <a:rPr lang="en-US" sz="1350" b="1" dirty="0">
                <a:solidFill>
                  <a:srgbClr val="1C212B"/>
                </a:solidFill>
                <a:latin typeface="Arial" pitchFamily="34" charset="0"/>
                <a:ea typeface="Arial" pitchFamily="34" charset="-122"/>
                <a:cs typeface="Arial" pitchFamily="34" charset="-120"/>
              </a:rPr>
              <a:t>Conflicts are refused</a:t>
            </a:r>
            <a:endParaRPr lang="en-US" sz="1350" dirty="0"/>
          </a:p>
        </p:txBody>
      </p:sp>
      <p:sp>
        <p:nvSpPr>
          <p:cNvPr id="19" name="Text 16"/>
          <p:cNvSpPr txBox="1"/>
          <p:nvPr/>
        </p:nvSpPr>
        <p:spPr>
          <a:xfrm>
            <a:off x="777240" y="4892040"/>
            <a:ext cx="2286000" cy="1234440"/>
          </a:xfrm>
          <a:prstGeom prst="rect">
            <a:avLst/>
          </a:prstGeom>
          <a:noFill/>
          <a:ln/>
        </p:spPr>
        <p:txBody>
          <a:bodyPr wrap="square" lIns="0" tIns="0" rIns="0" bIns="0" rtlCol="0" anchor="t"/>
          <a:lstStyle/>
          <a:p>
            <a:pPr algn="l" indent="0" marL="0">
              <a:buNone/>
            </a:pPr>
            <a:r>
              <a:rPr lang="en-US" sz="1200" dirty="0">
                <a:solidFill>
                  <a:srgbClr val="5B6472"/>
                </a:solidFill>
                <a:latin typeface="Calibri" pitchFamily="34" charset="0"/>
                <a:ea typeface="Calibri" pitchFamily="34" charset="-122"/>
                <a:cs typeface="Calibri" pitchFamily="34" charset="-120"/>
              </a:rPr>
              <a:t>Every editor's etag is the file's updated time. A stale save is refused; a rename does not count as a change.</a:t>
            </a:r>
            <a:endParaRPr lang="en-US" sz="1200" dirty="0"/>
          </a:p>
        </p:txBody>
      </p:sp>
      <p:sp>
        <p:nvSpPr>
          <p:cNvPr id="20" name="Shape 17"/>
          <p:cNvSpPr/>
          <p:nvPr/>
        </p:nvSpPr>
        <p:spPr>
          <a:xfrm>
            <a:off x="3355848" y="3749040"/>
            <a:ext cx="2651760" cy="2423160"/>
          </a:xfrm>
          <a:prstGeom prst="roundRect">
            <a:avLst>
              <a:gd name="adj" fmla="val 3774"/>
            </a:avLst>
          </a:prstGeom>
          <a:solidFill>
            <a:srgbClr val="F3F5F8"/>
          </a:solidFill>
          <a:ln w="12700">
            <a:solidFill>
              <a:srgbClr val="F3F5F8"/>
            </a:solidFill>
            <a:prstDash val="solid"/>
          </a:ln>
        </p:spPr>
      </p:sp>
      <p:sp>
        <p:nvSpPr>
          <p:cNvPr id="21" name="Shape 18"/>
          <p:cNvSpPr/>
          <p:nvPr/>
        </p:nvSpPr>
        <p:spPr>
          <a:xfrm>
            <a:off x="3584448" y="3931920"/>
            <a:ext cx="457200" cy="457200"/>
          </a:xfrm>
          <a:prstGeom prst="ellipse">
            <a:avLst/>
          </a:prstGeom>
          <a:solidFill>
            <a:srgbClr val="4E5A6B"/>
          </a:solidFill>
          <a:ln w="12700">
            <a:solidFill>
              <a:srgbClr val="4E5A6B"/>
            </a:solidFill>
            <a:prstDash val="solid"/>
          </a:ln>
        </p:spPr>
      </p:sp>
      <p:pic>
        <p:nvPicPr>
          <p:cNvPr id="22" name="Image 1" descr="preencoded.png">    </p:cNvPr>
          <p:cNvPicPr>
            <a:picLocks noChangeAspect="1"/>
          </p:cNvPicPr>
          <p:nvPr/>
        </p:nvPicPr>
        <p:blipFill>
          <a:blip r:embed="rId2"/>
          <a:stretch>
            <a:fillRect/>
          </a:stretch>
        </p:blipFill>
        <p:spPr>
          <a:xfrm>
            <a:off x="3703320" y="4050792"/>
            <a:ext cx="219456" cy="219456"/>
          </a:xfrm>
          <a:prstGeom prst="rect">
            <a:avLst/>
          </a:prstGeom>
        </p:spPr>
      </p:pic>
      <p:sp>
        <p:nvSpPr>
          <p:cNvPr id="23" name="Text 19"/>
          <p:cNvSpPr txBox="1"/>
          <p:nvPr/>
        </p:nvSpPr>
        <p:spPr>
          <a:xfrm>
            <a:off x="3584448" y="4526280"/>
            <a:ext cx="2286000" cy="320040"/>
          </a:xfrm>
          <a:prstGeom prst="rect">
            <a:avLst/>
          </a:prstGeom>
          <a:noFill/>
          <a:ln/>
        </p:spPr>
        <p:txBody>
          <a:bodyPr wrap="square" lIns="0" tIns="0" rIns="0" bIns="0" rtlCol="0" anchor="t"/>
          <a:lstStyle/>
          <a:p>
            <a:pPr algn="l" indent="0" marL="0">
              <a:buNone/>
            </a:pPr>
            <a:r>
              <a:rPr lang="en-US" sz="1350" b="1" dirty="0">
                <a:solidFill>
                  <a:srgbClr val="1C212B"/>
                </a:solidFill>
                <a:latin typeface="Arial" pitchFamily="34" charset="0"/>
                <a:ea typeface="Arial" pitchFamily="34" charset="-122"/>
                <a:cs typeface="Arial" pitchFamily="34" charset="-120"/>
              </a:rPr>
              <a:t>Undo everywhere</a:t>
            </a:r>
            <a:endParaRPr lang="en-US" sz="1350" dirty="0"/>
          </a:p>
        </p:txBody>
      </p:sp>
      <p:sp>
        <p:nvSpPr>
          <p:cNvPr id="24" name="Text 20"/>
          <p:cNvSpPr txBox="1"/>
          <p:nvPr/>
        </p:nvSpPr>
        <p:spPr>
          <a:xfrm>
            <a:off x="3584448" y="4892040"/>
            <a:ext cx="2286000" cy="1234440"/>
          </a:xfrm>
          <a:prstGeom prst="rect">
            <a:avLst/>
          </a:prstGeom>
          <a:noFill/>
          <a:ln/>
        </p:spPr>
        <p:txBody>
          <a:bodyPr wrap="square" lIns="0" tIns="0" rIns="0" bIns="0" rtlCol="0" anchor="t"/>
          <a:lstStyle/>
          <a:p>
            <a:pPr algn="l" indent="0" marL="0">
              <a:buNone/>
            </a:pPr>
            <a:r>
              <a:rPr lang="en-US" sz="1200" dirty="0">
                <a:solidFill>
                  <a:srgbClr val="5B6472"/>
                </a:solidFill>
                <a:latin typeface="Calibri" pitchFamily="34" charset="0"/>
                <a:ea typeface="Calibri" pitchFamily="34" charset="-122"/>
                <a:cs typeface="Calibri" pitchFamily="34" charset="-120"/>
              </a:rPr>
              <a:t>Ctrl+Z / Ctrl+Y in text, slide specs and the sheet grid; the rich editors bring their own.</a:t>
            </a:r>
            <a:endParaRPr lang="en-US" sz="1200" dirty="0"/>
          </a:p>
        </p:txBody>
      </p:sp>
      <p:sp>
        <p:nvSpPr>
          <p:cNvPr id="25" name="Shape 21"/>
          <p:cNvSpPr/>
          <p:nvPr/>
        </p:nvSpPr>
        <p:spPr>
          <a:xfrm>
            <a:off x="6163056" y="3749040"/>
            <a:ext cx="2651760" cy="2423160"/>
          </a:xfrm>
          <a:prstGeom prst="roundRect">
            <a:avLst>
              <a:gd name="adj" fmla="val 3774"/>
            </a:avLst>
          </a:prstGeom>
          <a:solidFill>
            <a:srgbClr val="F3F5F8"/>
          </a:solidFill>
          <a:ln w="12700">
            <a:solidFill>
              <a:srgbClr val="F3F5F8"/>
            </a:solidFill>
            <a:prstDash val="solid"/>
          </a:ln>
        </p:spPr>
      </p:sp>
      <p:sp>
        <p:nvSpPr>
          <p:cNvPr id="26" name="Shape 22"/>
          <p:cNvSpPr/>
          <p:nvPr/>
        </p:nvSpPr>
        <p:spPr>
          <a:xfrm>
            <a:off x="6391656" y="3931920"/>
            <a:ext cx="457200" cy="457200"/>
          </a:xfrm>
          <a:prstGeom prst="ellipse">
            <a:avLst/>
          </a:prstGeom>
          <a:solidFill>
            <a:srgbClr val="15877D"/>
          </a:solidFill>
          <a:ln w="12700">
            <a:solidFill>
              <a:srgbClr val="15877D"/>
            </a:solidFill>
            <a:prstDash val="solid"/>
          </a:ln>
        </p:spPr>
      </p:sp>
      <p:pic>
        <p:nvPicPr>
          <p:cNvPr id="27" name="Image 2" descr="preencoded.png">    </p:cNvPr>
          <p:cNvPicPr>
            <a:picLocks noChangeAspect="1"/>
          </p:cNvPicPr>
          <p:nvPr/>
        </p:nvPicPr>
        <p:blipFill>
          <a:blip r:embed="rId3"/>
          <a:stretch>
            <a:fillRect/>
          </a:stretch>
        </p:blipFill>
        <p:spPr>
          <a:xfrm>
            <a:off x="6510528" y="4050792"/>
            <a:ext cx="219456" cy="219456"/>
          </a:xfrm>
          <a:prstGeom prst="rect">
            <a:avLst/>
          </a:prstGeom>
        </p:spPr>
      </p:pic>
      <p:sp>
        <p:nvSpPr>
          <p:cNvPr id="28" name="Text 23"/>
          <p:cNvSpPr txBox="1"/>
          <p:nvPr/>
        </p:nvSpPr>
        <p:spPr>
          <a:xfrm>
            <a:off x="6391656" y="4526280"/>
            <a:ext cx="2286000" cy="320040"/>
          </a:xfrm>
          <a:prstGeom prst="rect">
            <a:avLst/>
          </a:prstGeom>
          <a:noFill/>
          <a:ln/>
        </p:spPr>
        <p:txBody>
          <a:bodyPr wrap="square" lIns="0" tIns="0" rIns="0" bIns="0" rtlCol="0" anchor="t"/>
          <a:lstStyle/>
          <a:p>
            <a:pPr algn="l" indent="0" marL="0">
              <a:buNone/>
            </a:pPr>
            <a:r>
              <a:rPr lang="en-US" sz="1350" b="1" dirty="0">
                <a:solidFill>
                  <a:srgbClr val="1C212B"/>
                </a:solidFill>
                <a:latin typeface="Arial" pitchFamily="34" charset="0"/>
                <a:ea typeface="Arial" pitchFamily="34" charset="-122"/>
                <a:cs typeface="Arial" pitchFamily="34" charset="-120"/>
              </a:rPr>
              <a:t>Pick up where you left</a:t>
            </a:r>
            <a:endParaRPr lang="en-US" sz="1350" dirty="0"/>
          </a:p>
        </p:txBody>
      </p:sp>
      <p:sp>
        <p:nvSpPr>
          <p:cNvPr id="29" name="Text 24"/>
          <p:cNvSpPr txBox="1"/>
          <p:nvPr/>
        </p:nvSpPr>
        <p:spPr>
          <a:xfrm>
            <a:off x="6391656" y="4892040"/>
            <a:ext cx="2286000" cy="1234440"/>
          </a:xfrm>
          <a:prstGeom prst="rect">
            <a:avLst/>
          </a:prstGeom>
          <a:noFill/>
          <a:ln/>
        </p:spPr>
        <p:txBody>
          <a:bodyPr wrap="square" lIns="0" tIns="0" rIns="0" bIns="0" rtlCol="0" anchor="t"/>
          <a:lstStyle/>
          <a:p>
            <a:pPr algn="l" indent="0" marL="0">
              <a:buNone/>
            </a:pPr>
            <a:r>
              <a:rPr lang="en-US" sz="1200" dirty="0">
                <a:solidFill>
                  <a:srgbClr val="5B6472"/>
                </a:solidFill>
                <a:latin typeface="Calibri" pitchFamily="34" charset="0"/>
                <a:ea typeface="Calibri" pitchFamily="34" charset="-122"/>
                <a:cs typeface="Calibri" pitchFamily="34" charset="-120"/>
              </a:rPr>
              <a:t>Recently opened is a record, not a sort. Tabs come back; a PDF reopens at the same page and zoom.</a:t>
            </a:r>
            <a:endParaRPr lang="en-US" sz="1200" dirty="0"/>
          </a:p>
        </p:txBody>
      </p:sp>
      <p:sp>
        <p:nvSpPr>
          <p:cNvPr id="30" name="Shape 25"/>
          <p:cNvSpPr/>
          <p:nvPr/>
        </p:nvSpPr>
        <p:spPr>
          <a:xfrm>
            <a:off x="8970264" y="3749040"/>
            <a:ext cx="2651760" cy="2423160"/>
          </a:xfrm>
          <a:prstGeom prst="roundRect">
            <a:avLst>
              <a:gd name="adj" fmla="val 3774"/>
            </a:avLst>
          </a:prstGeom>
          <a:solidFill>
            <a:srgbClr val="F3F5F8"/>
          </a:solidFill>
          <a:ln w="12700">
            <a:solidFill>
              <a:srgbClr val="F3F5F8"/>
            </a:solidFill>
            <a:prstDash val="solid"/>
          </a:ln>
        </p:spPr>
      </p:sp>
      <p:sp>
        <p:nvSpPr>
          <p:cNvPr id="31" name="Shape 26"/>
          <p:cNvSpPr/>
          <p:nvPr/>
        </p:nvSpPr>
        <p:spPr>
          <a:xfrm>
            <a:off x="9198864" y="3931920"/>
            <a:ext cx="457200" cy="457200"/>
          </a:xfrm>
          <a:prstGeom prst="ellipse">
            <a:avLst/>
          </a:prstGeom>
          <a:solidFill>
            <a:srgbClr val="E08A1E"/>
          </a:solidFill>
          <a:ln w="12700">
            <a:solidFill>
              <a:srgbClr val="E08A1E"/>
            </a:solidFill>
            <a:prstDash val="solid"/>
          </a:ln>
        </p:spPr>
      </p:sp>
      <p:pic>
        <p:nvPicPr>
          <p:cNvPr id="32" name="Image 3" descr="preencoded.png">    </p:cNvPr>
          <p:cNvPicPr>
            <a:picLocks noChangeAspect="1"/>
          </p:cNvPicPr>
          <p:nvPr/>
        </p:nvPicPr>
        <p:blipFill>
          <a:blip r:embed="rId4"/>
          <a:stretch>
            <a:fillRect/>
          </a:stretch>
        </p:blipFill>
        <p:spPr>
          <a:xfrm>
            <a:off x="9317736" y="4050792"/>
            <a:ext cx="219456" cy="219456"/>
          </a:xfrm>
          <a:prstGeom prst="rect">
            <a:avLst/>
          </a:prstGeom>
        </p:spPr>
      </p:pic>
      <p:sp>
        <p:nvSpPr>
          <p:cNvPr id="33" name="Text 27"/>
          <p:cNvSpPr txBox="1"/>
          <p:nvPr/>
        </p:nvSpPr>
        <p:spPr>
          <a:xfrm>
            <a:off x="9198864" y="4526280"/>
            <a:ext cx="2286000" cy="320040"/>
          </a:xfrm>
          <a:prstGeom prst="rect">
            <a:avLst/>
          </a:prstGeom>
          <a:noFill/>
          <a:ln/>
        </p:spPr>
        <p:txBody>
          <a:bodyPr wrap="square" lIns="0" tIns="0" rIns="0" bIns="0" rtlCol="0" anchor="t"/>
          <a:lstStyle/>
          <a:p>
            <a:pPr algn="l" indent="0" marL="0">
              <a:buNone/>
            </a:pPr>
            <a:r>
              <a:rPr lang="en-US" sz="1350" b="1" dirty="0">
                <a:solidFill>
                  <a:srgbClr val="1C212B"/>
                </a:solidFill>
                <a:latin typeface="Arial" pitchFamily="34" charset="0"/>
                <a:ea typeface="Arial" pitchFamily="34" charset="-122"/>
                <a:cs typeface="Arial" pitchFamily="34" charset="-120"/>
              </a:rPr>
              <a:t>Export anything sensible</a:t>
            </a:r>
            <a:endParaRPr lang="en-US" sz="1350" dirty="0"/>
          </a:p>
        </p:txBody>
      </p:sp>
      <p:sp>
        <p:nvSpPr>
          <p:cNvPr id="34" name="Text 28"/>
          <p:cNvSpPr txBox="1"/>
          <p:nvPr/>
        </p:nvSpPr>
        <p:spPr>
          <a:xfrm>
            <a:off x="9198864" y="4892040"/>
            <a:ext cx="2286000" cy="1234440"/>
          </a:xfrm>
          <a:prstGeom prst="rect">
            <a:avLst/>
          </a:prstGeom>
          <a:noFill/>
          <a:ln/>
        </p:spPr>
        <p:txBody>
          <a:bodyPr wrap="square" lIns="0" tIns="0" rIns="0" bIns="0" rtlCol="0" anchor="t"/>
          <a:lstStyle/>
          <a:p>
            <a:pPr algn="l" indent="0" marL="0">
              <a:buNone/>
            </a:pPr>
            <a:r>
              <a:rPr lang="en-US" sz="1200" dirty="0">
                <a:solidFill>
                  <a:srgbClr val="5B6472"/>
                </a:solidFill>
                <a:latin typeface="Calibri" pitchFamily="34" charset="0"/>
                <a:ea typeface="Calibri" pitchFamily="34" charset="-122"/>
                <a:cs typeface="Calibri" pitchFamily="34" charset="-120"/>
              </a:rPr>
              <a:t>docx → pdf / md / txt, md → pdf / docx, pptx → pdf, xlsx ↔ csv — the same table for menu, route and tool.</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THE COMPLETE EXPERIENCE</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One request, end to end</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Everything in the last three sections, as one person sees it.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30</a:t>
            </a:r>
            <a:endParaRPr lang="en-US" sz="1000" dirty="0"/>
          </a:p>
        </p:txBody>
      </p:sp>
      <p:sp>
        <p:nvSpPr>
          <p:cNvPr id="6" name="Shape 4"/>
          <p:cNvSpPr/>
          <p:nvPr/>
        </p:nvSpPr>
        <p:spPr>
          <a:xfrm>
            <a:off x="548640" y="1965960"/>
            <a:ext cx="3575304" cy="1965960"/>
          </a:xfrm>
          <a:prstGeom prst="roundRect">
            <a:avLst>
              <a:gd name="adj" fmla="val 4651"/>
            </a:avLst>
          </a:prstGeom>
          <a:solidFill>
            <a:srgbClr val="FDF0DE"/>
          </a:solidFill>
          <a:ln w="12700">
            <a:solidFill>
              <a:srgbClr val="FDF0DE"/>
            </a:solidFill>
            <a:prstDash val="solid"/>
          </a:ln>
        </p:spPr>
      </p:sp>
      <p:sp>
        <p:nvSpPr>
          <p:cNvPr id="7" name="Text 5"/>
          <p:cNvSpPr txBox="1"/>
          <p:nvPr/>
        </p:nvSpPr>
        <p:spPr>
          <a:xfrm>
            <a:off x="777240" y="2194560"/>
            <a:ext cx="457200" cy="457200"/>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pic>
        <p:nvPicPr>
          <p:cNvPr id="8" name="Image 0" descr="preencoded.png">    </p:cNvPr>
          <p:cNvPicPr>
            <a:picLocks noChangeAspect="1"/>
          </p:cNvPicPr>
          <p:nvPr/>
        </p:nvPicPr>
        <p:blipFill>
          <a:blip r:embed="rId1"/>
          <a:stretch>
            <a:fillRect/>
          </a:stretch>
        </p:blipFill>
        <p:spPr>
          <a:xfrm>
            <a:off x="3566160" y="2240280"/>
            <a:ext cx="347472" cy="347472"/>
          </a:xfrm>
          <a:prstGeom prst="rect">
            <a:avLst/>
          </a:prstGeom>
        </p:spPr>
      </p:pic>
      <p:sp>
        <p:nvSpPr>
          <p:cNvPr id="9" name="Text 6"/>
          <p:cNvSpPr txBox="1"/>
          <p:nvPr/>
        </p:nvSpPr>
        <p:spPr>
          <a:xfrm>
            <a:off x="1417320" y="2240280"/>
            <a:ext cx="20116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Ask</a:t>
            </a:r>
            <a:endParaRPr lang="en-US" sz="1600" dirty="0"/>
          </a:p>
        </p:txBody>
      </p:sp>
      <p:sp>
        <p:nvSpPr>
          <p:cNvPr id="10" name="Text 7"/>
          <p:cNvSpPr txBox="1"/>
          <p:nvPr/>
        </p:nvSpPr>
        <p:spPr>
          <a:xfrm>
            <a:off x="777240" y="2834640"/>
            <a:ext cx="315468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“Make a Q3 revenue deck from the sales folder.” Typed in chat, as a sentence.</a:t>
            </a:r>
            <a:endParaRPr lang="en-US" sz="1400" dirty="0"/>
          </a:p>
        </p:txBody>
      </p:sp>
      <p:sp>
        <p:nvSpPr>
          <p:cNvPr id="11" name="Shape 8"/>
          <p:cNvSpPr/>
          <p:nvPr/>
        </p:nvSpPr>
        <p:spPr>
          <a:xfrm>
            <a:off x="4123944" y="2944368"/>
            <a:ext cx="182880" cy="0"/>
          </a:xfrm>
          <a:prstGeom prst="line">
            <a:avLst/>
          </a:prstGeom>
          <a:noFill/>
          <a:ln w="15875">
            <a:solidFill>
              <a:srgbClr val="8A93A1"/>
            </a:solidFill>
            <a:prstDash val="solid"/>
            <a:tailEnd type="triangle"/>
          </a:ln>
        </p:spPr>
      </p:sp>
      <p:sp>
        <p:nvSpPr>
          <p:cNvPr id="12" name="Shape 9"/>
          <p:cNvSpPr/>
          <p:nvPr/>
        </p:nvSpPr>
        <p:spPr>
          <a:xfrm>
            <a:off x="4306824" y="1965960"/>
            <a:ext cx="3575304" cy="1965960"/>
          </a:xfrm>
          <a:prstGeom prst="roundRect">
            <a:avLst>
              <a:gd name="adj" fmla="val 4651"/>
            </a:avLst>
          </a:prstGeom>
          <a:solidFill>
            <a:srgbClr val="F3F5F8"/>
          </a:solidFill>
          <a:ln w="12700">
            <a:solidFill>
              <a:srgbClr val="F3F5F8"/>
            </a:solidFill>
            <a:prstDash val="solid"/>
          </a:ln>
        </p:spPr>
      </p:sp>
      <p:sp>
        <p:nvSpPr>
          <p:cNvPr id="13" name="Text 10"/>
          <p:cNvSpPr txBox="1"/>
          <p:nvPr/>
        </p:nvSpPr>
        <p:spPr>
          <a:xfrm>
            <a:off x="4535424" y="2194560"/>
            <a:ext cx="457200" cy="457200"/>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pic>
        <p:nvPicPr>
          <p:cNvPr id="14" name="Image 1" descr="preencoded.png">    </p:cNvPr>
          <p:cNvPicPr>
            <a:picLocks noChangeAspect="1"/>
          </p:cNvPicPr>
          <p:nvPr/>
        </p:nvPicPr>
        <p:blipFill>
          <a:blip r:embed="rId2"/>
          <a:stretch>
            <a:fillRect/>
          </a:stretch>
        </p:blipFill>
        <p:spPr>
          <a:xfrm>
            <a:off x="7324344" y="2240280"/>
            <a:ext cx="347472" cy="347472"/>
          </a:xfrm>
          <a:prstGeom prst="rect">
            <a:avLst/>
          </a:prstGeom>
        </p:spPr>
      </p:pic>
      <p:sp>
        <p:nvSpPr>
          <p:cNvPr id="15" name="Text 11"/>
          <p:cNvSpPr txBox="1"/>
          <p:nvPr/>
        </p:nvSpPr>
        <p:spPr>
          <a:xfrm>
            <a:off x="5175504" y="2240280"/>
            <a:ext cx="20116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Plan</a:t>
            </a:r>
            <a:endParaRPr lang="en-US" sz="1600" dirty="0"/>
          </a:p>
        </p:txBody>
      </p:sp>
      <p:sp>
        <p:nvSpPr>
          <p:cNvPr id="16" name="Text 12"/>
          <p:cNvSpPr txBox="1"/>
          <p:nvPr/>
        </p:nvSpPr>
        <p:spPr>
          <a:xfrm>
            <a:off x="4535424" y="2834640"/>
            <a:ext cx="315468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Steps appear in the plan dock above the composer and update as the work moves.</a:t>
            </a:r>
            <a:endParaRPr lang="en-US" sz="1400" dirty="0"/>
          </a:p>
        </p:txBody>
      </p:sp>
      <p:sp>
        <p:nvSpPr>
          <p:cNvPr id="17" name="Shape 13"/>
          <p:cNvSpPr/>
          <p:nvPr/>
        </p:nvSpPr>
        <p:spPr>
          <a:xfrm>
            <a:off x="7882128" y="2944368"/>
            <a:ext cx="182880" cy="0"/>
          </a:xfrm>
          <a:prstGeom prst="line">
            <a:avLst/>
          </a:prstGeom>
          <a:noFill/>
          <a:ln w="15875">
            <a:solidFill>
              <a:srgbClr val="8A93A1"/>
            </a:solidFill>
            <a:prstDash val="solid"/>
            <a:tailEnd type="triangle"/>
          </a:ln>
        </p:spPr>
      </p:sp>
      <p:sp>
        <p:nvSpPr>
          <p:cNvPr id="18" name="Shape 14"/>
          <p:cNvSpPr/>
          <p:nvPr/>
        </p:nvSpPr>
        <p:spPr>
          <a:xfrm>
            <a:off x="8065008" y="1965960"/>
            <a:ext cx="3575304" cy="1965960"/>
          </a:xfrm>
          <a:prstGeom prst="roundRect">
            <a:avLst>
              <a:gd name="adj" fmla="val 4651"/>
            </a:avLst>
          </a:prstGeom>
          <a:solidFill>
            <a:srgbClr val="F3F5F8"/>
          </a:solidFill>
          <a:ln w="12700">
            <a:solidFill>
              <a:srgbClr val="F3F5F8"/>
            </a:solidFill>
            <a:prstDash val="solid"/>
          </a:ln>
        </p:spPr>
      </p:sp>
      <p:sp>
        <p:nvSpPr>
          <p:cNvPr id="19" name="Text 15"/>
          <p:cNvSpPr txBox="1"/>
          <p:nvPr/>
        </p:nvSpPr>
        <p:spPr>
          <a:xfrm>
            <a:off x="8293608" y="2194560"/>
            <a:ext cx="457200" cy="457200"/>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pic>
        <p:nvPicPr>
          <p:cNvPr id="20" name="Image 2" descr="preencoded.png">    </p:cNvPr>
          <p:cNvPicPr>
            <a:picLocks noChangeAspect="1"/>
          </p:cNvPicPr>
          <p:nvPr/>
        </p:nvPicPr>
        <p:blipFill>
          <a:blip r:embed="rId3"/>
          <a:stretch>
            <a:fillRect/>
          </a:stretch>
        </p:blipFill>
        <p:spPr>
          <a:xfrm>
            <a:off x="11082528" y="2240280"/>
            <a:ext cx="347472" cy="347472"/>
          </a:xfrm>
          <a:prstGeom prst="rect">
            <a:avLst/>
          </a:prstGeom>
        </p:spPr>
      </p:pic>
      <p:sp>
        <p:nvSpPr>
          <p:cNvPr id="21" name="Text 16"/>
          <p:cNvSpPr txBox="1"/>
          <p:nvPr/>
        </p:nvSpPr>
        <p:spPr>
          <a:xfrm>
            <a:off x="8933688" y="2240280"/>
            <a:ext cx="20116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Delegate</a:t>
            </a:r>
            <a:endParaRPr lang="en-US" sz="1600" dirty="0"/>
          </a:p>
        </p:txBody>
      </p:sp>
      <p:sp>
        <p:nvSpPr>
          <p:cNvPr id="22" name="Text 17"/>
          <p:cNvSpPr txBox="1"/>
          <p:nvPr/>
        </p:nvSpPr>
        <p:spPr>
          <a:xfrm>
            <a:off x="8293608" y="2834640"/>
            <a:ext cx="315468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Chat hands the numbers to the Analyst and the deck to the Slides agent; the panel shows each lane.</a:t>
            </a:r>
            <a:endParaRPr lang="en-US" sz="1400" dirty="0"/>
          </a:p>
        </p:txBody>
      </p:sp>
      <p:sp>
        <p:nvSpPr>
          <p:cNvPr id="23" name="Shape 18"/>
          <p:cNvSpPr/>
          <p:nvPr/>
        </p:nvSpPr>
        <p:spPr>
          <a:xfrm>
            <a:off x="548640" y="4114800"/>
            <a:ext cx="3575304" cy="1965960"/>
          </a:xfrm>
          <a:prstGeom prst="roundRect">
            <a:avLst>
              <a:gd name="adj" fmla="val 4651"/>
            </a:avLst>
          </a:prstGeom>
          <a:solidFill>
            <a:srgbClr val="F3F5F8"/>
          </a:solidFill>
          <a:ln w="12700">
            <a:solidFill>
              <a:srgbClr val="F3F5F8"/>
            </a:solidFill>
            <a:prstDash val="solid"/>
          </a:ln>
        </p:spPr>
      </p:sp>
      <p:sp>
        <p:nvSpPr>
          <p:cNvPr id="24" name="Text 19"/>
          <p:cNvSpPr txBox="1"/>
          <p:nvPr/>
        </p:nvSpPr>
        <p:spPr>
          <a:xfrm>
            <a:off x="777240" y="4343400"/>
            <a:ext cx="457200" cy="457200"/>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pic>
        <p:nvPicPr>
          <p:cNvPr id="25" name="Image 3" descr="preencoded.png">    </p:cNvPr>
          <p:cNvPicPr>
            <a:picLocks noChangeAspect="1"/>
          </p:cNvPicPr>
          <p:nvPr/>
        </p:nvPicPr>
        <p:blipFill>
          <a:blip r:embed="rId4"/>
          <a:stretch>
            <a:fillRect/>
          </a:stretch>
        </p:blipFill>
        <p:spPr>
          <a:xfrm>
            <a:off x="3566160" y="4389120"/>
            <a:ext cx="347472" cy="347472"/>
          </a:xfrm>
          <a:prstGeom prst="rect">
            <a:avLst/>
          </a:prstGeom>
        </p:spPr>
      </p:pic>
      <p:sp>
        <p:nvSpPr>
          <p:cNvPr id="26" name="Text 20"/>
          <p:cNvSpPr txBox="1"/>
          <p:nvPr/>
        </p:nvSpPr>
        <p:spPr>
          <a:xfrm>
            <a:off x="1417320" y="4389120"/>
            <a:ext cx="20116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Decide</a:t>
            </a:r>
            <a:endParaRPr lang="en-US" sz="1600" dirty="0"/>
          </a:p>
        </p:txBody>
      </p:sp>
      <p:sp>
        <p:nvSpPr>
          <p:cNvPr id="27" name="Text 21"/>
          <p:cNvSpPr txBox="1"/>
          <p:nvPr/>
        </p:nvSpPr>
        <p:spPr>
          <a:xfrm>
            <a:off x="777240" y="4983480"/>
            <a:ext cx="315468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A card asks before anything irreversible. A question arrives as choices, not a wall of text.</a:t>
            </a:r>
            <a:endParaRPr lang="en-US" sz="1400" dirty="0"/>
          </a:p>
        </p:txBody>
      </p:sp>
      <p:sp>
        <p:nvSpPr>
          <p:cNvPr id="28" name="Shape 22"/>
          <p:cNvSpPr/>
          <p:nvPr/>
        </p:nvSpPr>
        <p:spPr>
          <a:xfrm>
            <a:off x="4123944" y="5093208"/>
            <a:ext cx="182880" cy="0"/>
          </a:xfrm>
          <a:prstGeom prst="line">
            <a:avLst/>
          </a:prstGeom>
          <a:noFill/>
          <a:ln w="15875">
            <a:solidFill>
              <a:srgbClr val="8A93A1"/>
            </a:solidFill>
            <a:prstDash val="solid"/>
            <a:tailEnd type="triangle"/>
          </a:ln>
        </p:spPr>
      </p:sp>
      <p:sp>
        <p:nvSpPr>
          <p:cNvPr id="29" name="Shape 23"/>
          <p:cNvSpPr/>
          <p:nvPr/>
        </p:nvSpPr>
        <p:spPr>
          <a:xfrm>
            <a:off x="4306824" y="4114800"/>
            <a:ext cx="3575304" cy="1965960"/>
          </a:xfrm>
          <a:prstGeom prst="roundRect">
            <a:avLst>
              <a:gd name="adj" fmla="val 4651"/>
            </a:avLst>
          </a:prstGeom>
          <a:solidFill>
            <a:srgbClr val="F3F5F8"/>
          </a:solidFill>
          <a:ln w="12700">
            <a:solidFill>
              <a:srgbClr val="F3F5F8"/>
            </a:solidFill>
            <a:prstDash val="solid"/>
          </a:ln>
        </p:spPr>
      </p:sp>
      <p:sp>
        <p:nvSpPr>
          <p:cNvPr id="30" name="Text 24"/>
          <p:cNvSpPr txBox="1"/>
          <p:nvPr/>
        </p:nvSpPr>
        <p:spPr>
          <a:xfrm>
            <a:off x="4535424" y="4343400"/>
            <a:ext cx="457200" cy="457200"/>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pic>
        <p:nvPicPr>
          <p:cNvPr id="31" name="Image 4" descr="preencoded.png">    </p:cNvPr>
          <p:cNvPicPr>
            <a:picLocks noChangeAspect="1"/>
          </p:cNvPicPr>
          <p:nvPr/>
        </p:nvPicPr>
        <p:blipFill>
          <a:blip r:embed="rId5"/>
          <a:stretch>
            <a:fillRect/>
          </a:stretch>
        </p:blipFill>
        <p:spPr>
          <a:xfrm>
            <a:off x="7324344" y="4389120"/>
            <a:ext cx="347472" cy="347472"/>
          </a:xfrm>
          <a:prstGeom prst="rect">
            <a:avLst/>
          </a:prstGeom>
        </p:spPr>
      </p:pic>
      <p:sp>
        <p:nvSpPr>
          <p:cNvPr id="32" name="Text 25"/>
          <p:cNvSpPr txBox="1"/>
          <p:nvPr/>
        </p:nvSpPr>
        <p:spPr>
          <a:xfrm>
            <a:off x="5175504" y="4389120"/>
            <a:ext cx="20116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Open</a:t>
            </a:r>
            <a:endParaRPr lang="en-US" sz="1600" dirty="0"/>
          </a:p>
        </p:txBody>
      </p:sp>
      <p:sp>
        <p:nvSpPr>
          <p:cNvPr id="33" name="Text 26"/>
          <p:cNvSpPr txBox="1"/>
          <p:nvPr/>
        </p:nvSpPr>
        <p:spPr>
          <a:xfrm>
            <a:off x="4535424" y="4983480"/>
            <a:ext cx="315468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The deck arrives as a file card. It opens in Slides; edits autosave; versions are kept.</a:t>
            </a:r>
            <a:endParaRPr lang="en-US" sz="1400" dirty="0"/>
          </a:p>
        </p:txBody>
      </p:sp>
      <p:sp>
        <p:nvSpPr>
          <p:cNvPr id="34" name="Shape 27"/>
          <p:cNvSpPr/>
          <p:nvPr/>
        </p:nvSpPr>
        <p:spPr>
          <a:xfrm>
            <a:off x="7882128" y="5093208"/>
            <a:ext cx="182880" cy="0"/>
          </a:xfrm>
          <a:prstGeom prst="line">
            <a:avLst/>
          </a:prstGeom>
          <a:noFill/>
          <a:ln w="15875">
            <a:solidFill>
              <a:srgbClr val="8A93A1"/>
            </a:solidFill>
            <a:prstDash val="solid"/>
            <a:tailEnd type="triangle"/>
          </a:ln>
        </p:spPr>
      </p:sp>
      <p:sp>
        <p:nvSpPr>
          <p:cNvPr id="35" name="Shape 28"/>
          <p:cNvSpPr/>
          <p:nvPr/>
        </p:nvSpPr>
        <p:spPr>
          <a:xfrm>
            <a:off x="8065008" y="4114800"/>
            <a:ext cx="3575304" cy="1965960"/>
          </a:xfrm>
          <a:prstGeom prst="roundRect">
            <a:avLst>
              <a:gd name="adj" fmla="val 4651"/>
            </a:avLst>
          </a:prstGeom>
          <a:solidFill>
            <a:srgbClr val="F3F5F8"/>
          </a:solidFill>
          <a:ln w="12700">
            <a:solidFill>
              <a:srgbClr val="F3F5F8"/>
            </a:solidFill>
            <a:prstDash val="solid"/>
          </a:ln>
        </p:spPr>
      </p:sp>
      <p:sp>
        <p:nvSpPr>
          <p:cNvPr id="36" name="Text 29"/>
          <p:cNvSpPr txBox="1"/>
          <p:nvPr/>
        </p:nvSpPr>
        <p:spPr>
          <a:xfrm>
            <a:off x="8293608" y="4343400"/>
            <a:ext cx="457200" cy="457200"/>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pic>
        <p:nvPicPr>
          <p:cNvPr id="37" name="Image 5" descr="preencoded.png">    </p:cNvPr>
          <p:cNvPicPr>
            <a:picLocks noChangeAspect="1"/>
          </p:cNvPicPr>
          <p:nvPr/>
        </p:nvPicPr>
        <p:blipFill>
          <a:blip r:embed="rId6"/>
          <a:stretch>
            <a:fillRect/>
          </a:stretch>
        </p:blipFill>
        <p:spPr>
          <a:xfrm>
            <a:off x="11082528" y="4389120"/>
            <a:ext cx="347472" cy="347472"/>
          </a:xfrm>
          <a:prstGeom prst="rect">
            <a:avLst/>
          </a:prstGeom>
        </p:spPr>
      </p:pic>
      <p:sp>
        <p:nvSpPr>
          <p:cNvPr id="38" name="Text 30"/>
          <p:cNvSpPr txBox="1"/>
          <p:nvPr/>
        </p:nvSpPr>
        <p:spPr>
          <a:xfrm>
            <a:off x="8933688" y="4389120"/>
            <a:ext cx="20116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Repeat</a:t>
            </a:r>
            <a:endParaRPr lang="en-US" sz="1600" dirty="0"/>
          </a:p>
        </p:txBody>
      </p:sp>
      <p:sp>
        <p:nvSpPr>
          <p:cNvPr id="39" name="Text 31"/>
          <p:cNvSpPr txBox="1"/>
          <p:nvPr/>
        </p:nvSpPr>
        <p:spPr>
          <a:xfrm>
            <a:off x="8293608" y="4983480"/>
            <a:ext cx="315468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Schedule it for Mondays at 9 in your timezone. Every run is on /runs, turn by turn.</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RUNTIME · EFFICIENCY</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Built to run lean</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whole platform — web server, agents, scheduler, apps — runs comfortably on a single small server.</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31</a:t>
            </a:r>
            <a:endParaRPr lang="en-US" sz="1000" dirty="0"/>
          </a:p>
        </p:txBody>
      </p:sp>
      <p:sp>
        <p:nvSpPr>
          <p:cNvPr id="6" name="Shape 4"/>
          <p:cNvSpPr/>
          <p:nvPr/>
        </p:nvSpPr>
        <p:spPr>
          <a:xfrm>
            <a:off x="548640" y="2011680"/>
            <a:ext cx="3474720" cy="1280160"/>
          </a:xfrm>
          <a:prstGeom prst="roundRect">
            <a:avLst>
              <a:gd name="adj" fmla="val 7143"/>
            </a:avLst>
          </a:prstGeom>
          <a:solidFill>
            <a:srgbClr val="FDF0DE"/>
          </a:solidFill>
          <a:ln w="12700">
            <a:solidFill>
              <a:srgbClr val="FDF0DE"/>
            </a:solidFill>
            <a:prstDash val="solid"/>
          </a:ln>
        </p:spPr>
      </p:sp>
      <p:sp>
        <p:nvSpPr>
          <p:cNvPr id="7" name="Text 5"/>
          <p:cNvSpPr txBox="1"/>
          <p:nvPr/>
        </p:nvSpPr>
        <p:spPr>
          <a:xfrm>
            <a:off x="777240" y="2148840"/>
            <a:ext cx="3017520" cy="640080"/>
          </a:xfrm>
          <a:prstGeom prst="rect">
            <a:avLst/>
          </a:prstGeom>
          <a:noFill/>
          <a:ln/>
        </p:spPr>
        <p:txBody>
          <a:bodyPr wrap="square" lIns="0" tIns="0" rIns="0" bIns="0" rtlCol="0" anchor="ctr"/>
          <a:lstStyle/>
          <a:p>
            <a:pPr algn="l" indent="0" marL="0">
              <a:buNone/>
            </a:pPr>
            <a:r>
              <a:rPr lang="en-US" sz="3400" b="1" dirty="0">
                <a:solidFill>
                  <a:srgbClr val="E08A1E"/>
                </a:solidFill>
                <a:latin typeface="Arial" pitchFamily="34" charset="0"/>
                <a:ea typeface="Arial" pitchFamily="34" charset="-122"/>
                <a:cs typeface="Arial" pitchFamily="34" charset="-120"/>
              </a:rPr>
              <a:t>384 MB</a:t>
            </a:r>
            <a:endParaRPr lang="en-US" sz="3400" dirty="0"/>
          </a:p>
        </p:txBody>
      </p:sp>
      <p:sp>
        <p:nvSpPr>
          <p:cNvPr id="8" name="Text 6"/>
          <p:cNvSpPr txBox="1"/>
          <p:nvPr/>
        </p:nvSpPr>
        <p:spPr>
          <a:xfrm>
            <a:off x="777240" y="2788920"/>
            <a:ext cx="3017520" cy="41148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container for the entire backend</a:t>
            </a:r>
            <a:endParaRPr lang="en-US" sz="1250" dirty="0"/>
          </a:p>
        </p:txBody>
      </p:sp>
      <p:sp>
        <p:nvSpPr>
          <p:cNvPr id="9" name="Shape 7"/>
          <p:cNvSpPr/>
          <p:nvPr/>
        </p:nvSpPr>
        <p:spPr>
          <a:xfrm>
            <a:off x="548640" y="3429000"/>
            <a:ext cx="3474720" cy="1280160"/>
          </a:xfrm>
          <a:prstGeom prst="roundRect">
            <a:avLst>
              <a:gd name="adj" fmla="val 7143"/>
            </a:avLst>
          </a:prstGeom>
          <a:solidFill>
            <a:srgbClr val="F3F5F8"/>
          </a:solidFill>
          <a:ln w="12700">
            <a:solidFill>
              <a:srgbClr val="F3F5F8"/>
            </a:solidFill>
            <a:prstDash val="solid"/>
          </a:ln>
        </p:spPr>
      </p:sp>
      <p:sp>
        <p:nvSpPr>
          <p:cNvPr id="10" name="Text 8"/>
          <p:cNvSpPr txBox="1"/>
          <p:nvPr/>
        </p:nvSpPr>
        <p:spPr>
          <a:xfrm>
            <a:off x="777240" y="3566160"/>
            <a:ext cx="3017520" cy="640080"/>
          </a:xfrm>
          <a:prstGeom prst="rect">
            <a:avLst/>
          </a:prstGeom>
          <a:noFill/>
          <a:ln/>
        </p:spPr>
        <p:txBody>
          <a:bodyPr wrap="square" lIns="0" tIns="0" rIns="0" bIns="0" rtlCol="0" anchor="ctr"/>
          <a:lstStyle/>
          <a:p>
            <a:pPr algn="l" indent="0" marL="0">
              <a:buNone/>
            </a:pPr>
            <a:r>
              <a:rPr lang="en-US" sz="3400" b="1" dirty="0">
                <a:solidFill>
                  <a:srgbClr val="E08A1E"/>
                </a:solidFill>
                <a:latin typeface="Arial" pitchFamily="34" charset="0"/>
                <a:ea typeface="Arial" pitchFamily="34" charset="-122"/>
                <a:cs typeface="Arial" pitchFamily="34" charset="-120"/>
              </a:rPr>
              <a:t>~11 s</a:t>
            </a:r>
            <a:endParaRPr lang="en-US" sz="3400" dirty="0"/>
          </a:p>
        </p:txBody>
      </p:sp>
      <p:sp>
        <p:nvSpPr>
          <p:cNvPr id="11" name="Text 9"/>
          <p:cNvSpPr txBox="1"/>
          <p:nvPr/>
        </p:nvSpPr>
        <p:spPr>
          <a:xfrm>
            <a:off x="777240" y="4206240"/>
            <a:ext cx="3017520" cy="41148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from restart to serving again</a:t>
            </a:r>
            <a:endParaRPr lang="en-US" sz="1250" dirty="0"/>
          </a:p>
        </p:txBody>
      </p:sp>
      <p:sp>
        <p:nvSpPr>
          <p:cNvPr id="12" name="Shape 10"/>
          <p:cNvSpPr/>
          <p:nvPr/>
        </p:nvSpPr>
        <p:spPr>
          <a:xfrm>
            <a:off x="548640" y="4846320"/>
            <a:ext cx="3474720" cy="1280160"/>
          </a:xfrm>
          <a:prstGeom prst="roundRect">
            <a:avLst>
              <a:gd name="adj" fmla="val 7143"/>
            </a:avLst>
          </a:prstGeom>
          <a:solidFill>
            <a:srgbClr val="F3F5F8"/>
          </a:solidFill>
          <a:ln w="12700">
            <a:solidFill>
              <a:srgbClr val="F3F5F8"/>
            </a:solidFill>
            <a:prstDash val="solid"/>
          </a:ln>
        </p:spPr>
      </p:sp>
      <p:sp>
        <p:nvSpPr>
          <p:cNvPr id="13" name="Text 11"/>
          <p:cNvSpPr txBox="1"/>
          <p:nvPr/>
        </p:nvSpPr>
        <p:spPr>
          <a:xfrm>
            <a:off x="777240" y="4983480"/>
            <a:ext cx="3017520" cy="640080"/>
          </a:xfrm>
          <a:prstGeom prst="rect">
            <a:avLst/>
          </a:prstGeom>
          <a:noFill/>
          <a:ln/>
        </p:spPr>
        <p:txBody>
          <a:bodyPr wrap="square" lIns="0" tIns="0" rIns="0" bIns="0" rtlCol="0" anchor="ctr"/>
          <a:lstStyle/>
          <a:p>
            <a:pPr algn="l" indent="0" marL="0">
              <a:buNone/>
            </a:pPr>
            <a:r>
              <a:rPr lang="en-US" sz="3400" b="1" dirty="0">
                <a:solidFill>
                  <a:srgbClr val="E08A1E"/>
                </a:solidFill>
                <a:latin typeface="Arial" pitchFamily="34" charset="0"/>
                <a:ea typeface="Arial" pitchFamily="34" charset="-122"/>
                <a:cs typeface="Arial" pitchFamily="34" charset="-120"/>
              </a:rPr>
              <a:t>0</a:t>
            </a:r>
            <a:endParaRPr lang="en-US" sz="3400" dirty="0"/>
          </a:p>
        </p:txBody>
      </p:sp>
      <p:sp>
        <p:nvSpPr>
          <p:cNvPr id="14" name="Text 12"/>
          <p:cNvSpPr txBox="1"/>
          <p:nvPr/>
        </p:nvSpPr>
        <p:spPr>
          <a:xfrm>
            <a:off x="777240" y="5623560"/>
            <a:ext cx="3017520" cy="411480"/>
          </a:xfrm>
          <a:prstGeom prst="rect">
            <a:avLst/>
          </a:prstGeom>
          <a:noFill/>
          <a:ln/>
        </p:spPr>
        <p:txBody>
          <a:bodyPr wrap="square" lIns="0" tIns="0" rIns="0" bIns="0" rtlCol="0" anchor="t"/>
          <a:lstStyle/>
          <a:p>
            <a:pPr algn="l" indent="0" marL="0">
              <a:buNone/>
            </a:pPr>
            <a:r>
              <a:rPr lang="en-US" sz="1250" dirty="0">
                <a:solidFill>
                  <a:srgbClr val="5B6472"/>
                </a:solidFill>
                <a:latin typeface="Calibri" pitchFamily="34" charset="0"/>
                <a:ea typeface="Calibri" pitchFamily="34" charset="-122"/>
                <a:cs typeface="Calibri" pitchFamily="34" charset="-120"/>
              </a:rPr>
              <a:t>extra processes for Gmail, Drive, Sheets and Calendar</a:t>
            </a:r>
            <a:endParaRPr lang="en-US" sz="1250" dirty="0"/>
          </a:p>
        </p:txBody>
      </p:sp>
      <p:sp>
        <p:nvSpPr>
          <p:cNvPr id="15" name="Shape 13"/>
          <p:cNvSpPr/>
          <p:nvPr/>
        </p:nvSpPr>
        <p:spPr>
          <a:xfrm>
            <a:off x="4526280" y="2057400"/>
            <a:ext cx="530352" cy="530352"/>
          </a:xfrm>
          <a:prstGeom prst="ellipse">
            <a:avLst/>
          </a:prstGeom>
          <a:solidFill>
            <a:srgbClr val="15877D"/>
          </a:solidFill>
          <a:ln w="12700">
            <a:solidFill>
              <a:srgbClr val="15877D"/>
            </a:solidFill>
            <a:prstDash val="solid"/>
          </a:ln>
        </p:spPr>
      </p:sp>
      <p:pic>
        <p:nvPicPr>
          <p:cNvPr id="16" name="Image 0" descr="preencoded.png">    </p:cNvPr>
          <p:cNvPicPr>
            <a:picLocks noChangeAspect="1"/>
          </p:cNvPicPr>
          <p:nvPr/>
        </p:nvPicPr>
        <p:blipFill>
          <a:blip r:embed="rId1"/>
          <a:stretch>
            <a:fillRect/>
          </a:stretch>
        </p:blipFill>
        <p:spPr>
          <a:xfrm>
            <a:off x="4664172" y="2195292"/>
            <a:ext cx="254569" cy="254569"/>
          </a:xfrm>
          <a:prstGeom prst="rect">
            <a:avLst/>
          </a:prstGeom>
        </p:spPr>
      </p:pic>
      <p:sp>
        <p:nvSpPr>
          <p:cNvPr id="17" name="Text 14"/>
          <p:cNvSpPr txBox="1"/>
          <p:nvPr/>
        </p:nvSpPr>
        <p:spPr>
          <a:xfrm>
            <a:off x="5257800" y="2057400"/>
            <a:ext cx="6400800" cy="914400"/>
          </a:xfrm>
          <a:prstGeom prst="rect">
            <a:avLst/>
          </a:prstGeom>
          <a:noFill/>
          <a:ln/>
        </p:spPr>
        <p:txBody>
          <a:bodyPr wrap="square" lIns="0" tIns="0" rIns="0" bIns="0" rtlCol="0" anchor="t"/>
          <a:lstStyle/>
          <a:p>
            <a:pPr indent="0" marL="0">
              <a:buNone/>
            </a:pPr>
            <a:r>
              <a:rPr lang="en-US" sz="1450" b="1" dirty="0">
                <a:solidFill>
                  <a:srgbClr val="1C212B"/>
                </a:solidFill>
                <a:latin typeface="Arial" pitchFamily="34" charset="0"/>
                <a:ea typeface="Arial" pitchFamily="34" charset="-122"/>
                <a:cs typeface="Arial" pitchFamily="34" charset="-120"/>
              </a:rPr>
              <a:t>Connectors start only when used</a:t>
            </a:r>
            <a:endParaRPr lang="en-US" sz="1450" dirty="0"/>
          </a:p>
          <a:p>
            <a:pPr indent="0" marL="0">
              <a:buNone/>
            </a:pPr>
            <a:r>
              <a:rPr lang="en-US" sz="1300" dirty="0">
                <a:solidFill>
                  <a:srgbClr val="5B6472"/>
                </a:solidFill>
                <a:latin typeface="Calibri" pitchFamily="34" charset="0"/>
                <a:ea typeface="Calibri" pitchFamily="34" charset="-122"/>
                <a:cs typeface="Calibri" pitchFamily="34" charset="-120"/>
              </a:rPr>
              <a:t>Tool lists come from a stored catalogue, so browsing what's available never launches a process.</a:t>
            </a:r>
            <a:endParaRPr lang="en-US" sz="1450" dirty="0"/>
          </a:p>
        </p:txBody>
      </p:sp>
      <p:sp>
        <p:nvSpPr>
          <p:cNvPr id="18" name="Shape 15"/>
          <p:cNvSpPr/>
          <p:nvPr/>
        </p:nvSpPr>
        <p:spPr>
          <a:xfrm>
            <a:off x="4526280" y="3081528"/>
            <a:ext cx="530352" cy="530352"/>
          </a:xfrm>
          <a:prstGeom prst="ellipse">
            <a:avLst/>
          </a:prstGeom>
          <a:solidFill>
            <a:srgbClr val="4E5A6B"/>
          </a:solidFill>
          <a:ln w="12700">
            <a:solidFill>
              <a:srgbClr val="4E5A6B"/>
            </a:solidFill>
            <a:prstDash val="solid"/>
          </a:ln>
        </p:spPr>
      </p:sp>
      <p:pic>
        <p:nvPicPr>
          <p:cNvPr id="19" name="Image 1" descr="preencoded.png">    </p:cNvPr>
          <p:cNvPicPr>
            <a:picLocks noChangeAspect="1"/>
          </p:cNvPicPr>
          <p:nvPr/>
        </p:nvPicPr>
        <p:blipFill>
          <a:blip r:embed="rId2"/>
          <a:stretch>
            <a:fillRect/>
          </a:stretch>
        </p:blipFill>
        <p:spPr>
          <a:xfrm>
            <a:off x="4664172" y="3219420"/>
            <a:ext cx="254569" cy="254569"/>
          </a:xfrm>
          <a:prstGeom prst="rect">
            <a:avLst/>
          </a:prstGeom>
        </p:spPr>
      </p:pic>
      <p:sp>
        <p:nvSpPr>
          <p:cNvPr id="20" name="Text 16"/>
          <p:cNvSpPr txBox="1"/>
          <p:nvPr/>
        </p:nvSpPr>
        <p:spPr>
          <a:xfrm>
            <a:off x="5257800" y="3081528"/>
            <a:ext cx="6400800" cy="914400"/>
          </a:xfrm>
          <a:prstGeom prst="rect">
            <a:avLst/>
          </a:prstGeom>
          <a:noFill/>
          <a:ln/>
        </p:spPr>
        <p:txBody>
          <a:bodyPr wrap="square" lIns="0" tIns="0" rIns="0" bIns="0" rtlCol="0" anchor="t"/>
          <a:lstStyle/>
          <a:p>
            <a:pPr indent="0" marL="0">
              <a:buNone/>
            </a:pPr>
            <a:r>
              <a:rPr lang="en-US" sz="1450" b="1" dirty="0">
                <a:solidFill>
                  <a:srgbClr val="1C212B"/>
                </a:solidFill>
                <a:latin typeface="Arial" pitchFamily="34" charset="0"/>
                <a:ea typeface="Arial" pitchFamily="34" charset="-122"/>
                <a:cs typeface="Arial" pitchFamily="34" charset="-120"/>
              </a:rPr>
              <a:t>Admission measured in megabytes</a:t>
            </a:r>
            <a:endParaRPr lang="en-US" sz="1450" dirty="0"/>
          </a:p>
          <a:p>
            <a:pPr indent="0" marL="0">
              <a:buNone/>
            </a:pPr>
            <a:r>
              <a:rPr lang="en-US" sz="1300" dirty="0">
                <a:solidFill>
                  <a:srgbClr val="5B6472"/>
                </a:solidFill>
                <a:latin typeface="Calibri" pitchFamily="34" charset="0"/>
                <a:ea typeface="Calibri" pitchFamily="34" charset="-122"/>
                <a:cs typeface="Calibri" pitchFamily="34" charset="-120"/>
              </a:rPr>
              <a:t>A connector is started only if memory is there for it; idle ones are evicted first.</a:t>
            </a:r>
            <a:endParaRPr lang="en-US" sz="1450" dirty="0"/>
          </a:p>
        </p:txBody>
      </p:sp>
      <p:sp>
        <p:nvSpPr>
          <p:cNvPr id="21" name="Shape 17"/>
          <p:cNvSpPr/>
          <p:nvPr/>
        </p:nvSpPr>
        <p:spPr>
          <a:xfrm>
            <a:off x="4526280" y="4105656"/>
            <a:ext cx="530352" cy="530352"/>
          </a:xfrm>
          <a:prstGeom prst="ellipse">
            <a:avLst/>
          </a:prstGeom>
          <a:solidFill>
            <a:srgbClr val="E08A1E"/>
          </a:solidFill>
          <a:ln w="12700">
            <a:solidFill>
              <a:srgbClr val="E08A1E"/>
            </a:solidFill>
            <a:prstDash val="solid"/>
          </a:ln>
        </p:spPr>
      </p:sp>
      <p:pic>
        <p:nvPicPr>
          <p:cNvPr id="22" name="Image 2" descr="preencoded.png">    </p:cNvPr>
          <p:cNvPicPr>
            <a:picLocks noChangeAspect="1"/>
          </p:cNvPicPr>
          <p:nvPr/>
        </p:nvPicPr>
        <p:blipFill>
          <a:blip r:embed="rId3"/>
          <a:stretch>
            <a:fillRect/>
          </a:stretch>
        </p:blipFill>
        <p:spPr>
          <a:xfrm>
            <a:off x="4664172" y="4243548"/>
            <a:ext cx="254569" cy="254569"/>
          </a:xfrm>
          <a:prstGeom prst="rect">
            <a:avLst/>
          </a:prstGeom>
        </p:spPr>
      </p:pic>
      <p:sp>
        <p:nvSpPr>
          <p:cNvPr id="23" name="Text 18"/>
          <p:cNvSpPr txBox="1"/>
          <p:nvPr/>
        </p:nvSpPr>
        <p:spPr>
          <a:xfrm>
            <a:off x="5257800" y="4105656"/>
            <a:ext cx="6400800" cy="914400"/>
          </a:xfrm>
          <a:prstGeom prst="rect">
            <a:avLst/>
          </a:prstGeom>
          <a:noFill/>
          <a:ln/>
        </p:spPr>
        <p:txBody>
          <a:bodyPr wrap="square" lIns="0" tIns="0" rIns="0" bIns="0" rtlCol="0" anchor="t"/>
          <a:lstStyle/>
          <a:p>
            <a:pPr indent="0" marL="0">
              <a:buNone/>
            </a:pPr>
            <a:r>
              <a:rPr lang="en-US" sz="1450" b="1" dirty="0">
                <a:solidFill>
                  <a:srgbClr val="1C212B"/>
                </a:solidFill>
                <a:latin typeface="Arial" pitchFamily="34" charset="0"/>
                <a:ea typeface="Arial" pitchFamily="34" charset="-122"/>
                <a:cs typeface="Arial" pitchFamily="34" charset="-120"/>
              </a:rPr>
              <a:t>Native integrations</a:t>
            </a:r>
            <a:endParaRPr lang="en-US" sz="1450" dirty="0"/>
          </a:p>
          <a:p>
            <a:pPr indent="0" marL="0">
              <a:buNone/>
            </a:pPr>
            <a:r>
              <a:rPr lang="en-US" sz="1300" dirty="0">
                <a:solidFill>
                  <a:srgbClr val="5B6472"/>
                </a:solidFill>
                <a:latin typeface="Calibri" pitchFamily="34" charset="0"/>
                <a:ea typeface="Calibri" pitchFamily="34" charset="-122"/>
                <a:cs typeface="Calibri" pitchFamily="34" charset="-120"/>
              </a:rPr>
              <a:t>Google Workspace runs in-process over REST, with the user's own sign-in.</a:t>
            </a:r>
            <a:endParaRPr lang="en-US" sz="1450" dirty="0"/>
          </a:p>
        </p:txBody>
      </p:sp>
      <p:sp>
        <p:nvSpPr>
          <p:cNvPr id="24" name="Shape 19"/>
          <p:cNvSpPr/>
          <p:nvPr/>
        </p:nvSpPr>
        <p:spPr>
          <a:xfrm>
            <a:off x="4526280" y="5129784"/>
            <a:ext cx="530352" cy="530352"/>
          </a:xfrm>
          <a:prstGeom prst="ellipse">
            <a:avLst/>
          </a:prstGeom>
          <a:solidFill>
            <a:srgbClr val="0D5C55"/>
          </a:solidFill>
          <a:ln w="12700">
            <a:solidFill>
              <a:srgbClr val="0D5C55"/>
            </a:solidFill>
            <a:prstDash val="solid"/>
          </a:ln>
        </p:spPr>
      </p:sp>
      <p:pic>
        <p:nvPicPr>
          <p:cNvPr id="25" name="Image 3" descr="preencoded.png">    </p:cNvPr>
          <p:cNvPicPr>
            <a:picLocks noChangeAspect="1"/>
          </p:cNvPicPr>
          <p:nvPr/>
        </p:nvPicPr>
        <p:blipFill>
          <a:blip r:embed="rId4"/>
          <a:stretch>
            <a:fillRect/>
          </a:stretch>
        </p:blipFill>
        <p:spPr>
          <a:xfrm>
            <a:off x="4664172" y="5267676"/>
            <a:ext cx="254569" cy="254569"/>
          </a:xfrm>
          <a:prstGeom prst="rect">
            <a:avLst/>
          </a:prstGeom>
        </p:spPr>
      </p:pic>
      <p:sp>
        <p:nvSpPr>
          <p:cNvPr id="26" name="Text 20"/>
          <p:cNvSpPr txBox="1"/>
          <p:nvPr/>
        </p:nvSpPr>
        <p:spPr>
          <a:xfrm>
            <a:off x="5257800" y="5129784"/>
            <a:ext cx="6400800" cy="914400"/>
          </a:xfrm>
          <a:prstGeom prst="rect">
            <a:avLst/>
          </a:prstGeom>
          <a:noFill/>
          <a:ln/>
        </p:spPr>
        <p:txBody>
          <a:bodyPr wrap="square" lIns="0" tIns="0" rIns="0" bIns="0" rtlCol="0" anchor="t"/>
          <a:lstStyle/>
          <a:p>
            <a:pPr indent="0" marL="0">
              <a:buNone/>
            </a:pPr>
            <a:r>
              <a:rPr lang="en-US" sz="1450" b="1" dirty="0">
                <a:solidFill>
                  <a:srgbClr val="1C212B"/>
                </a:solidFill>
                <a:latin typeface="Arial" pitchFamily="34" charset="0"/>
                <a:ea typeface="Arial" pitchFamily="34" charset="-122"/>
                <a:cs typeface="Arial" pitchFamily="34" charset="-120"/>
              </a:rPr>
              <a:t>No broker to run</a:t>
            </a:r>
            <a:endParaRPr lang="en-US" sz="1450" dirty="0"/>
          </a:p>
          <a:p>
            <a:pPr indent="0" marL="0">
              <a:buNone/>
            </a:pPr>
            <a:r>
              <a:rPr lang="en-US" sz="1300" dirty="0">
                <a:solidFill>
                  <a:srgbClr val="5B6472"/>
                </a:solidFill>
                <a:latin typeface="Calibri" pitchFamily="34" charset="0"/>
                <a:ea typeface="Calibri" pitchFamily="34" charset="-122"/>
                <a:cs typeface="Calibri" pitchFamily="34" charset="-120"/>
              </a:rPr>
              <a:t>Schedules and background jobs run inside the app under a database lease — nothing extra to host.</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RUNTIME · PARALLEL TOOLS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Independent calls overlap; results keep call order</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 model issues every call in a turn before it sees any result, so no call in a batch can depend on another.</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32</a:t>
            </a:r>
            <a:endParaRPr lang="en-US" sz="1000" dirty="0"/>
          </a:p>
        </p:txBody>
      </p:sp>
      <p:sp>
        <p:nvSpPr>
          <p:cNvPr id="6" name="Text 4"/>
          <p:cNvSpPr txBox="1"/>
          <p:nvPr/>
        </p:nvSpPr>
        <p:spPr>
          <a:xfrm>
            <a:off x="548640" y="2057400"/>
            <a:ext cx="5486400" cy="27432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One at a time</a:t>
            </a:r>
            <a:endParaRPr lang="en-US" sz="1400" dirty="0"/>
          </a:p>
        </p:txBody>
      </p:sp>
      <p:sp>
        <p:nvSpPr>
          <p:cNvPr id="7" name="Text 5"/>
          <p:cNvSpPr txBox="1"/>
          <p:nvPr/>
        </p:nvSpPr>
        <p:spPr>
          <a:xfrm>
            <a:off x="548640" y="246888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web_search A</a:t>
            </a:r>
            <a:endParaRPr lang="en-US" sz="1150" dirty="0"/>
          </a:p>
        </p:txBody>
      </p:sp>
      <p:sp>
        <p:nvSpPr>
          <p:cNvPr id="8" name="Shape 6"/>
          <p:cNvSpPr/>
          <p:nvPr/>
        </p:nvSpPr>
        <p:spPr>
          <a:xfrm>
            <a:off x="2468880" y="2441448"/>
            <a:ext cx="1188720" cy="274320"/>
          </a:xfrm>
          <a:prstGeom prst="roundRect">
            <a:avLst>
              <a:gd name="adj" fmla="val 16667"/>
            </a:avLst>
          </a:prstGeom>
          <a:solidFill>
            <a:srgbClr val="15877D"/>
          </a:solidFill>
          <a:ln w="9525">
            <a:solidFill>
              <a:srgbClr val="FFFFFF"/>
            </a:solidFill>
            <a:prstDash val="solid"/>
          </a:ln>
        </p:spPr>
      </p:sp>
      <p:sp>
        <p:nvSpPr>
          <p:cNvPr id="9" name="Text 7"/>
          <p:cNvSpPr txBox="1"/>
          <p:nvPr/>
        </p:nvSpPr>
        <p:spPr>
          <a:xfrm>
            <a:off x="548640" y="283464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web_search B</a:t>
            </a:r>
            <a:endParaRPr lang="en-US" sz="1150" dirty="0"/>
          </a:p>
        </p:txBody>
      </p:sp>
      <p:sp>
        <p:nvSpPr>
          <p:cNvPr id="10" name="Shape 8"/>
          <p:cNvSpPr/>
          <p:nvPr/>
        </p:nvSpPr>
        <p:spPr>
          <a:xfrm>
            <a:off x="3657600" y="2807208"/>
            <a:ext cx="950976" cy="274320"/>
          </a:xfrm>
          <a:prstGeom prst="roundRect">
            <a:avLst>
              <a:gd name="adj" fmla="val 16667"/>
            </a:avLst>
          </a:prstGeom>
          <a:solidFill>
            <a:srgbClr val="15877D"/>
          </a:solidFill>
          <a:ln w="9525">
            <a:solidFill>
              <a:srgbClr val="FFFFFF"/>
            </a:solidFill>
            <a:prstDash val="solid"/>
          </a:ln>
        </p:spPr>
      </p:sp>
      <p:sp>
        <p:nvSpPr>
          <p:cNvPr id="11" name="Text 9"/>
          <p:cNvSpPr txBox="1"/>
          <p:nvPr/>
        </p:nvSpPr>
        <p:spPr>
          <a:xfrm>
            <a:off x="548640" y="320040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read_url</a:t>
            </a:r>
            <a:endParaRPr lang="en-US" sz="1150" dirty="0"/>
          </a:p>
        </p:txBody>
      </p:sp>
      <p:sp>
        <p:nvSpPr>
          <p:cNvPr id="12" name="Shape 10"/>
          <p:cNvSpPr/>
          <p:nvPr/>
        </p:nvSpPr>
        <p:spPr>
          <a:xfrm>
            <a:off x="4608576" y="3172968"/>
            <a:ext cx="1307592" cy="274320"/>
          </a:xfrm>
          <a:prstGeom prst="roundRect">
            <a:avLst>
              <a:gd name="adj" fmla="val 16667"/>
            </a:avLst>
          </a:prstGeom>
          <a:solidFill>
            <a:srgbClr val="15877D"/>
          </a:solidFill>
          <a:ln w="9525">
            <a:solidFill>
              <a:srgbClr val="FFFFFF"/>
            </a:solidFill>
            <a:prstDash val="solid"/>
          </a:ln>
        </p:spPr>
      </p:sp>
      <p:sp>
        <p:nvSpPr>
          <p:cNvPr id="13" name="Text 11"/>
          <p:cNvSpPr txBox="1"/>
          <p:nvPr/>
        </p:nvSpPr>
        <p:spPr>
          <a:xfrm>
            <a:off x="548640" y="356616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execute_python</a:t>
            </a:r>
            <a:endParaRPr lang="en-US" sz="1150" dirty="0"/>
          </a:p>
        </p:txBody>
      </p:sp>
      <p:sp>
        <p:nvSpPr>
          <p:cNvPr id="14" name="Shape 12"/>
          <p:cNvSpPr/>
          <p:nvPr/>
        </p:nvSpPr>
        <p:spPr>
          <a:xfrm>
            <a:off x="5916168" y="3538728"/>
            <a:ext cx="1069848" cy="274320"/>
          </a:xfrm>
          <a:prstGeom prst="roundRect">
            <a:avLst>
              <a:gd name="adj" fmla="val 16667"/>
            </a:avLst>
          </a:prstGeom>
          <a:solidFill>
            <a:srgbClr val="4E5A6B"/>
          </a:solidFill>
          <a:ln w="9525">
            <a:solidFill>
              <a:srgbClr val="FFFFFF"/>
            </a:solidFill>
            <a:prstDash val="solid"/>
          </a:ln>
        </p:spPr>
      </p:sp>
      <p:sp>
        <p:nvSpPr>
          <p:cNvPr id="15" name="Shape 13"/>
          <p:cNvSpPr/>
          <p:nvPr/>
        </p:nvSpPr>
        <p:spPr>
          <a:xfrm>
            <a:off x="6986016" y="2377440"/>
            <a:ext cx="0" cy="1508760"/>
          </a:xfrm>
          <a:prstGeom prst="line">
            <a:avLst/>
          </a:prstGeom>
          <a:noFill/>
          <a:ln w="19050">
            <a:solidFill>
              <a:srgbClr val="E08A1E"/>
            </a:solidFill>
            <a:prstDash val="dash"/>
          </a:ln>
        </p:spPr>
      </p:sp>
      <p:sp>
        <p:nvSpPr>
          <p:cNvPr id="16" name="Text 14"/>
          <p:cNvSpPr txBox="1"/>
          <p:nvPr/>
        </p:nvSpPr>
        <p:spPr>
          <a:xfrm>
            <a:off x="7059168" y="2377440"/>
            <a:ext cx="731520" cy="228600"/>
          </a:xfrm>
          <a:prstGeom prst="rect">
            <a:avLst/>
          </a:prstGeom>
          <a:noFill/>
          <a:ln/>
        </p:spPr>
        <p:txBody>
          <a:bodyPr wrap="square" lIns="0" tIns="0" rIns="0" bIns="0" rtlCol="0" anchor="t"/>
          <a:lstStyle/>
          <a:p>
            <a:pPr algn="l" indent="0" marL="0">
              <a:buNone/>
            </a:pPr>
            <a:r>
              <a:rPr lang="en-US" sz="1100" b="1" dirty="0">
                <a:solidFill>
                  <a:srgbClr val="9A5A0C"/>
                </a:solidFill>
                <a:latin typeface="Calibri" pitchFamily="34" charset="0"/>
                <a:ea typeface="Calibri" pitchFamily="34" charset="-122"/>
                <a:cs typeface="Calibri" pitchFamily="34" charset="-120"/>
              </a:rPr>
              <a:t>done</a:t>
            </a:r>
            <a:endParaRPr lang="en-US" sz="1100" dirty="0"/>
          </a:p>
        </p:txBody>
      </p:sp>
      <p:sp>
        <p:nvSpPr>
          <p:cNvPr id="17" name="Text 15"/>
          <p:cNvSpPr txBox="1"/>
          <p:nvPr/>
        </p:nvSpPr>
        <p:spPr>
          <a:xfrm>
            <a:off x="548640" y="4069080"/>
            <a:ext cx="5486400" cy="274320"/>
          </a:xfrm>
          <a:prstGeom prst="rect">
            <a:avLst/>
          </a:prstGeom>
          <a:noFill/>
          <a:ln/>
        </p:spPr>
        <p:txBody>
          <a:bodyPr wrap="square" lIns="0" tIns="0" rIns="0" bIns="0" rtlCol="0" anchor="t"/>
          <a:lstStyle/>
          <a:p>
            <a:pPr algn="l" indent="0" marL="0">
              <a:buNone/>
            </a:pPr>
            <a:r>
              <a:rPr lang="en-US" sz="1400" b="1" dirty="0">
                <a:solidFill>
                  <a:srgbClr val="1C212B"/>
                </a:solidFill>
                <a:latin typeface="Arial" pitchFamily="34" charset="0"/>
                <a:ea typeface="Arial" pitchFamily="34" charset="-122"/>
                <a:cs typeface="Arial" pitchFamily="34" charset="-120"/>
              </a:rPr>
              <a:t>Batched with asyncio.gather</a:t>
            </a:r>
            <a:endParaRPr lang="en-US" sz="1400" dirty="0"/>
          </a:p>
        </p:txBody>
      </p:sp>
      <p:sp>
        <p:nvSpPr>
          <p:cNvPr id="18" name="Text 16"/>
          <p:cNvSpPr txBox="1"/>
          <p:nvPr/>
        </p:nvSpPr>
        <p:spPr>
          <a:xfrm>
            <a:off x="548640" y="448056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web_search A</a:t>
            </a:r>
            <a:endParaRPr lang="en-US" sz="1150" dirty="0"/>
          </a:p>
        </p:txBody>
      </p:sp>
      <p:sp>
        <p:nvSpPr>
          <p:cNvPr id="19" name="Shape 17"/>
          <p:cNvSpPr/>
          <p:nvPr/>
        </p:nvSpPr>
        <p:spPr>
          <a:xfrm>
            <a:off x="2468880" y="4453128"/>
            <a:ext cx="1188720" cy="274320"/>
          </a:xfrm>
          <a:prstGeom prst="roundRect">
            <a:avLst>
              <a:gd name="adj" fmla="val 16667"/>
            </a:avLst>
          </a:prstGeom>
          <a:solidFill>
            <a:srgbClr val="15877D"/>
          </a:solidFill>
          <a:ln w="9525">
            <a:solidFill>
              <a:srgbClr val="FFFFFF"/>
            </a:solidFill>
            <a:prstDash val="solid"/>
          </a:ln>
        </p:spPr>
      </p:sp>
      <p:sp>
        <p:nvSpPr>
          <p:cNvPr id="20" name="Text 18"/>
          <p:cNvSpPr txBox="1"/>
          <p:nvPr/>
        </p:nvSpPr>
        <p:spPr>
          <a:xfrm>
            <a:off x="548640" y="484632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web_search B</a:t>
            </a:r>
            <a:endParaRPr lang="en-US" sz="1150" dirty="0"/>
          </a:p>
        </p:txBody>
      </p:sp>
      <p:sp>
        <p:nvSpPr>
          <p:cNvPr id="21" name="Shape 19"/>
          <p:cNvSpPr/>
          <p:nvPr/>
        </p:nvSpPr>
        <p:spPr>
          <a:xfrm>
            <a:off x="2468880" y="4818888"/>
            <a:ext cx="950976" cy="274320"/>
          </a:xfrm>
          <a:prstGeom prst="roundRect">
            <a:avLst>
              <a:gd name="adj" fmla="val 16667"/>
            </a:avLst>
          </a:prstGeom>
          <a:solidFill>
            <a:srgbClr val="15877D"/>
          </a:solidFill>
          <a:ln w="9525">
            <a:solidFill>
              <a:srgbClr val="FFFFFF"/>
            </a:solidFill>
            <a:prstDash val="solid"/>
          </a:ln>
        </p:spPr>
      </p:sp>
      <p:sp>
        <p:nvSpPr>
          <p:cNvPr id="22" name="Text 20"/>
          <p:cNvSpPr txBox="1"/>
          <p:nvPr/>
        </p:nvSpPr>
        <p:spPr>
          <a:xfrm>
            <a:off x="548640" y="521208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read_url</a:t>
            </a:r>
            <a:endParaRPr lang="en-US" sz="1150" dirty="0"/>
          </a:p>
        </p:txBody>
      </p:sp>
      <p:sp>
        <p:nvSpPr>
          <p:cNvPr id="23" name="Shape 21"/>
          <p:cNvSpPr/>
          <p:nvPr/>
        </p:nvSpPr>
        <p:spPr>
          <a:xfrm>
            <a:off x="2468880" y="5184648"/>
            <a:ext cx="1307592" cy="274320"/>
          </a:xfrm>
          <a:prstGeom prst="roundRect">
            <a:avLst>
              <a:gd name="adj" fmla="val 16667"/>
            </a:avLst>
          </a:prstGeom>
          <a:solidFill>
            <a:srgbClr val="15877D"/>
          </a:solidFill>
          <a:ln w="9525">
            <a:solidFill>
              <a:srgbClr val="FFFFFF"/>
            </a:solidFill>
            <a:prstDash val="solid"/>
          </a:ln>
        </p:spPr>
      </p:sp>
      <p:sp>
        <p:nvSpPr>
          <p:cNvPr id="24" name="Text 22"/>
          <p:cNvSpPr txBox="1"/>
          <p:nvPr/>
        </p:nvSpPr>
        <p:spPr>
          <a:xfrm>
            <a:off x="548640" y="5577840"/>
            <a:ext cx="1828800" cy="256032"/>
          </a:xfrm>
          <a:prstGeom prst="rect">
            <a:avLst/>
          </a:prstGeom>
          <a:noFill/>
          <a:ln/>
        </p:spPr>
        <p:txBody>
          <a:bodyPr wrap="square" lIns="0" tIns="0" rIns="0" bIns="0" rtlCol="0" anchor="t"/>
          <a:lstStyle/>
          <a:p>
            <a:pPr algn="l" indent="0" marL="0">
              <a:buNone/>
            </a:pPr>
            <a:r>
              <a:rPr lang="en-US" sz="1150" dirty="0">
                <a:solidFill>
                  <a:srgbClr val="1C212B"/>
                </a:solidFill>
                <a:latin typeface="Courier New" pitchFamily="34" charset="0"/>
                <a:ea typeface="Courier New" pitchFamily="34" charset="-122"/>
                <a:cs typeface="Courier New" pitchFamily="34" charset="-120"/>
              </a:rPr>
              <a:t>execute_python</a:t>
            </a:r>
            <a:endParaRPr lang="en-US" sz="1150" dirty="0"/>
          </a:p>
        </p:txBody>
      </p:sp>
      <p:sp>
        <p:nvSpPr>
          <p:cNvPr id="25" name="Shape 23"/>
          <p:cNvSpPr/>
          <p:nvPr/>
        </p:nvSpPr>
        <p:spPr>
          <a:xfrm>
            <a:off x="3776472" y="5550408"/>
            <a:ext cx="1069848" cy="274320"/>
          </a:xfrm>
          <a:prstGeom prst="roundRect">
            <a:avLst>
              <a:gd name="adj" fmla="val 16667"/>
            </a:avLst>
          </a:prstGeom>
          <a:solidFill>
            <a:srgbClr val="4E5A6B"/>
          </a:solidFill>
          <a:ln w="9525">
            <a:solidFill>
              <a:srgbClr val="FFFFFF"/>
            </a:solidFill>
            <a:prstDash val="solid"/>
          </a:ln>
        </p:spPr>
      </p:sp>
      <p:sp>
        <p:nvSpPr>
          <p:cNvPr id="26" name="Shape 24"/>
          <p:cNvSpPr/>
          <p:nvPr/>
        </p:nvSpPr>
        <p:spPr>
          <a:xfrm>
            <a:off x="4846320" y="4389120"/>
            <a:ext cx="0" cy="1508760"/>
          </a:xfrm>
          <a:prstGeom prst="line">
            <a:avLst/>
          </a:prstGeom>
          <a:noFill/>
          <a:ln w="19050">
            <a:solidFill>
              <a:srgbClr val="E08A1E"/>
            </a:solidFill>
            <a:prstDash val="dash"/>
          </a:ln>
        </p:spPr>
      </p:sp>
      <p:sp>
        <p:nvSpPr>
          <p:cNvPr id="27" name="Text 25"/>
          <p:cNvSpPr txBox="1"/>
          <p:nvPr/>
        </p:nvSpPr>
        <p:spPr>
          <a:xfrm>
            <a:off x="4919472" y="4389120"/>
            <a:ext cx="731520" cy="228600"/>
          </a:xfrm>
          <a:prstGeom prst="rect">
            <a:avLst/>
          </a:prstGeom>
          <a:noFill/>
          <a:ln/>
        </p:spPr>
        <p:txBody>
          <a:bodyPr wrap="square" lIns="0" tIns="0" rIns="0" bIns="0" rtlCol="0" anchor="t"/>
          <a:lstStyle/>
          <a:p>
            <a:pPr algn="l" indent="0" marL="0">
              <a:buNone/>
            </a:pPr>
            <a:r>
              <a:rPr lang="en-US" sz="1100" b="1" dirty="0">
                <a:solidFill>
                  <a:srgbClr val="9A5A0C"/>
                </a:solidFill>
                <a:latin typeface="Calibri" pitchFamily="34" charset="0"/>
                <a:ea typeface="Calibri" pitchFamily="34" charset="-122"/>
                <a:cs typeface="Calibri" pitchFamily="34" charset="-120"/>
              </a:rPr>
              <a:t>done</a:t>
            </a:r>
            <a:endParaRPr lang="en-US" sz="1100" dirty="0"/>
          </a:p>
        </p:txBody>
      </p:sp>
      <p:sp>
        <p:nvSpPr>
          <p:cNvPr id="28" name="Text 26"/>
          <p:cNvSpPr txBox="1"/>
          <p:nvPr/>
        </p:nvSpPr>
        <p:spPr>
          <a:xfrm>
            <a:off x="6675120" y="5897880"/>
            <a:ext cx="822960" cy="237744"/>
          </a:xfrm>
          <a:prstGeom prst="rect">
            <a:avLst/>
          </a:prstGeom>
          <a:noFill/>
          <a:ln/>
        </p:spPr>
        <p:txBody>
          <a:bodyPr wrap="square" lIns="0" tIns="0" rIns="0" bIns="0" rtlCol="0" anchor="t"/>
          <a:lstStyle/>
          <a:p>
            <a:pPr algn="l" indent="0" marL="0">
              <a:buNone/>
            </a:pPr>
            <a:r>
              <a:rPr lang="en-US" sz="1100" i="1" dirty="0">
                <a:solidFill>
                  <a:srgbClr val="8A93A1"/>
                </a:solidFill>
                <a:latin typeface="Calibri" pitchFamily="34" charset="0"/>
                <a:ea typeface="Calibri" pitchFamily="34" charset="-122"/>
                <a:cs typeface="Calibri" pitchFamily="34" charset="-120"/>
              </a:rPr>
              <a:t>time →</a:t>
            </a:r>
            <a:endParaRPr lang="en-US" sz="1100" dirty="0"/>
          </a:p>
        </p:txBody>
      </p:sp>
      <p:sp>
        <p:nvSpPr>
          <p:cNvPr id="29" name="Shape 27"/>
          <p:cNvSpPr/>
          <p:nvPr/>
        </p:nvSpPr>
        <p:spPr>
          <a:xfrm>
            <a:off x="7818120" y="2011680"/>
            <a:ext cx="3822192" cy="4160520"/>
          </a:xfrm>
          <a:prstGeom prst="roundRect">
            <a:avLst>
              <a:gd name="adj" fmla="val 2392"/>
            </a:avLst>
          </a:prstGeom>
          <a:solidFill>
            <a:srgbClr val="F3F5F8"/>
          </a:solidFill>
          <a:ln w="12700">
            <a:solidFill>
              <a:srgbClr val="F3F5F8"/>
            </a:solidFill>
            <a:prstDash val="solid"/>
          </a:ln>
        </p:spPr>
      </p:sp>
      <p:sp>
        <p:nvSpPr>
          <p:cNvPr id="30" name="Text 28"/>
          <p:cNvSpPr txBox="1"/>
          <p:nvPr/>
        </p:nvSpPr>
        <p:spPr>
          <a:xfrm>
            <a:off x="8046720" y="2194560"/>
            <a:ext cx="3429000" cy="310896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Allow-list, per tool</a:t>
            </a:r>
            <a:endParaRPr lang="en-US" sz="1400" dirty="0"/>
          </a:p>
          <a:p>
            <a:pPr indent="0" marL="0">
              <a:spcAft>
                <a:spcPts val="1200"/>
              </a:spcAft>
              <a:buNone/>
            </a:pPr>
            <a:r>
              <a:rPr lang="en-US" sz="1250" dirty="0">
                <a:solidFill>
                  <a:srgbClr val="5B6472"/>
                </a:solidFill>
                <a:latin typeface="Calibri" pitchFamily="34" charset="0"/>
                <a:ea typeface="Calibri" pitchFamily="34" charset="-122"/>
                <a:cs typeface="Calibri" pitchFamily="34" charset="-120"/>
              </a:rPr>
              <a:t>@tool(parallel=True). Unknown means serial — every MCP tool, whose name is minted at runtime.</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Some always run alone</a:t>
            </a:r>
            <a:endParaRPr lang="en-US" sz="1400" dirty="0"/>
          </a:p>
          <a:p>
            <a:pPr indent="0" marL="0">
              <a:spcAft>
                <a:spcPts val="1200"/>
              </a:spcAft>
              <a:buNone/>
            </a:pPr>
            <a:r>
              <a:rPr lang="en-US" sz="1250" dirty="0">
                <a:solidFill>
                  <a:srgbClr val="5B6472"/>
                </a:solidFill>
                <a:latin typeface="Calibri" pitchFamily="34" charset="0"/>
                <a:ea typeface="Calibri" pitchFamily="34" charset="-122"/>
                <a:cs typeface="Calibri" pitchFamily="34" charset="-120"/>
              </a:rPr>
              <a:t>Code execution and anything that needs approval stay serial, by design.</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Order is recorded, not raced</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Results are written in call order, so the transcript is the same whichever call finished first.</a:t>
            </a:r>
            <a:endParaRPr lang="en-US" sz="1400" dirty="0"/>
          </a:p>
        </p:txBody>
      </p:sp>
      <p:sp>
        <p:nvSpPr>
          <p:cNvPr id="31" name="Shape 29"/>
          <p:cNvSpPr/>
          <p:nvPr/>
        </p:nvSpPr>
        <p:spPr>
          <a:xfrm>
            <a:off x="8046720" y="5440680"/>
            <a:ext cx="411480" cy="201168"/>
          </a:xfrm>
          <a:prstGeom prst="roundRect">
            <a:avLst>
              <a:gd name="adj" fmla="val 18182"/>
            </a:avLst>
          </a:prstGeom>
          <a:solidFill>
            <a:srgbClr val="15877D"/>
          </a:solidFill>
          <a:ln w="12700">
            <a:solidFill>
              <a:srgbClr val="15877D"/>
            </a:solidFill>
            <a:prstDash val="solid"/>
          </a:ln>
        </p:spPr>
      </p:sp>
      <p:sp>
        <p:nvSpPr>
          <p:cNvPr id="32" name="Text 30"/>
          <p:cNvSpPr txBox="1"/>
          <p:nvPr/>
        </p:nvSpPr>
        <p:spPr>
          <a:xfrm>
            <a:off x="8595360" y="5413248"/>
            <a:ext cx="2743200" cy="256032"/>
          </a:xfrm>
          <a:prstGeom prst="rect">
            <a:avLst/>
          </a:prstGeom>
          <a:noFill/>
          <a:ln/>
        </p:spPr>
        <p:txBody>
          <a:bodyPr wrap="square" lIns="0" tIns="0" rIns="0" bIns="0" rtlCol="0" anchor="t"/>
          <a:lstStyle/>
          <a:p>
            <a:pPr algn="l" indent="0" marL="0">
              <a:buNone/>
            </a:pPr>
            <a:r>
              <a:rPr lang="en-US" sz="1200" dirty="0">
                <a:solidFill>
                  <a:srgbClr val="1C212B"/>
                </a:solidFill>
                <a:latin typeface="Calibri" pitchFamily="34" charset="0"/>
                <a:ea typeface="Calibri" pitchFamily="34" charset="-122"/>
                <a:cs typeface="Calibri" pitchFamily="34" charset="-120"/>
              </a:rPr>
              <a:t>parallel-safe</a:t>
            </a:r>
            <a:endParaRPr lang="en-US" sz="1200" dirty="0"/>
          </a:p>
        </p:txBody>
      </p:sp>
      <p:sp>
        <p:nvSpPr>
          <p:cNvPr id="33" name="Shape 31"/>
          <p:cNvSpPr/>
          <p:nvPr/>
        </p:nvSpPr>
        <p:spPr>
          <a:xfrm>
            <a:off x="8046720" y="5769864"/>
            <a:ext cx="411480" cy="201168"/>
          </a:xfrm>
          <a:prstGeom prst="roundRect">
            <a:avLst>
              <a:gd name="adj" fmla="val 18182"/>
            </a:avLst>
          </a:prstGeom>
          <a:solidFill>
            <a:srgbClr val="4E5A6B"/>
          </a:solidFill>
          <a:ln w="12700">
            <a:solidFill>
              <a:srgbClr val="4E5A6B"/>
            </a:solidFill>
            <a:prstDash val="solid"/>
          </a:ln>
        </p:spPr>
      </p:sp>
      <p:sp>
        <p:nvSpPr>
          <p:cNvPr id="34" name="Text 32"/>
          <p:cNvSpPr txBox="1"/>
          <p:nvPr/>
        </p:nvSpPr>
        <p:spPr>
          <a:xfrm>
            <a:off x="8595360" y="5742432"/>
            <a:ext cx="2743200" cy="256032"/>
          </a:xfrm>
          <a:prstGeom prst="rect">
            <a:avLst/>
          </a:prstGeom>
          <a:noFill/>
          <a:ln/>
        </p:spPr>
        <p:txBody>
          <a:bodyPr wrap="square" lIns="0" tIns="0" rIns="0" bIns="0" rtlCol="0" anchor="t"/>
          <a:lstStyle/>
          <a:p>
            <a:pPr algn="l" indent="0" marL="0">
              <a:buNone/>
            </a:pPr>
            <a:r>
              <a:rPr lang="en-US" sz="1200" dirty="0">
                <a:solidFill>
                  <a:srgbClr val="1C212B"/>
                </a:solidFill>
                <a:latin typeface="Calibri" pitchFamily="34" charset="0"/>
                <a:ea typeface="Calibri" pitchFamily="34" charset="-122"/>
                <a:cs typeface="Calibri" pitchFamily="34" charset="-120"/>
              </a:rPr>
              <a:t>runs alone</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RUNTIME · CODE EXECUTION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Model-written Python runs in a throwaway container</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Even a full interpreter breakout lands in a container that holds no secrets and has no route out.</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33</a:t>
            </a:r>
            <a:endParaRPr lang="en-US" sz="1000" dirty="0"/>
          </a:p>
        </p:txBody>
      </p:sp>
      <p:sp>
        <p:nvSpPr>
          <p:cNvPr id="6" name="Shape 4"/>
          <p:cNvSpPr/>
          <p:nvPr/>
        </p:nvSpPr>
        <p:spPr>
          <a:xfrm>
            <a:off x="548640" y="2011680"/>
            <a:ext cx="6583680" cy="4160520"/>
          </a:xfrm>
          <a:prstGeom prst="roundRect">
            <a:avLst>
              <a:gd name="adj" fmla="val 2637"/>
            </a:avLst>
          </a:prstGeom>
          <a:solidFill>
            <a:srgbClr val="E9EDF2"/>
          </a:solidFill>
          <a:ln w="15875">
            <a:solidFill>
              <a:srgbClr val="4E5A6B"/>
            </a:solidFill>
            <a:prstDash val="solid"/>
          </a:ln>
        </p:spPr>
      </p:sp>
      <p:sp>
        <p:nvSpPr>
          <p:cNvPr id="7" name="Text 5"/>
          <p:cNvSpPr txBox="1"/>
          <p:nvPr/>
        </p:nvSpPr>
        <p:spPr>
          <a:xfrm>
            <a:off x="777240" y="2084832"/>
            <a:ext cx="6217920" cy="274320"/>
          </a:xfrm>
          <a:prstGeom prst="rect">
            <a:avLst/>
          </a:prstGeom>
          <a:noFill/>
          <a:ln/>
        </p:spPr>
        <p:txBody>
          <a:bodyPr wrap="square" lIns="0" tIns="0" rIns="0" bIns="0" rtlCol="0" anchor="t"/>
          <a:lstStyle/>
          <a:p>
            <a:pPr algn="l" indent="0" marL="0">
              <a:buNone/>
            </a:pPr>
            <a:r>
              <a:rPr lang="en-US" sz="1200" b="1" dirty="0">
                <a:solidFill>
                  <a:srgbClr val="4E5A6B"/>
                </a:solidFill>
                <a:latin typeface="Calibri" pitchFamily="34" charset="0"/>
                <a:ea typeface="Calibri" pitchFamily="34" charset="-122"/>
                <a:cs typeface="Calibri" pitchFamily="34" charset="-120"/>
              </a:rPr>
              <a:t>Internal-only Docker network — no egress</a:t>
            </a:r>
            <a:endParaRPr lang="en-US" sz="1200" dirty="0"/>
          </a:p>
        </p:txBody>
      </p:sp>
      <p:sp>
        <p:nvSpPr>
          <p:cNvPr id="8" name="Shape 6"/>
          <p:cNvSpPr/>
          <p:nvPr/>
        </p:nvSpPr>
        <p:spPr>
          <a:xfrm>
            <a:off x="932688" y="2395728"/>
            <a:ext cx="5815584" cy="3392424"/>
          </a:xfrm>
          <a:prstGeom prst="roundRect">
            <a:avLst>
              <a:gd name="adj" fmla="val 3235"/>
            </a:avLst>
          </a:prstGeom>
          <a:solidFill>
            <a:srgbClr val="FFFFFF"/>
          </a:solidFill>
          <a:ln w="15875">
            <a:solidFill>
              <a:srgbClr val="4E5A6B"/>
            </a:solidFill>
            <a:prstDash val="solid"/>
          </a:ln>
        </p:spPr>
      </p:sp>
      <p:sp>
        <p:nvSpPr>
          <p:cNvPr id="9" name="Text 7"/>
          <p:cNvSpPr txBox="1"/>
          <p:nvPr/>
        </p:nvSpPr>
        <p:spPr>
          <a:xfrm>
            <a:off x="1161288" y="2468880"/>
            <a:ext cx="5449824" cy="274320"/>
          </a:xfrm>
          <a:prstGeom prst="rect">
            <a:avLst/>
          </a:prstGeom>
          <a:noFill/>
          <a:ln/>
        </p:spPr>
        <p:txBody>
          <a:bodyPr wrap="square" lIns="0" tIns="0" rIns="0" bIns="0" rtlCol="0" anchor="t"/>
          <a:lstStyle/>
          <a:p>
            <a:pPr algn="l" indent="0" marL="0">
              <a:buNone/>
            </a:pPr>
            <a:r>
              <a:rPr lang="en-US" sz="1200" b="1" dirty="0">
                <a:solidFill>
                  <a:srgbClr val="4E5A6B"/>
                </a:solidFill>
                <a:latin typeface="Calibri" pitchFamily="34" charset="0"/>
                <a:ea typeface="Calibri" pitchFamily="34" charset="-122"/>
                <a:cs typeface="Calibri" pitchFamily="34" charset="-120"/>
              </a:rPr>
              <a:t>Container: cap_drop ALL · read-only root · non-root user</a:t>
            </a:r>
            <a:endParaRPr lang="en-US" sz="1200" dirty="0"/>
          </a:p>
        </p:txBody>
      </p:sp>
      <p:sp>
        <p:nvSpPr>
          <p:cNvPr id="10" name="Shape 8"/>
          <p:cNvSpPr/>
          <p:nvPr/>
        </p:nvSpPr>
        <p:spPr>
          <a:xfrm>
            <a:off x="1316736" y="2779776"/>
            <a:ext cx="5047488" cy="2624328"/>
          </a:xfrm>
          <a:prstGeom prst="roundRect">
            <a:avLst>
              <a:gd name="adj" fmla="val 4181"/>
            </a:avLst>
          </a:prstGeom>
          <a:solidFill>
            <a:srgbClr val="E1F2F0"/>
          </a:solidFill>
          <a:ln w="15875">
            <a:solidFill>
              <a:srgbClr val="15877D"/>
            </a:solidFill>
            <a:prstDash val="solid"/>
          </a:ln>
        </p:spPr>
      </p:sp>
      <p:sp>
        <p:nvSpPr>
          <p:cNvPr id="11" name="Text 9"/>
          <p:cNvSpPr txBox="1"/>
          <p:nvPr/>
        </p:nvSpPr>
        <p:spPr>
          <a:xfrm>
            <a:off x="1545336" y="2852928"/>
            <a:ext cx="4681728" cy="274320"/>
          </a:xfrm>
          <a:prstGeom prst="rect">
            <a:avLst/>
          </a:prstGeom>
          <a:noFill/>
          <a:ln/>
        </p:spPr>
        <p:txBody>
          <a:bodyPr wrap="square" lIns="0" tIns="0" rIns="0" bIns="0" rtlCol="0" anchor="t"/>
          <a:lstStyle/>
          <a:p>
            <a:pPr algn="l" indent="0" marL="0">
              <a:buNone/>
            </a:pPr>
            <a:r>
              <a:rPr lang="en-US" sz="1200" b="1" dirty="0">
                <a:solidFill>
                  <a:srgbClr val="0D5C55"/>
                </a:solidFill>
                <a:latin typeface="Calibri" pitchFamily="34" charset="0"/>
                <a:ea typeface="Calibri" pitchFamily="34" charset="-122"/>
                <a:cs typeface="Calibri" pitchFamily="34" charset="-120"/>
              </a:rPr>
              <a:t>Kernel caps: memory · process count</a:t>
            </a:r>
            <a:endParaRPr lang="en-US" sz="1200" dirty="0"/>
          </a:p>
        </p:txBody>
      </p:sp>
      <p:sp>
        <p:nvSpPr>
          <p:cNvPr id="12" name="Shape 10"/>
          <p:cNvSpPr/>
          <p:nvPr/>
        </p:nvSpPr>
        <p:spPr>
          <a:xfrm>
            <a:off x="1700784" y="3163824"/>
            <a:ext cx="4279392" cy="1856232"/>
          </a:xfrm>
          <a:prstGeom prst="roundRect">
            <a:avLst>
              <a:gd name="adj" fmla="val 5911"/>
            </a:avLst>
          </a:prstGeom>
          <a:solidFill>
            <a:srgbClr val="FFFFFF"/>
          </a:solidFill>
          <a:ln w="15875">
            <a:solidFill>
              <a:srgbClr val="15877D"/>
            </a:solidFill>
            <a:prstDash val="solid"/>
          </a:ln>
        </p:spPr>
      </p:sp>
      <p:sp>
        <p:nvSpPr>
          <p:cNvPr id="13" name="Text 11"/>
          <p:cNvSpPr txBox="1"/>
          <p:nvPr/>
        </p:nvSpPr>
        <p:spPr>
          <a:xfrm>
            <a:off x="1929384" y="3236976"/>
            <a:ext cx="3913632" cy="274320"/>
          </a:xfrm>
          <a:prstGeom prst="rect">
            <a:avLst/>
          </a:prstGeom>
          <a:noFill/>
          <a:ln/>
        </p:spPr>
        <p:txBody>
          <a:bodyPr wrap="square" lIns="0" tIns="0" rIns="0" bIns="0" rtlCol="0" anchor="t"/>
          <a:lstStyle/>
          <a:p>
            <a:pPr algn="l" indent="0" marL="0">
              <a:buNone/>
            </a:pPr>
            <a:r>
              <a:rPr lang="en-US" sz="1200" b="1" dirty="0">
                <a:solidFill>
                  <a:srgbClr val="0D5C55"/>
                </a:solidFill>
                <a:latin typeface="Calibri" pitchFamily="34" charset="0"/>
                <a:ea typeface="Calibri" pitchFamily="34" charset="-122"/>
                <a:cs typeface="Calibri" pitchFamily="34" charset="-120"/>
              </a:rPr>
              <a:t>Per run: setrlimit · killpg on timeout · seccomp</a:t>
            </a:r>
            <a:endParaRPr lang="en-US" sz="1200" dirty="0"/>
          </a:p>
        </p:txBody>
      </p:sp>
      <p:sp>
        <p:nvSpPr>
          <p:cNvPr id="14" name="Text 12"/>
          <p:cNvSpPr txBox="1"/>
          <p:nvPr/>
        </p:nvSpPr>
        <p:spPr>
          <a:xfrm>
            <a:off x="2377440" y="3703320"/>
            <a:ext cx="2926080" cy="822960"/>
          </a:xfrm>
          <a:prstGeom prst="roundRect">
            <a:avLst>
              <a:gd name="adj" fmla="val 8889"/>
            </a:avLst>
          </a:prstGeom>
          <a:solidFill>
            <a:srgbClr val="C4433A"/>
          </a:solidFill>
          <a:ln w="12700">
            <a:solidFill>
              <a:srgbClr val="C4433A"/>
            </a:solidFill>
            <a:prstDash val="solid"/>
          </a:ln>
        </p:spPr>
        <p:txBody>
          <a:bodyPr wrap="square" lIns="50800" tIns="101600" rIns="101600" bIns="50800" rtlCol="0" anchor="ctr"/>
          <a:lstStyle/>
          <a:p>
            <a:pPr algn="ctr" indent="0" marL="0">
              <a:spcAft>
                <a:spcPts val="200"/>
              </a:spcAft>
              <a:buNone/>
            </a:pPr>
            <a:r>
              <a:rPr lang="en-US" sz="1500" b="1" dirty="0">
                <a:solidFill>
                  <a:srgbClr val="FFFFFF"/>
                </a:solidFill>
                <a:latin typeface="Arial" pitchFamily="34" charset="0"/>
                <a:ea typeface="Arial" pitchFamily="34" charset="-122"/>
                <a:cs typeface="Arial" pitchFamily="34" charset="-120"/>
              </a:rPr>
              <a:t>execute_python</a:t>
            </a:r>
            <a:endParaRPr lang="en-US" sz="1500" dirty="0"/>
          </a:p>
          <a:p>
            <a:pPr algn="ctr" indent="0" marL="0">
              <a:spcAft>
                <a:spcPts val="200"/>
              </a:spcAft>
              <a:buNone/>
            </a:pPr>
            <a:r>
              <a:rPr lang="en-US" sz="1150" dirty="0">
                <a:solidFill>
                  <a:srgbClr val="FBE0DD"/>
                </a:solidFill>
                <a:latin typeface="Calibri" pitchFamily="34" charset="0"/>
                <a:ea typeface="Calibri" pitchFamily="34" charset="-122"/>
                <a:cs typeface="Calibri" pitchFamily="34" charset="-120"/>
              </a:rPr>
              <a:t>the model's snippet</a:t>
            </a:r>
            <a:endParaRPr lang="en-US" sz="1500" dirty="0"/>
          </a:p>
        </p:txBody>
      </p:sp>
      <p:sp>
        <p:nvSpPr>
          <p:cNvPr id="15" name="Text 13"/>
          <p:cNvSpPr txBox="1"/>
          <p:nvPr/>
        </p:nvSpPr>
        <p:spPr>
          <a:xfrm>
            <a:off x="7589520" y="2103120"/>
            <a:ext cx="4069080" cy="402336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One door</a:t>
            </a:r>
            <a:endParaRPr lang="en-US" sz="1400" dirty="0"/>
          </a:p>
          <a:p>
            <a:pPr indent="0" marL="0">
              <a:spcAft>
                <a:spcPts val="1000"/>
              </a:spcAft>
              <a:buNone/>
            </a:pPr>
            <a:r>
              <a:rPr lang="en-US" sz="1250" dirty="0">
                <a:solidFill>
                  <a:srgbClr val="5B6472"/>
                </a:solidFill>
                <a:latin typeface="Calibri" pitchFamily="34" charset="0"/>
                <a:ea typeface="Calibri" pitchFamily="34" charset="-122"/>
                <a:cs typeface="Calibri" pitchFamily="34" charset="-120"/>
              </a:rPr>
              <a:t>A single entry point selects the engine by configuration.</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No silent fallback</a:t>
            </a:r>
            <a:endParaRPr lang="en-US" sz="1400" dirty="0"/>
          </a:p>
          <a:p>
            <a:pPr indent="0" marL="0">
              <a:spcAft>
                <a:spcPts val="1000"/>
              </a:spcAft>
              <a:buNone/>
            </a:pPr>
            <a:r>
              <a:rPr lang="en-US" sz="1250" dirty="0">
                <a:solidFill>
                  <a:srgbClr val="5B6472"/>
                </a:solidFill>
                <a:latin typeface="Calibri" pitchFamily="34" charset="0"/>
                <a:ea typeface="Calibri" pitchFamily="34" charset="-122"/>
                <a:cs typeface="Calibri" pitchFamily="34" charset="-120"/>
              </a:rPr>
              <a:t>Production uses the sidecar; the in-process engine is a dev fallback only.</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Timeouts kill</a:t>
            </a:r>
            <a:endParaRPr lang="en-US" sz="1400" dirty="0"/>
          </a:p>
          <a:p>
            <a:pPr indent="0" marL="0">
              <a:spcAft>
                <a:spcPts val="1000"/>
              </a:spcAft>
              <a:buNone/>
            </a:pPr>
            <a:r>
              <a:rPr lang="en-US" sz="1250" dirty="0">
                <a:solidFill>
                  <a:srgbClr val="5B6472"/>
                </a:solidFill>
                <a:latin typeface="Calibri" pitchFamily="34" charset="0"/>
                <a:ea typeface="Calibri" pitchFamily="34" charset="-122"/>
                <a:cs typeface="Calibri" pitchFamily="34" charset="-120"/>
              </a:rPr>
              <a:t>The process group is killed, not merely abandoned while it keeps burning a core.</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Files by scope</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run_python_on_files passes files in and saves outputs through the caller's file scope.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TRUST · PROMPT INJECTION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Untrusted text is contained, not trusted</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Detection fails open. AIAAS limits what injected text can make an agent do.</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34</a:t>
            </a:r>
            <a:endParaRPr lang="en-US" sz="1000" dirty="0"/>
          </a:p>
        </p:txBody>
      </p:sp>
      <p:sp>
        <p:nvSpPr>
          <p:cNvPr id="6" name="Shape 4"/>
          <p:cNvSpPr/>
          <p:nvPr/>
        </p:nvSpPr>
        <p:spPr>
          <a:xfrm>
            <a:off x="548640" y="2011680"/>
            <a:ext cx="3575304" cy="1901952"/>
          </a:xfrm>
          <a:prstGeom prst="roundRect">
            <a:avLst>
              <a:gd name="adj" fmla="val 4808"/>
            </a:avLst>
          </a:prstGeom>
          <a:solidFill>
            <a:srgbClr val="F3F5F8"/>
          </a:solidFill>
          <a:ln w="12700">
            <a:solidFill>
              <a:srgbClr val="F3F5F8"/>
            </a:solidFill>
            <a:prstDash val="solid"/>
          </a:ln>
        </p:spPr>
      </p:sp>
      <p:sp>
        <p:nvSpPr>
          <p:cNvPr id="7" name="Shape 5"/>
          <p:cNvSpPr/>
          <p:nvPr/>
        </p:nvSpPr>
        <p:spPr>
          <a:xfrm>
            <a:off x="804672" y="2267712"/>
            <a:ext cx="566928" cy="566928"/>
          </a:xfrm>
          <a:prstGeom prst="ellipse">
            <a:avLst/>
          </a:prstGeom>
          <a:solidFill>
            <a:srgbClr val="E08A1E"/>
          </a:solidFill>
          <a:ln w="12700">
            <a:solidFill>
              <a:srgbClr val="E08A1E"/>
            </a:solidFill>
            <a:prstDash val="solid"/>
          </a:ln>
        </p:spPr>
      </p:sp>
      <p:pic>
        <p:nvPicPr>
          <p:cNvPr id="8" name="Image 0" descr="preencoded.png">    </p:cNvPr>
          <p:cNvPicPr>
            <a:picLocks noChangeAspect="1"/>
          </p:cNvPicPr>
          <p:nvPr/>
        </p:nvPicPr>
        <p:blipFill>
          <a:blip r:embed="rId1"/>
          <a:stretch>
            <a:fillRect/>
          </a:stretch>
        </p:blipFill>
        <p:spPr>
          <a:xfrm>
            <a:off x="952073" y="2415113"/>
            <a:ext cx="272125" cy="272125"/>
          </a:xfrm>
          <a:prstGeom prst="rect">
            <a:avLst/>
          </a:prstGeom>
        </p:spPr>
      </p:pic>
      <p:sp>
        <p:nvSpPr>
          <p:cNvPr id="9" name="Text 6"/>
          <p:cNvSpPr txBox="1"/>
          <p:nvPr/>
        </p:nvSpPr>
        <p:spPr>
          <a:xfrm>
            <a:off x="1554480" y="2377440"/>
            <a:ext cx="246888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Provenance taint</a:t>
            </a:r>
            <a:endParaRPr lang="en-US" sz="1500" dirty="0"/>
          </a:p>
        </p:txBody>
      </p:sp>
      <p:sp>
        <p:nvSpPr>
          <p:cNvPr id="10" name="Text 7"/>
          <p:cNvSpPr txBox="1"/>
          <p:nvPr/>
        </p:nvSpPr>
        <p:spPr>
          <a:xfrm>
            <a:off x="804672" y="2971800"/>
            <a:ext cx="3108960" cy="86868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Instruction-shaped tool results make auto mode ask before anything irreversible.</a:t>
            </a:r>
            <a:endParaRPr lang="en-US" sz="1400" dirty="0"/>
          </a:p>
        </p:txBody>
      </p:sp>
      <p:sp>
        <p:nvSpPr>
          <p:cNvPr id="11" name="Shape 8"/>
          <p:cNvSpPr/>
          <p:nvPr/>
        </p:nvSpPr>
        <p:spPr>
          <a:xfrm>
            <a:off x="4306824" y="2011680"/>
            <a:ext cx="3575304" cy="1901952"/>
          </a:xfrm>
          <a:prstGeom prst="roundRect">
            <a:avLst>
              <a:gd name="adj" fmla="val 4808"/>
            </a:avLst>
          </a:prstGeom>
          <a:solidFill>
            <a:srgbClr val="F3F5F8"/>
          </a:solidFill>
          <a:ln w="12700">
            <a:solidFill>
              <a:srgbClr val="F3F5F8"/>
            </a:solidFill>
            <a:prstDash val="solid"/>
          </a:ln>
        </p:spPr>
      </p:sp>
      <p:sp>
        <p:nvSpPr>
          <p:cNvPr id="12" name="Shape 9"/>
          <p:cNvSpPr/>
          <p:nvPr/>
        </p:nvSpPr>
        <p:spPr>
          <a:xfrm>
            <a:off x="4562856" y="2267712"/>
            <a:ext cx="566928" cy="566928"/>
          </a:xfrm>
          <a:prstGeom prst="ellipse">
            <a:avLst/>
          </a:prstGeom>
          <a:solidFill>
            <a:srgbClr val="15877D"/>
          </a:solidFill>
          <a:ln w="12700">
            <a:solidFill>
              <a:srgbClr val="15877D"/>
            </a:solidFill>
            <a:prstDash val="solid"/>
          </a:ln>
        </p:spPr>
      </p:sp>
      <p:pic>
        <p:nvPicPr>
          <p:cNvPr id="13" name="Image 1" descr="preencoded.png">    </p:cNvPr>
          <p:cNvPicPr>
            <a:picLocks noChangeAspect="1"/>
          </p:cNvPicPr>
          <p:nvPr/>
        </p:nvPicPr>
        <p:blipFill>
          <a:blip r:embed="rId2"/>
          <a:stretch>
            <a:fillRect/>
          </a:stretch>
        </p:blipFill>
        <p:spPr>
          <a:xfrm>
            <a:off x="4710257" y="2415113"/>
            <a:ext cx="272125" cy="272125"/>
          </a:xfrm>
          <a:prstGeom prst="rect">
            <a:avLst/>
          </a:prstGeom>
        </p:spPr>
      </p:pic>
      <p:sp>
        <p:nvSpPr>
          <p:cNvPr id="14" name="Text 10"/>
          <p:cNvSpPr txBox="1"/>
          <p:nvPr/>
        </p:nvSpPr>
        <p:spPr>
          <a:xfrm>
            <a:off x="5312664" y="2377440"/>
            <a:ext cx="246888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Composed URLs</a:t>
            </a:r>
            <a:endParaRPr lang="en-US" sz="1500" dirty="0"/>
          </a:p>
        </p:txBody>
      </p:sp>
      <p:sp>
        <p:nvSpPr>
          <p:cNvPr id="15" name="Text 11"/>
          <p:cNvSpPr txBox="1"/>
          <p:nvPr/>
        </p:nvSpPr>
        <p:spPr>
          <a:xfrm>
            <a:off x="4562856" y="2971800"/>
            <a:ext cx="3108960" cy="86868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Read tools fetch URLs seen verbatim, or composed ones carrying no data.</a:t>
            </a:r>
            <a:endParaRPr lang="en-US" sz="1400" dirty="0"/>
          </a:p>
        </p:txBody>
      </p:sp>
      <p:sp>
        <p:nvSpPr>
          <p:cNvPr id="16" name="Shape 12"/>
          <p:cNvSpPr/>
          <p:nvPr/>
        </p:nvSpPr>
        <p:spPr>
          <a:xfrm>
            <a:off x="8065008" y="2011680"/>
            <a:ext cx="3575304" cy="1901952"/>
          </a:xfrm>
          <a:prstGeom prst="roundRect">
            <a:avLst>
              <a:gd name="adj" fmla="val 4808"/>
            </a:avLst>
          </a:prstGeom>
          <a:solidFill>
            <a:srgbClr val="F3F5F8"/>
          </a:solidFill>
          <a:ln w="12700">
            <a:solidFill>
              <a:srgbClr val="F3F5F8"/>
            </a:solidFill>
            <a:prstDash val="solid"/>
          </a:ln>
        </p:spPr>
      </p:sp>
      <p:sp>
        <p:nvSpPr>
          <p:cNvPr id="17" name="Shape 13"/>
          <p:cNvSpPr/>
          <p:nvPr/>
        </p:nvSpPr>
        <p:spPr>
          <a:xfrm>
            <a:off x="8321040" y="2267712"/>
            <a:ext cx="566928" cy="566928"/>
          </a:xfrm>
          <a:prstGeom prst="ellipse">
            <a:avLst/>
          </a:prstGeom>
          <a:solidFill>
            <a:srgbClr val="4E5A6B"/>
          </a:solidFill>
          <a:ln w="12700">
            <a:solidFill>
              <a:srgbClr val="4E5A6B"/>
            </a:solidFill>
            <a:prstDash val="solid"/>
          </a:ln>
        </p:spPr>
      </p:sp>
      <p:pic>
        <p:nvPicPr>
          <p:cNvPr id="18" name="Image 2" descr="preencoded.png">    </p:cNvPr>
          <p:cNvPicPr>
            <a:picLocks noChangeAspect="1"/>
          </p:cNvPicPr>
          <p:nvPr/>
        </p:nvPicPr>
        <p:blipFill>
          <a:blip r:embed="rId3"/>
          <a:stretch>
            <a:fillRect/>
          </a:stretch>
        </p:blipFill>
        <p:spPr>
          <a:xfrm>
            <a:off x="8468441" y="2415113"/>
            <a:ext cx="272125" cy="272125"/>
          </a:xfrm>
          <a:prstGeom prst="rect">
            <a:avLst/>
          </a:prstGeom>
        </p:spPr>
      </p:pic>
      <p:sp>
        <p:nvSpPr>
          <p:cNvPr id="19" name="Text 14"/>
          <p:cNvSpPr txBox="1"/>
          <p:nvPr/>
        </p:nvSpPr>
        <p:spPr>
          <a:xfrm>
            <a:off x="9070848" y="2377440"/>
            <a:ext cx="246888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MCP tool pinning</a:t>
            </a:r>
            <a:endParaRPr lang="en-US" sz="1500" dirty="0"/>
          </a:p>
        </p:txBody>
      </p:sp>
      <p:sp>
        <p:nvSpPr>
          <p:cNvPr id="20" name="Text 15"/>
          <p:cNvSpPr txBox="1"/>
          <p:nvPr/>
        </p:nvSpPr>
        <p:spPr>
          <a:xfrm>
            <a:off x="8321040" y="2971800"/>
            <a:ext cx="3108960" cy="86868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Tool text pinned on first use; a changed tool is held until approved.</a:t>
            </a:r>
            <a:endParaRPr lang="en-US" sz="1400" dirty="0"/>
          </a:p>
        </p:txBody>
      </p:sp>
      <p:sp>
        <p:nvSpPr>
          <p:cNvPr id="21" name="Shape 16"/>
          <p:cNvSpPr/>
          <p:nvPr/>
        </p:nvSpPr>
        <p:spPr>
          <a:xfrm>
            <a:off x="548640" y="4096512"/>
            <a:ext cx="3575304" cy="1901952"/>
          </a:xfrm>
          <a:prstGeom prst="roundRect">
            <a:avLst>
              <a:gd name="adj" fmla="val 4808"/>
            </a:avLst>
          </a:prstGeom>
          <a:solidFill>
            <a:srgbClr val="F3F5F8"/>
          </a:solidFill>
          <a:ln w="12700">
            <a:solidFill>
              <a:srgbClr val="F3F5F8"/>
            </a:solidFill>
            <a:prstDash val="solid"/>
          </a:ln>
        </p:spPr>
      </p:sp>
      <p:sp>
        <p:nvSpPr>
          <p:cNvPr id="22" name="Shape 17"/>
          <p:cNvSpPr/>
          <p:nvPr/>
        </p:nvSpPr>
        <p:spPr>
          <a:xfrm>
            <a:off x="804672" y="4352544"/>
            <a:ext cx="566928" cy="566928"/>
          </a:xfrm>
          <a:prstGeom prst="ellipse">
            <a:avLst/>
          </a:prstGeom>
          <a:solidFill>
            <a:srgbClr val="0D5C55"/>
          </a:solidFill>
          <a:ln w="12700">
            <a:solidFill>
              <a:srgbClr val="0D5C55"/>
            </a:solidFill>
            <a:prstDash val="solid"/>
          </a:ln>
        </p:spPr>
      </p:sp>
      <p:pic>
        <p:nvPicPr>
          <p:cNvPr id="23" name="Image 3" descr="preencoded.png">    </p:cNvPr>
          <p:cNvPicPr>
            <a:picLocks noChangeAspect="1"/>
          </p:cNvPicPr>
          <p:nvPr/>
        </p:nvPicPr>
        <p:blipFill>
          <a:blip r:embed="rId4"/>
          <a:stretch>
            <a:fillRect/>
          </a:stretch>
        </p:blipFill>
        <p:spPr>
          <a:xfrm>
            <a:off x="952073" y="4499945"/>
            <a:ext cx="272125" cy="272125"/>
          </a:xfrm>
          <a:prstGeom prst="rect">
            <a:avLst/>
          </a:prstGeom>
        </p:spPr>
      </p:pic>
      <p:sp>
        <p:nvSpPr>
          <p:cNvPr id="24" name="Text 18"/>
          <p:cNvSpPr txBox="1"/>
          <p:nvPr/>
        </p:nvSpPr>
        <p:spPr>
          <a:xfrm>
            <a:off x="1554480" y="4462272"/>
            <a:ext cx="246888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Input sanitizer</a:t>
            </a:r>
            <a:endParaRPr lang="en-US" sz="1500" dirty="0"/>
          </a:p>
        </p:txBody>
      </p:sp>
      <p:sp>
        <p:nvSpPr>
          <p:cNvPr id="25" name="Text 19"/>
          <p:cNvSpPr txBox="1"/>
          <p:nvPr/>
        </p:nvSpPr>
        <p:spPr>
          <a:xfrm>
            <a:off x="804672" y="5056632"/>
            <a:ext cx="3108960" cy="86868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Refuses or passes, never rewrites. Sees through look-alikes and base64.</a:t>
            </a:r>
            <a:endParaRPr lang="en-US" sz="1400" dirty="0"/>
          </a:p>
        </p:txBody>
      </p:sp>
      <p:sp>
        <p:nvSpPr>
          <p:cNvPr id="26" name="Shape 20"/>
          <p:cNvSpPr/>
          <p:nvPr/>
        </p:nvSpPr>
        <p:spPr>
          <a:xfrm>
            <a:off x="4306824" y="4096512"/>
            <a:ext cx="3575304" cy="1901952"/>
          </a:xfrm>
          <a:prstGeom prst="roundRect">
            <a:avLst>
              <a:gd name="adj" fmla="val 4808"/>
            </a:avLst>
          </a:prstGeom>
          <a:solidFill>
            <a:srgbClr val="F3F5F8"/>
          </a:solidFill>
          <a:ln w="12700">
            <a:solidFill>
              <a:srgbClr val="F3F5F8"/>
            </a:solidFill>
            <a:prstDash val="solid"/>
          </a:ln>
        </p:spPr>
      </p:sp>
      <p:sp>
        <p:nvSpPr>
          <p:cNvPr id="27" name="Shape 21"/>
          <p:cNvSpPr/>
          <p:nvPr/>
        </p:nvSpPr>
        <p:spPr>
          <a:xfrm>
            <a:off x="4562856" y="4352544"/>
            <a:ext cx="566928" cy="566928"/>
          </a:xfrm>
          <a:prstGeom prst="ellipse">
            <a:avLst/>
          </a:prstGeom>
          <a:solidFill>
            <a:srgbClr val="C4433A"/>
          </a:solidFill>
          <a:ln w="12700">
            <a:solidFill>
              <a:srgbClr val="C4433A"/>
            </a:solidFill>
            <a:prstDash val="solid"/>
          </a:ln>
        </p:spPr>
      </p:sp>
      <p:pic>
        <p:nvPicPr>
          <p:cNvPr id="28" name="Image 4" descr="preencoded.png">    </p:cNvPr>
          <p:cNvPicPr>
            <a:picLocks noChangeAspect="1"/>
          </p:cNvPicPr>
          <p:nvPr/>
        </p:nvPicPr>
        <p:blipFill>
          <a:blip r:embed="rId5"/>
          <a:stretch>
            <a:fillRect/>
          </a:stretch>
        </p:blipFill>
        <p:spPr>
          <a:xfrm>
            <a:off x="4710257" y="4499945"/>
            <a:ext cx="272125" cy="272125"/>
          </a:xfrm>
          <a:prstGeom prst="rect">
            <a:avLst/>
          </a:prstGeom>
        </p:spPr>
      </p:pic>
      <p:sp>
        <p:nvSpPr>
          <p:cNvPr id="29" name="Text 22"/>
          <p:cNvSpPr txBox="1"/>
          <p:nvPr/>
        </p:nvSpPr>
        <p:spPr>
          <a:xfrm>
            <a:off x="5312664" y="4462272"/>
            <a:ext cx="246888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Content floor</a:t>
            </a:r>
            <a:endParaRPr lang="en-US" sz="1500" dirty="0"/>
          </a:p>
        </p:txBody>
      </p:sp>
      <p:sp>
        <p:nvSpPr>
          <p:cNvPr id="30" name="Text 23"/>
          <p:cNvSpPr txBox="1"/>
          <p:nvPr/>
        </p:nvSpPr>
        <p:spPr>
          <a:xfrm>
            <a:off x="4562856" y="5056632"/>
            <a:ext cx="3108960" cy="86868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Minors, sexual deepfakes, CBRN weapons: refused before any provider call.</a:t>
            </a:r>
            <a:endParaRPr lang="en-US" sz="1400" dirty="0"/>
          </a:p>
        </p:txBody>
      </p:sp>
      <p:sp>
        <p:nvSpPr>
          <p:cNvPr id="31" name="Shape 24"/>
          <p:cNvSpPr/>
          <p:nvPr/>
        </p:nvSpPr>
        <p:spPr>
          <a:xfrm>
            <a:off x="8065008" y="4096512"/>
            <a:ext cx="3575304" cy="1901952"/>
          </a:xfrm>
          <a:prstGeom prst="roundRect">
            <a:avLst>
              <a:gd name="adj" fmla="val 4808"/>
            </a:avLst>
          </a:prstGeom>
          <a:solidFill>
            <a:srgbClr val="F3F5F8"/>
          </a:solidFill>
          <a:ln w="12700">
            <a:solidFill>
              <a:srgbClr val="F3F5F8"/>
            </a:solidFill>
            <a:prstDash val="solid"/>
          </a:ln>
        </p:spPr>
      </p:sp>
      <p:sp>
        <p:nvSpPr>
          <p:cNvPr id="32" name="Shape 25"/>
          <p:cNvSpPr/>
          <p:nvPr/>
        </p:nvSpPr>
        <p:spPr>
          <a:xfrm>
            <a:off x="8321040" y="4352544"/>
            <a:ext cx="566928" cy="566928"/>
          </a:xfrm>
          <a:prstGeom prst="ellipse">
            <a:avLst/>
          </a:prstGeom>
          <a:solidFill>
            <a:srgbClr val="9A5A0C"/>
          </a:solidFill>
          <a:ln w="12700">
            <a:solidFill>
              <a:srgbClr val="9A5A0C"/>
            </a:solidFill>
            <a:prstDash val="solid"/>
          </a:ln>
        </p:spPr>
      </p:sp>
      <p:pic>
        <p:nvPicPr>
          <p:cNvPr id="33" name="Image 5" descr="preencoded.png">    </p:cNvPr>
          <p:cNvPicPr>
            <a:picLocks noChangeAspect="1"/>
          </p:cNvPicPr>
          <p:nvPr/>
        </p:nvPicPr>
        <p:blipFill>
          <a:blip r:embed="rId6"/>
          <a:stretch>
            <a:fillRect/>
          </a:stretch>
        </p:blipFill>
        <p:spPr>
          <a:xfrm>
            <a:off x="8468441" y="4499945"/>
            <a:ext cx="272125" cy="272125"/>
          </a:xfrm>
          <a:prstGeom prst="rect">
            <a:avLst/>
          </a:prstGeom>
        </p:spPr>
      </p:pic>
      <p:sp>
        <p:nvSpPr>
          <p:cNvPr id="34" name="Text 26"/>
          <p:cNvSpPr txBox="1"/>
          <p:nvPr/>
        </p:nvSpPr>
        <p:spPr>
          <a:xfrm>
            <a:off x="9070848" y="4462272"/>
            <a:ext cx="2468880" cy="320040"/>
          </a:xfrm>
          <a:prstGeom prst="rect">
            <a:avLst/>
          </a:prstGeom>
          <a:noFill/>
          <a:ln/>
        </p:spPr>
        <p:txBody>
          <a:bodyPr wrap="square" lIns="0" tIns="0" rIns="0" bIns="0" rtlCol="0" anchor="t"/>
          <a:lstStyle/>
          <a:p>
            <a:pPr algn="l" indent="0" marL="0">
              <a:buNone/>
            </a:pPr>
            <a:r>
              <a:rPr lang="en-US" sz="1500" b="1" dirty="0">
                <a:solidFill>
                  <a:srgbClr val="1C212B"/>
                </a:solidFill>
                <a:latin typeface="Arial" pitchFamily="34" charset="0"/>
                <a:ea typeface="Arial" pitchFamily="34" charset="-122"/>
                <a:cs typeface="Arial" pitchFamily="34" charset="-120"/>
              </a:rPr>
              <a:t>Outbound floor</a:t>
            </a:r>
            <a:endParaRPr lang="en-US" sz="1500" dirty="0"/>
          </a:p>
        </p:txBody>
      </p:sp>
      <p:sp>
        <p:nvSpPr>
          <p:cNvPr id="35" name="Text 27"/>
          <p:cNvSpPr txBox="1"/>
          <p:nvPr/>
        </p:nvSpPr>
        <p:spPr>
          <a:xfrm>
            <a:off x="8321040" y="5056632"/>
            <a:ext cx="3108960" cy="86868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A daily send cap across channels, and an AI disclosure on unattended mail.</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TRUST · CREDENTIALS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secret is encrypted at rest and never shown to the model</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model names a credential. Our code fetches it, uses it, and scrubs it from what comes back.</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35</a:t>
            </a:r>
            <a:endParaRPr lang="en-US" sz="1000" dirty="0"/>
          </a:p>
        </p:txBody>
      </p:sp>
      <p:sp>
        <p:nvSpPr>
          <p:cNvPr id="6" name="Text 4"/>
          <p:cNvSpPr txBox="1"/>
          <p:nvPr/>
        </p:nvSpPr>
        <p:spPr>
          <a:xfrm>
            <a:off x="548640" y="2011680"/>
            <a:ext cx="6035040" cy="694944"/>
          </a:xfrm>
          <a:prstGeom prst="roundRect">
            <a:avLst>
              <a:gd name="adj" fmla="val 10526"/>
            </a:avLst>
          </a:prstGeom>
          <a:solidFill>
            <a:srgbClr val="4E5A6B"/>
          </a:solidFill>
          <a:ln w="12700">
            <a:solidFill>
              <a:srgbClr val="4E5A6B"/>
            </a:solidFill>
            <a:prstDash val="solid"/>
          </a:ln>
        </p:spPr>
        <p:txBody>
          <a:bodyPr wrap="square" lIns="38100" tIns="177800" rIns="177800" bIns="38100" rtlCol="0" anchor="ctr"/>
          <a:lstStyle/>
          <a:p>
            <a:pPr algn="l" indent="0" marL="0">
              <a:spcAft>
                <a:spcPts val="200"/>
              </a:spcAft>
              <a:buNone/>
            </a:pPr>
            <a:r>
              <a:rPr lang="en-US" sz="1350" b="1" dirty="0">
                <a:solidFill>
                  <a:srgbClr val="FFFFFF"/>
                </a:solidFill>
                <a:latin typeface="Arial" pitchFamily="34" charset="0"/>
                <a:ea typeface="Arial" pitchFamily="34" charset="-122"/>
                <a:cs typeface="Arial" pitchFamily="34" charset="-120"/>
              </a:rPr>
              <a:t>Stored</a:t>
            </a:r>
            <a:endParaRPr lang="en-US" sz="1350" dirty="0"/>
          </a:p>
          <a:p>
            <a:pPr algn="l" indent="0" marL="0">
              <a:spcAft>
                <a:spcPts val="200"/>
              </a:spcAft>
              <a:buNone/>
            </a:pPr>
            <a:r>
              <a:rPr lang="en-US" sz="1150" dirty="0">
                <a:solidFill>
                  <a:srgbClr val="DDE2E8"/>
                </a:solidFill>
                <a:latin typeface="Calibri" pitchFamily="34" charset="0"/>
                <a:ea typeface="Calibri" pitchFamily="34" charset="-122"/>
                <a:cs typeface="Calibri" pitchFamily="34" charset="-120"/>
              </a:rPr>
              <a:t>Fernet: AES-128 + HMAC-SHA256, with the key held outside the database</a:t>
            </a:r>
            <a:endParaRPr lang="en-US" sz="1350" dirty="0"/>
          </a:p>
        </p:txBody>
      </p:sp>
      <p:sp>
        <p:nvSpPr>
          <p:cNvPr id="7" name="Shape 5"/>
          <p:cNvSpPr/>
          <p:nvPr/>
        </p:nvSpPr>
        <p:spPr>
          <a:xfrm>
            <a:off x="3566160" y="2706624"/>
            <a:ext cx="0" cy="146304"/>
          </a:xfrm>
          <a:prstGeom prst="line">
            <a:avLst/>
          </a:prstGeom>
          <a:noFill/>
          <a:ln w="15875">
            <a:solidFill>
              <a:srgbClr val="4E5A6B"/>
            </a:solidFill>
            <a:prstDash val="solid"/>
            <a:tailEnd type="triangle"/>
          </a:ln>
        </p:spPr>
      </p:sp>
      <p:sp>
        <p:nvSpPr>
          <p:cNvPr id="8" name="Text 6"/>
          <p:cNvSpPr txBox="1"/>
          <p:nvPr/>
        </p:nvSpPr>
        <p:spPr>
          <a:xfrm>
            <a:off x="548640" y="2852928"/>
            <a:ext cx="6035040" cy="694944"/>
          </a:xfrm>
          <a:prstGeom prst="roundRect">
            <a:avLst>
              <a:gd name="adj" fmla="val 10526"/>
            </a:avLst>
          </a:prstGeom>
          <a:solidFill>
            <a:srgbClr val="E9EDF2"/>
          </a:solidFill>
          <a:ln w="12700">
            <a:solidFill>
              <a:srgbClr val="E9EDF2"/>
            </a:solidFill>
            <a:prstDash val="solid"/>
          </a:ln>
        </p:spPr>
        <p:txBody>
          <a:bodyPr wrap="square" lIns="38100" tIns="177800" rIns="1778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Named</a:t>
            </a:r>
            <a:endParaRPr lang="en-US" sz="1350" dirty="0"/>
          </a:p>
          <a:p>
            <a:pPr algn="l" indent="0" marL="0">
              <a:spcAft>
                <a:spcPts val="200"/>
              </a:spcAft>
              <a:buNone/>
            </a:pPr>
            <a:r>
              <a:rPr lang="en-US" sz="1150" dirty="0">
                <a:solidFill>
                  <a:srgbClr val="5B6472"/>
                </a:solidFill>
                <a:latin typeface="Calibri" pitchFamily="34" charset="0"/>
                <a:ea typeface="Calibri" pitchFamily="34" charset="-122"/>
                <a:cs typeface="Calibri" pitchFamily="34" charset="-120"/>
              </a:rPr>
              <a:t>the tool argument is {"secret_ref": "slug.field"}, never the value</a:t>
            </a:r>
            <a:endParaRPr lang="en-US" sz="1350" dirty="0"/>
          </a:p>
        </p:txBody>
      </p:sp>
      <p:sp>
        <p:nvSpPr>
          <p:cNvPr id="9" name="Shape 7"/>
          <p:cNvSpPr/>
          <p:nvPr/>
        </p:nvSpPr>
        <p:spPr>
          <a:xfrm>
            <a:off x="3566160" y="3547872"/>
            <a:ext cx="0" cy="146304"/>
          </a:xfrm>
          <a:prstGeom prst="line">
            <a:avLst/>
          </a:prstGeom>
          <a:noFill/>
          <a:ln w="15875">
            <a:solidFill>
              <a:srgbClr val="4E5A6B"/>
            </a:solidFill>
            <a:prstDash val="solid"/>
            <a:tailEnd type="triangle"/>
          </a:ln>
        </p:spPr>
      </p:sp>
      <p:sp>
        <p:nvSpPr>
          <p:cNvPr id="10" name="Text 8"/>
          <p:cNvSpPr txBox="1"/>
          <p:nvPr/>
        </p:nvSpPr>
        <p:spPr>
          <a:xfrm>
            <a:off x="548640" y="3694176"/>
            <a:ext cx="6035040" cy="694944"/>
          </a:xfrm>
          <a:prstGeom prst="roundRect">
            <a:avLst>
              <a:gd name="adj" fmla="val 10526"/>
            </a:avLst>
          </a:prstGeom>
          <a:solidFill>
            <a:srgbClr val="FDF0DE"/>
          </a:solidFill>
          <a:ln w="12700">
            <a:solidFill>
              <a:srgbClr val="FDF0DE"/>
            </a:solidFill>
            <a:prstDash val="solid"/>
          </a:ln>
        </p:spPr>
        <p:txBody>
          <a:bodyPr wrap="square" lIns="38100" tIns="177800" rIns="1778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Approved</a:t>
            </a:r>
            <a:endParaRPr lang="en-US" sz="1350" dirty="0"/>
          </a:p>
          <a:p>
            <a:pPr algn="l" indent="0" marL="0">
              <a:spcAft>
                <a:spcPts val="200"/>
              </a:spcAft>
              <a:buNone/>
            </a:pPr>
            <a:r>
              <a:rPr lang="en-US" sz="1150" dirty="0">
                <a:solidFill>
                  <a:srgbClr val="5B6472"/>
                </a:solidFill>
                <a:latin typeface="Calibri" pitchFamily="34" charset="0"/>
                <a:ea typeface="Calibri" pitchFamily="34" charset="-122"/>
                <a:cs typeface="Calibri" pitchFamily="34" charset="-120"/>
              </a:rPr>
              <a:t>the approval card shows the reference, not the secret</a:t>
            </a:r>
            <a:endParaRPr lang="en-US" sz="1350" dirty="0"/>
          </a:p>
        </p:txBody>
      </p:sp>
      <p:sp>
        <p:nvSpPr>
          <p:cNvPr id="11" name="Shape 9"/>
          <p:cNvSpPr/>
          <p:nvPr/>
        </p:nvSpPr>
        <p:spPr>
          <a:xfrm>
            <a:off x="3566160" y="4389120"/>
            <a:ext cx="0" cy="146304"/>
          </a:xfrm>
          <a:prstGeom prst="line">
            <a:avLst/>
          </a:prstGeom>
          <a:noFill/>
          <a:ln w="15875">
            <a:solidFill>
              <a:srgbClr val="4E5A6B"/>
            </a:solidFill>
            <a:prstDash val="solid"/>
            <a:tailEnd type="triangle"/>
          </a:ln>
        </p:spPr>
      </p:sp>
      <p:sp>
        <p:nvSpPr>
          <p:cNvPr id="12" name="Text 10"/>
          <p:cNvSpPr txBox="1"/>
          <p:nvPr/>
        </p:nvSpPr>
        <p:spPr>
          <a:xfrm>
            <a:off x="548640" y="4535424"/>
            <a:ext cx="6035040" cy="694944"/>
          </a:xfrm>
          <a:prstGeom prst="roundRect">
            <a:avLst>
              <a:gd name="adj" fmla="val 10526"/>
            </a:avLst>
          </a:prstGeom>
          <a:solidFill>
            <a:srgbClr val="E1F2F0"/>
          </a:solidFill>
          <a:ln w="12700">
            <a:solidFill>
              <a:srgbClr val="E1F2F0"/>
            </a:solidFill>
            <a:prstDash val="solid"/>
          </a:ln>
        </p:spPr>
        <p:txBody>
          <a:bodyPr wrap="square" lIns="38100" tIns="177800" rIns="177800" bIns="38100" rtlCol="0" anchor="ctr"/>
          <a:lstStyle/>
          <a:p>
            <a:pPr algn="l" indent="0" marL="0">
              <a:spcAft>
                <a:spcPts val="200"/>
              </a:spcAft>
              <a:buNone/>
            </a:pPr>
            <a:r>
              <a:rPr lang="en-US" sz="1350" b="1" dirty="0">
                <a:solidFill>
                  <a:srgbClr val="1C212B"/>
                </a:solidFill>
                <a:latin typeface="Arial" pitchFamily="34" charset="0"/>
                <a:ea typeface="Arial" pitchFamily="34" charset="-122"/>
                <a:cs typeface="Arial" pitchFamily="34" charset="-120"/>
              </a:rPr>
              <a:t>Resolved</a:t>
            </a:r>
            <a:endParaRPr lang="en-US" sz="1350" dirty="0"/>
          </a:p>
          <a:p>
            <a:pPr algn="l" indent="0" marL="0">
              <a:spcAft>
                <a:spcPts val="200"/>
              </a:spcAft>
              <a:buNone/>
            </a:pPr>
            <a:r>
              <a:rPr lang="en-US" sz="1150" dirty="0">
                <a:solidFill>
                  <a:srgbClr val="5B6472"/>
                </a:solidFill>
                <a:latin typeface="Calibri" pitchFamily="34" charset="0"/>
                <a:ea typeface="Calibri" pitchFamily="34" charset="-122"/>
                <a:cs typeface="Calibri" pitchFamily="34" charset="-120"/>
              </a:rPr>
              <a:t>one resolver, after approval, from an allow-list of slugs</a:t>
            </a:r>
            <a:endParaRPr lang="en-US" sz="1350" dirty="0"/>
          </a:p>
        </p:txBody>
      </p:sp>
      <p:sp>
        <p:nvSpPr>
          <p:cNvPr id="13" name="Shape 11"/>
          <p:cNvSpPr/>
          <p:nvPr/>
        </p:nvSpPr>
        <p:spPr>
          <a:xfrm>
            <a:off x="3566160" y="5230368"/>
            <a:ext cx="0" cy="146304"/>
          </a:xfrm>
          <a:prstGeom prst="line">
            <a:avLst/>
          </a:prstGeom>
          <a:noFill/>
          <a:ln w="15875">
            <a:solidFill>
              <a:srgbClr val="4E5A6B"/>
            </a:solidFill>
            <a:prstDash val="solid"/>
            <a:tailEnd type="triangle"/>
          </a:ln>
        </p:spPr>
      </p:sp>
      <p:sp>
        <p:nvSpPr>
          <p:cNvPr id="14" name="Text 12"/>
          <p:cNvSpPr txBox="1"/>
          <p:nvPr/>
        </p:nvSpPr>
        <p:spPr>
          <a:xfrm>
            <a:off x="548640" y="5376672"/>
            <a:ext cx="6035040" cy="694944"/>
          </a:xfrm>
          <a:prstGeom prst="roundRect">
            <a:avLst>
              <a:gd name="adj" fmla="val 10526"/>
            </a:avLst>
          </a:prstGeom>
          <a:solidFill>
            <a:srgbClr val="15877D"/>
          </a:solidFill>
          <a:ln w="12700">
            <a:solidFill>
              <a:srgbClr val="15877D"/>
            </a:solidFill>
            <a:prstDash val="solid"/>
          </a:ln>
        </p:spPr>
        <p:txBody>
          <a:bodyPr wrap="square" lIns="38100" tIns="177800" rIns="177800" bIns="38100" rtlCol="0" anchor="ctr"/>
          <a:lstStyle/>
          <a:p>
            <a:pPr algn="l" indent="0" marL="0">
              <a:spcAft>
                <a:spcPts val="200"/>
              </a:spcAft>
              <a:buNone/>
            </a:pPr>
            <a:r>
              <a:rPr lang="en-US" sz="1350" b="1" dirty="0">
                <a:solidFill>
                  <a:srgbClr val="FFFFFF"/>
                </a:solidFill>
                <a:latin typeface="Arial" pitchFamily="34" charset="0"/>
                <a:ea typeface="Arial" pitchFamily="34" charset="-122"/>
                <a:cs typeface="Arial" pitchFamily="34" charset="-120"/>
              </a:rPr>
              <a:t>Scrubbed</a:t>
            </a:r>
            <a:endParaRPr lang="en-US" sz="1350" dirty="0"/>
          </a:p>
          <a:p>
            <a:pPr algn="l" indent="0" marL="0">
              <a:spcAft>
                <a:spcPts val="200"/>
              </a:spcAft>
              <a:buNone/>
            </a:pPr>
            <a:r>
              <a:rPr lang="en-US" sz="1150" dirty="0">
                <a:solidFill>
                  <a:srgbClr val="E0F2EF"/>
                </a:solidFill>
                <a:latin typeface="Calibri" pitchFamily="34" charset="0"/>
                <a:ea typeface="Calibri" pitchFamily="34" charset="-122"/>
                <a:cs typeface="Calibri" pitchFamily="34" charset="-120"/>
              </a:rPr>
              <a:t>the value is redacted from the result before the model reads it</a:t>
            </a:r>
            <a:endParaRPr lang="en-US" sz="1350" dirty="0"/>
          </a:p>
        </p:txBody>
      </p:sp>
      <p:sp>
        <p:nvSpPr>
          <p:cNvPr id="15" name="Text 13"/>
          <p:cNvSpPr txBox="1"/>
          <p:nvPr/>
        </p:nvSpPr>
        <p:spPr>
          <a:xfrm>
            <a:off x="7040880" y="2103120"/>
            <a:ext cx="4617720" cy="4069080"/>
          </a:xfrm>
          <a:prstGeom prst="rect">
            <a:avLst/>
          </a:prstGeom>
          <a:noFill/>
          <a:ln/>
        </p:spPr>
        <p:txBody>
          <a:bodyPr wrap="square" lIns="0" tIns="0" rIns="0" bIns="0" rtlCol="0" anchor="t"/>
          <a:lstStyle/>
          <a:p>
            <a:pPr indent="0" marL="0">
              <a:buNone/>
            </a:pPr>
            <a:r>
              <a:rPr lang="en-US" sz="1350" b="1" dirty="0">
                <a:solidFill>
                  <a:srgbClr val="1C212B"/>
                </a:solidFill>
                <a:latin typeface="Arial" pitchFamily="34" charset="0"/>
                <a:ea typeface="Arial" pitchFamily="34" charset="-122"/>
                <a:cs typeface="Arial" pitchFamily="34" charset="-120"/>
              </a:rPr>
              <a:t>OAuth tokens too</a:t>
            </a:r>
            <a:endParaRPr lang="en-US" sz="1350" dirty="0"/>
          </a:p>
          <a:p>
            <a:pPr indent="0" marL="0">
              <a:spcAft>
                <a:spcPts val="700"/>
              </a:spcAft>
              <a:buNone/>
            </a:pPr>
            <a:r>
              <a:rPr lang="en-US" sz="1150" dirty="0">
                <a:solidFill>
                  <a:srgbClr val="5B6472"/>
                </a:solidFill>
                <a:latin typeface="Calibri" pitchFamily="34" charset="0"/>
                <a:ea typeface="Calibri" pitchFamily="34" charset="-122"/>
                <a:cs typeface="Calibri" pitchFamily="34" charset="-120"/>
              </a:rPr>
              <a:t>Access and refresh tokens are encrypted columns; re-consent never overwrites a stored refresh token with an empty one.</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Every read is audited</a:t>
            </a:r>
            <a:endParaRPr lang="en-US" sz="1350" dirty="0"/>
          </a:p>
          <a:p>
            <a:pPr indent="0" marL="0">
              <a:spcAft>
                <a:spcPts val="700"/>
              </a:spcAft>
              <a:buNone/>
            </a:pPr>
            <a:r>
              <a:rPr lang="en-US" sz="1150" dirty="0">
                <a:solidFill>
                  <a:srgbClr val="5B6472"/>
                </a:solidFill>
                <a:latin typeface="Calibri" pitchFamily="34" charset="0"/>
                <a:ea typeface="Calibri" pitchFamily="34" charset="-122"/>
                <a:cs typeface="Calibri" pitchFamily="34" charset="-120"/>
              </a:rPr>
              <a:t>Decrypting on a user's behalf writes an audit row: who, which run, from where.</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Connectors get only what they need</a:t>
            </a:r>
            <a:endParaRPr lang="en-US" sz="1350" dirty="0"/>
          </a:p>
          <a:p>
            <a:pPr indent="0" marL="0">
              <a:spcAft>
                <a:spcPts val="700"/>
              </a:spcAft>
              <a:buNone/>
            </a:pPr>
            <a:r>
              <a:rPr lang="en-US" sz="1150" dirty="0">
                <a:solidFill>
                  <a:srgbClr val="5B6472"/>
                </a:solidFill>
                <a:latin typeface="Calibri" pitchFamily="34" charset="0"/>
                <a:ea typeface="Calibri" pitchFamily="34" charset="-122"/>
                <a:cs typeface="Calibri" pitchFamily="34" charset="-120"/>
              </a:rPr>
              <a:t>A minimal environment plus the fields they map — never the platform's own keys.</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Files that hold secrets</a:t>
            </a:r>
            <a:endParaRPr lang="en-US" sz="1350" dirty="0"/>
          </a:p>
          <a:p>
            <a:pPr indent="0" marL="0">
              <a:spcAft>
                <a:spcPts val="700"/>
              </a:spcAft>
              <a:buNone/>
            </a:pPr>
            <a:r>
              <a:rPr lang="en-US" sz="1150" dirty="0">
                <a:solidFill>
                  <a:srgbClr val="5B6472"/>
                </a:solidFill>
                <a:latin typeface="Calibri" pitchFamily="34" charset="0"/>
                <a:ea typeface="Calibri" pitchFamily="34" charset="-122"/>
                <a:cs typeface="Calibri" pitchFamily="34" charset="-120"/>
              </a:rPr>
              <a:t>Written 0600 into a private temp folder and deleted by the same task that made it.</a:t>
            </a:r>
            <a:endParaRPr lang="en-US" sz="1350" dirty="0"/>
          </a:p>
          <a:p>
            <a:pPr indent="0" marL="0">
              <a:buNone/>
            </a:pPr>
            <a:r>
              <a:rPr lang="en-US" sz="1350" b="1" dirty="0">
                <a:solidFill>
                  <a:srgbClr val="1C212B"/>
                </a:solidFill>
                <a:latin typeface="Arial" pitchFamily="34" charset="0"/>
                <a:ea typeface="Arial" pitchFamily="34" charset="-122"/>
                <a:cs typeface="Arial" pitchFamily="34" charset="-120"/>
              </a:rPr>
              <a:t>Our own keys are hashed</a:t>
            </a:r>
            <a:endParaRPr lang="en-US" sz="1350" dirty="0"/>
          </a:p>
          <a:p>
            <a:pPr indent="0" marL="0">
              <a:buNone/>
            </a:pPr>
            <a:r>
              <a:rPr lang="en-US" sz="1150" dirty="0">
                <a:solidFill>
                  <a:srgbClr val="5B6472"/>
                </a:solidFill>
                <a:latin typeface="Calibri" pitchFamily="34" charset="0"/>
                <a:ea typeface="Calibri" pitchFamily="34" charset="-122"/>
                <a:cs typeface="Calibri" pitchFamily="34" charset="-120"/>
              </a:rPr>
              <a:t>Platform API keys are stored as SHA-256, and a password change revokes every issued token.</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TRUST · SOLUTION MEMORY</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What one person solved, the next person finds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Solved problems are captured as structured records and found again — with each claim's shelf life attached.</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36</a:t>
            </a:r>
            <a:endParaRPr lang="en-US" sz="1000" dirty="0"/>
          </a:p>
        </p:txBody>
      </p:sp>
      <p:sp>
        <p:nvSpPr>
          <p:cNvPr id="6" name="Shape 4"/>
          <p:cNvSpPr/>
          <p:nvPr/>
        </p:nvSpPr>
        <p:spPr>
          <a:xfrm>
            <a:off x="548640" y="2011680"/>
            <a:ext cx="2514600" cy="2057400"/>
          </a:xfrm>
          <a:prstGeom prst="roundRect">
            <a:avLst>
              <a:gd name="adj" fmla="val 4444"/>
            </a:avLst>
          </a:prstGeom>
          <a:solidFill>
            <a:srgbClr val="F3F5F8"/>
          </a:solidFill>
          <a:ln w="12700">
            <a:solidFill>
              <a:srgbClr val="F3F5F8"/>
            </a:solidFill>
            <a:prstDash val="solid"/>
          </a:ln>
        </p:spPr>
      </p:sp>
      <p:sp>
        <p:nvSpPr>
          <p:cNvPr id="7" name="Shape 5"/>
          <p:cNvSpPr/>
          <p:nvPr/>
        </p:nvSpPr>
        <p:spPr>
          <a:xfrm>
            <a:off x="777240" y="2194560"/>
            <a:ext cx="502920" cy="502920"/>
          </a:xfrm>
          <a:prstGeom prst="ellipse">
            <a:avLst/>
          </a:prstGeom>
          <a:solidFill>
            <a:srgbClr val="15877D"/>
          </a:solidFill>
          <a:ln w="12700">
            <a:solidFill>
              <a:srgbClr val="15877D"/>
            </a:solidFill>
            <a:prstDash val="solid"/>
          </a:ln>
        </p:spPr>
      </p:sp>
      <p:pic>
        <p:nvPicPr>
          <p:cNvPr id="8" name="Image 0" descr="preencoded.png">    </p:cNvPr>
          <p:cNvPicPr>
            <a:picLocks noChangeAspect="1"/>
          </p:cNvPicPr>
          <p:nvPr/>
        </p:nvPicPr>
        <p:blipFill>
          <a:blip r:embed="rId1"/>
          <a:stretch>
            <a:fillRect/>
          </a:stretch>
        </p:blipFill>
        <p:spPr>
          <a:xfrm>
            <a:off x="907999" y="2325319"/>
            <a:ext cx="241402" cy="241402"/>
          </a:xfrm>
          <a:prstGeom prst="rect">
            <a:avLst/>
          </a:prstGeom>
        </p:spPr>
      </p:pic>
      <p:sp>
        <p:nvSpPr>
          <p:cNvPr id="9" name="Text 6"/>
          <p:cNvSpPr txBox="1"/>
          <p:nvPr/>
        </p:nvSpPr>
        <p:spPr>
          <a:xfrm>
            <a:off x="1417320" y="2258568"/>
            <a:ext cx="15544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Signal</a:t>
            </a:r>
            <a:endParaRPr lang="en-US" sz="1600" dirty="0"/>
          </a:p>
        </p:txBody>
      </p:sp>
      <p:sp>
        <p:nvSpPr>
          <p:cNvPr id="10" name="Text 7"/>
          <p:cNvSpPr txBox="1"/>
          <p:nvPr/>
        </p:nvSpPr>
        <p:spPr>
          <a:xfrm>
            <a:off x="777240" y="2788920"/>
            <a:ext cx="2103120" cy="123444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A thumbs-up, or the person saying “that worked”. A regex, no model cost.</a:t>
            </a:r>
            <a:endParaRPr lang="en-US" sz="1300" dirty="0"/>
          </a:p>
        </p:txBody>
      </p:sp>
      <p:sp>
        <p:nvSpPr>
          <p:cNvPr id="11" name="Shape 8"/>
          <p:cNvSpPr/>
          <p:nvPr/>
        </p:nvSpPr>
        <p:spPr>
          <a:xfrm>
            <a:off x="3090672" y="3017520"/>
            <a:ext cx="265176" cy="0"/>
          </a:xfrm>
          <a:prstGeom prst="line">
            <a:avLst/>
          </a:prstGeom>
          <a:noFill/>
          <a:ln w="19050">
            <a:solidFill>
              <a:srgbClr val="4E5A6B"/>
            </a:solidFill>
            <a:prstDash val="solid"/>
            <a:tailEnd type="triangle"/>
          </a:ln>
        </p:spPr>
      </p:sp>
      <p:sp>
        <p:nvSpPr>
          <p:cNvPr id="12" name="Shape 9"/>
          <p:cNvSpPr/>
          <p:nvPr/>
        </p:nvSpPr>
        <p:spPr>
          <a:xfrm>
            <a:off x="3383280" y="2011680"/>
            <a:ext cx="2514600" cy="2057400"/>
          </a:xfrm>
          <a:prstGeom prst="roundRect">
            <a:avLst>
              <a:gd name="adj" fmla="val 4444"/>
            </a:avLst>
          </a:prstGeom>
          <a:solidFill>
            <a:srgbClr val="F3F5F8"/>
          </a:solidFill>
          <a:ln w="12700">
            <a:solidFill>
              <a:srgbClr val="F3F5F8"/>
            </a:solidFill>
            <a:prstDash val="solid"/>
          </a:ln>
        </p:spPr>
      </p:sp>
      <p:sp>
        <p:nvSpPr>
          <p:cNvPr id="13" name="Shape 10"/>
          <p:cNvSpPr/>
          <p:nvPr/>
        </p:nvSpPr>
        <p:spPr>
          <a:xfrm>
            <a:off x="3611880" y="2194560"/>
            <a:ext cx="502920" cy="502920"/>
          </a:xfrm>
          <a:prstGeom prst="ellipse">
            <a:avLst/>
          </a:prstGeom>
          <a:solidFill>
            <a:srgbClr val="15877D"/>
          </a:solidFill>
          <a:ln w="12700">
            <a:solidFill>
              <a:srgbClr val="15877D"/>
            </a:solidFill>
            <a:prstDash val="solid"/>
          </a:ln>
        </p:spPr>
      </p:sp>
      <p:pic>
        <p:nvPicPr>
          <p:cNvPr id="14" name="Image 1" descr="preencoded.png">    </p:cNvPr>
          <p:cNvPicPr>
            <a:picLocks noChangeAspect="1"/>
          </p:cNvPicPr>
          <p:nvPr/>
        </p:nvPicPr>
        <p:blipFill>
          <a:blip r:embed="rId2"/>
          <a:stretch>
            <a:fillRect/>
          </a:stretch>
        </p:blipFill>
        <p:spPr>
          <a:xfrm>
            <a:off x="3742639" y="2325319"/>
            <a:ext cx="241402" cy="241402"/>
          </a:xfrm>
          <a:prstGeom prst="rect">
            <a:avLst/>
          </a:prstGeom>
        </p:spPr>
      </p:pic>
      <p:sp>
        <p:nvSpPr>
          <p:cNvPr id="15" name="Text 11"/>
          <p:cNvSpPr txBox="1"/>
          <p:nvPr/>
        </p:nvSpPr>
        <p:spPr>
          <a:xfrm>
            <a:off x="4251960" y="2258568"/>
            <a:ext cx="15544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Decide</a:t>
            </a:r>
            <a:endParaRPr lang="en-US" sz="1600" dirty="0"/>
          </a:p>
        </p:txBody>
      </p:sp>
      <p:sp>
        <p:nvSpPr>
          <p:cNvPr id="16" name="Text 12"/>
          <p:cNvSpPr txBox="1"/>
          <p:nvPr/>
        </p:nvSpPr>
        <p:spPr>
          <a:xfrm>
            <a:off x="3611880" y="2788920"/>
            <a:ext cx="2103120" cy="123444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One cheap-model call: skip, new, same as an existing record, or replaces one.</a:t>
            </a:r>
            <a:endParaRPr lang="en-US" sz="1300" dirty="0"/>
          </a:p>
        </p:txBody>
      </p:sp>
      <p:sp>
        <p:nvSpPr>
          <p:cNvPr id="17" name="Shape 13"/>
          <p:cNvSpPr/>
          <p:nvPr/>
        </p:nvSpPr>
        <p:spPr>
          <a:xfrm>
            <a:off x="5925312" y="3017520"/>
            <a:ext cx="265176" cy="0"/>
          </a:xfrm>
          <a:prstGeom prst="line">
            <a:avLst/>
          </a:prstGeom>
          <a:noFill/>
          <a:ln w="19050">
            <a:solidFill>
              <a:srgbClr val="4E5A6B"/>
            </a:solidFill>
            <a:prstDash val="solid"/>
            <a:tailEnd type="triangle"/>
          </a:ln>
        </p:spPr>
      </p:sp>
      <p:sp>
        <p:nvSpPr>
          <p:cNvPr id="18" name="Shape 14"/>
          <p:cNvSpPr/>
          <p:nvPr/>
        </p:nvSpPr>
        <p:spPr>
          <a:xfrm>
            <a:off x="6217920" y="2011680"/>
            <a:ext cx="2514600" cy="2057400"/>
          </a:xfrm>
          <a:prstGeom prst="roundRect">
            <a:avLst>
              <a:gd name="adj" fmla="val 4444"/>
            </a:avLst>
          </a:prstGeom>
          <a:solidFill>
            <a:srgbClr val="F3F5F8"/>
          </a:solidFill>
          <a:ln w="12700">
            <a:solidFill>
              <a:srgbClr val="F3F5F8"/>
            </a:solidFill>
            <a:prstDash val="solid"/>
          </a:ln>
        </p:spPr>
      </p:sp>
      <p:sp>
        <p:nvSpPr>
          <p:cNvPr id="19" name="Shape 15"/>
          <p:cNvSpPr/>
          <p:nvPr/>
        </p:nvSpPr>
        <p:spPr>
          <a:xfrm>
            <a:off x="6446520" y="2194560"/>
            <a:ext cx="502920" cy="502920"/>
          </a:xfrm>
          <a:prstGeom prst="ellipse">
            <a:avLst/>
          </a:prstGeom>
          <a:solidFill>
            <a:srgbClr val="15877D"/>
          </a:solidFill>
          <a:ln w="12700">
            <a:solidFill>
              <a:srgbClr val="15877D"/>
            </a:solidFill>
            <a:prstDash val="solid"/>
          </a:ln>
        </p:spPr>
      </p:sp>
      <p:pic>
        <p:nvPicPr>
          <p:cNvPr id="20" name="Image 2" descr="preencoded.png">    </p:cNvPr>
          <p:cNvPicPr>
            <a:picLocks noChangeAspect="1"/>
          </p:cNvPicPr>
          <p:nvPr/>
        </p:nvPicPr>
        <p:blipFill>
          <a:blip r:embed="rId3"/>
          <a:stretch>
            <a:fillRect/>
          </a:stretch>
        </p:blipFill>
        <p:spPr>
          <a:xfrm>
            <a:off x="6577279" y="2325319"/>
            <a:ext cx="241402" cy="241402"/>
          </a:xfrm>
          <a:prstGeom prst="rect">
            <a:avLst/>
          </a:prstGeom>
        </p:spPr>
      </p:pic>
      <p:sp>
        <p:nvSpPr>
          <p:cNvPr id="21" name="Text 16"/>
          <p:cNvSpPr txBox="1"/>
          <p:nvPr/>
        </p:nvSpPr>
        <p:spPr>
          <a:xfrm>
            <a:off x="7086600" y="2258568"/>
            <a:ext cx="15544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Record</a:t>
            </a:r>
            <a:endParaRPr lang="en-US" sz="1600" dirty="0"/>
          </a:p>
        </p:txBody>
      </p:sp>
      <p:sp>
        <p:nvSpPr>
          <p:cNvPr id="22" name="Text 17"/>
          <p:cNvSpPr txBox="1"/>
          <p:nvPr/>
        </p:nvSpPr>
        <p:spPr>
          <a:xfrm>
            <a:off x="6446520" y="2788920"/>
            <a:ext cx="2103120" cy="123444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Problem, symptoms, cause, fix — and claims, each with a kind.</a:t>
            </a:r>
            <a:endParaRPr lang="en-US" sz="1300" dirty="0"/>
          </a:p>
        </p:txBody>
      </p:sp>
      <p:sp>
        <p:nvSpPr>
          <p:cNvPr id="23" name="Shape 18"/>
          <p:cNvSpPr/>
          <p:nvPr/>
        </p:nvSpPr>
        <p:spPr>
          <a:xfrm>
            <a:off x="8759952" y="3017520"/>
            <a:ext cx="265176" cy="0"/>
          </a:xfrm>
          <a:prstGeom prst="line">
            <a:avLst/>
          </a:prstGeom>
          <a:noFill/>
          <a:ln w="19050">
            <a:solidFill>
              <a:srgbClr val="4E5A6B"/>
            </a:solidFill>
            <a:prstDash val="solid"/>
            <a:tailEnd type="triangle"/>
          </a:ln>
        </p:spPr>
      </p:sp>
      <p:sp>
        <p:nvSpPr>
          <p:cNvPr id="24" name="Shape 19"/>
          <p:cNvSpPr/>
          <p:nvPr/>
        </p:nvSpPr>
        <p:spPr>
          <a:xfrm>
            <a:off x="9052560" y="2011680"/>
            <a:ext cx="2514600" cy="2057400"/>
          </a:xfrm>
          <a:prstGeom prst="roundRect">
            <a:avLst>
              <a:gd name="adj" fmla="val 4444"/>
            </a:avLst>
          </a:prstGeom>
          <a:solidFill>
            <a:srgbClr val="F3F5F8"/>
          </a:solidFill>
          <a:ln w="12700">
            <a:solidFill>
              <a:srgbClr val="F3F5F8"/>
            </a:solidFill>
            <a:prstDash val="solid"/>
          </a:ln>
        </p:spPr>
      </p:sp>
      <p:sp>
        <p:nvSpPr>
          <p:cNvPr id="25" name="Shape 20"/>
          <p:cNvSpPr/>
          <p:nvPr/>
        </p:nvSpPr>
        <p:spPr>
          <a:xfrm>
            <a:off x="9281160" y="2194560"/>
            <a:ext cx="502920" cy="502920"/>
          </a:xfrm>
          <a:prstGeom prst="ellipse">
            <a:avLst/>
          </a:prstGeom>
          <a:solidFill>
            <a:srgbClr val="E08A1E"/>
          </a:solidFill>
          <a:ln w="12700">
            <a:solidFill>
              <a:srgbClr val="E08A1E"/>
            </a:solidFill>
            <a:prstDash val="solid"/>
          </a:ln>
        </p:spPr>
      </p:sp>
      <p:pic>
        <p:nvPicPr>
          <p:cNvPr id="26" name="Image 3" descr="preencoded.png">    </p:cNvPr>
          <p:cNvPicPr>
            <a:picLocks noChangeAspect="1"/>
          </p:cNvPicPr>
          <p:nvPr/>
        </p:nvPicPr>
        <p:blipFill>
          <a:blip r:embed="rId4"/>
          <a:stretch>
            <a:fillRect/>
          </a:stretch>
        </p:blipFill>
        <p:spPr>
          <a:xfrm>
            <a:off x="9411919" y="2325319"/>
            <a:ext cx="241402" cy="241402"/>
          </a:xfrm>
          <a:prstGeom prst="rect">
            <a:avLst/>
          </a:prstGeom>
        </p:spPr>
      </p:pic>
      <p:sp>
        <p:nvSpPr>
          <p:cNvPr id="27" name="Text 21"/>
          <p:cNvSpPr txBox="1"/>
          <p:nvPr/>
        </p:nvSpPr>
        <p:spPr>
          <a:xfrm>
            <a:off x="9921240" y="2258568"/>
            <a:ext cx="1554480" cy="365760"/>
          </a:xfrm>
          <a:prstGeom prst="rect">
            <a:avLst/>
          </a:prstGeom>
          <a:noFill/>
          <a:ln/>
        </p:spPr>
        <p:txBody>
          <a:bodyPr wrap="square" lIns="0" tIns="0" rIns="0" bIns="0" rtlCol="0" anchor="t"/>
          <a:lstStyle/>
          <a:p>
            <a:pPr algn="l" indent="0" marL="0">
              <a:buNone/>
            </a:pPr>
            <a:r>
              <a:rPr lang="en-US" sz="1600" b="1" dirty="0">
                <a:solidFill>
                  <a:srgbClr val="1C212B"/>
                </a:solidFill>
                <a:latin typeface="Arial" pitchFamily="34" charset="0"/>
                <a:ea typeface="Arial" pitchFamily="34" charset="-122"/>
                <a:cs typeface="Arial" pitchFamily="34" charset="-120"/>
              </a:rPr>
              <a:t>Find</a:t>
            </a:r>
            <a:endParaRPr lang="en-US" sz="1600" dirty="0"/>
          </a:p>
        </p:txBody>
      </p:sp>
      <p:sp>
        <p:nvSpPr>
          <p:cNvPr id="28" name="Text 22"/>
          <p:cNvSpPr txBox="1"/>
          <p:nvPr/>
        </p:nvSpPr>
        <p:spPr>
          <a:xfrm>
            <a:off x="9281160" y="2788920"/>
            <a:ext cx="2103120" cy="1234440"/>
          </a:xfrm>
          <a:prstGeom prst="rect">
            <a:avLst/>
          </a:prstGeom>
          <a:noFill/>
          <a:ln/>
        </p:spPr>
        <p:txBody>
          <a:bodyPr wrap="square" lIns="0" tIns="0" rIns="0" bIns="0" rtlCol="0" anchor="t"/>
          <a:lstStyle/>
          <a:p>
            <a:pPr algn="l" indent="0" marL="0">
              <a:buNone/>
            </a:pPr>
            <a:r>
              <a:rPr lang="en-US" sz="1300" dirty="0">
                <a:solidFill>
                  <a:srgbClr val="5B6472"/>
                </a:solidFill>
                <a:latin typeface="Calibri" pitchFamily="34" charset="0"/>
                <a:ea typeface="Calibri" pitchFamily="34" charset="-122"/>
                <a:cs typeface="Calibri" pitchFamily="34" charset="-120"/>
              </a:rPr>
              <a:t>Signature + keyword + meaning, merged by RRF, re-scored by track record. Abstains when unsure.</a:t>
            </a:r>
            <a:endParaRPr lang="en-US" sz="1300" dirty="0"/>
          </a:p>
        </p:txBody>
      </p:sp>
      <p:sp>
        <p:nvSpPr>
          <p:cNvPr id="29" name="Text 23"/>
          <p:cNvSpPr txBox="1"/>
          <p:nvPr/>
        </p:nvSpPr>
        <p:spPr>
          <a:xfrm>
            <a:off x="548640" y="4315968"/>
            <a:ext cx="7315200" cy="274320"/>
          </a:xfrm>
          <a:prstGeom prst="rect">
            <a:avLst/>
          </a:prstGeom>
          <a:noFill/>
          <a:ln/>
        </p:spPr>
        <p:txBody>
          <a:bodyPr wrap="square" lIns="0" tIns="0" rIns="0" bIns="0" rtlCol="0" anchor="t"/>
          <a:lstStyle/>
          <a:p>
            <a:pPr algn="l" indent="0" marL="0">
              <a:buNone/>
            </a:pPr>
            <a:r>
              <a:rPr lang="en-US" sz="1350" b="1" dirty="0">
                <a:solidFill>
                  <a:srgbClr val="1C212B"/>
                </a:solidFill>
                <a:latin typeface="Arial" pitchFamily="34" charset="0"/>
                <a:ea typeface="Arial" pitchFamily="34" charset="-122"/>
                <a:cs typeface="Arial" pitchFamily="34" charset="-120"/>
              </a:rPr>
              <a:t>How long a claim may be stated without re-checking</a:t>
            </a:r>
            <a:endParaRPr lang="en-US" sz="1350" dirty="0"/>
          </a:p>
        </p:txBody>
      </p:sp>
      <p:sp>
        <p:nvSpPr>
          <p:cNvPr id="30" name="Text 24"/>
          <p:cNvSpPr txBox="1"/>
          <p:nvPr/>
        </p:nvSpPr>
        <p:spPr>
          <a:xfrm>
            <a:off x="548640" y="4663440"/>
            <a:ext cx="1737360" cy="777240"/>
          </a:xfrm>
          <a:prstGeom prst="roundRect">
            <a:avLst>
              <a:gd name="adj" fmla="val 9412"/>
            </a:avLst>
          </a:prstGeom>
          <a:solidFill>
            <a:srgbClr val="0D5C55"/>
          </a:solidFill>
          <a:ln w="12700">
            <a:solidFill>
              <a:srgbClr val="0D5C55"/>
            </a:solidFill>
            <a:prstDash val="solid"/>
          </a:ln>
        </p:spPr>
        <p:txBody>
          <a:bodyPr wrap="square" lIns="50800" tIns="101600" rIns="101600" bIns="508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principle</a:t>
            </a:r>
            <a:endParaRPr lang="en-US" sz="1250" dirty="0"/>
          </a:p>
          <a:p>
            <a:pPr algn="ctr" indent="0" marL="0">
              <a:spcAft>
                <a:spcPts val="200"/>
              </a:spcAft>
              <a:buNone/>
            </a:pPr>
            <a:r>
              <a:rPr lang="en-US" sz="1100" dirty="0">
                <a:solidFill>
                  <a:srgbClr val="F0F2F5"/>
                </a:solidFill>
                <a:latin typeface="Calibri" pitchFamily="34" charset="0"/>
                <a:ea typeface="Calibri" pitchFamily="34" charset="-122"/>
                <a:cs typeface="Calibri" pitchFamily="34" charset="-120"/>
              </a:rPr>
              <a:t>never expires</a:t>
            </a:r>
            <a:endParaRPr lang="en-US" sz="1250" dirty="0"/>
          </a:p>
        </p:txBody>
      </p:sp>
      <p:sp>
        <p:nvSpPr>
          <p:cNvPr id="31" name="Text 25"/>
          <p:cNvSpPr txBox="1"/>
          <p:nvPr/>
        </p:nvSpPr>
        <p:spPr>
          <a:xfrm>
            <a:off x="2404872" y="4663440"/>
            <a:ext cx="1737360" cy="777240"/>
          </a:xfrm>
          <a:prstGeom prst="roundRect">
            <a:avLst>
              <a:gd name="adj" fmla="val 9412"/>
            </a:avLst>
          </a:prstGeom>
          <a:solidFill>
            <a:srgbClr val="15877D"/>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procedure</a:t>
            </a:r>
            <a:endParaRPr lang="en-US" sz="1250" dirty="0"/>
          </a:p>
          <a:p>
            <a:pPr algn="ctr" indent="0" marL="0">
              <a:spcAft>
                <a:spcPts val="200"/>
              </a:spcAft>
              <a:buNone/>
            </a:pPr>
            <a:r>
              <a:rPr lang="en-US" sz="1100" dirty="0">
                <a:solidFill>
                  <a:srgbClr val="F0F2F5"/>
                </a:solidFill>
                <a:latin typeface="Calibri" pitchFamily="34" charset="0"/>
                <a:ea typeface="Calibri" pitchFamily="34" charset="-122"/>
                <a:cs typeface="Calibri" pitchFamily="34" charset="-120"/>
              </a:rPr>
              <a:t>365 days</a:t>
            </a:r>
            <a:endParaRPr lang="en-US" sz="1250" dirty="0"/>
          </a:p>
        </p:txBody>
      </p:sp>
      <p:sp>
        <p:nvSpPr>
          <p:cNvPr id="32" name="Text 26"/>
          <p:cNvSpPr txBox="1"/>
          <p:nvPr/>
        </p:nvSpPr>
        <p:spPr>
          <a:xfrm>
            <a:off x="4261104" y="4663440"/>
            <a:ext cx="1737360" cy="777240"/>
          </a:xfrm>
          <a:prstGeom prst="roundRect">
            <a:avLst>
              <a:gd name="adj" fmla="val 9412"/>
            </a:avLst>
          </a:prstGeom>
          <a:solidFill>
            <a:srgbClr val="4E5A6B"/>
          </a:solidFill>
          <a:ln w="12700">
            <a:solidFill>
              <a:srgbClr val="4E5A6B"/>
            </a:solidFill>
            <a:prstDash val="solid"/>
          </a:ln>
        </p:spPr>
        <p:txBody>
          <a:bodyPr wrap="square" lIns="50800" tIns="101600" rIns="101600" bIns="508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versioned</a:t>
            </a:r>
            <a:endParaRPr lang="en-US" sz="1250" dirty="0"/>
          </a:p>
          <a:p>
            <a:pPr algn="ctr" indent="0" marL="0">
              <a:spcAft>
                <a:spcPts val="200"/>
              </a:spcAft>
              <a:buNone/>
            </a:pPr>
            <a:r>
              <a:rPr lang="en-US" sz="1100" dirty="0">
                <a:solidFill>
                  <a:srgbClr val="F0F2F5"/>
                </a:solidFill>
                <a:latin typeface="Calibri" pitchFamily="34" charset="0"/>
                <a:ea typeface="Calibri" pitchFamily="34" charset="-122"/>
                <a:cs typeface="Calibri" pitchFamily="34" charset="-120"/>
              </a:rPr>
              <a:t>180 days</a:t>
            </a:r>
            <a:endParaRPr lang="en-US" sz="1250" dirty="0"/>
          </a:p>
        </p:txBody>
      </p:sp>
      <p:sp>
        <p:nvSpPr>
          <p:cNvPr id="33" name="Text 27"/>
          <p:cNvSpPr txBox="1"/>
          <p:nvPr/>
        </p:nvSpPr>
        <p:spPr>
          <a:xfrm>
            <a:off x="6117336" y="4663440"/>
            <a:ext cx="1737360" cy="777240"/>
          </a:xfrm>
          <a:prstGeom prst="roundRect">
            <a:avLst>
              <a:gd name="adj" fmla="val 9412"/>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config</a:t>
            </a:r>
            <a:endParaRPr lang="en-US" sz="1250" dirty="0"/>
          </a:p>
          <a:p>
            <a:pPr algn="ctr" indent="0" marL="0">
              <a:spcAft>
                <a:spcPts val="200"/>
              </a:spcAft>
              <a:buNone/>
            </a:pPr>
            <a:r>
              <a:rPr lang="en-US" sz="1100" dirty="0">
                <a:solidFill>
                  <a:srgbClr val="F0F2F5"/>
                </a:solidFill>
                <a:latin typeface="Calibri" pitchFamily="34" charset="0"/>
                <a:ea typeface="Calibri" pitchFamily="34" charset="-122"/>
                <a:cs typeface="Calibri" pitchFamily="34" charset="-120"/>
              </a:rPr>
              <a:t>90 days</a:t>
            </a:r>
            <a:endParaRPr lang="en-US" sz="1250" dirty="0"/>
          </a:p>
        </p:txBody>
      </p:sp>
      <p:sp>
        <p:nvSpPr>
          <p:cNvPr id="34" name="Text 28"/>
          <p:cNvSpPr txBox="1"/>
          <p:nvPr/>
        </p:nvSpPr>
        <p:spPr>
          <a:xfrm>
            <a:off x="7973568" y="4663440"/>
            <a:ext cx="1737360" cy="777240"/>
          </a:xfrm>
          <a:prstGeom prst="roundRect">
            <a:avLst>
              <a:gd name="adj" fmla="val 9412"/>
            </a:avLst>
          </a:prstGeom>
          <a:solidFill>
            <a:srgbClr val="C4433A"/>
          </a:solidFill>
          <a:ln w="12700">
            <a:solidFill>
              <a:srgbClr val="C4433A"/>
            </a:solidFill>
            <a:prstDash val="solid"/>
          </a:ln>
        </p:spPr>
        <p:txBody>
          <a:bodyPr wrap="square" lIns="50800" tIns="101600" rIns="101600" bIns="508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time_sensitive</a:t>
            </a:r>
            <a:endParaRPr lang="en-US" sz="1250" dirty="0"/>
          </a:p>
          <a:p>
            <a:pPr algn="ctr" indent="0" marL="0">
              <a:spcAft>
                <a:spcPts val="200"/>
              </a:spcAft>
              <a:buNone/>
            </a:pPr>
            <a:r>
              <a:rPr lang="en-US" sz="1100" dirty="0">
                <a:solidFill>
                  <a:srgbClr val="F0F2F5"/>
                </a:solidFill>
                <a:latin typeface="Calibri" pitchFamily="34" charset="0"/>
                <a:ea typeface="Calibri" pitchFamily="34" charset="-122"/>
                <a:cs typeface="Calibri" pitchFamily="34" charset="-120"/>
              </a:rPr>
              <a:t>30 days</a:t>
            </a:r>
            <a:endParaRPr lang="en-US" sz="1250" dirty="0"/>
          </a:p>
        </p:txBody>
      </p:sp>
      <p:sp>
        <p:nvSpPr>
          <p:cNvPr id="35" name="Text 29"/>
          <p:cNvSpPr txBox="1"/>
          <p:nvPr/>
        </p:nvSpPr>
        <p:spPr>
          <a:xfrm>
            <a:off x="9829800" y="4663440"/>
            <a:ext cx="1737360" cy="777240"/>
          </a:xfrm>
          <a:prstGeom prst="roundRect">
            <a:avLst>
              <a:gd name="adj" fmla="val 9412"/>
            </a:avLst>
          </a:prstGeom>
          <a:solidFill>
            <a:srgbClr val="3A4352"/>
          </a:solidFill>
          <a:ln w="12700">
            <a:solidFill>
              <a:srgbClr val="3A4352"/>
            </a:solidFill>
            <a:prstDash val="solid"/>
          </a:ln>
        </p:spPr>
        <p:txBody>
          <a:bodyPr wrap="square" lIns="50800" tIns="101600" rIns="101600" bIns="50800" rtlCol="0" anchor="ctr"/>
          <a:lstStyle/>
          <a:p>
            <a:pPr algn="ctr" indent="0" marL="0">
              <a:spcAft>
                <a:spcPts val="200"/>
              </a:spcAft>
              <a:buNone/>
            </a:pPr>
            <a:r>
              <a:rPr lang="en-US" sz="1250" b="1" dirty="0">
                <a:solidFill>
                  <a:srgbClr val="FFFFFF"/>
                </a:solidFill>
                <a:latin typeface="Arial" pitchFamily="34" charset="0"/>
                <a:ea typeface="Arial" pitchFamily="34" charset="-122"/>
                <a:cs typeface="Arial" pitchFamily="34" charset="-120"/>
              </a:rPr>
              <a:t>ephemeral</a:t>
            </a:r>
            <a:endParaRPr lang="en-US" sz="1250" dirty="0"/>
          </a:p>
          <a:p>
            <a:pPr algn="ctr" indent="0" marL="0">
              <a:spcAft>
                <a:spcPts val="200"/>
              </a:spcAft>
              <a:buNone/>
            </a:pPr>
            <a:r>
              <a:rPr lang="en-US" sz="1100" dirty="0">
                <a:solidFill>
                  <a:srgbClr val="F0F2F5"/>
                </a:solidFill>
                <a:latin typeface="Calibri" pitchFamily="34" charset="0"/>
                <a:ea typeface="Calibri" pitchFamily="34" charset="-122"/>
                <a:cs typeface="Calibri" pitchFamily="34" charset="-120"/>
              </a:rPr>
              <a:t>never saved</a:t>
            </a:r>
            <a:endParaRPr lang="en-US" sz="1250" dirty="0"/>
          </a:p>
        </p:txBody>
      </p:sp>
      <p:sp>
        <p:nvSpPr>
          <p:cNvPr id="36" name="Text 30"/>
          <p:cNvSpPr txBox="1"/>
          <p:nvPr/>
        </p:nvSpPr>
        <p:spPr>
          <a:xfrm>
            <a:off x="548640" y="5623560"/>
            <a:ext cx="10789920" cy="548640"/>
          </a:xfrm>
          <a:prstGeom prst="rect">
            <a:avLst/>
          </a:prstGeom>
          <a:noFill/>
          <a:ln/>
        </p:spPr>
        <p:txBody>
          <a:bodyPr wrap="square" lIns="0" tIns="0" rIns="0" bIns="0" rtlCol="0" anchor="t"/>
          <a:lstStyle/>
          <a:p>
            <a:pPr algn="l" indent="0" marL="0">
              <a:buNone/>
            </a:pPr>
            <a:r>
              <a:rPr lang="en-US" sz="1200" i="1" dirty="0">
                <a:solidFill>
                  <a:srgbClr val="5B6472"/>
                </a:solidFill>
                <a:latin typeface="Calibri" pitchFamily="34" charset="0"/>
                <a:ea typeface="Calibri" pitchFamily="34" charset="-122"/>
                <a:cs typeface="Calibri" pitchFamily="34" charset="-120"/>
              </a:rPr>
              <a:t>Stale claims are labelled “check”, never hidden; the model must verify them or say they may have changed. Nothing is captured from a turn that read instruction-shaped text.</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TRUST · ISOLATION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Nothing leaves the organisation it was captured in</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One read path, checked on every call, and one answer for everything you may not see.</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37</a:t>
            </a:r>
            <a:endParaRPr lang="en-US" sz="1000" dirty="0"/>
          </a:p>
        </p:txBody>
      </p:sp>
      <p:sp>
        <p:nvSpPr>
          <p:cNvPr id="6" name="Text 4"/>
          <p:cNvSpPr txBox="1"/>
          <p:nvPr/>
        </p:nvSpPr>
        <p:spPr>
          <a:xfrm>
            <a:off x="548640" y="3429000"/>
            <a:ext cx="1828800" cy="1005840"/>
          </a:xfrm>
          <a:prstGeom prst="roundRect">
            <a:avLst>
              <a:gd name="adj" fmla="val 7273"/>
            </a:avLst>
          </a:prstGeom>
          <a:solidFill>
            <a:srgbClr val="E9EDF2"/>
          </a:solidFill>
          <a:ln w="12700">
            <a:solidFill>
              <a:srgbClr val="E9EDF2"/>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Chat</a:t>
            </a:r>
            <a:endParaRPr lang="en-US" sz="14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pinned to Org A at creation</a:t>
            </a:r>
            <a:endParaRPr lang="en-US" sz="1400" dirty="0"/>
          </a:p>
        </p:txBody>
      </p:sp>
      <p:sp>
        <p:nvSpPr>
          <p:cNvPr id="7" name="Shape 5"/>
          <p:cNvSpPr/>
          <p:nvPr/>
        </p:nvSpPr>
        <p:spPr>
          <a:xfrm>
            <a:off x="2377440" y="3931920"/>
            <a:ext cx="548640" cy="0"/>
          </a:xfrm>
          <a:prstGeom prst="line">
            <a:avLst/>
          </a:prstGeom>
          <a:noFill/>
          <a:ln w="22225">
            <a:solidFill>
              <a:srgbClr val="4E5A6B"/>
            </a:solidFill>
            <a:prstDash val="solid"/>
            <a:tailEnd type="triangle"/>
          </a:ln>
        </p:spPr>
      </p:sp>
      <p:sp>
        <p:nvSpPr>
          <p:cNvPr id="8" name="Text 6"/>
          <p:cNvSpPr txBox="1"/>
          <p:nvPr/>
        </p:nvSpPr>
        <p:spPr>
          <a:xfrm>
            <a:off x="2926080" y="3200400"/>
            <a:ext cx="1920240" cy="1463040"/>
          </a:xfrm>
          <a:prstGeom prst="roundRect">
            <a:avLst>
              <a:gd name="adj" fmla="val 5000"/>
            </a:avLst>
          </a:prstGeom>
          <a:solidFill>
            <a:srgbClr val="E08A1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500" b="1" dirty="0">
                <a:solidFill>
                  <a:srgbClr val="FFFFFF"/>
                </a:solidFill>
                <a:latin typeface="Arial" pitchFamily="34" charset="0"/>
                <a:ea typeface="Arial" pitchFamily="34" charset="-122"/>
                <a:cs typeface="Arial" pitchFamily="34" charset="-120"/>
              </a:rPr>
              <a:t>visible()</a:t>
            </a:r>
            <a:endParaRPr lang="en-US" sz="1500" dirty="0"/>
          </a:p>
          <a:p>
            <a:pPr algn="ctr" indent="0" marL="0">
              <a:spcAft>
                <a:spcPts val="200"/>
              </a:spcAft>
              <a:buNone/>
            </a:pPr>
            <a:r>
              <a:rPr lang="en-US" sz="1100" dirty="0">
                <a:solidFill>
                  <a:srgbClr val="FFF3E3"/>
                </a:solidFill>
                <a:latin typeface="Calibri" pitchFamily="34" charset="0"/>
                <a:ea typeface="Calibri" pitchFamily="34" charset="-122"/>
                <a:cs typeface="Calibri" pitchFamily="34" charset="-120"/>
              </a:rPr>
              <a:t>the only read path</a:t>
            </a:r>
            <a:endParaRPr lang="en-US" sz="1500" dirty="0"/>
          </a:p>
          <a:p>
            <a:pPr algn="ctr" indent="0" marL="0">
              <a:spcAft>
                <a:spcPts val="200"/>
              </a:spcAft>
              <a:buNone/>
            </a:pPr>
            <a:r>
              <a:rPr lang="en-US" sz="1100" dirty="0">
                <a:solidFill>
                  <a:srgbClr val="FFF3E3"/>
                </a:solidFill>
                <a:latin typeface="Calibri" pitchFamily="34" charset="0"/>
                <a:ea typeface="Calibri" pitchFamily="34" charset="-122"/>
                <a:cs typeface="Calibri" pitchFamily="34" charset="-120"/>
              </a:rPr>
              <a:t>membership checked live</a:t>
            </a:r>
            <a:endParaRPr lang="en-US" sz="1500" dirty="0"/>
          </a:p>
        </p:txBody>
      </p:sp>
      <p:sp>
        <p:nvSpPr>
          <p:cNvPr id="9" name="Text 7"/>
          <p:cNvSpPr txBox="1"/>
          <p:nvPr/>
        </p:nvSpPr>
        <p:spPr>
          <a:xfrm>
            <a:off x="5440680" y="2057400"/>
            <a:ext cx="1783080" cy="1417320"/>
          </a:xfrm>
          <a:prstGeom prst="roundRect">
            <a:avLst>
              <a:gd name="adj" fmla="val 5161"/>
            </a:avLst>
          </a:prstGeom>
          <a:solidFill>
            <a:srgbClr val="E1F2F0"/>
          </a:solidFill>
          <a:ln w="12700">
            <a:solidFill>
              <a:srgbClr val="15877D"/>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Org A</a:t>
            </a:r>
            <a:endParaRPr lang="en-US" sz="14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shared records</a:t>
            </a:r>
            <a:endParaRPr lang="en-US" sz="14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 your private ones captured here</a:t>
            </a:r>
            <a:endParaRPr lang="en-US" sz="1400" dirty="0"/>
          </a:p>
        </p:txBody>
      </p:sp>
      <p:sp>
        <p:nvSpPr>
          <p:cNvPr id="10" name="Text 8"/>
          <p:cNvSpPr txBox="1"/>
          <p:nvPr/>
        </p:nvSpPr>
        <p:spPr>
          <a:xfrm>
            <a:off x="5440680" y="4434840"/>
            <a:ext cx="1783080" cy="1417320"/>
          </a:xfrm>
          <a:prstGeom prst="roundRect">
            <a:avLst>
              <a:gd name="adj" fmla="val 5161"/>
            </a:avLst>
          </a:prstGeom>
          <a:solidFill>
            <a:srgbClr val="F3F5F8"/>
          </a:solidFill>
          <a:ln w="12700">
            <a:solidFill>
              <a:srgbClr val="D3D9E1"/>
            </a:solidFill>
            <a:prstDash val="solid"/>
          </a:ln>
        </p:spPr>
        <p:txBody>
          <a:bodyPr wrap="square" lIns="50800" tIns="101600" rIns="101600" bIns="50800" rtlCol="0" anchor="ctr"/>
          <a:lstStyle/>
          <a:p>
            <a:pPr algn="ctr" indent="0" marL="0">
              <a:spcAft>
                <a:spcPts val="200"/>
              </a:spcAft>
              <a:buNone/>
            </a:pPr>
            <a:r>
              <a:rPr lang="en-US" sz="1400" b="1" dirty="0">
                <a:solidFill>
                  <a:srgbClr val="1C212B"/>
                </a:solidFill>
                <a:latin typeface="Arial" pitchFamily="34" charset="0"/>
                <a:ea typeface="Arial" pitchFamily="34" charset="-122"/>
                <a:cs typeface="Arial" pitchFamily="34" charset="-120"/>
              </a:rPr>
              <a:t>Org B</a:t>
            </a:r>
            <a:endParaRPr lang="en-US" sz="1400" dirty="0"/>
          </a:p>
          <a:p>
            <a:pPr algn="ctr" indent="0" marL="0">
              <a:spcAft>
                <a:spcPts val="200"/>
              </a:spcAft>
              <a:buNone/>
            </a:pPr>
            <a:r>
              <a:rPr lang="en-US" sz="1100" dirty="0">
                <a:solidFill>
                  <a:srgbClr val="5B6472"/>
                </a:solidFill>
                <a:latin typeface="Calibri" pitchFamily="34" charset="0"/>
                <a:ea typeface="Calibri" pitchFamily="34" charset="-122"/>
                <a:cs typeface="Calibri" pitchFamily="34" charset="-120"/>
              </a:rPr>
              <a:t>another organisation's records</a:t>
            </a:r>
            <a:endParaRPr lang="en-US" sz="1400" dirty="0"/>
          </a:p>
        </p:txBody>
      </p:sp>
      <p:sp>
        <p:nvSpPr>
          <p:cNvPr id="11" name="Shape 9"/>
          <p:cNvSpPr/>
          <p:nvPr/>
        </p:nvSpPr>
        <p:spPr>
          <a:xfrm flipV="1">
            <a:off x="4846320" y="2834640"/>
            <a:ext cx="594360" cy="731520"/>
          </a:xfrm>
          <a:prstGeom prst="line">
            <a:avLst/>
          </a:prstGeom>
          <a:noFill/>
          <a:ln w="22225">
            <a:solidFill>
              <a:srgbClr val="15877D"/>
            </a:solidFill>
            <a:prstDash val="solid"/>
            <a:tailEnd type="triangle"/>
          </a:ln>
        </p:spPr>
      </p:sp>
      <p:sp>
        <p:nvSpPr>
          <p:cNvPr id="12" name="Shape 10"/>
          <p:cNvSpPr/>
          <p:nvPr/>
        </p:nvSpPr>
        <p:spPr>
          <a:xfrm>
            <a:off x="4846320" y="4297680"/>
            <a:ext cx="594360" cy="822960"/>
          </a:xfrm>
          <a:prstGeom prst="line">
            <a:avLst/>
          </a:prstGeom>
          <a:noFill/>
          <a:ln w="22225">
            <a:solidFill>
              <a:srgbClr val="C4433A"/>
            </a:solidFill>
            <a:prstDash val="dash"/>
            <a:tailEnd type="triangle"/>
          </a:ln>
        </p:spPr>
      </p:sp>
      <p:sp>
        <p:nvSpPr>
          <p:cNvPr id="13" name="Text 11"/>
          <p:cNvSpPr txBox="1"/>
          <p:nvPr/>
        </p:nvSpPr>
        <p:spPr>
          <a:xfrm>
            <a:off x="4709160" y="4937760"/>
            <a:ext cx="548640" cy="274320"/>
          </a:xfrm>
          <a:prstGeom prst="rect">
            <a:avLst/>
          </a:prstGeom>
          <a:noFill/>
          <a:ln/>
        </p:spPr>
        <p:txBody>
          <a:bodyPr wrap="square" lIns="0" tIns="0" rIns="0" bIns="0" rtlCol="0" anchor="t"/>
          <a:lstStyle/>
          <a:p>
            <a:pPr algn="l" indent="0" marL="0">
              <a:buNone/>
            </a:pPr>
            <a:r>
              <a:rPr lang="en-US" sz="1300" b="1" dirty="0">
                <a:solidFill>
                  <a:srgbClr val="C4433A"/>
                </a:solidFill>
                <a:latin typeface="Arial" pitchFamily="34" charset="0"/>
                <a:ea typeface="Arial" pitchFamily="34" charset="-122"/>
                <a:cs typeface="Arial" pitchFamily="34" charset="-120"/>
              </a:rPr>
              <a:t>404</a:t>
            </a:r>
            <a:endParaRPr lang="en-US" sz="1300" dirty="0"/>
          </a:p>
        </p:txBody>
      </p:sp>
      <p:sp>
        <p:nvSpPr>
          <p:cNvPr id="14" name="Text 12"/>
          <p:cNvSpPr txBox="1"/>
          <p:nvPr/>
        </p:nvSpPr>
        <p:spPr>
          <a:xfrm>
            <a:off x="7726680" y="2103120"/>
            <a:ext cx="3931920" cy="402336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A chat keeps its org for ever</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Someone in two orgs cannot carry one org's fix into the other.</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Personal chats stay personal</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They see only your org-less private records.</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Every refusal is the same 404</a:t>
            </a:r>
            <a:endParaRPr lang="en-US" sz="1400" dirty="0"/>
          </a:p>
          <a:p>
            <a:pPr indent="0" marL="0">
              <a:spcAft>
                <a:spcPts val="1100"/>
              </a:spcAft>
              <a:buNone/>
            </a:pPr>
            <a:r>
              <a:rPr lang="en-US" sz="1250" dirty="0">
                <a:solidFill>
                  <a:srgbClr val="5B6472"/>
                </a:solidFill>
                <a:latin typeface="Calibri" pitchFamily="34" charset="0"/>
                <a:ea typeface="Calibri" pitchFamily="34" charset="-122"/>
                <a:cs typeface="Calibri" pitchFamily="34" charset="-120"/>
              </a:rPr>
              <a:t>Foreign and unknown ids look alike, so there is no ownership oracle.</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Enforced by tests</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Any read that bypasses the door fails the build.</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PROOF · RUN RECORDS</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 run is recorded as turns, not inferred steps</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model reasons once per turn and issues its calls together — so the turn is the row.</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38</a:t>
            </a:r>
            <a:endParaRPr lang="en-US" sz="1000" dirty="0"/>
          </a:p>
        </p:txBody>
      </p:sp>
      <p:sp>
        <p:nvSpPr>
          <p:cNvPr id="6" name="Text 4"/>
          <p:cNvSpPr txBox="1"/>
          <p:nvPr/>
        </p:nvSpPr>
        <p:spPr>
          <a:xfrm>
            <a:off x="548640" y="2057400"/>
            <a:ext cx="3017520" cy="731520"/>
          </a:xfrm>
          <a:prstGeom prst="roundRect">
            <a:avLst>
              <a:gd name="adj" fmla="val 10000"/>
            </a:avLst>
          </a:prstGeom>
          <a:solidFill>
            <a:srgbClr val="E08A1E"/>
          </a:solidFill>
          <a:ln w="12700">
            <a:solidFill>
              <a:srgbClr val="E08A1E"/>
            </a:solidFill>
            <a:prstDash val="solid"/>
          </a:ln>
        </p:spPr>
        <p:txBody>
          <a:bodyPr wrap="square" lIns="38100" tIns="152400" rIns="152400" bIns="38100" rtlCol="0" anchor="ctr"/>
          <a:lstStyle/>
          <a:p>
            <a:pPr algn="l" indent="0" marL="0">
              <a:spcAft>
                <a:spcPts val="200"/>
              </a:spcAft>
              <a:buNone/>
            </a:pPr>
            <a:r>
              <a:rPr lang="en-US" sz="1400" b="1" dirty="0">
                <a:solidFill>
                  <a:srgbClr val="FFFFFF"/>
                </a:solidFill>
                <a:latin typeface="Arial" pitchFamily="34" charset="0"/>
                <a:ea typeface="Arial" pitchFamily="34" charset="-122"/>
                <a:cs typeface="Arial" pitchFamily="34" charset="-120"/>
              </a:rPr>
              <a:t>ExecutionLog</a:t>
            </a:r>
            <a:endParaRPr lang="en-US" sz="1400" dirty="0"/>
          </a:p>
          <a:p>
            <a:pPr algn="l" indent="0" marL="0">
              <a:spcAft>
                <a:spcPts val="200"/>
              </a:spcAft>
              <a:buNone/>
            </a:pPr>
            <a:r>
              <a:rPr lang="en-US" sz="1100" dirty="0">
                <a:solidFill>
                  <a:srgbClr val="FFF3E3"/>
                </a:solidFill>
                <a:latin typeface="Calibri" pitchFamily="34" charset="0"/>
                <a:ea typeface="Calibri" pitchFamily="34" charset="-122"/>
                <a:cs typeface="Calibri" pitchFamily="34" charset="-120"/>
              </a:rPr>
              <a:t>one run</a:t>
            </a:r>
            <a:endParaRPr lang="en-US" sz="1400" dirty="0"/>
          </a:p>
        </p:txBody>
      </p:sp>
      <p:sp>
        <p:nvSpPr>
          <p:cNvPr id="7" name="Text 5"/>
          <p:cNvSpPr txBox="1"/>
          <p:nvPr/>
        </p:nvSpPr>
        <p:spPr>
          <a:xfrm>
            <a:off x="4206240" y="2057400"/>
            <a:ext cx="2651760" cy="731520"/>
          </a:xfrm>
          <a:prstGeom prst="roundRect">
            <a:avLst>
              <a:gd name="adj" fmla="val 10000"/>
            </a:avLst>
          </a:prstGeom>
          <a:solidFill>
            <a:srgbClr val="E9EDF2"/>
          </a:solidFill>
          <a:ln w="12700">
            <a:solidFill>
              <a:srgbClr val="E9EDF2"/>
            </a:solidFill>
            <a:prstDash val="solid"/>
          </a:ln>
        </p:spPr>
        <p:txBody>
          <a:bodyPr wrap="square" lIns="38100" tIns="152400" rIns="152400" bIns="38100" rtlCol="0" anchor="ctr"/>
          <a:lstStyle/>
          <a:p>
            <a:pPr algn="l" indent="0" marL="0">
              <a:spcAft>
                <a:spcPts val="200"/>
              </a:spcAft>
              <a:buNone/>
            </a:pPr>
            <a:r>
              <a:rPr lang="en-US" sz="1300" b="1" dirty="0">
                <a:solidFill>
                  <a:srgbClr val="1C212B"/>
                </a:solidFill>
                <a:latin typeface="Arial" pitchFamily="34" charset="0"/>
                <a:ea typeface="Arial" pitchFamily="34" charset="-122"/>
                <a:cs typeface="Arial" pitchFamily="34" charset="-120"/>
              </a:rPr>
              <a:t>SubAgentRevision</a:t>
            </a:r>
            <a:endParaRPr lang="en-US" sz="1300" dirty="0"/>
          </a:p>
          <a:p>
            <a:pPr algn="l" indent="0" marL="0">
              <a:spcAft>
                <a:spcPts val="200"/>
              </a:spcAft>
              <a:buNone/>
            </a:pPr>
            <a:r>
              <a:rPr lang="en-US" sz="1100" dirty="0">
                <a:solidFill>
                  <a:srgbClr val="5B6472"/>
                </a:solidFill>
                <a:latin typeface="Calibri" pitchFamily="34" charset="0"/>
                <a:ea typeface="Calibri" pitchFamily="34" charset="-122"/>
                <a:cs typeface="Calibri" pitchFamily="34" charset="-120"/>
              </a:rPr>
              <a:t>config it ran under</a:t>
            </a:r>
            <a:endParaRPr lang="en-US" sz="1300" dirty="0"/>
          </a:p>
        </p:txBody>
      </p:sp>
      <p:sp>
        <p:nvSpPr>
          <p:cNvPr id="8" name="Shape 6"/>
          <p:cNvSpPr/>
          <p:nvPr/>
        </p:nvSpPr>
        <p:spPr>
          <a:xfrm>
            <a:off x="3566160" y="2423160"/>
            <a:ext cx="640080" cy="0"/>
          </a:xfrm>
          <a:prstGeom prst="line">
            <a:avLst/>
          </a:prstGeom>
          <a:noFill/>
          <a:ln w="22225">
            <a:solidFill>
              <a:srgbClr val="8A93A1"/>
            </a:solidFill>
            <a:prstDash val="dash"/>
            <a:tailEnd type="triangle"/>
          </a:ln>
        </p:spPr>
      </p:sp>
      <p:sp>
        <p:nvSpPr>
          <p:cNvPr id="9" name="Shape 7"/>
          <p:cNvSpPr/>
          <p:nvPr/>
        </p:nvSpPr>
        <p:spPr>
          <a:xfrm>
            <a:off x="868680" y="2788920"/>
            <a:ext cx="0" cy="2651760"/>
          </a:xfrm>
          <a:prstGeom prst="line">
            <a:avLst/>
          </a:prstGeom>
          <a:noFill/>
          <a:ln w="19050">
            <a:solidFill>
              <a:srgbClr val="D3D9E1"/>
            </a:solidFill>
            <a:prstDash val="solid"/>
          </a:ln>
        </p:spPr>
      </p:sp>
      <p:sp>
        <p:nvSpPr>
          <p:cNvPr id="10" name="Shape 8"/>
          <p:cNvSpPr/>
          <p:nvPr/>
        </p:nvSpPr>
        <p:spPr>
          <a:xfrm>
            <a:off x="868680" y="3310128"/>
            <a:ext cx="274320" cy="0"/>
          </a:xfrm>
          <a:prstGeom prst="line">
            <a:avLst/>
          </a:prstGeom>
          <a:noFill/>
          <a:ln w="19050">
            <a:solidFill>
              <a:srgbClr val="D3D9E1"/>
            </a:solidFill>
            <a:prstDash val="solid"/>
          </a:ln>
        </p:spPr>
      </p:sp>
      <p:sp>
        <p:nvSpPr>
          <p:cNvPr id="11" name="Text 9"/>
          <p:cNvSpPr txBox="1"/>
          <p:nvPr/>
        </p:nvSpPr>
        <p:spPr>
          <a:xfrm>
            <a:off x="1143000" y="3017520"/>
            <a:ext cx="2743200" cy="585216"/>
          </a:xfrm>
          <a:prstGeom prst="roundRect">
            <a:avLst>
              <a:gd name="adj" fmla="val 12500"/>
            </a:avLst>
          </a:prstGeom>
          <a:solidFill>
            <a:srgbClr val="E1F2F0"/>
          </a:solidFill>
          <a:ln w="12700">
            <a:solidFill>
              <a:srgbClr val="15877D"/>
            </a:solidFill>
            <a:prstDash val="solid"/>
          </a:ln>
        </p:spPr>
        <p:txBody>
          <a:bodyPr wrap="square" lIns="25400" tIns="127000" rIns="127000" bIns="25400" rtlCol="0" anchor="ctr"/>
          <a:lstStyle/>
          <a:p>
            <a:pPr algn="l" indent="0" marL="0">
              <a:spcAft>
                <a:spcPts val="200"/>
              </a:spcAft>
              <a:buNone/>
            </a:pPr>
            <a:r>
              <a:rPr lang="en-US" sz="1250" b="1" dirty="0">
                <a:solidFill>
                  <a:srgbClr val="1C212B"/>
                </a:solidFill>
                <a:latin typeface="Arial" pitchFamily="34" charset="0"/>
                <a:ea typeface="Arial" pitchFamily="34" charset="-122"/>
                <a:cs typeface="Arial" pitchFamily="34" charset="-120"/>
              </a:rPr>
              <a:t>AgentTurn 1</a:t>
            </a:r>
            <a:endParaRPr lang="en-US" sz="125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model call + its full reasoning</a:t>
            </a:r>
            <a:endParaRPr lang="en-US" sz="1250" dirty="0"/>
          </a:p>
        </p:txBody>
      </p:sp>
      <p:sp>
        <p:nvSpPr>
          <p:cNvPr id="12" name="Shape 10"/>
          <p:cNvSpPr/>
          <p:nvPr/>
        </p:nvSpPr>
        <p:spPr>
          <a:xfrm>
            <a:off x="868680" y="4133088"/>
            <a:ext cx="868680" cy="0"/>
          </a:xfrm>
          <a:prstGeom prst="line">
            <a:avLst/>
          </a:prstGeom>
          <a:noFill/>
          <a:ln w="19050">
            <a:solidFill>
              <a:srgbClr val="D3D9E1"/>
            </a:solidFill>
            <a:prstDash val="solid"/>
          </a:ln>
        </p:spPr>
      </p:sp>
      <p:sp>
        <p:nvSpPr>
          <p:cNvPr id="13" name="Text 11"/>
          <p:cNvSpPr txBox="1"/>
          <p:nvPr/>
        </p:nvSpPr>
        <p:spPr>
          <a:xfrm>
            <a:off x="1737360" y="3840480"/>
            <a:ext cx="2560320" cy="585216"/>
          </a:xfrm>
          <a:prstGeom prst="roundRect">
            <a:avLst>
              <a:gd name="adj" fmla="val 12500"/>
            </a:avLst>
          </a:prstGeom>
          <a:solidFill>
            <a:srgbClr val="F3F5F8"/>
          </a:solidFill>
          <a:ln w="12700">
            <a:solidFill>
              <a:srgbClr val="D3D9E1"/>
            </a:solidFill>
            <a:prstDash val="solid"/>
          </a:ln>
        </p:spPr>
        <p:txBody>
          <a:bodyPr wrap="square" lIns="25400" tIns="127000" rIns="127000" bIns="25400" rtlCol="0" anchor="ctr"/>
          <a:lstStyle/>
          <a:p>
            <a:pPr algn="l" indent="0" marL="0">
              <a:spcAft>
                <a:spcPts val="200"/>
              </a:spcAft>
              <a:buNone/>
            </a:pPr>
            <a:r>
              <a:rPr lang="en-US" sz="1250" b="1" dirty="0">
                <a:solidFill>
                  <a:srgbClr val="1C212B"/>
                </a:solidFill>
                <a:latin typeface="Arial" pitchFamily="34" charset="0"/>
                <a:ea typeface="Arial" pitchFamily="34" charset="-122"/>
                <a:cs typeface="Arial" pitchFamily="34" charset="-120"/>
              </a:rPr>
              <a:t>AgentStep</a:t>
            </a:r>
            <a:endParaRPr lang="en-US" sz="125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web_search</a:t>
            </a:r>
            <a:endParaRPr lang="en-US" sz="1250" dirty="0"/>
          </a:p>
        </p:txBody>
      </p:sp>
      <p:sp>
        <p:nvSpPr>
          <p:cNvPr id="14" name="Shape 12"/>
          <p:cNvSpPr/>
          <p:nvPr/>
        </p:nvSpPr>
        <p:spPr>
          <a:xfrm>
            <a:off x="868680" y="4773168"/>
            <a:ext cx="868680" cy="0"/>
          </a:xfrm>
          <a:prstGeom prst="line">
            <a:avLst/>
          </a:prstGeom>
          <a:noFill/>
          <a:ln w="19050">
            <a:solidFill>
              <a:srgbClr val="D3D9E1"/>
            </a:solidFill>
            <a:prstDash val="solid"/>
          </a:ln>
        </p:spPr>
      </p:sp>
      <p:sp>
        <p:nvSpPr>
          <p:cNvPr id="15" name="Text 13"/>
          <p:cNvSpPr txBox="1"/>
          <p:nvPr/>
        </p:nvSpPr>
        <p:spPr>
          <a:xfrm>
            <a:off x="1737360" y="4480560"/>
            <a:ext cx="2560320" cy="585216"/>
          </a:xfrm>
          <a:prstGeom prst="roundRect">
            <a:avLst>
              <a:gd name="adj" fmla="val 12500"/>
            </a:avLst>
          </a:prstGeom>
          <a:solidFill>
            <a:srgbClr val="F3F5F8"/>
          </a:solidFill>
          <a:ln w="12700">
            <a:solidFill>
              <a:srgbClr val="D3D9E1"/>
            </a:solidFill>
            <a:prstDash val="solid"/>
          </a:ln>
        </p:spPr>
        <p:txBody>
          <a:bodyPr wrap="square" lIns="25400" tIns="127000" rIns="127000" bIns="25400" rtlCol="0" anchor="ctr"/>
          <a:lstStyle/>
          <a:p>
            <a:pPr algn="l" indent="0" marL="0">
              <a:spcAft>
                <a:spcPts val="200"/>
              </a:spcAft>
              <a:buNone/>
            </a:pPr>
            <a:r>
              <a:rPr lang="en-US" sz="1250" b="1" dirty="0">
                <a:solidFill>
                  <a:srgbClr val="1C212B"/>
                </a:solidFill>
                <a:latin typeface="Arial" pitchFamily="34" charset="0"/>
                <a:ea typeface="Arial" pitchFamily="34" charset="-122"/>
                <a:cs typeface="Arial" pitchFamily="34" charset="-120"/>
              </a:rPr>
              <a:t>AgentStep</a:t>
            </a:r>
            <a:endParaRPr lang="en-US" sz="125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delegate to a worker</a:t>
            </a:r>
            <a:endParaRPr lang="en-US" sz="1250" dirty="0"/>
          </a:p>
        </p:txBody>
      </p:sp>
      <p:sp>
        <p:nvSpPr>
          <p:cNvPr id="16" name="Shape 14"/>
          <p:cNvSpPr/>
          <p:nvPr/>
        </p:nvSpPr>
        <p:spPr>
          <a:xfrm>
            <a:off x="868680" y="5413248"/>
            <a:ext cx="274320" cy="0"/>
          </a:xfrm>
          <a:prstGeom prst="line">
            <a:avLst/>
          </a:prstGeom>
          <a:noFill/>
          <a:ln w="19050">
            <a:solidFill>
              <a:srgbClr val="D3D9E1"/>
            </a:solidFill>
            <a:prstDash val="solid"/>
          </a:ln>
        </p:spPr>
      </p:sp>
      <p:sp>
        <p:nvSpPr>
          <p:cNvPr id="17" name="Text 15"/>
          <p:cNvSpPr txBox="1"/>
          <p:nvPr/>
        </p:nvSpPr>
        <p:spPr>
          <a:xfrm>
            <a:off x="1143000" y="5120640"/>
            <a:ext cx="2743200" cy="585216"/>
          </a:xfrm>
          <a:prstGeom prst="roundRect">
            <a:avLst>
              <a:gd name="adj" fmla="val 12500"/>
            </a:avLst>
          </a:prstGeom>
          <a:solidFill>
            <a:srgbClr val="E1F2F0"/>
          </a:solidFill>
          <a:ln w="12700">
            <a:solidFill>
              <a:srgbClr val="15877D"/>
            </a:solidFill>
            <a:prstDash val="solid"/>
          </a:ln>
        </p:spPr>
        <p:txBody>
          <a:bodyPr wrap="square" lIns="25400" tIns="127000" rIns="127000" bIns="25400" rtlCol="0" anchor="ctr"/>
          <a:lstStyle/>
          <a:p>
            <a:pPr algn="l" indent="0" marL="0">
              <a:spcAft>
                <a:spcPts val="200"/>
              </a:spcAft>
              <a:buNone/>
            </a:pPr>
            <a:r>
              <a:rPr lang="en-US" sz="1250" b="1" dirty="0">
                <a:solidFill>
                  <a:srgbClr val="1C212B"/>
                </a:solidFill>
                <a:latin typeface="Arial" pitchFamily="34" charset="0"/>
                <a:ea typeface="Arial" pitchFamily="34" charset="-122"/>
                <a:cs typeface="Arial" pitchFamily="34" charset="-120"/>
              </a:rPr>
              <a:t>AgentTurn 2</a:t>
            </a:r>
            <a:endParaRPr lang="en-US" sz="1250" dirty="0"/>
          </a:p>
          <a:p>
            <a:pPr algn="l" indent="0" marL="0">
              <a:spcAft>
                <a:spcPts val="200"/>
              </a:spcAft>
              <a:buNone/>
            </a:pPr>
            <a:r>
              <a:rPr lang="en-US" sz="1050" dirty="0">
                <a:solidFill>
                  <a:srgbClr val="5B6472"/>
                </a:solidFill>
                <a:latin typeface="Calibri" pitchFamily="34" charset="0"/>
                <a:ea typeface="Calibri" pitchFamily="34" charset="-122"/>
                <a:cs typeface="Calibri" pitchFamily="34" charset="-120"/>
              </a:rPr>
              <a:t>…</a:t>
            </a:r>
            <a:endParaRPr lang="en-US" sz="1250" dirty="0"/>
          </a:p>
        </p:txBody>
      </p:sp>
      <p:sp>
        <p:nvSpPr>
          <p:cNvPr id="18" name="Text 16"/>
          <p:cNvSpPr txBox="1"/>
          <p:nvPr/>
        </p:nvSpPr>
        <p:spPr>
          <a:xfrm>
            <a:off x="5074920" y="4160520"/>
            <a:ext cx="1783080" cy="914400"/>
          </a:xfrm>
          <a:prstGeom prst="roundRect">
            <a:avLst>
              <a:gd name="adj" fmla="val 8000"/>
            </a:avLst>
          </a:prstGeom>
          <a:solidFill>
            <a:srgbClr val="FDF0DE"/>
          </a:solidFill>
          <a:ln w="12700">
            <a:solidFill>
              <a:srgbClr val="E08A1E"/>
            </a:solidFill>
            <a:prstDash val="solid"/>
          </a:ln>
        </p:spPr>
        <p:txBody>
          <a:bodyPr wrap="square" lIns="50800" tIns="101600" rIns="101600" bIns="50800" rtlCol="0" anchor="ctr"/>
          <a:lstStyle/>
          <a:p>
            <a:pPr algn="ctr" indent="0" marL="0">
              <a:spcAft>
                <a:spcPts val="200"/>
              </a:spcAft>
              <a:buNone/>
            </a:pPr>
            <a:r>
              <a:rPr lang="en-US" sz="1300" b="1" dirty="0">
                <a:solidFill>
                  <a:srgbClr val="1C212B"/>
                </a:solidFill>
                <a:latin typeface="Arial" pitchFamily="34" charset="0"/>
                <a:ea typeface="Arial" pitchFamily="34" charset="-122"/>
                <a:cs typeface="Arial" pitchFamily="34" charset="-120"/>
              </a:rPr>
              <a:t>Worker run</a:t>
            </a:r>
            <a:endParaRPr lang="en-US" sz="1300" dirty="0"/>
          </a:p>
          <a:p>
            <a:pPr algn="ctr" indent="0" marL="0">
              <a:spcAft>
                <a:spcPts val="200"/>
              </a:spcAft>
              <a:buNone/>
            </a:pPr>
            <a:r>
              <a:rPr lang="en-US" sz="1050" dirty="0">
                <a:solidFill>
                  <a:srgbClr val="5B6472"/>
                </a:solidFill>
                <a:latin typeface="Calibri" pitchFamily="34" charset="0"/>
                <a:ea typeface="Calibri" pitchFamily="34" charset="-122"/>
                <a:cs typeface="Calibri" pitchFamily="34" charset="-120"/>
              </a:rPr>
              <a:t>its own ExecutionLog</a:t>
            </a:r>
            <a:endParaRPr lang="en-US" sz="1300" dirty="0"/>
          </a:p>
        </p:txBody>
      </p:sp>
      <p:sp>
        <p:nvSpPr>
          <p:cNvPr id="19" name="Shape 17"/>
          <p:cNvSpPr/>
          <p:nvPr/>
        </p:nvSpPr>
        <p:spPr>
          <a:xfrm flipH="1">
            <a:off x="4297680" y="4663440"/>
            <a:ext cx="777240" cy="109728"/>
          </a:xfrm>
          <a:prstGeom prst="line">
            <a:avLst/>
          </a:prstGeom>
          <a:noFill/>
          <a:ln w="22225">
            <a:solidFill>
              <a:srgbClr val="E08A1E"/>
            </a:solidFill>
            <a:prstDash val="solid"/>
            <a:tailEnd type="triangle"/>
          </a:ln>
        </p:spPr>
      </p:sp>
      <p:sp>
        <p:nvSpPr>
          <p:cNvPr id="20" name="Text 18"/>
          <p:cNvSpPr txBox="1"/>
          <p:nvPr/>
        </p:nvSpPr>
        <p:spPr>
          <a:xfrm>
            <a:off x="4160520" y="5120640"/>
            <a:ext cx="1188720" cy="237744"/>
          </a:xfrm>
          <a:prstGeom prst="rect">
            <a:avLst/>
          </a:prstGeom>
          <a:noFill/>
          <a:ln/>
        </p:spPr>
        <p:txBody>
          <a:bodyPr wrap="square" lIns="0" tIns="0" rIns="0" bIns="0" rtlCol="0" anchor="ctr"/>
          <a:lstStyle/>
          <a:p>
            <a:pPr algn="ctr" indent="0" marL="0">
              <a:buNone/>
            </a:pPr>
            <a:r>
              <a:rPr lang="en-US" sz="1050" i="1" dirty="0">
                <a:solidFill>
                  <a:srgbClr val="9A5A0C"/>
                </a:solidFill>
                <a:latin typeface="Calibri" pitchFamily="34" charset="0"/>
                <a:ea typeface="Calibri" pitchFamily="34" charset="-122"/>
                <a:cs typeface="Calibri" pitchFamily="34" charset="-120"/>
              </a:rPr>
              <a:t>parent_step</a:t>
            </a:r>
            <a:endParaRPr lang="en-US" sz="1050" dirty="0"/>
          </a:p>
        </p:txBody>
      </p:sp>
      <p:sp>
        <p:nvSpPr>
          <p:cNvPr id="21" name="Text 19"/>
          <p:cNvSpPr txBox="1"/>
          <p:nvPr/>
        </p:nvSpPr>
        <p:spPr>
          <a:xfrm>
            <a:off x="7589520" y="2103120"/>
            <a:ext cx="4069080" cy="4023360"/>
          </a:xfrm>
          <a:prstGeom prst="rect">
            <a:avLst/>
          </a:prstGeom>
          <a:noFill/>
          <a:ln/>
        </p:spPr>
        <p:txBody>
          <a:bodyPr wrap="square" lIns="0" tIns="0" rIns="0" bIns="0" rtlCol="0" anchor="t"/>
          <a:lstStyle/>
          <a:p>
            <a:pPr indent="0" marL="0">
              <a:buNone/>
            </a:pPr>
            <a:r>
              <a:rPr lang="en-US" sz="1400" b="1" dirty="0">
                <a:solidFill>
                  <a:srgbClr val="1C212B"/>
                </a:solidFill>
                <a:latin typeface="Arial" pitchFamily="34" charset="0"/>
                <a:ea typeface="Arial" pitchFamily="34" charset="-122"/>
                <a:cs typeface="Arial" pitchFamily="34" charset="-120"/>
              </a:rPr>
              <a:t>Reasoning per turn</a:t>
            </a:r>
            <a:endParaRPr lang="en-US" sz="1400" dirty="0"/>
          </a:p>
          <a:p>
            <a:pPr indent="0" marL="0">
              <a:spcAft>
                <a:spcPts val="1200"/>
              </a:spcAft>
              <a:buNone/>
            </a:pPr>
            <a:r>
              <a:rPr lang="en-US" sz="1250" dirty="0">
                <a:solidFill>
                  <a:srgbClr val="5B6472"/>
                </a:solidFill>
                <a:latin typeface="Calibri" pitchFamily="34" charset="0"/>
                <a:ea typeface="Calibri" pitchFamily="34" charset="-122"/>
                <a:cs typeface="Calibri" pitchFamily="34" charset="-120"/>
              </a:rPr>
              <a:t>The full reasoning is stored with the turn that produced it — searchable and correctly attributed.</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Delegation points at a step</a:t>
            </a:r>
            <a:endParaRPr lang="en-US" sz="1400" dirty="0"/>
          </a:p>
          <a:p>
            <a:pPr indent="0" marL="0">
              <a:spcAft>
                <a:spcPts val="1200"/>
              </a:spcAft>
              <a:buNone/>
            </a:pPr>
            <a:r>
              <a:rPr lang="en-US" sz="1250" dirty="0">
                <a:solidFill>
                  <a:srgbClr val="5B6472"/>
                </a:solidFill>
                <a:latin typeface="Calibri" pitchFamily="34" charset="0"/>
                <a:ea typeface="Calibri" pitchFamily="34" charset="-122"/>
                <a:cs typeface="Calibri" pitchFamily="34" charset="-120"/>
              </a:rPr>
              <a:t>One link answers who asked, and what it was thinking when it did.</a:t>
            </a:r>
            <a:endParaRPr lang="en-US" sz="1400" dirty="0"/>
          </a:p>
          <a:p>
            <a:pPr indent="0" marL="0">
              <a:buNone/>
            </a:pPr>
            <a:r>
              <a:rPr lang="en-US" sz="1400" b="1" dirty="0">
                <a:solidFill>
                  <a:srgbClr val="1C212B"/>
                </a:solidFill>
                <a:latin typeface="Arial" pitchFamily="34" charset="0"/>
                <a:ea typeface="Arial" pitchFamily="34" charset="-122"/>
                <a:cs typeface="Arial" pitchFamily="34" charset="-120"/>
              </a:rPr>
              <a:t>Pinned at run open</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Editing the agent mid-run does not rewrite what past runs claim they used.</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PROOF · EVALUATION</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Agents are tested in worlds the judge built</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A fake situation per suite — files, mailbox, calendar, a frozen web — so an eval never touches real data.</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39</a:t>
            </a:r>
            <a:endParaRPr lang="en-US" sz="1000" dirty="0"/>
          </a:p>
        </p:txBody>
      </p:sp>
      <p:sp>
        <p:nvSpPr>
          <p:cNvPr id="6" name="Text 4"/>
          <p:cNvSpPr txBox="1"/>
          <p:nvPr/>
        </p:nvSpPr>
        <p:spPr>
          <a:xfrm>
            <a:off x="548640" y="2057400"/>
            <a:ext cx="2011680" cy="1600200"/>
          </a:xfrm>
          <a:prstGeom prst="roundRect">
            <a:avLst>
              <a:gd name="adj" fmla="val 4571"/>
            </a:avLst>
          </a:prstGeom>
          <a:solidFill>
            <a:srgbClr val="E1F2F0"/>
          </a:solidFill>
          <a:ln w="12700">
            <a:solidFill>
              <a:srgbClr val="15877D"/>
            </a:solidFill>
            <a:prstDash val="solid"/>
          </a:ln>
        </p:spPr>
        <p:txBody>
          <a:bodyPr wrap="square" lIns="127000" tIns="127000" rIns="127000" bIns="76200" rtlCol="0" anchor="t"/>
          <a:lstStyle/>
          <a:p>
            <a:pPr algn="ctr" indent="0" marL="0">
              <a:spcAft>
                <a:spcPts val="200"/>
              </a:spcAft>
              <a:buNone/>
            </a:pPr>
            <a:r>
              <a:rPr lang="en-US" sz="1500" b="1" dirty="0">
                <a:solidFill>
                  <a:srgbClr val="1C212B"/>
                </a:solidFill>
                <a:latin typeface="Arial" pitchFamily="34" charset="0"/>
                <a:ea typeface="Arial" pitchFamily="34" charset="-122"/>
                <a:cs typeface="Arial" pitchFamily="34" charset="-120"/>
              </a:rPr>
              <a:t>Build the world</a:t>
            </a:r>
            <a:endParaRPr lang="en-US" sz="1500" dirty="0"/>
          </a:p>
          <a:p>
            <a:pPr algn="ctr" indent="0" marL="0">
              <a:spcAft>
                <a:spcPts val="200"/>
              </a:spcAft>
              <a:buNone/>
            </a:pPr>
            <a:r>
              <a:rPr lang="en-US" sz="1250" dirty="0">
                <a:solidFill>
                  <a:srgbClr val="5B6472"/>
                </a:solidFill>
                <a:latin typeface="Calibri" pitchFamily="34" charset="0"/>
                <a:ea typeface="Calibri" pitchFamily="34" charset="-122"/>
                <a:cs typeface="Calibri" pitchFamily="34" charset="-120"/>
              </a:rPr>
              <a:t>facts → fixtures → cases, by the judge model</a:t>
            </a:r>
            <a:endParaRPr lang="en-US" sz="1500" dirty="0"/>
          </a:p>
        </p:txBody>
      </p:sp>
      <p:sp>
        <p:nvSpPr>
          <p:cNvPr id="7" name="Shape 5"/>
          <p:cNvSpPr/>
          <p:nvPr/>
        </p:nvSpPr>
        <p:spPr>
          <a:xfrm>
            <a:off x="2560320" y="2852928"/>
            <a:ext cx="246888" cy="0"/>
          </a:xfrm>
          <a:prstGeom prst="line">
            <a:avLst/>
          </a:prstGeom>
          <a:noFill/>
          <a:ln w="19050">
            <a:solidFill>
              <a:srgbClr val="4E5A6B"/>
            </a:solidFill>
            <a:prstDash val="solid"/>
            <a:tailEnd type="triangle"/>
          </a:ln>
        </p:spPr>
      </p:sp>
      <p:sp>
        <p:nvSpPr>
          <p:cNvPr id="8" name="Text 6"/>
          <p:cNvSpPr txBox="1"/>
          <p:nvPr/>
        </p:nvSpPr>
        <p:spPr>
          <a:xfrm>
            <a:off x="2807208" y="2057400"/>
            <a:ext cx="2011680" cy="1600200"/>
          </a:xfrm>
          <a:prstGeom prst="roundRect">
            <a:avLst>
              <a:gd name="adj" fmla="val 4571"/>
            </a:avLst>
          </a:prstGeom>
          <a:solidFill>
            <a:srgbClr val="E1F2F0"/>
          </a:solidFill>
          <a:ln w="12700">
            <a:solidFill>
              <a:srgbClr val="15877D"/>
            </a:solidFill>
            <a:prstDash val="solid"/>
          </a:ln>
        </p:spPr>
        <p:txBody>
          <a:bodyPr wrap="square" lIns="127000" tIns="127000" rIns="127000" bIns="76200" rtlCol="0" anchor="t"/>
          <a:lstStyle/>
          <a:p>
            <a:pPr algn="ctr" indent="0" marL="0">
              <a:spcAft>
                <a:spcPts val="200"/>
              </a:spcAft>
              <a:buNone/>
            </a:pPr>
            <a:r>
              <a:rPr lang="en-US" sz="1500" b="1" dirty="0">
                <a:solidFill>
                  <a:srgbClr val="1C212B"/>
                </a:solidFill>
                <a:latin typeface="Arial" pitchFamily="34" charset="0"/>
                <a:ea typeface="Arial" pitchFamily="34" charset="-122"/>
                <a:cs typeface="Arial" pitchFamily="34" charset="-120"/>
              </a:rPr>
              <a:t>Prove it</a:t>
            </a:r>
            <a:endParaRPr lang="en-US" sz="1500" dirty="0"/>
          </a:p>
          <a:p>
            <a:pPr algn="ctr" indent="0" marL="0">
              <a:spcAft>
                <a:spcPts val="200"/>
              </a:spcAft>
              <a:buNone/>
            </a:pPr>
            <a:r>
              <a:rPr lang="en-US" sz="1250" dirty="0">
                <a:solidFill>
                  <a:srgbClr val="5B6472"/>
                </a:solidFill>
                <a:latin typeface="Calibri" pitchFamily="34" charset="0"/>
                <a:ea typeface="Calibri" pitchFamily="34" charset="-122"/>
                <a:cs typeface="Calibri" pitchFamily="34" charset="-120"/>
              </a:rPr>
              <a:t>blind re-solve; checks must pass the ideal outcome and fail the untouched world</a:t>
            </a:r>
            <a:endParaRPr lang="en-US" sz="1500" dirty="0"/>
          </a:p>
        </p:txBody>
      </p:sp>
      <p:sp>
        <p:nvSpPr>
          <p:cNvPr id="9" name="Shape 7"/>
          <p:cNvSpPr/>
          <p:nvPr/>
        </p:nvSpPr>
        <p:spPr>
          <a:xfrm>
            <a:off x="4818888" y="2852928"/>
            <a:ext cx="246888" cy="0"/>
          </a:xfrm>
          <a:prstGeom prst="line">
            <a:avLst/>
          </a:prstGeom>
          <a:noFill/>
          <a:ln w="19050">
            <a:solidFill>
              <a:srgbClr val="4E5A6B"/>
            </a:solidFill>
            <a:prstDash val="solid"/>
            <a:tailEnd type="triangle"/>
          </a:ln>
        </p:spPr>
      </p:sp>
      <p:sp>
        <p:nvSpPr>
          <p:cNvPr id="10" name="Text 8"/>
          <p:cNvSpPr txBox="1"/>
          <p:nvPr/>
        </p:nvSpPr>
        <p:spPr>
          <a:xfrm>
            <a:off x="5065776" y="2057400"/>
            <a:ext cx="2011680" cy="1600200"/>
          </a:xfrm>
          <a:prstGeom prst="roundRect">
            <a:avLst>
              <a:gd name="adj" fmla="val 4571"/>
            </a:avLst>
          </a:prstGeom>
          <a:solidFill>
            <a:srgbClr val="E1F2F0"/>
          </a:solidFill>
          <a:ln w="12700">
            <a:solidFill>
              <a:srgbClr val="15877D"/>
            </a:solidFill>
            <a:prstDash val="solid"/>
          </a:ln>
        </p:spPr>
        <p:txBody>
          <a:bodyPr wrap="square" lIns="127000" tIns="127000" rIns="127000" bIns="76200" rtlCol="0" anchor="t"/>
          <a:lstStyle/>
          <a:p>
            <a:pPr algn="ctr" indent="0" marL="0">
              <a:spcAft>
                <a:spcPts val="200"/>
              </a:spcAft>
              <a:buNone/>
            </a:pPr>
            <a:r>
              <a:rPr lang="en-US" sz="1500" b="1" dirty="0">
                <a:solidFill>
                  <a:srgbClr val="1C212B"/>
                </a:solidFill>
                <a:latin typeface="Arial" pitchFamily="34" charset="0"/>
                <a:ea typeface="Arial" pitchFamily="34" charset="-122"/>
                <a:cs typeface="Arial" pitchFamily="34" charset="-120"/>
              </a:rPr>
              <a:t>Sweep</a:t>
            </a:r>
            <a:endParaRPr lang="en-US" sz="1500" dirty="0"/>
          </a:p>
          <a:p>
            <a:pPr algn="ctr" indent="0" marL="0">
              <a:spcAft>
                <a:spcPts val="200"/>
              </a:spcAft>
              <a:buNone/>
            </a:pPr>
            <a:r>
              <a:rPr lang="en-US" sz="1250" dirty="0">
                <a:solidFill>
                  <a:srgbClr val="5B6472"/>
                </a:solidFill>
                <a:latin typeface="Calibri" pitchFamily="34" charset="0"/>
                <a:ea typeface="Calibri" pitchFamily="34" charset="-122"/>
                <a:cs typeface="Calibri" pitchFamily="34" charset="-120"/>
              </a:rPr>
              <a:t>the real run_agent door, caller = eval, simulated tools</a:t>
            </a:r>
            <a:endParaRPr lang="en-US" sz="1500" dirty="0"/>
          </a:p>
        </p:txBody>
      </p:sp>
      <p:sp>
        <p:nvSpPr>
          <p:cNvPr id="11" name="Shape 9"/>
          <p:cNvSpPr/>
          <p:nvPr/>
        </p:nvSpPr>
        <p:spPr>
          <a:xfrm>
            <a:off x="7077456" y="2852928"/>
            <a:ext cx="246888" cy="0"/>
          </a:xfrm>
          <a:prstGeom prst="line">
            <a:avLst/>
          </a:prstGeom>
          <a:noFill/>
          <a:ln w="19050">
            <a:solidFill>
              <a:srgbClr val="4E5A6B"/>
            </a:solidFill>
            <a:prstDash val="solid"/>
            <a:tailEnd type="triangle"/>
          </a:ln>
        </p:spPr>
      </p:sp>
      <p:sp>
        <p:nvSpPr>
          <p:cNvPr id="12" name="Text 10"/>
          <p:cNvSpPr txBox="1"/>
          <p:nvPr/>
        </p:nvSpPr>
        <p:spPr>
          <a:xfrm>
            <a:off x="7324344" y="2057400"/>
            <a:ext cx="2011680" cy="1600200"/>
          </a:xfrm>
          <a:prstGeom prst="roundRect">
            <a:avLst>
              <a:gd name="adj" fmla="val 4571"/>
            </a:avLst>
          </a:prstGeom>
          <a:solidFill>
            <a:srgbClr val="E1F2F0"/>
          </a:solidFill>
          <a:ln w="12700">
            <a:solidFill>
              <a:srgbClr val="15877D"/>
            </a:solidFill>
            <a:prstDash val="solid"/>
          </a:ln>
        </p:spPr>
        <p:txBody>
          <a:bodyPr wrap="square" lIns="127000" tIns="127000" rIns="127000" bIns="76200" rtlCol="0" anchor="t"/>
          <a:lstStyle/>
          <a:p>
            <a:pPr algn="ctr" indent="0" marL="0">
              <a:spcAft>
                <a:spcPts val="200"/>
              </a:spcAft>
              <a:buNone/>
            </a:pPr>
            <a:r>
              <a:rPr lang="en-US" sz="1500" b="1" dirty="0">
                <a:solidFill>
                  <a:srgbClr val="1C212B"/>
                </a:solidFill>
                <a:latin typeface="Arial" pitchFamily="34" charset="0"/>
                <a:ea typeface="Arial" pitchFamily="34" charset="-122"/>
                <a:cs typeface="Arial" pitchFamily="34" charset="-120"/>
              </a:rPr>
              <a:t>Grade</a:t>
            </a:r>
            <a:endParaRPr lang="en-US" sz="1500" dirty="0"/>
          </a:p>
          <a:p>
            <a:pPr algn="ctr" indent="0" marL="0">
              <a:spcAft>
                <a:spcPts val="200"/>
              </a:spcAft>
              <a:buNone/>
            </a:pPr>
            <a:r>
              <a:rPr lang="en-US" sz="1250" dirty="0">
                <a:solidFill>
                  <a:srgbClr val="5B6472"/>
                </a:solidFill>
                <a:latin typeface="Calibri" pitchFamily="34" charset="0"/>
                <a:ea typeface="Calibri" pitchFamily="34" charset="-122"/>
                <a:cs typeface="Calibri" pitchFamily="34" charset="-120"/>
              </a:rPr>
              <a:t>graders + human review; agreement is the metric</a:t>
            </a:r>
            <a:endParaRPr lang="en-US" sz="1500" dirty="0"/>
          </a:p>
        </p:txBody>
      </p:sp>
      <p:sp>
        <p:nvSpPr>
          <p:cNvPr id="13" name="Shape 11"/>
          <p:cNvSpPr/>
          <p:nvPr/>
        </p:nvSpPr>
        <p:spPr>
          <a:xfrm>
            <a:off x="9336024" y="2852928"/>
            <a:ext cx="246888" cy="0"/>
          </a:xfrm>
          <a:prstGeom prst="line">
            <a:avLst/>
          </a:prstGeom>
          <a:noFill/>
          <a:ln w="19050">
            <a:solidFill>
              <a:srgbClr val="4E5A6B"/>
            </a:solidFill>
            <a:prstDash val="solid"/>
            <a:tailEnd type="triangle"/>
          </a:ln>
        </p:spPr>
      </p:sp>
      <p:sp>
        <p:nvSpPr>
          <p:cNvPr id="14" name="Text 12"/>
          <p:cNvSpPr txBox="1"/>
          <p:nvPr/>
        </p:nvSpPr>
        <p:spPr>
          <a:xfrm>
            <a:off x="9582912" y="2057400"/>
            <a:ext cx="2011680" cy="1600200"/>
          </a:xfrm>
          <a:prstGeom prst="roundRect">
            <a:avLst>
              <a:gd name="adj" fmla="val 4571"/>
            </a:avLst>
          </a:prstGeom>
          <a:solidFill>
            <a:srgbClr val="E08A1E"/>
          </a:solidFill>
          <a:ln w="12700">
            <a:solidFill>
              <a:srgbClr val="E08A1E"/>
            </a:solidFill>
            <a:prstDash val="solid"/>
          </a:ln>
        </p:spPr>
        <p:txBody>
          <a:bodyPr wrap="square" lIns="127000" tIns="127000" rIns="127000" bIns="76200" rtlCol="0" anchor="t"/>
          <a:lstStyle/>
          <a:p>
            <a:pPr algn="ctr" indent="0" marL="0">
              <a:spcAft>
                <a:spcPts val="200"/>
              </a:spcAft>
              <a:buNone/>
            </a:pPr>
            <a:r>
              <a:rPr lang="en-US" sz="1500" b="1" dirty="0">
                <a:solidFill>
                  <a:srgbClr val="FFFFFF"/>
                </a:solidFill>
                <a:latin typeface="Arial" pitchFamily="34" charset="0"/>
                <a:ea typeface="Arial" pitchFamily="34" charset="-122"/>
                <a:cs typeface="Arial" pitchFamily="34" charset="-120"/>
              </a:rPr>
              <a:t>Gate</a:t>
            </a:r>
            <a:endParaRPr lang="en-US" sz="1500" dirty="0"/>
          </a:p>
          <a:p>
            <a:pPr algn="ctr" indent="0" marL="0">
              <a:spcAft>
                <a:spcPts val="200"/>
              </a:spcAft>
              <a:buNone/>
            </a:pPr>
            <a:r>
              <a:rPr lang="en-US" sz="1250" dirty="0">
                <a:solidFill>
                  <a:srgbClr val="FFF3E3"/>
                </a:solidFill>
                <a:latin typeface="Calibri" pitchFamily="34" charset="0"/>
                <a:ea typeface="Calibri" pitchFamily="34" charset="-122"/>
                <a:cs typeface="Calibri" pitchFamily="34" charset="-120"/>
              </a:rPr>
              <a:t>smoke tier must pass before a deploy</a:t>
            </a:r>
            <a:endParaRPr lang="en-US" sz="1500" dirty="0"/>
          </a:p>
        </p:txBody>
      </p:sp>
      <p:sp>
        <p:nvSpPr>
          <p:cNvPr id="15" name="Shape 13"/>
          <p:cNvSpPr/>
          <p:nvPr/>
        </p:nvSpPr>
        <p:spPr>
          <a:xfrm>
            <a:off x="548640" y="4114800"/>
            <a:ext cx="3575304" cy="2011680"/>
          </a:xfrm>
          <a:prstGeom prst="roundRect">
            <a:avLst>
              <a:gd name="adj" fmla="val 4545"/>
            </a:avLst>
          </a:prstGeom>
          <a:solidFill>
            <a:srgbClr val="F3F5F8"/>
          </a:solidFill>
          <a:ln w="12700">
            <a:solidFill>
              <a:srgbClr val="F3F5F8"/>
            </a:solidFill>
            <a:prstDash val="solid"/>
          </a:ln>
        </p:spPr>
      </p:sp>
      <p:sp>
        <p:nvSpPr>
          <p:cNvPr id="16" name="Shape 14"/>
          <p:cNvSpPr/>
          <p:nvPr/>
        </p:nvSpPr>
        <p:spPr>
          <a:xfrm>
            <a:off x="804672" y="4315968"/>
            <a:ext cx="512064" cy="512064"/>
          </a:xfrm>
          <a:prstGeom prst="ellipse">
            <a:avLst/>
          </a:prstGeom>
          <a:solidFill>
            <a:srgbClr val="C4433A"/>
          </a:solidFill>
          <a:ln w="12700">
            <a:solidFill>
              <a:srgbClr val="C4433A"/>
            </a:solidFill>
            <a:prstDash val="solid"/>
          </a:ln>
        </p:spPr>
      </p:sp>
      <p:pic>
        <p:nvPicPr>
          <p:cNvPr id="17" name="Image 0" descr="preencoded.png">    </p:cNvPr>
          <p:cNvPicPr>
            <a:picLocks noChangeAspect="1"/>
          </p:cNvPicPr>
          <p:nvPr/>
        </p:nvPicPr>
        <p:blipFill>
          <a:blip r:embed="rId1"/>
          <a:stretch>
            <a:fillRect/>
          </a:stretch>
        </p:blipFill>
        <p:spPr>
          <a:xfrm>
            <a:off x="937809" y="4449105"/>
            <a:ext cx="245791" cy="245791"/>
          </a:xfrm>
          <a:prstGeom prst="rect">
            <a:avLst/>
          </a:prstGeom>
        </p:spPr>
      </p:pic>
      <p:sp>
        <p:nvSpPr>
          <p:cNvPr id="18" name="Text 15"/>
          <p:cNvSpPr txBox="1"/>
          <p:nvPr/>
        </p:nvSpPr>
        <p:spPr>
          <a:xfrm>
            <a:off x="1463040" y="4389120"/>
            <a:ext cx="2560320" cy="320040"/>
          </a:xfrm>
          <a:prstGeom prst="rect">
            <a:avLst/>
          </a:prstGeom>
          <a:noFill/>
          <a:ln/>
        </p:spPr>
        <p:txBody>
          <a:bodyPr wrap="square" lIns="0" tIns="0" rIns="0" bIns="0" rtlCol="0" anchor="t"/>
          <a:lstStyle/>
          <a:p>
            <a:pPr algn="l" indent="0" marL="0">
              <a:buNone/>
            </a:pPr>
            <a:r>
              <a:rPr lang="en-US" sz="1450" b="1" dirty="0">
                <a:solidFill>
                  <a:srgbClr val="1C212B"/>
                </a:solidFill>
                <a:latin typeface="Arial" pitchFamily="34" charset="0"/>
                <a:ea typeface="Arial" pitchFamily="34" charset="-122"/>
                <a:cs typeface="Arial" pitchFamily="34" charset="-120"/>
              </a:rPr>
              <a:t>Fail closed</a:t>
            </a:r>
            <a:endParaRPr lang="en-US" sz="1450" dirty="0"/>
          </a:p>
        </p:txBody>
      </p:sp>
      <p:sp>
        <p:nvSpPr>
          <p:cNvPr id="19" name="Text 16"/>
          <p:cNvSpPr txBox="1"/>
          <p:nvPr/>
        </p:nvSpPr>
        <p:spPr>
          <a:xfrm>
            <a:off x="804672" y="4983480"/>
            <a:ext cx="310896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A tool with no simulator is withheld and refused, so a test cannot send real mail.</a:t>
            </a:r>
            <a:endParaRPr lang="en-US" sz="1400" dirty="0"/>
          </a:p>
        </p:txBody>
      </p:sp>
      <p:sp>
        <p:nvSpPr>
          <p:cNvPr id="20" name="Shape 17"/>
          <p:cNvSpPr/>
          <p:nvPr/>
        </p:nvSpPr>
        <p:spPr>
          <a:xfrm>
            <a:off x="4306824" y="4114800"/>
            <a:ext cx="3575304" cy="2011680"/>
          </a:xfrm>
          <a:prstGeom prst="roundRect">
            <a:avLst>
              <a:gd name="adj" fmla="val 4545"/>
            </a:avLst>
          </a:prstGeom>
          <a:solidFill>
            <a:srgbClr val="F3F5F8"/>
          </a:solidFill>
          <a:ln w="12700">
            <a:solidFill>
              <a:srgbClr val="F3F5F8"/>
            </a:solidFill>
            <a:prstDash val="solid"/>
          </a:ln>
        </p:spPr>
      </p:sp>
      <p:sp>
        <p:nvSpPr>
          <p:cNvPr id="21" name="Shape 18"/>
          <p:cNvSpPr/>
          <p:nvPr/>
        </p:nvSpPr>
        <p:spPr>
          <a:xfrm>
            <a:off x="4562856" y="4315968"/>
            <a:ext cx="512064" cy="512064"/>
          </a:xfrm>
          <a:prstGeom prst="ellipse">
            <a:avLst/>
          </a:prstGeom>
          <a:solidFill>
            <a:srgbClr val="4E5A6B"/>
          </a:solidFill>
          <a:ln w="12700">
            <a:solidFill>
              <a:srgbClr val="4E5A6B"/>
            </a:solidFill>
            <a:prstDash val="solid"/>
          </a:ln>
        </p:spPr>
      </p:sp>
      <p:pic>
        <p:nvPicPr>
          <p:cNvPr id="22" name="Image 1" descr="preencoded.png">    </p:cNvPr>
          <p:cNvPicPr>
            <a:picLocks noChangeAspect="1"/>
          </p:cNvPicPr>
          <p:nvPr/>
        </p:nvPicPr>
        <p:blipFill>
          <a:blip r:embed="rId2"/>
          <a:stretch>
            <a:fillRect/>
          </a:stretch>
        </p:blipFill>
        <p:spPr>
          <a:xfrm>
            <a:off x="4695993" y="4449105"/>
            <a:ext cx="245791" cy="245791"/>
          </a:xfrm>
          <a:prstGeom prst="rect">
            <a:avLst/>
          </a:prstGeom>
        </p:spPr>
      </p:pic>
      <p:sp>
        <p:nvSpPr>
          <p:cNvPr id="23" name="Text 19"/>
          <p:cNvSpPr txBox="1"/>
          <p:nvPr/>
        </p:nvSpPr>
        <p:spPr>
          <a:xfrm>
            <a:off x="5221224" y="4389120"/>
            <a:ext cx="2560320" cy="320040"/>
          </a:xfrm>
          <a:prstGeom prst="rect">
            <a:avLst/>
          </a:prstGeom>
          <a:noFill/>
          <a:ln/>
        </p:spPr>
        <p:txBody>
          <a:bodyPr wrap="square" lIns="0" tIns="0" rIns="0" bIns="0" rtlCol="0" anchor="t"/>
          <a:lstStyle/>
          <a:p>
            <a:pPr algn="l" indent="0" marL="0">
              <a:buNone/>
            </a:pPr>
            <a:r>
              <a:rPr lang="en-US" sz="1450" b="1" dirty="0">
                <a:solidFill>
                  <a:srgbClr val="1C212B"/>
                </a:solidFill>
                <a:latin typeface="Arial" pitchFamily="34" charset="0"/>
                <a:ea typeface="Arial" pitchFamily="34" charset="-122"/>
                <a:cs typeface="Arial" pitchFamily="34" charset="-120"/>
              </a:rPr>
              <a:t>Override, never overwrite</a:t>
            </a:r>
            <a:endParaRPr lang="en-US" sz="1450" dirty="0"/>
          </a:p>
        </p:txBody>
      </p:sp>
      <p:sp>
        <p:nvSpPr>
          <p:cNvPr id="24" name="Text 20"/>
          <p:cNvSpPr txBox="1"/>
          <p:nvPr/>
        </p:nvSpPr>
        <p:spPr>
          <a:xfrm>
            <a:off x="4562856" y="4983480"/>
            <a:ext cx="310896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The graders' verdict is kept for ever; a human verdict sits beside it.</a:t>
            </a:r>
            <a:endParaRPr lang="en-US" sz="1400" dirty="0"/>
          </a:p>
        </p:txBody>
      </p:sp>
      <p:sp>
        <p:nvSpPr>
          <p:cNvPr id="25" name="Shape 21"/>
          <p:cNvSpPr/>
          <p:nvPr/>
        </p:nvSpPr>
        <p:spPr>
          <a:xfrm>
            <a:off x="8065008" y="4114800"/>
            <a:ext cx="3575304" cy="2011680"/>
          </a:xfrm>
          <a:prstGeom prst="roundRect">
            <a:avLst>
              <a:gd name="adj" fmla="val 4545"/>
            </a:avLst>
          </a:prstGeom>
          <a:solidFill>
            <a:srgbClr val="F3F5F8"/>
          </a:solidFill>
          <a:ln w="12700">
            <a:solidFill>
              <a:srgbClr val="F3F5F8"/>
            </a:solidFill>
            <a:prstDash val="solid"/>
          </a:ln>
        </p:spPr>
      </p:sp>
      <p:sp>
        <p:nvSpPr>
          <p:cNvPr id="26" name="Shape 22"/>
          <p:cNvSpPr/>
          <p:nvPr/>
        </p:nvSpPr>
        <p:spPr>
          <a:xfrm>
            <a:off x="8321040" y="4315968"/>
            <a:ext cx="512064" cy="512064"/>
          </a:xfrm>
          <a:prstGeom prst="ellipse">
            <a:avLst/>
          </a:prstGeom>
          <a:solidFill>
            <a:srgbClr val="15877D"/>
          </a:solidFill>
          <a:ln w="12700">
            <a:solidFill>
              <a:srgbClr val="15877D"/>
            </a:solidFill>
            <a:prstDash val="solid"/>
          </a:ln>
        </p:spPr>
      </p:sp>
      <p:pic>
        <p:nvPicPr>
          <p:cNvPr id="27" name="Image 2" descr="preencoded.png">    </p:cNvPr>
          <p:cNvPicPr>
            <a:picLocks noChangeAspect="1"/>
          </p:cNvPicPr>
          <p:nvPr/>
        </p:nvPicPr>
        <p:blipFill>
          <a:blip r:embed="rId3"/>
          <a:stretch>
            <a:fillRect/>
          </a:stretch>
        </p:blipFill>
        <p:spPr>
          <a:xfrm>
            <a:off x="8454177" y="4449105"/>
            <a:ext cx="245791" cy="245791"/>
          </a:xfrm>
          <a:prstGeom prst="rect">
            <a:avLst/>
          </a:prstGeom>
        </p:spPr>
      </p:pic>
      <p:sp>
        <p:nvSpPr>
          <p:cNvPr id="28" name="Text 23"/>
          <p:cNvSpPr txBox="1"/>
          <p:nvPr/>
        </p:nvSpPr>
        <p:spPr>
          <a:xfrm>
            <a:off x="8979408" y="4389120"/>
            <a:ext cx="2560320" cy="320040"/>
          </a:xfrm>
          <a:prstGeom prst="rect">
            <a:avLst/>
          </a:prstGeom>
          <a:noFill/>
          <a:ln/>
        </p:spPr>
        <p:txBody>
          <a:bodyPr wrap="square" lIns="0" tIns="0" rIns="0" bIns="0" rtlCol="0" anchor="t"/>
          <a:lstStyle/>
          <a:p>
            <a:pPr algn="l" indent="0" marL="0">
              <a:buNone/>
            </a:pPr>
            <a:r>
              <a:rPr lang="en-US" sz="1450" b="1" dirty="0">
                <a:solidFill>
                  <a:srgbClr val="1C212B"/>
                </a:solidFill>
                <a:latin typeface="Arial" pitchFamily="34" charset="0"/>
                <a:ea typeface="Arial" pitchFamily="34" charset="-122"/>
                <a:cs typeface="Arial" pitchFamily="34" charset="-120"/>
              </a:rPr>
              <a:t>pass@1 and pass^k</a:t>
            </a:r>
            <a:endParaRPr lang="en-US" sz="1450" dirty="0"/>
          </a:p>
        </p:txBody>
      </p:sp>
      <p:sp>
        <p:nvSpPr>
          <p:cNvPr id="29" name="Text 24"/>
          <p:cNvSpPr txBox="1"/>
          <p:nvPr/>
        </p:nvSpPr>
        <p:spPr>
          <a:xfrm>
            <a:off x="8321040" y="4983480"/>
            <a:ext cx="3108960" cy="100584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Each work case runs three times. Two passes in three is not a feature.</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E08A1E"/>
                </a:solidFill>
                <a:latin typeface="Arial" pitchFamily="34" charset="0"/>
                <a:ea typeface="Arial" pitchFamily="34" charset="-122"/>
                <a:cs typeface="Arial" pitchFamily="34" charset="-120"/>
              </a:rPr>
              <a:t>WHAT'S NEXT</a:t>
            </a:r>
            <a:endParaRPr lang="en-US" sz="11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000" b="1" dirty="0">
                <a:solidFill>
                  <a:srgbClr val="1C212B"/>
                </a:solidFill>
                <a:latin typeface="Arial" pitchFamily="34" charset="0"/>
                <a:ea typeface="Arial" pitchFamily="34" charset="-122"/>
                <a:cs typeface="Arial" pitchFamily="34" charset="-120"/>
              </a:rPr>
              <a:t>Where the platform goes from here</a:t>
            </a:r>
            <a:endParaRPr lang="en-US" sz="3000" dirty="0"/>
          </a:p>
        </p:txBody>
      </p:sp>
      <p:sp>
        <p:nvSpPr>
          <p:cNvPr id="4" name="Text 2"/>
          <p:cNvSpPr txBox="1"/>
          <p:nvPr/>
        </p:nvSpPr>
        <p:spPr>
          <a:xfrm>
            <a:off x="548640" y="1325880"/>
            <a:ext cx="10789920" cy="4114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Built on the foundations shown today: one entry point, fine-grained control, and memory the organisation owns.</a:t>
            </a:r>
            <a:endParaRPr lang="en-US" sz="1600" dirty="0"/>
          </a:p>
        </p:txBody>
      </p:sp>
      <p:sp>
        <p:nvSpPr>
          <p:cNvPr id="5" name="Text 3"/>
          <p:cNvSpPr txBox="1"/>
          <p:nvPr/>
        </p:nvSpPr>
        <p:spPr>
          <a:xfrm>
            <a:off x="11183112" y="6382512"/>
            <a:ext cx="457200" cy="256032"/>
          </a:xfrm>
          <a:prstGeom prst="rect">
            <a:avLst/>
          </a:prstGeom>
          <a:noFill/>
          <a:ln/>
        </p:spPr>
        <p:txBody>
          <a:bodyPr wrap="square" lIns="0" tIns="0" rIns="0" bIns="0" rtlCol="0" anchor="ctr"/>
          <a:lstStyle/>
          <a:p>
            <a:pPr algn="r" indent="0" marL="0">
              <a:buNone/>
            </a:pPr>
            <a:r>
              <a:rPr lang="en-US" sz="1000" dirty="0">
                <a:solidFill>
                  <a:srgbClr val="8A93A1"/>
                </a:solidFill>
                <a:latin typeface="Calibri" pitchFamily="34" charset="0"/>
                <a:ea typeface="Calibri" pitchFamily="34" charset="-122"/>
                <a:cs typeface="Calibri" pitchFamily="34" charset="-120"/>
              </a:rPr>
              <a:t>40</a:t>
            </a:r>
            <a:endParaRPr lang="en-US" sz="1000" dirty="0"/>
          </a:p>
        </p:txBody>
      </p:sp>
      <p:sp>
        <p:nvSpPr>
          <p:cNvPr id="6" name="Shape 4"/>
          <p:cNvSpPr/>
          <p:nvPr/>
        </p:nvSpPr>
        <p:spPr>
          <a:xfrm>
            <a:off x="548640" y="2011680"/>
            <a:ext cx="5440680" cy="1920240"/>
          </a:xfrm>
          <a:prstGeom prst="roundRect">
            <a:avLst>
              <a:gd name="adj" fmla="val 4762"/>
            </a:avLst>
          </a:prstGeom>
          <a:solidFill>
            <a:srgbClr val="F3F5F8"/>
          </a:solidFill>
          <a:ln w="12700">
            <a:solidFill>
              <a:srgbClr val="F3F5F8"/>
            </a:solidFill>
            <a:prstDash val="solid"/>
          </a:ln>
        </p:spPr>
      </p:sp>
      <p:sp>
        <p:nvSpPr>
          <p:cNvPr id="7" name="Shape 5"/>
          <p:cNvSpPr/>
          <p:nvPr/>
        </p:nvSpPr>
        <p:spPr>
          <a:xfrm>
            <a:off x="822960" y="2286000"/>
            <a:ext cx="640080" cy="640080"/>
          </a:xfrm>
          <a:prstGeom prst="ellipse">
            <a:avLst/>
          </a:prstGeom>
          <a:solidFill>
            <a:srgbClr val="E08A1E"/>
          </a:solidFill>
          <a:ln w="12700">
            <a:solidFill>
              <a:srgbClr val="E08A1E"/>
            </a:solidFill>
            <a:prstDash val="solid"/>
          </a:ln>
        </p:spPr>
      </p:sp>
      <p:pic>
        <p:nvPicPr>
          <p:cNvPr id="8" name="Image 0" descr="preencoded.png">    </p:cNvPr>
          <p:cNvPicPr>
            <a:picLocks noChangeAspect="1"/>
          </p:cNvPicPr>
          <p:nvPr/>
        </p:nvPicPr>
        <p:blipFill>
          <a:blip r:embed="rId1"/>
          <a:stretch>
            <a:fillRect/>
          </a:stretch>
        </p:blipFill>
        <p:spPr>
          <a:xfrm>
            <a:off x="989381" y="2452421"/>
            <a:ext cx="307238" cy="307238"/>
          </a:xfrm>
          <a:prstGeom prst="rect">
            <a:avLst/>
          </a:prstGeom>
        </p:spPr>
      </p:pic>
      <p:sp>
        <p:nvSpPr>
          <p:cNvPr id="9" name="Text 6"/>
          <p:cNvSpPr txBox="1"/>
          <p:nvPr/>
        </p:nvSpPr>
        <p:spPr>
          <a:xfrm>
            <a:off x="1691640" y="2395728"/>
            <a:ext cx="41148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Long-running missions</a:t>
            </a:r>
            <a:endParaRPr lang="en-US" sz="1700" dirty="0"/>
          </a:p>
        </p:txBody>
      </p:sp>
      <p:sp>
        <p:nvSpPr>
          <p:cNvPr id="10" name="Text 7"/>
          <p:cNvSpPr txBox="1"/>
          <p:nvPr/>
        </p:nvSpPr>
        <p:spPr>
          <a:xfrm>
            <a:off x="1691640" y="2880360"/>
            <a:ext cx="4069080" cy="91440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Goals that span days — the agent plans, works, checks in and keeps going on its own schedule.</a:t>
            </a:r>
            <a:endParaRPr lang="en-US" sz="1400" dirty="0"/>
          </a:p>
        </p:txBody>
      </p:sp>
      <p:sp>
        <p:nvSpPr>
          <p:cNvPr id="11" name="Shape 8"/>
          <p:cNvSpPr/>
          <p:nvPr/>
        </p:nvSpPr>
        <p:spPr>
          <a:xfrm>
            <a:off x="6199632" y="2011680"/>
            <a:ext cx="5440680" cy="1920240"/>
          </a:xfrm>
          <a:prstGeom prst="roundRect">
            <a:avLst>
              <a:gd name="adj" fmla="val 4762"/>
            </a:avLst>
          </a:prstGeom>
          <a:solidFill>
            <a:srgbClr val="F3F5F8"/>
          </a:solidFill>
          <a:ln w="12700">
            <a:solidFill>
              <a:srgbClr val="F3F5F8"/>
            </a:solidFill>
            <a:prstDash val="solid"/>
          </a:ln>
        </p:spPr>
      </p:sp>
      <p:sp>
        <p:nvSpPr>
          <p:cNvPr id="12" name="Shape 9"/>
          <p:cNvSpPr/>
          <p:nvPr/>
        </p:nvSpPr>
        <p:spPr>
          <a:xfrm>
            <a:off x="6473952" y="2286000"/>
            <a:ext cx="640080" cy="640080"/>
          </a:xfrm>
          <a:prstGeom prst="ellipse">
            <a:avLst/>
          </a:prstGeom>
          <a:solidFill>
            <a:srgbClr val="15877D"/>
          </a:solidFill>
          <a:ln w="12700">
            <a:solidFill>
              <a:srgbClr val="15877D"/>
            </a:solidFill>
            <a:prstDash val="solid"/>
          </a:ln>
        </p:spPr>
      </p:sp>
      <p:pic>
        <p:nvPicPr>
          <p:cNvPr id="13" name="Image 1" descr="preencoded.png">    </p:cNvPr>
          <p:cNvPicPr>
            <a:picLocks noChangeAspect="1"/>
          </p:cNvPicPr>
          <p:nvPr/>
        </p:nvPicPr>
        <p:blipFill>
          <a:blip r:embed="rId2"/>
          <a:stretch>
            <a:fillRect/>
          </a:stretch>
        </p:blipFill>
        <p:spPr>
          <a:xfrm>
            <a:off x="6640373" y="2452421"/>
            <a:ext cx="307238" cy="307238"/>
          </a:xfrm>
          <a:prstGeom prst="rect">
            <a:avLst/>
          </a:prstGeom>
        </p:spPr>
      </p:pic>
      <p:sp>
        <p:nvSpPr>
          <p:cNvPr id="14" name="Text 10"/>
          <p:cNvSpPr txBox="1"/>
          <p:nvPr/>
        </p:nvSpPr>
        <p:spPr>
          <a:xfrm>
            <a:off x="7342632" y="2395728"/>
            <a:ext cx="41148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Every channel</a:t>
            </a:r>
            <a:endParaRPr lang="en-US" sz="1700" dirty="0"/>
          </a:p>
        </p:txBody>
      </p:sp>
      <p:sp>
        <p:nvSpPr>
          <p:cNvPr id="15" name="Text 11"/>
          <p:cNvSpPr txBox="1"/>
          <p:nvPr/>
        </p:nvSpPr>
        <p:spPr>
          <a:xfrm>
            <a:off x="7342632" y="2880360"/>
            <a:ext cx="4069080" cy="91440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Slack, WhatsApp, Teams, SMS and Telegram, so agents meet people where they already work.</a:t>
            </a:r>
            <a:endParaRPr lang="en-US" sz="1400" dirty="0"/>
          </a:p>
        </p:txBody>
      </p:sp>
      <p:sp>
        <p:nvSpPr>
          <p:cNvPr id="16" name="Shape 12"/>
          <p:cNvSpPr/>
          <p:nvPr/>
        </p:nvSpPr>
        <p:spPr>
          <a:xfrm>
            <a:off x="548640" y="4114800"/>
            <a:ext cx="5440680" cy="1920240"/>
          </a:xfrm>
          <a:prstGeom prst="roundRect">
            <a:avLst>
              <a:gd name="adj" fmla="val 4762"/>
            </a:avLst>
          </a:prstGeom>
          <a:solidFill>
            <a:srgbClr val="F3F5F8"/>
          </a:solidFill>
          <a:ln w="12700">
            <a:solidFill>
              <a:srgbClr val="F3F5F8"/>
            </a:solidFill>
            <a:prstDash val="solid"/>
          </a:ln>
        </p:spPr>
      </p:sp>
      <p:sp>
        <p:nvSpPr>
          <p:cNvPr id="17" name="Shape 13"/>
          <p:cNvSpPr/>
          <p:nvPr/>
        </p:nvSpPr>
        <p:spPr>
          <a:xfrm>
            <a:off x="822960" y="4389120"/>
            <a:ext cx="640080" cy="640080"/>
          </a:xfrm>
          <a:prstGeom prst="ellipse">
            <a:avLst/>
          </a:prstGeom>
          <a:solidFill>
            <a:srgbClr val="4E5A6B"/>
          </a:solidFill>
          <a:ln w="12700">
            <a:solidFill>
              <a:srgbClr val="4E5A6B"/>
            </a:solidFill>
            <a:prstDash val="solid"/>
          </a:ln>
        </p:spPr>
      </p:sp>
      <p:pic>
        <p:nvPicPr>
          <p:cNvPr id="18" name="Image 2" descr="preencoded.png">    </p:cNvPr>
          <p:cNvPicPr>
            <a:picLocks noChangeAspect="1"/>
          </p:cNvPicPr>
          <p:nvPr/>
        </p:nvPicPr>
        <p:blipFill>
          <a:blip r:embed="rId3"/>
          <a:stretch>
            <a:fillRect/>
          </a:stretch>
        </p:blipFill>
        <p:spPr>
          <a:xfrm>
            <a:off x="989381" y="4555541"/>
            <a:ext cx="307238" cy="307238"/>
          </a:xfrm>
          <a:prstGeom prst="rect">
            <a:avLst/>
          </a:prstGeom>
        </p:spPr>
      </p:pic>
      <p:sp>
        <p:nvSpPr>
          <p:cNvPr id="19" name="Text 14"/>
          <p:cNvSpPr txBox="1"/>
          <p:nvPr/>
        </p:nvSpPr>
        <p:spPr>
          <a:xfrm>
            <a:off x="1691640" y="4498848"/>
            <a:ext cx="41148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Measured quality</a:t>
            </a:r>
            <a:endParaRPr lang="en-US" sz="1700" dirty="0"/>
          </a:p>
        </p:txBody>
      </p:sp>
      <p:sp>
        <p:nvSpPr>
          <p:cNvPr id="20" name="Text 15"/>
          <p:cNvSpPr txBox="1"/>
          <p:nvPr/>
        </p:nvSpPr>
        <p:spPr>
          <a:xfrm>
            <a:off x="1691640" y="4983480"/>
            <a:ext cx="4069080" cy="91440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Benchmark baselines per agent and an evaluation gate before every release.</a:t>
            </a:r>
            <a:endParaRPr lang="en-US" sz="1400" dirty="0"/>
          </a:p>
        </p:txBody>
      </p:sp>
      <p:sp>
        <p:nvSpPr>
          <p:cNvPr id="21" name="Shape 16"/>
          <p:cNvSpPr/>
          <p:nvPr/>
        </p:nvSpPr>
        <p:spPr>
          <a:xfrm>
            <a:off x="6199632" y="4114800"/>
            <a:ext cx="5440680" cy="1920240"/>
          </a:xfrm>
          <a:prstGeom prst="roundRect">
            <a:avLst>
              <a:gd name="adj" fmla="val 4762"/>
            </a:avLst>
          </a:prstGeom>
          <a:solidFill>
            <a:srgbClr val="F3F5F8"/>
          </a:solidFill>
          <a:ln w="12700">
            <a:solidFill>
              <a:srgbClr val="F3F5F8"/>
            </a:solidFill>
            <a:prstDash val="solid"/>
          </a:ln>
        </p:spPr>
      </p:sp>
      <p:sp>
        <p:nvSpPr>
          <p:cNvPr id="22" name="Shape 17"/>
          <p:cNvSpPr/>
          <p:nvPr/>
        </p:nvSpPr>
        <p:spPr>
          <a:xfrm>
            <a:off x="6473952" y="4389120"/>
            <a:ext cx="640080" cy="640080"/>
          </a:xfrm>
          <a:prstGeom prst="ellipse">
            <a:avLst/>
          </a:prstGeom>
          <a:solidFill>
            <a:srgbClr val="0D5C55"/>
          </a:solidFill>
          <a:ln w="12700">
            <a:solidFill>
              <a:srgbClr val="0D5C55"/>
            </a:solidFill>
            <a:prstDash val="solid"/>
          </a:ln>
        </p:spPr>
      </p:sp>
      <p:pic>
        <p:nvPicPr>
          <p:cNvPr id="23" name="Image 3" descr="preencoded.png">    </p:cNvPr>
          <p:cNvPicPr>
            <a:picLocks noChangeAspect="1"/>
          </p:cNvPicPr>
          <p:nvPr/>
        </p:nvPicPr>
        <p:blipFill>
          <a:blip r:embed="rId4"/>
          <a:stretch>
            <a:fillRect/>
          </a:stretch>
        </p:blipFill>
        <p:spPr>
          <a:xfrm>
            <a:off x="6640373" y="4555541"/>
            <a:ext cx="307238" cy="307238"/>
          </a:xfrm>
          <a:prstGeom prst="rect">
            <a:avLst/>
          </a:prstGeom>
        </p:spPr>
      </p:pic>
      <p:sp>
        <p:nvSpPr>
          <p:cNvPr id="24" name="Text 18"/>
          <p:cNvSpPr txBox="1"/>
          <p:nvPr/>
        </p:nvSpPr>
        <p:spPr>
          <a:xfrm>
            <a:off x="7342632" y="4498848"/>
            <a:ext cx="4114800" cy="365760"/>
          </a:xfrm>
          <a:prstGeom prst="rect">
            <a:avLst/>
          </a:prstGeom>
          <a:noFill/>
          <a:ln/>
        </p:spPr>
        <p:txBody>
          <a:bodyPr wrap="square" lIns="0" tIns="0" rIns="0" bIns="0" rtlCol="0" anchor="t"/>
          <a:lstStyle/>
          <a:p>
            <a:pPr algn="l" indent="0" marL="0">
              <a:buNone/>
            </a:pPr>
            <a:r>
              <a:rPr lang="en-US" sz="1700" b="1" dirty="0">
                <a:solidFill>
                  <a:srgbClr val="1C212B"/>
                </a:solidFill>
                <a:latin typeface="Arial" pitchFamily="34" charset="0"/>
                <a:ea typeface="Arial" pitchFamily="34" charset="-122"/>
                <a:cs typeface="Arial" pitchFamily="34" charset="-120"/>
              </a:rPr>
              <a:t>Scale</a:t>
            </a:r>
            <a:endParaRPr lang="en-US" sz="1700" dirty="0"/>
          </a:p>
        </p:txBody>
      </p:sp>
      <p:sp>
        <p:nvSpPr>
          <p:cNvPr id="25" name="Text 19"/>
          <p:cNvSpPr txBox="1"/>
          <p:nvPr/>
        </p:nvSpPr>
        <p:spPr>
          <a:xfrm>
            <a:off x="7342632" y="4983480"/>
            <a:ext cx="4069080" cy="914400"/>
          </a:xfrm>
          <a:prstGeom prst="rect">
            <a:avLst/>
          </a:prstGeom>
          <a:noFill/>
          <a:ln/>
        </p:spPr>
        <p:txBody>
          <a:bodyPr wrap="square" lIns="0" tIns="0" rIns="0" bIns="0" rtlCol="0" anchor="t"/>
          <a:lstStyle/>
          <a:p>
            <a:pPr algn="l" indent="0" marL="0">
              <a:buNone/>
            </a:pPr>
            <a:r>
              <a:rPr lang="en-US" sz="1400" dirty="0">
                <a:solidFill>
                  <a:srgbClr val="5B6472"/>
                </a:solidFill>
                <a:latin typeface="Calibri" pitchFamily="34" charset="0"/>
                <a:ea typeface="Calibri" pitchFamily="34" charset="-122"/>
                <a:cs typeface="Calibri" pitchFamily="34" charset="-120"/>
              </a:rPr>
              <a:t>More concurrent runs per host, and larger deployments as organisations grow.</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51922"/>
        </a:solidFill>
      </p:bgPr>
    </p:bg>
    <p:spTree>
      <p:nvGrpSpPr>
        <p:cNvPr id="1" name=""/>
        <p:cNvGrpSpPr/>
        <p:nvPr/>
      </p:nvGrpSpPr>
      <p:grpSpPr>
        <a:xfrm>
          <a:off x="0" y="0"/>
          <a:ext cx="0" cy="0"/>
          <a:chOff x="0" y="0"/>
          <a:chExt cx="0" cy="0"/>
        </a:xfrm>
      </p:grpSpPr>
      <p:sp>
        <p:nvSpPr>
          <p:cNvPr id="2" name="Text 0"/>
          <p:cNvSpPr txBox="1"/>
          <p:nvPr/>
        </p:nvSpPr>
        <p:spPr>
          <a:xfrm>
            <a:off x="640080" y="548640"/>
            <a:ext cx="7315200" cy="274320"/>
          </a:xfrm>
          <a:prstGeom prst="rect">
            <a:avLst/>
          </a:prstGeom>
          <a:noFill/>
          <a:ln/>
        </p:spPr>
        <p:txBody>
          <a:bodyPr wrap="square" lIns="0" tIns="0" rIns="0" bIns="0" rtlCol="0" anchor="t"/>
          <a:lstStyle/>
          <a:p>
            <a:pPr algn="l" indent="0" marL="0">
              <a:buNone/>
            </a:pPr>
            <a:r>
              <a:rPr lang="en-US" sz="1200" b="1" spc="300" kern="0" dirty="0">
                <a:solidFill>
                  <a:srgbClr val="E08A1E"/>
                </a:solidFill>
                <a:latin typeface="Arial" pitchFamily="34" charset="0"/>
                <a:ea typeface="Arial" pitchFamily="34" charset="-122"/>
                <a:cs typeface="Arial" pitchFamily="34" charset="-120"/>
              </a:rPr>
              <a:t>HOW WE BUILD</a:t>
            </a:r>
            <a:endParaRPr lang="en-US" sz="1200" dirty="0"/>
          </a:p>
        </p:txBody>
      </p:sp>
      <p:sp>
        <p:nvSpPr>
          <p:cNvPr id="3" name="Text 1"/>
          <p:cNvSpPr txBox="1"/>
          <p:nvPr/>
        </p:nvSpPr>
        <p:spPr>
          <a:xfrm>
            <a:off x="640080" y="868680"/>
            <a:ext cx="7315200" cy="731520"/>
          </a:xfrm>
          <a:prstGeom prst="rect">
            <a:avLst/>
          </a:prstGeom>
          <a:noFill/>
          <a:ln/>
        </p:spPr>
        <p:txBody>
          <a:bodyPr wrap="square" lIns="0" tIns="0" rIns="0" bIns="0" rtlCol="0" anchor="t"/>
          <a:lstStyle/>
          <a:p>
            <a:pPr algn="l" indent="0" marL="0">
              <a:buNone/>
            </a:pPr>
            <a:r>
              <a:rPr lang="en-US" sz="3600" b="1" dirty="0">
                <a:solidFill>
                  <a:srgbClr val="FFFFFF"/>
                </a:solidFill>
                <a:latin typeface="Arial" pitchFamily="34" charset="0"/>
                <a:ea typeface="Arial" pitchFamily="34" charset="-122"/>
                <a:cs typeface="Arial" pitchFamily="34" charset="-120"/>
              </a:rPr>
              <a:t>Five engineering principles</a:t>
            </a:r>
            <a:endParaRPr lang="en-US" sz="3600" dirty="0"/>
          </a:p>
        </p:txBody>
      </p:sp>
      <p:sp>
        <p:nvSpPr>
          <p:cNvPr id="4" name="Text 2"/>
          <p:cNvSpPr txBox="1"/>
          <p:nvPr/>
        </p:nvSpPr>
        <p:spPr>
          <a:xfrm>
            <a:off x="640080" y="1828800"/>
            <a:ext cx="530352" cy="530352"/>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Text 3"/>
          <p:cNvSpPr txBox="1"/>
          <p:nvPr/>
        </p:nvSpPr>
        <p:spPr>
          <a:xfrm>
            <a:off x="1371600" y="1783080"/>
            <a:ext cx="6035040"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One door per concern</a:t>
            </a:r>
            <a:endParaRPr lang="en-US" sz="1600" dirty="0"/>
          </a:p>
          <a:p>
            <a:pPr indent="0" marL="0">
              <a:buNone/>
            </a:pPr>
            <a:r>
              <a:rPr lang="en-US" sz="1300" dirty="0">
                <a:solidFill>
                  <a:srgbClr val="AEB6C2"/>
                </a:solidFill>
                <a:latin typeface="Calibri" pitchFamily="34" charset="0"/>
                <a:ea typeface="Calibri" pitchFamily="34" charset="-122"/>
                <a:cs typeface="Calibri" pitchFamily="34" charset="-120"/>
              </a:rPr>
              <a:t>One way to start a run, one read path for solutions, one resolver for credentials.</a:t>
            </a:r>
            <a:endParaRPr lang="en-US" sz="1600" dirty="0"/>
          </a:p>
        </p:txBody>
      </p:sp>
      <p:sp>
        <p:nvSpPr>
          <p:cNvPr id="6" name="Text 4"/>
          <p:cNvSpPr txBox="1"/>
          <p:nvPr/>
        </p:nvSpPr>
        <p:spPr>
          <a:xfrm>
            <a:off x="640080" y="2651760"/>
            <a:ext cx="530352" cy="530352"/>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7" name="Text 5"/>
          <p:cNvSpPr txBox="1"/>
          <p:nvPr/>
        </p:nvSpPr>
        <p:spPr>
          <a:xfrm>
            <a:off x="1371600" y="2606040"/>
            <a:ext cx="6035040"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Bound everything</a:t>
            </a:r>
            <a:endParaRPr lang="en-US" sz="1600" dirty="0"/>
          </a:p>
          <a:p>
            <a:pPr indent="0" marL="0">
              <a:buNone/>
            </a:pPr>
            <a:r>
              <a:rPr lang="en-US" sz="1300" dirty="0">
                <a:solidFill>
                  <a:srgbClr val="AEB6C2"/>
                </a:solidFill>
                <a:latin typeface="Calibri" pitchFamily="34" charset="0"/>
                <a:ea typeface="Calibri" pitchFamily="34" charset="-122"/>
                <a:cs typeface="Calibri" pitchFamily="34" charset="-120"/>
              </a:rPr>
              <a:t>Output, fan-out, memory, spend. Refuse rather than silently truncate.</a:t>
            </a:r>
            <a:endParaRPr lang="en-US" sz="1600" dirty="0"/>
          </a:p>
        </p:txBody>
      </p:sp>
      <p:sp>
        <p:nvSpPr>
          <p:cNvPr id="8" name="Text 6"/>
          <p:cNvSpPr txBox="1"/>
          <p:nvPr/>
        </p:nvSpPr>
        <p:spPr>
          <a:xfrm>
            <a:off x="640080" y="3474720"/>
            <a:ext cx="530352" cy="530352"/>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9" name="Text 7"/>
          <p:cNvSpPr txBox="1"/>
          <p:nvPr/>
        </p:nvSpPr>
        <p:spPr>
          <a:xfrm>
            <a:off x="1371600" y="3429000"/>
            <a:ext cx="6035040"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Fail before you look busy</a:t>
            </a:r>
            <a:endParaRPr lang="en-US" sz="1600" dirty="0"/>
          </a:p>
          <a:p>
            <a:pPr indent="0" marL="0">
              <a:buNone/>
            </a:pPr>
            <a:r>
              <a:rPr lang="en-US" sz="1300" dirty="0">
                <a:solidFill>
                  <a:srgbClr val="AEB6C2"/>
                </a:solidFill>
                <a:latin typeface="Calibri" pitchFamily="34" charset="0"/>
                <a:ea typeface="Calibri" pitchFamily="34" charset="-122"/>
                <a:cs typeface="Calibri" pitchFamily="34" charset="-120"/>
              </a:rPr>
              <a:t>A missing key is an error at once, never a spinner and an apology.</a:t>
            </a:r>
            <a:endParaRPr lang="en-US" sz="1600" dirty="0"/>
          </a:p>
        </p:txBody>
      </p:sp>
      <p:sp>
        <p:nvSpPr>
          <p:cNvPr id="10" name="Text 8"/>
          <p:cNvSpPr txBox="1"/>
          <p:nvPr/>
        </p:nvSpPr>
        <p:spPr>
          <a:xfrm>
            <a:off x="640080" y="4297680"/>
            <a:ext cx="530352" cy="530352"/>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1" name="Text 9"/>
          <p:cNvSpPr txBox="1"/>
          <p:nvPr/>
        </p:nvSpPr>
        <p:spPr>
          <a:xfrm>
            <a:off x="1371600" y="4251960"/>
            <a:ext cx="6035040"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 switch must be read</a:t>
            </a:r>
            <a:endParaRPr lang="en-US" sz="1600" dirty="0"/>
          </a:p>
          <a:p>
            <a:pPr indent="0" marL="0">
              <a:buNone/>
            </a:pPr>
            <a:r>
              <a:rPr lang="en-US" sz="1300" dirty="0">
                <a:solidFill>
                  <a:srgbClr val="AEB6C2"/>
                </a:solidFill>
                <a:latin typeface="Calibri" pitchFamily="34" charset="0"/>
                <a:ea typeface="Calibri" pitchFamily="34" charset="-122"/>
                <a:cs typeface="Calibri" pitchFamily="34" charset="-120"/>
              </a:rPr>
              <a:t>A test fails when a setting exists that nothing at runtime reads.</a:t>
            </a:r>
            <a:endParaRPr lang="en-US" sz="1600" dirty="0"/>
          </a:p>
        </p:txBody>
      </p:sp>
      <p:sp>
        <p:nvSpPr>
          <p:cNvPr id="12" name="Text 10"/>
          <p:cNvSpPr txBox="1"/>
          <p:nvPr/>
        </p:nvSpPr>
        <p:spPr>
          <a:xfrm>
            <a:off x="640080" y="5120640"/>
            <a:ext cx="530352" cy="530352"/>
          </a:xfrm>
          <a:prstGeom prst="ellipse">
            <a:avLst/>
          </a:prstGeom>
          <a:solidFill>
            <a:srgbClr val="E08A1E"/>
          </a:solidFill>
          <a:ln>
            <a:solidFill>
              <a:srgbClr val="E08A1E"/>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371600" y="5074920"/>
            <a:ext cx="6035040" cy="7315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Record, don't infer</a:t>
            </a:r>
            <a:endParaRPr lang="en-US" sz="1600" dirty="0"/>
          </a:p>
          <a:p>
            <a:pPr indent="0" marL="0">
              <a:buNone/>
            </a:pPr>
            <a:r>
              <a:rPr lang="en-US" sz="1300" dirty="0">
                <a:solidFill>
                  <a:srgbClr val="AEB6C2"/>
                </a:solidFill>
                <a:latin typeface="Calibri" pitchFamily="34" charset="0"/>
                <a:ea typeface="Calibri" pitchFamily="34" charset="-122"/>
                <a:cs typeface="Calibri" pitchFamily="34" charset="-120"/>
              </a:rPr>
              <a:t>Turns, revisions and parent steps are rows, not reconstructions.</a:t>
            </a:r>
            <a:endParaRPr lang="en-US" sz="1600" dirty="0"/>
          </a:p>
        </p:txBody>
      </p:sp>
      <p:sp>
        <p:nvSpPr>
          <p:cNvPr id="14" name="Shape 12"/>
          <p:cNvSpPr/>
          <p:nvPr/>
        </p:nvSpPr>
        <p:spPr>
          <a:xfrm>
            <a:off x="8001000" y="1828800"/>
            <a:ext cx="3566160" cy="3840480"/>
          </a:xfrm>
          <a:prstGeom prst="roundRect">
            <a:avLst>
              <a:gd name="adj" fmla="val 3077"/>
            </a:avLst>
          </a:prstGeom>
          <a:solidFill>
            <a:srgbClr val="232A36"/>
          </a:solidFill>
          <a:ln w="12700">
            <a:solidFill>
              <a:srgbClr val="3A4352"/>
            </a:solidFill>
            <a:prstDash val="solid"/>
          </a:ln>
        </p:spPr>
      </p:sp>
      <p:sp>
        <p:nvSpPr>
          <p:cNvPr id="15" name="Text 13"/>
          <p:cNvSpPr txBox="1"/>
          <p:nvPr/>
        </p:nvSpPr>
        <p:spPr>
          <a:xfrm>
            <a:off x="8321040" y="2194560"/>
            <a:ext cx="3017520" cy="64008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Thank you</a:t>
            </a:r>
            <a:endParaRPr lang="en-US" sz="3000" dirty="0"/>
          </a:p>
        </p:txBody>
      </p:sp>
      <p:sp>
        <p:nvSpPr>
          <p:cNvPr id="16" name="Text 14"/>
          <p:cNvSpPr txBox="1"/>
          <p:nvPr/>
        </p:nvSpPr>
        <p:spPr>
          <a:xfrm>
            <a:off x="8321040" y="2926080"/>
            <a:ext cx="3017520" cy="822960"/>
          </a:xfrm>
          <a:prstGeom prst="rect">
            <a:avLst/>
          </a:prstGeom>
          <a:noFill/>
          <a:ln/>
        </p:spPr>
        <p:txBody>
          <a:bodyPr wrap="square" lIns="0" tIns="0" rIns="0" bIns="0" rtlCol="0" anchor="t"/>
          <a:lstStyle/>
          <a:p>
            <a:pPr algn="l" indent="0" marL="0">
              <a:buNone/>
            </a:pPr>
            <a:r>
              <a:rPr lang="en-US" sz="1500" dirty="0">
                <a:solidFill>
                  <a:srgbClr val="C9D0DB"/>
                </a:solidFill>
                <a:latin typeface="Calibri" pitchFamily="34" charset="0"/>
                <a:ea typeface="Calibri" pitchFamily="34" charset="-122"/>
                <a:cs typeface="Calibri" pitchFamily="34" charset="-120"/>
              </a:rPr>
              <a:t>Live demo and technical deep-dive on request.</a:t>
            </a:r>
            <a:endParaRPr lang="en-US" sz="1500" dirty="0"/>
          </a:p>
        </p:txBody>
      </p:sp>
      <p:sp>
        <p:nvSpPr>
          <p:cNvPr id="17" name="Text 15"/>
          <p:cNvSpPr txBox="1"/>
          <p:nvPr/>
        </p:nvSpPr>
        <p:spPr>
          <a:xfrm>
            <a:off x="8321040" y="4663440"/>
            <a:ext cx="3017520" cy="731520"/>
          </a:xfrm>
          <a:prstGeom prst="rect">
            <a:avLst/>
          </a:prstGeom>
          <a:noFill/>
          <a:ln/>
        </p:spPr>
        <p:txBody>
          <a:bodyPr wrap="square" lIns="0" tIns="0" rIns="0" bIns="0" rtlCol="0" anchor="t"/>
          <a:lstStyle/>
          <a:p>
            <a:pPr algn="l" indent="0" marL="0">
              <a:buNone/>
            </a:pPr>
            <a:r>
              <a:rPr lang="en-US" sz="1250" i="1" dirty="0">
                <a:solidFill>
                  <a:srgbClr val="8A94A3"/>
                </a:solidFill>
                <a:latin typeface="Calibri" pitchFamily="34" charset="0"/>
                <a:ea typeface="Calibri" pitchFamily="34" charset="-122"/>
                <a:cs typeface="Calibri" pitchFamily="34" charset="-120"/>
              </a:rPr>
              <a:t>AIAAS — automate the repetitive work, keep control.</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AIAAS — Architecture &amp; Technical Overview</dc:title>
  <dc:subject>PptxGenJS Presentation</dc:subject>
  <dc:creator>PptxGenJS</dc:creator>
  <cp:lastModifiedBy>PptxGenJS</cp:lastModifiedBy>
  <cp:revision>1</cp:revision>
  <dcterms:created xsi:type="dcterms:W3CDTF">2026-09-28T12:34:27Z</dcterms:created>
  <dcterms:modified xsi:type="dcterms:W3CDTF">2026-09-28T12:34:27Z</dcterms:modified>
</cp:coreProperties>
</file>